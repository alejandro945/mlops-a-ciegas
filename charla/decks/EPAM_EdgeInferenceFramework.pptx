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el framework. Aproximadamente 9 minutos.
Este slide es neutral de industria a propósito: el framework es el protagonista, el caso concreto va en el slide 2.
Las cinco etapas son las cinco piezas. Detenerse en la 04 y la 05: son las dos que no están resueltas en el mercado.
04: Sparkplug B modela un tag con un valor, no un evento con modelo, versión, hash de pesos, confianza, geometría, señales contribuyentes y evidencia.
05: casi todo lo que se vende como Edge AI termina en el despliegue. Un modelo desplegado envejece desde el primer día.
En '¿Por qué EPAM?', el tercer punto es el que hay que decir con seguridad: es activo de oferta, no producto. Si intentás venderlo como producto en una sala de producto, te lo desarman.
Los números son objetivos de diseño. Decirlo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el caso real. Aproximadamente 5 minutos.
ANTES DE PRESENTAR: pedile permiso a Maksim para citar el pedido y mencionalo por nombre. Si el deck va a circular fuera de la sesión, reemplazar 'Netflix' por 'plataforma de streaming global'.
El momento fuerte es la columna de la derecha: observabilidad, costos, seguridad y ciclo del modelo son LAS CUATRO PALABRAS del pedido, respondidas sobre un solo contrato. Decirlo así: 'esto no es lo que yo creo que necesitan, es lo que pidieron por escrito'.
La banda de arriba es por qué el borde no es preferencia: 100 ms de presupuesto, millones de dispositivos heterogéneos, costo de inferencia en nube inviable a esa escala, e infraestructura propia del cliente.
El punto de la flota: millones de teléfonos con chip, OS y térmica distintos es un problema de flota más duro que un hospital con cincuenta equipos idénticos. Por eso ONNX como frontera única importa de verdad.
Cerrar con la línea del pie: el mismo contrato y el mismo ciclo que en salud, minería o manufactura. Cambian dos piezas.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5486400" cy="182880"/>
          </a:xfrm>
          <a:prstGeom prst="rect">
            <a:avLst/>
          </a:prstGeom>
          <a:noFill/>
          <a:ln/>
        </p:spPr>
        <p:txBody>
          <a:bodyPr wrap="square" lIns="0" tIns="0" rIns="0" bIns="0" rtlCol="0" anchor="ctr"/>
          <a:lstStyle/>
          <a:p>
            <a:pPr indent="0" marL="0">
              <a:buNone/>
            </a:pPr>
            <a:r>
              <a:rPr lang="en-US" sz="800" spc="250" kern="0" dirty="0">
                <a:solidFill>
                  <a:srgbClr val="5A5A5A"/>
                </a:solidFill>
                <a:latin typeface="Arial" pitchFamily="34" charset="0"/>
                <a:ea typeface="Arial" pitchFamily="34" charset="-122"/>
                <a:cs typeface="Arial" pitchFamily="34" charset="-120"/>
              </a:rPr>
              <a:t>PROOF-OF-CONCEPT</a:t>
            </a:r>
            <a:endParaRPr lang="en-US" sz="800" dirty="0"/>
          </a:p>
        </p:txBody>
      </p:sp>
      <p:sp>
        <p:nvSpPr>
          <p:cNvPr id="3" name="Text 1"/>
          <p:cNvSpPr/>
          <p:nvPr/>
        </p:nvSpPr>
        <p:spPr>
          <a:xfrm>
            <a:off x="457200" y="548640"/>
            <a:ext cx="11247120" cy="420624"/>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EPAM Edge Inference Framework</a:t>
            </a:r>
            <a:endParaRPr lang="en-US" sz="2400" dirty="0"/>
          </a:p>
        </p:txBody>
      </p:sp>
      <p:sp>
        <p:nvSpPr>
          <p:cNvPr id="4" name="Text 2"/>
          <p:cNvSpPr/>
          <p:nvPr/>
        </p:nvSpPr>
        <p:spPr>
          <a:xfrm>
            <a:off x="457200" y="1005840"/>
            <a:ext cx="1124712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Cinco piezas reutilizables para diseñar, desplegar y sostener modelos en el dispositivo — multiprotocolo y multinube</a:t>
            </a:r>
            <a:endParaRPr lang="en-US" sz="1200" dirty="0"/>
          </a:p>
        </p:txBody>
      </p:sp>
      <p:sp>
        <p:nvSpPr>
          <p:cNvPr id="5" name="Shape 3"/>
          <p:cNvSpPr/>
          <p:nvPr/>
        </p:nvSpPr>
        <p:spPr>
          <a:xfrm>
            <a:off x="0" y="1389888"/>
            <a:ext cx="12188952" cy="2450592"/>
          </a:xfrm>
          <a:prstGeom prst="rect">
            <a:avLst/>
          </a:prstGeom>
          <a:solidFill>
            <a:srgbClr val="F4F5F7"/>
          </a:solidFill>
          <a:ln/>
        </p:spPr>
      </p:sp>
      <p:sp>
        <p:nvSpPr>
          <p:cNvPr id="6" name="Text 4"/>
          <p:cNvSpPr/>
          <p:nvPr/>
        </p:nvSpPr>
        <p:spPr>
          <a:xfrm>
            <a:off x="0" y="1499616"/>
            <a:ext cx="12188952" cy="237744"/>
          </a:xfrm>
          <a:prstGeom prst="rect">
            <a:avLst/>
          </a:prstGeom>
          <a:noFill/>
          <a:ln/>
        </p:spPr>
        <p:txBody>
          <a:bodyPr wrap="square" lIns="0" tIns="0" rIns="0" bIns="0" rtlCol="0" anchor="ctr"/>
          <a:lstStyle/>
          <a:p>
            <a:pPr algn="ctr" indent="0" marL="0">
              <a:buNone/>
            </a:pPr>
            <a:r>
              <a:rPr lang="en-US" sz="1200" b="1" spc="200" kern="0" dirty="0">
                <a:solidFill>
                  <a:srgbClr val="1A1A1A"/>
                </a:solidFill>
                <a:latin typeface="Arial" pitchFamily="34" charset="0"/>
                <a:ea typeface="Arial" pitchFamily="34" charset="-122"/>
                <a:cs typeface="Arial" pitchFamily="34" charset="-120"/>
              </a:rPr>
              <a:t>EL RECORRIDO EN 5 ETAPAS</a:t>
            </a:r>
            <a:endParaRPr lang="en-US" sz="1200" dirty="0"/>
          </a:p>
        </p:txBody>
      </p:sp>
      <p:sp>
        <p:nvSpPr>
          <p:cNvPr id="7" name="Text 5"/>
          <p:cNvSpPr/>
          <p:nvPr/>
        </p:nvSpPr>
        <p:spPr>
          <a:xfrm>
            <a:off x="457200" y="1810512"/>
            <a:ext cx="2112264" cy="219456"/>
          </a:xfrm>
          <a:prstGeom prst="rect">
            <a:avLst/>
          </a:prstGeom>
          <a:noFill/>
          <a:ln/>
        </p:spPr>
        <p:txBody>
          <a:bodyPr wrap="square" lIns="0" tIns="0" rIns="0" bIns="0" rtlCol="0" anchor="ctr"/>
          <a:lstStyle/>
          <a:p>
            <a:pPr algn="ctr" indent="0" marL="0">
              <a:buNone/>
            </a:pPr>
            <a:r>
              <a:rPr lang="en-US" sz="900" b="1" spc="120" kern="0" dirty="0">
                <a:solidFill>
                  <a:srgbClr val="3E6FC7"/>
                </a:solidFill>
                <a:latin typeface="Arial" pitchFamily="34" charset="0"/>
                <a:ea typeface="Arial" pitchFamily="34" charset="-122"/>
                <a:cs typeface="Arial" pitchFamily="34" charset="-120"/>
              </a:rPr>
              <a:t>LA FRAGMENTACIÓN</a:t>
            </a:r>
            <a:endParaRPr lang="en-US" sz="900" dirty="0"/>
          </a:p>
        </p:txBody>
      </p:sp>
      <p:sp>
        <p:nvSpPr>
          <p:cNvPr id="8" name="Shape 6"/>
          <p:cNvSpPr/>
          <p:nvPr/>
        </p:nvSpPr>
        <p:spPr>
          <a:xfrm>
            <a:off x="457200" y="2048256"/>
            <a:ext cx="2112264" cy="25603"/>
          </a:xfrm>
          <a:prstGeom prst="rect">
            <a:avLst/>
          </a:prstGeom>
          <a:solidFill>
            <a:srgbClr val="3E6FC7"/>
          </a:solidFill>
          <a:ln/>
        </p:spPr>
      </p:sp>
      <p:sp>
        <p:nvSpPr>
          <p:cNvPr id="9" name="Text 7"/>
          <p:cNvSpPr/>
          <p:nvPr/>
        </p:nvSpPr>
        <p:spPr>
          <a:xfrm>
            <a:off x="457200" y="2157984"/>
            <a:ext cx="548640" cy="384048"/>
          </a:xfrm>
          <a:prstGeom prst="rect">
            <a:avLst/>
          </a:prstGeom>
          <a:noFill/>
          <a:ln/>
        </p:spPr>
        <p:txBody>
          <a:bodyPr wrap="square" lIns="0" tIns="0" rIns="0" bIns="0" rtlCol="0" anchor="ctr"/>
          <a:lstStyle/>
          <a:p>
            <a:pPr indent="0" marL="0">
              <a:buNone/>
            </a:pPr>
            <a:r>
              <a:rPr lang="en-US" sz="2200" b="1" dirty="0">
                <a:solidFill>
                  <a:srgbClr val="B9CDEA"/>
                </a:solidFill>
                <a:latin typeface="Arial" pitchFamily="34" charset="0"/>
                <a:ea typeface="Arial" pitchFamily="34" charset="-122"/>
                <a:cs typeface="Arial" pitchFamily="34" charset="-120"/>
              </a:rPr>
              <a:t>01</a:t>
            </a:r>
            <a:endParaRPr lang="en-US" sz="2200" dirty="0"/>
          </a:p>
        </p:txBody>
      </p:sp>
      <p:sp>
        <p:nvSpPr>
          <p:cNvPr id="10" name="Text 8"/>
          <p:cNvSpPr/>
          <p:nvPr/>
        </p:nvSpPr>
        <p:spPr>
          <a:xfrm>
            <a:off x="987552" y="2139696"/>
            <a:ext cx="1581912" cy="219456"/>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Dispositivos aislados</a:t>
            </a:r>
            <a:endParaRPr lang="en-US" sz="1050" dirty="0"/>
          </a:p>
        </p:txBody>
      </p:sp>
      <p:sp>
        <p:nvSpPr>
          <p:cNvPr id="11" name="Text 9"/>
          <p:cNvSpPr/>
          <p:nvPr/>
        </p:nvSpPr>
        <p:spPr>
          <a:xfrm>
            <a:off x="987552" y="2340864"/>
            <a:ext cx="1581912" cy="201168"/>
          </a:xfrm>
          <a:prstGeom prst="rect">
            <a:avLst/>
          </a:prstGeom>
          <a:noFill/>
          <a:ln/>
        </p:spPr>
        <p:txBody>
          <a:bodyPr wrap="square" lIns="0" tIns="0" rIns="0" bIns="0" rtlCol="0" anchor="ctr"/>
          <a:lstStyle/>
          <a:p>
            <a:pPr indent="0" marL="0">
              <a:buNone/>
            </a:pPr>
            <a:r>
              <a:rPr lang="en-US" sz="900" i="1" dirty="0">
                <a:solidFill>
                  <a:srgbClr val="5A5A5A"/>
                </a:solidFill>
                <a:latin typeface="Arial" pitchFamily="34" charset="0"/>
                <a:ea typeface="Arial" pitchFamily="34" charset="-122"/>
                <a:cs typeface="Arial" pitchFamily="34" charset="-120"/>
              </a:rPr>
              <a:t>cada uno con su protocolo</a:t>
            </a:r>
            <a:endParaRPr lang="en-US" sz="900" dirty="0"/>
          </a:p>
        </p:txBody>
      </p:sp>
      <p:sp>
        <p:nvSpPr>
          <p:cNvPr id="12" name="Text 10"/>
          <p:cNvSpPr/>
          <p:nvPr/>
        </p:nvSpPr>
        <p:spPr>
          <a:xfrm>
            <a:off x="457200" y="2651760"/>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13" name="Text 11"/>
          <p:cNvSpPr/>
          <p:nvPr/>
        </p:nvSpPr>
        <p:spPr>
          <a:xfrm>
            <a:off x="621792" y="2651760"/>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Cámaras, sensores, PLC</a:t>
            </a:r>
            <a:endParaRPr lang="en-US" sz="850" dirty="0"/>
          </a:p>
        </p:txBody>
      </p:sp>
      <p:sp>
        <p:nvSpPr>
          <p:cNvPr id="14" name="Text 12"/>
          <p:cNvSpPr/>
          <p:nvPr/>
        </p:nvSpPr>
        <p:spPr>
          <a:xfrm>
            <a:off x="457200" y="2907792"/>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15" name="Text 13"/>
          <p:cNvSpPr/>
          <p:nvPr/>
        </p:nvSpPr>
        <p:spPr>
          <a:xfrm>
            <a:off x="621792" y="2907792"/>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Móviles y wearables</a:t>
            </a:r>
            <a:endParaRPr lang="en-US" sz="850" dirty="0"/>
          </a:p>
        </p:txBody>
      </p:sp>
      <p:sp>
        <p:nvSpPr>
          <p:cNvPr id="16" name="Text 14"/>
          <p:cNvSpPr/>
          <p:nvPr/>
        </p:nvSpPr>
        <p:spPr>
          <a:xfrm>
            <a:off x="457200" y="3163824"/>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17" name="Text 15"/>
          <p:cNvSpPr/>
          <p:nvPr/>
        </p:nvSpPr>
        <p:spPr>
          <a:xfrm>
            <a:off x="621792" y="3163824"/>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OPC-UA, Modbus, HL7, RTSP</a:t>
            </a:r>
            <a:endParaRPr lang="en-US" sz="850" dirty="0"/>
          </a:p>
        </p:txBody>
      </p:sp>
      <p:sp>
        <p:nvSpPr>
          <p:cNvPr id="18" name="Text 16"/>
          <p:cNvSpPr/>
          <p:nvPr/>
        </p:nvSpPr>
        <p:spPr>
          <a:xfrm>
            <a:off x="457200" y="3419856"/>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19" name="Text 17"/>
          <p:cNvSpPr/>
          <p:nvPr/>
        </p:nvSpPr>
        <p:spPr>
          <a:xfrm>
            <a:off x="621792" y="3419856"/>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Equipo de tres generaciones</a:t>
            </a:r>
            <a:endParaRPr lang="en-US" sz="850" dirty="0"/>
          </a:p>
        </p:txBody>
      </p:sp>
      <p:sp>
        <p:nvSpPr>
          <p:cNvPr id="20" name="Text 18"/>
          <p:cNvSpPr/>
          <p:nvPr/>
        </p:nvSpPr>
        <p:spPr>
          <a:xfrm>
            <a:off x="2752344" y="1810512"/>
            <a:ext cx="2112264" cy="219456"/>
          </a:xfrm>
          <a:prstGeom prst="rect">
            <a:avLst/>
          </a:prstGeom>
          <a:noFill/>
          <a:ln/>
        </p:spPr>
        <p:txBody>
          <a:bodyPr wrap="square" lIns="0" tIns="0" rIns="0" bIns="0" rtlCol="0" anchor="ctr"/>
          <a:lstStyle/>
          <a:p>
            <a:pPr algn="ctr" indent="0" marL="0">
              <a:buNone/>
            </a:pPr>
            <a:r>
              <a:rPr lang="en-US" sz="900" b="1" spc="120" kern="0" dirty="0">
                <a:solidFill>
                  <a:srgbClr val="3E6FC7"/>
                </a:solidFill>
                <a:latin typeface="Arial" pitchFamily="34" charset="0"/>
                <a:ea typeface="Arial" pitchFamily="34" charset="-122"/>
                <a:cs typeface="Arial" pitchFamily="34" charset="-120"/>
              </a:rPr>
              <a:t>LA INGESTA</a:t>
            </a:r>
            <a:endParaRPr lang="en-US" sz="900" dirty="0"/>
          </a:p>
        </p:txBody>
      </p:sp>
      <p:sp>
        <p:nvSpPr>
          <p:cNvPr id="21" name="Shape 19"/>
          <p:cNvSpPr/>
          <p:nvPr/>
        </p:nvSpPr>
        <p:spPr>
          <a:xfrm>
            <a:off x="2752344" y="2048256"/>
            <a:ext cx="2112264" cy="25603"/>
          </a:xfrm>
          <a:prstGeom prst="rect">
            <a:avLst/>
          </a:prstGeom>
          <a:solidFill>
            <a:srgbClr val="3E6FC7"/>
          </a:solidFill>
          <a:ln/>
        </p:spPr>
      </p:sp>
      <p:sp>
        <p:nvSpPr>
          <p:cNvPr id="22" name="Text 20"/>
          <p:cNvSpPr/>
          <p:nvPr/>
        </p:nvSpPr>
        <p:spPr>
          <a:xfrm>
            <a:off x="2752344" y="2157984"/>
            <a:ext cx="548640" cy="384048"/>
          </a:xfrm>
          <a:prstGeom prst="rect">
            <a:avLst/>
          </a:prstGeom>
          <a:noFill/>
          <a:ln/>
        </p:spPr>
        <p:txBody>
          <a:bodyPr wrap="square" lIns="0" tIns="0" rIns="0" bIns="0" rtlCol="0" anchor="ctr"/>
          <a:lstStyle/>
          <a:p>
            <a:pPr indent="0" marL="0">
              <a:buNone/>
            </a:pPr>
            <a:r>
              <a:rPr lang="en-US" sz="2200" b="1" dirty="0">
                <a:solidFill>
                  <a:srgbClr val="B9CDEA"/>
                </a:solidFill>
                <a:latin typeface="Arial" pitchFamily="34" charset="0"/>
                <a:ea typeface="Arial" pitchFamily="34" charset="-122"/>
                <a:cs typeface="Arial" pitchFamily="34" charset="-120"/>
              </a:rPr>
              <a:t>02</a:t>
            </a:r>
            <a:endParaRPr lang="en-US" sz="2200" dirty="0"/>
          </a:p>
        </p:txBody>
      </p:sp>
      <p:sp>
        <p:nvSpPr>
          <p:cNvPr id="23" name="Text 21"/>
          <p:cNvSpPr/>
          <p:nvPr/>
        </p:nvSpPr>
        <p:spPr>
          <a:xfrm>
            <a:off x="3282696" y="2139696"/>
            <a:ext cx="1581912" cy="219456"/>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Adaptadores agnósticos</a:t>
            </a:r>
            <a:endParaRPr lang="en-US" sz="1050" dirty="0"/>
          </a:p>
        </p:txBody>
      </p:sp>
      <p:sp>
        <p:nvSpPr>
          <p:cNvPr id="24" name="Text 22"/>
          <p:cNvSpPr/>
          <p:nvPr/>
        </p:nvSpPr>
        <p:spPr>
          <a:xfrm>
            <a:off x="3282696" y="2340864"/>
            <a:ext cx="1581912" cy="201168"/>
          </a:xfrm>
          <a:prstGeom prst="rect">
            <a:avLst/>
          </a:prstGeom>
          <a:noFill/>
          <a:ln/>
        </p:spPr>
        <p:txBody>
          <a:bodyPr wrap="square" lIns="0" tIns="0" rIns="0" bIns="0" rtlCol="0" anchor="ctr"/>
          <a:lstStyle/>
          <a:p>
            <a:pPr indent="0" marL="0">
              <a:buNone/>
            </a:pPr>
            <a:r>
              <a:rPr lang="en-US" sz="900" i="1" dirty="0">
                <a:solidFill>
                  <a:srgbClr val="5A5A5A"/>
                </a:solidFill>
                <a:latin typeface="Arial" pitchFamily="34" charset="0"/>
                <a:ea typeface="Arial" pitchFamily="34" charset="-122"/>
                <a:cs typeface="Arial" pitchFamily="34" charset="-120"/>
              </a:rPr>
              <a:t>biblioteca que compone</a:t>
            </a:r>
            <a:endParaRPr lang="en-US" sz="900" dirty="0"/>
          </a:p>
        </p:txBody>
      </p:sp>
      <p:sp>
        <p:nvSpPr>
          <p:cNvPr id="25" name="Text 23"/>
          <p:cNvSpPr/>
          <p:nvPr/>
        </p:nvSpPr>
        <p:spPr>
          <a:xfrm>
            <a:off x="2752344" y="2651760"/>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26" name="Text 24"/>
          <p:cNvSpPr/>
          <p:nvPr/>
        </p:nvSpPr>
        <p:spPr>
          <a:xfrm>
            <a:off x="2916936" y="2651760"/>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Un módulo por protocolo</a:t>
            </a:r>
            <a:endParaRPr lang="en-US" sz="850" dirty="0"/>
          </a:p>
        </p:txBody>
      </p:sp>
      <p:sp>
        <p:nvSpPr>
          <p:cNvPr id="27" name="Text 25"/>
          <p:cNvSpPr/>
          <p:nvPr/>
        </p:nvSpPr>
        <p:spPr>
          <a:xfrm>
            <a:off x="2752344" y="2907792"/>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28" name="Text 26"/>
          <p:cNvSpPr/>
          <p:nvPr/>
        </p:nvSpPr>
        <p:spPr>
          <a:xfrm>
            <a:off x="2916936" y="2907792"/>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Crece con cada proyecto</a:t>
            </a:r>
            <a:endParaRPr lang="en-US" sz="850" dirty="0"/>
          </a:p>
        </p:txBody>
      </p:sp>
      <p:sp>
        <p:nvSpPr>
          <p:cNvPr id="29" name="Text 27"/>
          <p:cNvSpPr/>
          <p:nvPr/>
        </p:nvSpPr>
        <p:spPr>
          <a:xfrm>
            <a:off x="2752344" y="3163824"/>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30" name="Text 28"/>
          <p:cNvSpPr/>
          <p:nvPr/>
        </p:nvSpPr>
        <p:spPr>
          <a:xfrm>
            <a:off x="2916936" y="3163824"/>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Normalización en el borde</a:t>
            </a:r>
            <a:endParaRPr lang="en-US" sz="850" dirty="0"/>
          </a:p>
        </p:txBody>
      </p:sp>
      <p:sp>
        <p:nvSpPr>
          <p:cNvPr id="31" name="Text 29"/>
          <p:cNvSpPr/>
          <p:nvPr/>
        </p:nvSpPr>
        <p:spPr>
          <a:xfrm>
            <a:off x="2752344" y="3419856"/>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32" name="Text 30"/>
          <p:cNvSpPr/>
          <p:nvPr/>
        </p:nvSpPr>
        <p:spPr>
          <a:xfrm>
            <a:off x="2916936" y="3419856"/>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Sin tocar lo instalado</a:t>
            </a:r>
            <a:endParaRPr lang="en-US" sz="850" dirty="0"/>
          </a:p>
        </p:txBody>
      </p:sp>
      <p:sp>
        <p:nvSpPr>
          <p:cNvPr id="33" name="Text 31"/>
          <p:cNvSpPr/>
          <p:nvPr/>
        </p:nvSpPr>
        <p:spPr>
          <a:xfrm>
            <a:off x="5047488" y="1810512"/>
            <a:ext cx="2112264" cy="219456"/>
          </a:xfrm>
          <a:prstGeom prst="rect">
            <a:avLst/>
          </a:prstGeom>
          <a:noFill/>
          <a:ln/>
        </p:spPr>
        <p:txBody>
          <a:bodyPr wrap="square" lIns="0" tIns="0" rIns="0" bIns="0" rtlCol="0" anchor="ctr"/>
          <a:lstStyle/>
          <a:p>
            <a:pPr algn="ctr" indent="0" marL="0">
              <a:buNone/>
            </a:pPr>
            <a:r>
              <a:rPr lang="en-US" sz="900" b="1" spc="120" kern="0" dirty="0">
                <a:solidFill>
                  <a:srgbClr val="3E6FC7"/>
                </a:solidFill>
                <a:latin typeface="Arial" pitchFamily="34" charset="0"/>
                <a:ea typeface="Arial" pitchFamily="34" charset="-122"/>
                <a:cs typeface="Arial" pitchFamily="34" charset="-120"/>
              </a:rPr>
              <a:t>LA INFERENCIA</a:t>
            </a:r>
            <a:endParaRPr lang="en-US" sz="900" dirty="0"/>
          </a:p>
        </p:txBody>
      </p:sp>
      <p:sp>
        <p:nvSpPr>
          <p:cNvPr id="34" name="Shape 32"/>
          <p:cNvSpPr/>
          <p:nvPr/>
        </p:nvSpPr>
        <p:spPr>
          <a:xfrm>
            <a:off x="5047488" y="2048256"/>
            <a:ext cx="2112264" cy="25603"/>
          </a:xfrm>
          <a:prstGeom prst="rect">
            <a:avLst/>
          </a:prstGeom>
          <a:solidFill>
            <a:srgbClr val="3E6FC7"/>
          </a:solidFill>
          <a:ln/>
        </p:spPr>
      </p:sp>
      <p:sp>
        <p:nvSpPr>
          <p:cNvPr id="35" name="Text 33"/>
          <p:cNvSpPr/>
          <p:nvPr/>
        </p:nvSpPr>
        <p:spPr>
          <a:xfrm>
            <a:off x="5047488" y="2157984"/>
            <a:ext cx="548640" cy="384048"/>
          </a:xfrm>
          <a:prstGeom prst="rect">
            <a:avLst/>
          </a:prstGeom>
          <a:noFill/>
          <a:ln/>
        </p:spPr>
        <p:txBody>
          <a:bodyPr wrap="square" lIns="0" tIns="0" rIns="0" bIns="0" rtlCol="0" anchor="ctr"/>
          <a:lstStyle/>
          <a:p>
            <a:pPr indent="0" marL="0">
              <a:buNone/>
            </a:pPr>
            <a:r>
              <a:rPr lang="en-US" sz="2200" b="1" dirty="0">
                <a:solidFill>
                  <a:srgbClr val="B9CDEA"/>
                </a:solidFill>
                <a:latin typeface="Arial" pitchFamily="34" charset="0"/>
                <a:ea typeface="Arial" pitchFamily="34" charset="-122"/>
                <a:cs typeface="Arial" pitchFamily="34" charset="-120"/>
              </a:rPr>
              <a:t>03</a:t>
            </a:r>
            <a:endParaRPr lang="en-US" sz="2200" dirty="0"/>
          </a:p>
        </p:txBody>
      </p:sp>
      <p:sp>
        <p:nvSpPr>
          <p:cNvPr id="36" name="Text 34"/>
          <p:cNvSpPr/>
          <p:nvPr/>
        </p:nvSpPr>
        <p:spPr>
          <a:xfrm>
            <a:off x="5577840" y="2139696"/>
            <a:ext cx="1581912" cy="219456"/>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Determinista y local</a:t>
            </a:r>
            <a:endParaRPr lang="en-US" sz="1050" dirty="0"/>
          </a:p>
        </p:txBody>
      </p:sp>
      <p:sp>
        <p:nvSpPr>
          <p:cNvPr id="37" name="Text 35"/>
          <p:cNvSpPr/>
          <p:nvPr/>
        </p:nvSpPr>
        <p:spPr>
          <a:xfrm>
            <a:off x="5577840" y="2340864"/>
            <a:ext cx="1581912" cy="201168"/>
          </a:xfrm>
          <a:prstGeom prst="rect">
            <a:avLst/>
          </a:prstGeom>
          <a:noFill/>
          <a:ln/>
        </p:spPr>
        <p:txBody>
          <a:bodyPr wrap="square" lIns="0" tIns="0" rIns="0" bIns="0" rtlCol="0" anchor="ctr"/>
          <a:lstStyle/>
          <a:p>
            <a:pPr indent="0" marL="0">
              <a:buNone/>
            </a:pPr>
            <a:r>
              <a:rPr lang="en-US" sz="900" i="1" dirty="0">
                <a:solidFill>
                  <a:srgbClr val="5A5A5A"/>
                </a:solidFill>
                <a:latin typeface="Arial" pitchFamily="34" charset="0"/>
                <a:ea typeface="Arial" pitchFamily="34" charset="-122"/>
                <a:cs typeface="Arial" pitchFamily="34" charset="-120"/>
              </a:rPr>
              <a:t>sobre el acelerador que haya</a:t>
            </a:r>
            <a:endParaRPr lang="en-US" sz="900" dirty="0"/>
          </a:p>
        </p:txBody>
      </p:sp>
      <p:sp>
        <p:nvSpPr>
          <p:cNvPr id="38" name="Text 36"/>
          <p:cNvSpPr/>
          <p:nvPr/>
        </p:nvSpPr>
        <p:spPr>
          <a:xfrm>
            <a:off x="5047488" y="2651760"/>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39" name="Text 37"/>
          <p:cNvSpPr/>
          <p:nvPr/>
        </p:nvSpPr>
        <p:spPr>
          <a:xfrm>
            <a:off x="5212080" y="2651760"/>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ONNX como frontera única</a:t>
            </a:r>
            <a:endParaRPr lang="en-US" sz="850" dirty="0"/>
          </a:p>
        </p:txBody>
      </p:sp>
      <p:sp>
        <p:nvSpPr>
          <p:cNvPr id="40" name="Text 38"/>
          <p:cNvSpPr/>
          <p:nvPr/>
        </p:nvSpPr>
        <p:spPr>
          <a:xfrm>
            <a:off x="5047488" y="2907792"/>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41" name="Text 39"/>
          <p:cNvSpPr/>
          <p:nvPr/>
        </p:nvSpPr>
        <p:spPr>
          <a:xfrm>
            <a:off x="5212080" y="2907792"/>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GPU, NPU, CPU, silicio dedicado</a:t>
            </a:r>
            <a:endParaRPr lang="en-US" sz="850" dirty="0"/>
          </a:p>
        </p:txBody>
      </p:sp>
      <p:sp>
        <p:nvSpPr>
          <p:cNvPr id="42" name="Text 40"/>
          <p:cNvSpPr/>
          <p:nvPr/>
        </p:nvSpPr>
        <p:spPr>
          <a:xfrm>
            <a:off x="5047488" y="3163824"/>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43" name="Text 41"/>
          <p:cNvSpPr/>
          <p:nvPr/>
        </p:nvSpPr>
        <p:spPr>
          <a:xfrm>
            <a:off x="5212080" y="3163824"/>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Decisión sin viaje a la nube</a:t>
            </a:r>
            <a:endParaRPr lang="en-US" sz="850" dirty="0"/>
          </a:p>
        </p:txBody>
      </p:sp>
      <p:sp>
        <p:nvSpPr>
          <p:cNvPr id="44" name="Text 42"/>
          <p:cNvSpPr/>
          <p:nvPr/>
        </p:nvSpPr>
        <p:spPr>
          <a:xfrm>
            <a:off x="5047488" y="3419856"/>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45" name="Text 43"/>
          <p:cNvSpPr/>
          <p:nvPr/>
        </p:nvSpPr>
        <p:spPr>
          <a:xfrm>
            <a:off x="5212080" y="3419856"/>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Opera con el enlace caído</a:t>
            </a:r>
            <a:endParaRPr lang="en-US" sz="850" dirty="0"/>
          </a:p>
        </p:txBody>
      </p:sp>
      <p:sp>
        <p:nvSpPr>
          <p:cNvPr id="46" name="Text 44"/>
          <p:cNvSpPr/>
          <p:nvPr/>
        </p:nvSpPr>
        <p:spPr>
          <a:xfrm>
            <a:off x="7342632" y="1810512"/>
            <a:ext cx="2112264" cy="219456"/>
          </a:xfrm>
          <a:prstGeom prst="rect">
            <a:avLst/>
          </a:prstGeom>
          <a:noFill/>
          <a:ln/>
        </p:spPr>
        <p:txBody>
          <a:bodyPr wrap="square" lIns="0" tIns="0" rIns="0" bIns="0" rtlCol="0" anchor="ctr"/>
          <a:lstStyle/>
          <a:p>
            <a:pPr algn="ctr" indent="0" marL="0">
              <a:buNone/>
            </a:pPr>
            <a:r>
              <a:rPr lang="en-US" sz="900" b="1" spc="120" kern="0" dirty="0">
                <a:solidFill>
                  <a:srgbClr val="3E6FC7"/>
                </a:solidFill>
                <a:latin typeface="Arial" pitchFamily="34" charset="0"/>
                <a:ea typeface="Arial" pitchFamily="34" charset="-122"/>
                <a:cs typeface="Arial" pitchFamily="34" charset="-120"/>
              </a:rPr>
              <a:t>EL CONTRATO</a:t>
            </a:r>
            <a:endParaRPr lang="en-US" sz="900" dirty="0"/>
          </a:p>
        </p:txBody>
      </p:sp>
      <p:sp>
        <p:nvSpPr>
          <p:cNvPr id="47" name="Shape 45"/>
          <p:cNvSpPr/>
          <p:nvPr/>
        </p:nvSpPr>
        <p:spPr>
          <a:xfrm>
            <a:off x="7342632" y="2048256"/>
            <a:ext cx="2112264" cy="25603"/>
          </a:xfrm>
          <a:prstGeom prst="rect">
            <a:avLst/>
          </a:prstGeom>
          <a:solidFill>
            <a:srgbClr val="3E6FC7"/>
          </a:solidFill>
          <a:ln/>
        </p:spPr>
      </p:sp>
      <p:sp>
        <p:nvSpPr>
          <p:cNvPr id="48" name="Text 46"/>
          <p:cNvSpPr/>
          <p:nvPr/>
        </p:nvSpPr>
        <p:spPr>
          <a:xfrm>
            <a:off x="7342632" y="2157984"/>
            <a:ext cx="548640" cy="384048"/>
          </a:xfrm>
          <a:prstGeom prst="rect">
            <a:avLst/>
          </a:prstGeom>
          <a:noFill/>
          <a:ln/>
        </p:spPr>
        <p:txBody>
          <a:bodyPr wrap="square" lIns="0" tIns="0" rIns="0" bIns="0" rtlCol="0" anchor="ctr"/>
          <a:lstStyle/>
          <a:p>
            <a:pPr indent="0" marL="0">
              <a:buNone/>
            </a:pPr>
            <a:r>
              <a:rPr lang="en-US" sz="2200" b="1" dirty="0">
                <a:solidFill>
                  <a:srgbClr val="B9CDEA"/>
                </a:solidFill>
                <a:latin typeface="Arial" pitchFamily="34" charset="0"/>
                <a:ea typeface="Arial" pitchFamily="34" charset="-122"/>
                <a:cs typeface="Arial" pitchFamily="34" charset="-120"/>
              </a:rPr>
              <a:t>04</a:t>
            </a:r>
            <a:endParaRPr lang="en-US" sz="2200" dirty="0"/>
          </a:p>
        </p:txBody>
      </p:sp>
      <p:sp>
        <p:nvSpPr>
          <p:cNvPr id="49" name="Text 47"/>
          <p:cNvSpPr/>
          <p:nvPr/>
        </p:nvSpPr>
        <p:spPr>
          <a:xfrm>
            <a:off x="7872984" y="2139696"/>
            <a:ext cx="1581912" cy="219456"/>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Eventos versionados</a:t>
            </a:r>
            <a:endParaRPr lang="en-US" sz="1050" dirty="0"/>
          </a:p>
        </p:txBody>
      </p:sp>
      <p:sp>
        <p:nvSpPr>
          <p:cNvPr id="50" name="Text 48"/>
          <p:cNvSpPr/>
          <p:nvPr/>
        </p:nvSpPr>
        <p:spPr>
          <a:xfrm>
            <a:off x="7872984" y="2340864"/>
            <a:ext cx="1581912" cy="201168"/>
          </a:xfrm>
          <a:prstGeom prst="rect">
            <a:avLst/>
          </a:prstGeom>
          <a:noFill/>
          <a:ln/>
        </p:spPr>
        <p:txBody>
          <a:bodyPr wrap="square" lIns="0" tIns="0" rIns="0" bIns="0" rtlCol="0" anchor="ctr"/>
          <a:lstStyle/>
          <a:p>
            <a:pPr indent="0" marL="0">
              <a:buNone/>
            </a:pPr>
            <a:r>
              <a:rPr lang="en-US" sz="900" i="1" dirty="0">
                <a:solidFill>
                  <a:srgbClr val="5A5A5A"/>
                </a:solidFill>
                <a:latin typeface="Arial" pitchFamily="34" charset="0"/>
                <a:ea typeface="Arial" pitchFamily="34" charset="-122"/>
                <a:cs typeface="Arial" pitchFamily="34" charset="-120"/>
              </a:rPr>
              <a:t>la interfaz del framework</a:t>
            </a:r>
            <a:endParaRPr lang="en-US" sz="900" dirty="0"/>
          </a:p>
        </p:txBody>
      </p:sp>
      <p:sp>
        <p:nvSpPr>
          <p:cNvPr id="51" name="Text 49"/>
          <p:cNvSpPr/>
          <p:nvPr/>
        </p:nvSpPr>
        <p:spPr>
          <a:xfrm>
            <a:off x="7342632" y="2651760"/>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52" name="Text 50"/>
          <p:cNvSpPr/>
          <p:nvPr/>
        </p:nvSpPr>
        <p:spPr>
          <a:xfrm>
            <a:off x="7507224" y="2651760"/>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Modelo, versión, hash de pesos</a:t>
            </a:r>
            <a:endParaRPr lang="en-US" sz="850" dirty="0"/>
          </a:p>
        </p:txBody>
      </p:sp>
      <p:sp>
        <p:nvSpPr>
          <p:cNvPr id="53" name="Text 51"/>
          <p:cNvSpPr/>
          <p:nvPr/>
        </p:nvSpPr>
        <p:spPr>
          <a:xfrm>
            <a:off x="7342632" y="2907792"/>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54" name="Text 52"/>
          <p:cNvSpPr/>
          <p:nvPr/>
        </p:nvSpPr>
        <p:spPr>
          <a:xfrm>
            <a:off x="7507224" y="2907792"/>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Confianza, geometría, señales</a:t>
            </a:r>
            <a:endParaRPr lang="en-US" sz="850" dirty="0"/>
          </a:p>
        </p:txBody>
      </p:sp>
      <p:sp>
        <p:nvSpPr>
          <p:cNvPr id="55" name="Text 53"/>
          <p:cNvSpPr/>
          <p:nvPr/>
        </p:nvSpPr>
        <p:spPr>
          <a:xfrm>
            <a:off x="7342632" y="3163824"/>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56" name="Text 54"/>
          <p:cNvSpPr/>
          <p:nvPr/>
        </p:nvSpPr>
        <p:spPr>
          <a:xfrm>
            <a:off x="7507224" y="3163824"/>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Evidencia por referencia</a:t>
            </a:r>
            <a:endParaRPr lang="en-US" sz="850" dirty="0"/>
          </a:p>
        </p:txBody>
      </p:sp>
      <p:sp>
        <p:nvSpPr>
          <p:cNvPr id="57" name="Text 55"/>
          <p:cNvSpPr/>
          <p:nvPr/>
        </p:nvSpPr>
        <p:spPr>
          <a:xfrm>
            <a:off x="7342632" y="3419856"/>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58" name="Text 56"/>
          <p:cNvSpPr/>
          <p:nvPr/>
        </p:nvSpPr>
        <p:spPr>
          <a:xfrm>
            <a:off x="7507224" y="3419856"/>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Publica al namespace del cliente</a:t>
            </a:r>
            <a:endParaRPr lang="en-US" sz="850" dirty="0"/>
          </a:p>
        </p:txBody>
      </p:sp>
      <p:sp>
        <p:nvSpPr>
          <p:cNvPr id="59" name="Text 57"/>
          <p:cNvSpPr/>
          <p:nvPr/>
        </p:nvSpPr>
        <p:spPr>
          <a:xfrm>
            <a:off x="9637776" y="1810512"/>
            <a:ext cx="2112264" cy="219456"/>
          </a:xfrm>
          <a:prstGeom prst="rect">
            <a:avLst/>
          </a:prstGeom>
          <a:noFill/>
          <a:ln/>
        </p:spPr>
        <p:txBody>
          <a:bodyPr wrap="square" lIns="0" tIns="0" rIns="0" bIns="0" rtlCol="0" anchor="ctr"/>
          <a:lstStyle/>
          <a:p>
            <a:pPr algn="ctr" indent="0" marL="0">
              <a:buNone/>
            </a:pPr>
            <a:r>
              <a:rPr lang="en-US" sz="900" b="1" spc="120" kern="0" dirty="0">
                <a:solidFill>
                  <a:srgbClr val="3E6FC7"/>
                </a:solidFill>
                <a:latin typeface="Arial" pitchFamily="34" charset="0"/>
                <a:ea typeface="Arial" pitchFamily="34" charset="-122"/>
                <a:cs typeface="Arial" pitchFamily="34" charset="-120"/>
              </a:rPr>
              <a:t>EL CICLO</a:t>
            </a:r>
            <a:endParaRPr lang="en-US" sz="900" dirty="0"/>
          </a:p>
        </p:txBody>
      </p:sp>
      <p:sp>
        <p:nvSpPr>
          <p:cNvPr id="60" name="Shape 58"/>
          <p:cNvSpPr/>
          <p:nvPr/>
        </p:nvSpPr>
        <p:spPr>
          <a:xfrm>
            <a:off x="9637776" y="2048256"/>
            <a:ext cx="2112264" cy="25603"/>
          </a:xfrm>
          <a:prstGeom prst="rect">
            <a:avLst/>
          </a:prstGeom>
          <a:solidFill>
            <a:srgbClr val="3E6FC7"/>
          </a:solidFill>
          <a:ln/>
        </p:spPr>
      </p:sp>
      <p:sp>
        <p:nvSpPr>
          <p:cNvPr id="61" name="Text 59"/>
          <p:cNvSpPr/>
          <p:nvPr/>
        </p:nvSpPr>
        <p:spPr>
          <a:xfrm>
            <a:off x="9637776" y="2157984"/>
            <a:ext cx="548640" cy="384048"/>
          </a:xfrm>
          <a:prstGeom prst="rect">
            <a:avLst/>
          </a:prstGeom>
          <a:noFill/>
          <a:ln/>
        </p:spPr>
        <p:txBody>
          <a:bodyPr wrap="square" lIns="0" tIns="0" rIns="0" bIns="0" rtlCol="0" anchor="ctr"/>
          <a:lstStyle/>
          <a:p>
            <a:pPr indent="0" marL="0">
              <a:buNone/>
            </a:pPr>
            <a:r>
              <a:rPr lang="en-US" sz="2200" b="1" dirty="0">
                <a:solidFill>
                  <a:srgbClr val="B9CDEA"/>
                </a:solidFill>
                <a:latin typeface="Arial" pitchFamily="34" charset="0"/>
                <a:ea typeface="Arial" pitchFamily="34" charset="-122"/>
                <a:cs typeface="Arial" pitchFamily="34" charset="-120"/>
              </a:rPr>
              <a:t>05</a:t>
            </a:r>
            <a:endParaRPr lang="en-US" sz="2200" dirty="0"/>
          </a:p>
        </p:txBody>
      </p:sp>
      <p:sp>
        <p:nvSpPr>
          <p:cNvPr id="62" name="Text 60"/>
          <p:cNvSpPr/>
          <p:nvPr/>
        </p:nvSpPr>
        <p:spPr>
          <a:xfrm>
            <a:off x="10168128" y="2139696"/>
            <a:ext cx="1581912" cy="219456"/>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Sostener el modelo</a:t>
            </a:r>
            <a:endParaRPr lang="en-US" sz="1050" dirty="0"/>
          </a:p>
        </p:txBody>
      </p:sp>
      <p:sp>
        <p:nvSpPr>
          <p:cNvPr id="63" name="Text 61"/>
          <p:cNvSpPr/>
          <p:nvPr/>
        </p:nvSpPr>
        <p:spPr>
          <a:xfrm>
            <a:off x="10168128" y="2340864"/>
            <a:ext cx="1581912" cy="201168"/>
          </a:xfrm>
          <a:prstGeom prst="rect">
            <a:avLst/>
          </a:prstGeom>
          <a:noFill/>
          <a:ln/>
        </p:spPr>
        <p:txBody>
          <a:bodyPr wrap="square" lIns="0" tIns="0" rIns="0" bIns="0" rtlCol="0" anchor="ctr"/>
          <a:lstStyle/>
          <a:p>
            <a:pPr indent="0" marL="0">
              <a:buNone/>
            </a:pPr>
            <a:r>
              <a:rPr lang="en-US" sz="900" i="1" dirty="0">
                <a:solidFill>
                  <a:srgbClr val="5A5A5A"/>
                </a:solidFill>
                <a:latin typeface="Arial" pitchFamily="34" charset="0"/>
                <a:ea typeface="Arial" pitchFamily="34" charset="-122"/>
                <a:cs typeface="Arial" pitchFamily="34" charset="-120"/>
              </a:rPr>
              <a:t>no solo desplegarlo</a:t>
            </a:r>
            <a:endParaRPr lang="en-US" sz="900" dirty="0"/>
          </a:p>
        </p:txBody>
      </p:sp>
      <p:sp>
        <p:nvSpPr>
          <p:cNvPr id="64" name="Text 62"/>
          <p:cNvSpPr/>
          <p:nvPr/>
        </p:nvSpPr>
        <p:spPr>
          <a:xfrm>
            <a:off x="9637776" y="2651760"/>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65" name="Text 63"/>
          <p:cNvSpPr/>
          <p:nvPr/>
        </p:nvSpPr>
        <p:spPr>
          <a:xfrm>
            <a:off x="9802368" y="2651760"/>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Validación previa y sombra</a:t>
            </a:r>
            <a:endParaRPr lang="en-US" sz="850" dirty="0"/>
          </a:p>
        </p:txBody>
      </p:sp>
      <p:sp>
        <p:nvSpPr>
          <p:cNvPr id="66" name="Text 64"/>
          <p:cNvSpPr/>
          <p:nvPr/>
        </p:nvSpPr>
        <p:spPr>
          <a:xfrm>
            <a:off x="9637776" y="2907792"/>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67" name="Text 65"/>
          <p:cNvSpPr/>
          <p:nvPr/>
        </p:nvSpPr>
        <p:spPr>
          <a:xfrm>
            <a:off x="9802368" y="2907792"/>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Canario con reversa automática</a:t>
            </a:r>
            <a:endParaRPr lang="en-US" sz="850" dirty="0"/>
          </a:p>
        </p:txBody>
      </p:sp>
      <p:sp>
        <p:nvSpPr>
          <p:cNvPr id="68" name="Text 66"/>
          <p:cNvSpPr/>
          <p:nvPr/>
        </p:nvSpPr>
        <p:spPr>
          <a:xfrm>
            <a:off x="9637776" y="3163824"/>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69" name="Text 67"/>
          <p:cNvSpPr/>
          <p:nvPr/>
        </p:nvSpPr>
        <p:spPr>
          <a:xfrm>
            <a:off x="9802368" y="3163824"/>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Federado si el dato no se mueve</a:t>
            </a:r>
            <a:endParaRPr lang="en-US" sz="850" dirty="0"/>
          </a:p>
        </p:txBody>
      </p:sp>
      <p:sp>
        <p:nvSpPr>
          <p:cNvPr id="70" name="Text 68"/>
          <p:cNvSpPr/>
          <p:nvPr/>
        </p:nvSpPr>
        <p:spPr>
          <a:xfrm>
            <a:off x="9637776" y="3419856"/>
            <a:ext cx="146304" cy="219456"/>
          </a:xfrm>
          <a:prstGeom prst="rect">
            <a:avLst/>
          </a:prstGeom>
          <a:noFill/>
          <a:ln/>
        </p:spPr>
        <p:txBody>
          <a:bodyPr wrap="square" lIns="0" tIns="0" rIns="0" bIns="0" rtlCol="0" anchor="ctr"/>
          <a:lstStyle/>
          <a:p>
            <a:pPr indent="0" marL="0">
              <a:buNone/>
            </a:pPr>
            <a:r>
              <a:rPr lang="en-US" sz="900" dirty="0">
                <a:solidFill>
                  <a:srgbClr val="5A5A5A"/>
                </a:solidFill>
                <a:latin typeface="Arial" pitchFamily="34" charset="0"/>
                <a:ea typeface="Arial" pitchFamily="34" charset="-122"/>
                <a:cs typeface="Arial" pitchFamily="34" charset="-120"/>
              </a:rPr>
              <a:t>•</a:t>
            </a:r>
            <a:endParaRPr lang="en-US" sz="900" dirty="0"/>
          </a:p>
        </p:txBody>
      </p:sp>
      <p:sp>
        <p:nvSpPr>
          <p:cNvPr id="71" name="Text 69"/>
          <p:cNvSpPr/>
          <p:nvPr/>
        </p:nvSpPr>
        <p:spPr>
          <a:xfrm>
            <a:off x="9802368" y="3419856"/>
            <a:ext cx="1947672" cy="219456"/>
          </a:xfrm>
          <a:prstGeom prst="rect">
            <a:avLst/>
          </a:prstGeom>
          <a:noFill/>
          <a:ln/>
        </p:spPr>
        <p:txBody>
          <a:bodyPr wrap="square" lIns="0" tIns="0" rIns="0" bIns="0" rtlCol="0" anchor="ctr"/>
          <a:lstStyle/>
          <a:p>
            <a:pPr indent="0" marL="0">
              <a:buNone/>
            </a:pPr>
            <a:r>
              <a:rPr lang="en-US" sz="850" dirty="0">
                <a:solidFill>
                  <a:srgbClr val="1A1A1A"/>
                </a:solidFill>
                <a:latin typeface="Arial" pitchFamily="34" charset="0"/>
                <a:ea typeface="Arial" pitchFamily="34" charset="-122"/>
                <a:cs typeface="Arial" pitchFamily="34" charset="-120"/>
              </a:rPr>
              <a:t>Multinube y on-premise</a:t>
            </a:r>
            <a:endParaRPr lang="en-US" sz="850" dirty="0"/>
          </a:p>
        </p:txBody>
      </p:sp>
      <p:sp>
        <p:nvSpPr>
          <p:cNvPr id="72" name="Shape 70"/>
          <p:cNvSpPr/>
          <p:nvPr/>
        </p:nvSpPr>
        <p:spPr>
          <a:xfrm>
            <a:off x="457200" y="4041648"/>
            <a:ext cx="5532120" cy="2194560"/>
          </a:xfrm>
          <a:prstGeom prst="roundRect">
            <a:avLst>
              <a:gd name="adj" fmla="val 2500"/>
            </a:avLst>
          </a:prstGeom>
          <a:solidFill>
            <a:srgbClr val="FFFFFF"/>
          </a:solidFill>
          <a:ln w="9525">
            <a:solidFill>
              <a:srgbClr val="DCDFE5"/>
            </a:solidFill>
            <a:prstDash val="solid"/>
          </a:ln>
        </p:spPr>
      </p:sp>
      <p:sp>
        <p:nvSpPr>
          <p:cNvPr id="73" name="Text 71"/>
          <p:cNvSpPr/>
          <p:nvPr/>
        </p:nvSpPr>
        <p:spPr>
          <a:xfrm>
            <a:off x="694944" y="4151376"/>
            <a:ext cx="3200400" cy="274320"/>
          </a:xfrm>
          <a:prstGeom prst="rect">
            <a:avLst/>
          </a:prstGeom>
          <a:noFill/>
          <a:ln/>
        </p:spPr>
        <p:txBody>
          <a:bodyPr wrap="square" lIns="0" tIns="0" rIns="0" bIns="0" rtlCol="0" anchor="ctr"/>
          <a:lstStyle/>
          <a:p>
            <a:pPr indent="0" marL="0">
              <a:buNone/>
            </a:pPr>
            <a:r>
              <a:rPr lang="en-US" sz="1400" b="1" dirty="0">
                <a:solidFill>
                  <a:srgbClr val="3E6FC7"/>
                </a:solidFill>
                <a:latin typeface="Arial" pitchFamily="34" charset="0"/>
                <a:ea typeface="Arial" pitchFamily="34" charset="-122"/>
                <a:cs typeface="Arial" pitchFamily="34" charset="-120"/>
              </a:rPr>
              <a:t>¿Por qué EPAM?</a:t>
            </a:r>
            <a:endParaRPr lang="en-US" sz="1400" dirty="0"/>
          </a:p>
        </p:txBody>
      </p:sp>
      <p:sp>
        <p:nvSpPr>
          <p:cNvPr id="74" name="Text 72"/>
          <p:cNvSpPr/>
          <p:nvPr/>
        </p:nvSpPr>
        <p:spPr>
          <a:xfrm>
            <a:off x="694944" y="4553712"/>
            <a:ext cx="4480560" cy="457200"/>
          </a:xfrm>
          <a:prstGeom prst="rect">
            <a:avLst/>
          </a:prstGeom>
          <a:noFill/>
          <a:ln/>
        </p:spPr>
        <p:txBody>
          <a:bodyPr wrap="square" lIns="0" tIns="0" rIns="0" bIns="0" rtlCol="0" anchor="t"/>
          <a:lstStyle/>
          <a:p>
            <a:pPr indent="0" marL="0">
              <a:buNone/>
            </a:pPr>
            <a:r>
              <a:rPr lang="en-US" sz="850" dirty="0">
                <a:solidFill>
                  <a:srgbClr val="1A1A1A"/>
                </a:solidFill>
                <a:latin typeface="Arial" pitchFamily="34" charset="0"/>
                <a:ea typeface="Arial" pitchFamily="34" charset="-122"/>
                <a:cs typeface="Arial" pitchFamily="34" charset="-120"/>
              </a:rPr>
              <a:t>Extiende, no reemplaza: el evento se publica hacia el namespace y la nube que el cliente ya opera. Compatible con Sparkplug B e ISA-95.</a:t>
            </a:r>
            <a:endParaRPr lang="en-US" sz="850" dirty="0"/>
          </a:p>
        </p:txBody>
      </p:sp>
      <p:pic>
        <p:nvPicPr>
          <p:cNvPr id="75" name="Image 0" descr="preencoded.png">    </p:cNvPr>
          <p:cNvPicPr>
            <a:picLocks noChangeAspect="1"/>
          </p:cNvPicPr>
          <p:nvPr/>
        </p:nvPicPr>
        <p:blipFill>
          <a:blip r:embed="rId1"/>
          <a:stretch>
            <a:fillRect/>
          </a:stretch>
        </p:blipFill>
        <p:spPr>
          <a:xfrm rot="2700000">
            <a:off x="5468112" y="4626864"/>
            <a:ext cx="146304" cy="146304"/>
          </a:xfrm>
          <a:prstGeom prst="rect">
            <a:avLst/>
          </a:prstGeom>
        </p:spPr>
      </p:pic>
      <p:sp>
        <p:nvSpPr>
          <p:cNvPr id="76" name="Shape 73"/>
          <p:cNvSpPr/>
          <p:nvPr/>
        </p:nvSpPr>
        <p:spPr>
          <a:xfrm>
            <a:off x="694944" y="5029200"/>
            <a:ext cx="5029200" cy="7315"/>
          </a:xfrm>
          <a:prstGeom prst="rect">
            <a:avLst/>
          </a:prstGeom>
          <a:solidFill>
            <a:srgbClr val="DCDFE5"/>
          </a:solidFill>
          <a:ln/>
        </p:spPr>
      </p:sp>
      <p:sp>
        <p:nvSpPr>
          <p:cNvPr id="77" name="Text 74"/>
          <p:cNvSpPr/>
          <p:nvPr/>
        </p:nvSpPr>
        <p:spPr>
          <a:xfrm>
            <a:off x="694944" y="5102352"/>
            <a:ext cx="4480560" cy="457200"/>
          </a:xfrm>
          <a:prstGeom prst="rect">
            <a:avLst/>
          </a:prstGeom>
          <a:noFill/>
          <a:ln/>
        </p:spPr>
        <p:txBody>
          <a:bodyPr wrap="square" lIns="0" tIns="0" rIns="0" bIns="0" rtlCol="0" anchor="t"/>
          <a:lstStyle/>
          <a:p>
            <a:pPr indent="0" marL="0">
              <a:buNone/>
            </a:pPr>
            <a:r>
              <a:rPr lang="en-US" sz="850" dirty="0">
                <a:solidFill>
                  <a:srgbClr val="1A1A1A"/>
                </a:solidFill>
                <a:latin typeface="Arial" pitchFamily="34" charset="0"/>
                <a:ea typeface="Arial" pitchFamily="34" charset="-122"/>
                <a:cs typeface="Arial" pitchFamily="34" charset="-120"/>
              </a:rPr>
              <a:t>Determinismo auditable: la detección la hace un modelo medible y versionado. El lenguaje razona sobre eventos, nunca sobre píxeles.</a:t>
            </a:r>
            <a:endParaRPr lang="en-US" sz="850" dirty="0"/>
          </a:p>
        </p:txBody>
      </p:sp>
      <p:pic>
        <p:nvPicPr>
          <p:cNvPr id="78" name="Image 1" descr="preencoded.png">    </p:cNvPr>
          <p:cNvPicPr>
            <a:picLocks noChangeAspect="1"/>
          </p:cNvPicPr>
          <p:nvPr/>
        </p:nvPicPr>
        <p:blipFill>
          <a:blip r:embed="rId2"/>
          <a:stretch>
            <a:fillRect/>
          </a:stretch>
        </p:blipFill>
        <p:spPr>
          <a:xfrm rot="2700000">
            <a:off x="5468112" y="5175504"/>
            <a:ext cx="146304" cy="146304"/>
          </a:xfrm>
          <a:prstGeom prst="rect">
            <a:avLst/>
          </a:prstGeom>
        </p:spPr>
      </p:pic>
      <p:sp>
        <p:nvSpPr>
          <p:cNvPr id="79" name="Shape 75"/>
          <p:cNvSpPr/>
          <p:nvPr/>
        </p:nvSpPr>
        <p:spPr>
          <a:xfrm>
            <a:off x="694944" y="5577840"/>
            <a:ext cx="5029200" cy="7315"/>
          </a:xfrm>
          <a:prstGeom prst="rect">
            <a:avLst/>
          </a:prstGeom>
          <a:solidFill>
            <a:srgbClr val="DCDFE5"/>
          </a:solidFill>
          <a:ln/>
        </p:spPr>
      </p:sp>
      <p:sp>
        <p:nvSpPr>
          <p:cNvPr id="80" name="Text 76"/>
          <p:cNvSpPr/>
          <p:nvPr/>
        </p:nvSpPr>
        <p:spPr>
          <a:xfrm>
            <a:off x="694944" y="5650992"/>
            <a:ext cx="4480560" cy="457200"/>
          </a:xfrm>
          <a:prstGeom prst="rect">
            <a:avLst/>
          </a:prstGeom>
          <a:noFill/>
          <a:ln/>
        </p:spPr>
        <p:txBody>
          <a:bodyPr wrap="square" lIns="0" tIns="0" rIns="0" bIns="0" rtlCol="0" anchor="t"/>
          <a:lstStyle/>
          <a:p>
            <a:pPr indent="0" marL="0">
              <a:buNone/>
            </a:pPr>
            <a:r>
              <a:rPr lang="en-US" sz="850" dirty="0">
                <a:solidFill>
                  <a:srgbClr val="1A1A1A"/>
                </a:solidFill>
                <a:latin typeface="Arial" pitchFamily="34" charset="0"/>
                <a:ea typeface="Arial" pitchFamily="34" charset="-122"/>
                <a:cs typeface="Arial" pitchFamily="34" charset="-120"/>
              </a:rPr>
              <a:t>Activo de oferta, no producto: no cambia lo que el cliente compra. Cambia lo que nos cuesta entregarlo desde el segundo proyecto.</a:t>
            </a:r>
            <a:endParaRPr lang="en-US" sz="850" dirty="0"/>
          </a:p>
        </p:txBody>
      </p:sp>
      <p:pic>
        <p:nvPicPr>
          <p:cNvPr id="81" name="Image 2" descr="preencoded.png">    </p:cNvPr>
          <p:cNvPicPr>
            <a:picLocks noChangeAspect="1"/>
          </p:cNvPicPr>
          <p:nvPr/>
        </p:nvPicPr>
        <p:blipFill>
          <a:blip r:embed="rId3"/>
          <a:stretch>
            <a:fillRect/>
          </a:stretch>
        </p:blipFill>
        <p:spPr>
          <a:xfrm rot="2700000">
            <a:off x="5468112" y="5724144"/>
            <a:ext cx="146304" cy="146304"/>
          </a:xfrm>
          <a:prstGeom prst="rect">
            <a:avLst/>
          </a:prstGeom>
        </p:spPr>
      </p:pic>
      <p:sp>
        <p:nvSpPr>
          <p:cNvPr id="82" name="Shape 77"/>
          <p:cNvSpPr/>
          <p:nvPr/>
        </p:nvSpPr>
        <p:spPr>
          <a:xfrm>
            <a:off x="6172200" y="4041648"/>
            <a:ext cx="3246120" cy="2194560"/>
          </a:xfrm>
          <a:prstGeom prst="roundRect">
            <a:avLst>
              <a:gd name="adj" fmla="val 2500"/>
            </a:avLst>
          </a:prstGeom>
          <a:solidFill>
            <a:srgbClr val="FFFFFF"/>
          </a:solidFill>
          <a:ln w="9525">
            <a:solidFill>
              <a:srgbClr val="DCDFE5"/>
            </a:solidFill>
            <a:prstDash val="solid"/>
          </a:ln>
        </p:spPr>
      </p:sp>
      <p:sp>
        <p:nvSpPr>
          <p:cNvPr id="83" name="Text 78"/>
          <p:cNvSpPr/>
          <p:nvPr/>
        </p:nvSpPr>
        <p:spPr>
          <a:xfrm>
            <a:off x="6391656" y="4151376"/>
            <a:ext cx="283464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Objetivos de diseño</a:t>
            </a:r>
            <a:endParaRPr lang="en-US" sz="1300" dirty="0"/>
          </a:p>
        </p:txBody>
      </p:sp>
      <p:sp>
        <p:nvSpPr>
          <p:cNvPr id="84" name="Text 79"/>
          <p:cNvSpPr/>
          <p:nvPr/>
        </p:nvSpPr>
        <p:spPr>
          <a:xfrm>
            <a:off x="6391656" y="4572000"/>
            <a:ext cx="1371600" cy="292608"/>
          </a:xfrm>
          <a:prstGeom prst="rect">
            <a:avLst/>
          </a:prstGeom>
          <a:noFill/>
          <a:ln/>
        </p:spPr>
        <p:txBody>
          <a:bodyPr wrap="square" lIns="0" tIns="0" rIns="0" bIns="0" rtlCol="0" anchor="ctr"/>
          <a:lstStyle/>
          <a:p>
            <a:pPr indent="0" marL="0">
              <a:buNone/>
            </a:pPr>
            <a:r>
              <a:rPr lang="en-US" sz="1600" b="1" dirty="0">
                <a:solidFill>
                  <a:srgbClr val="3E6FC7"/>
                </a:solidFill>
                <a:latin typeface="Arial" pitchFamily="34" charset="0"/>
                <a:ea typeface="Arial" pitchFamily="34" charset="-122"/>
                <a:cs typeface="Arial" pitchFamily="34" charset="-120"/>
              </a:rPr>
              <a:t>2 piezas</a:t>
            </a:r>
            <a:endParaRPr lang="en-US" sz="1600" dirty="0"/>
          </a:p>
        </p:txBody>
      </p:sp>
      <p:sp>
        <p:nvSpPr>
          <p:cNvPr id="85" name="Text 80"/>
          <p:cNvSpPr/>
          <p:nvPr/>
        </p:nvSpPr>
        <p:spPr>
          <a:xfrm>
            <a:off x="6391656" y="4855464"/>
            <a:ext cx="1371600" cy="420624"/>
          </a:xfrm>
          <a:prstGeom prst="rect">
            <a:avLst/>
          </a:prstGeom>
          <a:noFill/>
          <a:ln/>
        </p:spPr>
        <p:txBody>
          <a:bodyPr wrap="square" lIns="0" tIns="0" rIns="0" bIns="0" rtlCol="0" anchor="t"/>
          <a:lstStyle/>
          <a:p>
            <a:pPr indent="0" marL="0">
              <a:buNone/>
            </a:pPr>
            <a:r>
              <a:rPr lang="en-US" sz="750" dirty="0">
                <a:solidFill>
                  <a:srgbClr val="5A5A5A"/>
                </a:solidFill>
                <a:latin typeface="Arial" pitchFamily="34" charset="0"/>
                <a:ea typeface="Arial" pitchFamily="34" charset="-122"/>
                <a:cs typeface="Arial" pitchFamily="34" charset="-120"/>
              </a:rPr>
              <a:t>es todo lo que cambia por industria nueva</a:t>
            </a:r>
            <a:endParaRPr lang="en-US" sz="750" dirty="0"/>
          </a:p>
        </p:txBody>
      </p:sp>
      <p:sp>
        <p:nvSpPr>
          <p:cNvPr id="86" name="Text 81"/>
          <p:cNvSpPr/>
          <p:nvPr/>
        </p:nvSpPr>
        <p:spPr>
          <a:xfrm>
            <a:off x="7872984" y="4572000"/>
            <a:ext cx="1371600" cy="292608"/>
          </a:xfrm>
          <a:prstGeom prst="rect">
            <a:avLst/>
          </a:prstGeom>
          <a:noFill/>
          <a:ln/>
        </p:spPr>
        <p:txBody>
          <a:bodyPr wrap="square" lIns="0" tIns="0" rIns="0" bIns="0" rtlCol="0" anchor="ctr"/>
          <a:lstStyle/>
          <a:p>
            <a:pPr indent="0" marL="0">
              <a:buNone/>
            </a:pPr>
            <a:r>
              <a:rPr lang="en-US" sz="1600" b="1" dirty="0">
                <a:solidFill>
                  <a:srgbClr val="3E6FC7"/>
                </a:solidFill>
                <a:latin typeface="Arial" pitchFamily="34" charset="0"/>
                <a:ea typeface="Arial" pitchFamily="34" charset="-122"/>
                <a:cs typeface="Arial" pitchFamily="34" charset="-120"/>
              </a:rPr>
              <a:t>1 contrato</a:t>
            </a:r>
            <a:endParaRPr lang="en-US" sz="1600" dirty="0"/>
          </a:p>
        </p:txBody>
      </p:sp>
      <p:sp>
        <p:nvSpPr>
          <p:cNvPr id="87" name="Text 82"/>
          <p:cNvSpPr/>
          <p:nvPr/>
        </p:nvSpPr>
        <p:spPr>
          <a:xfrm>
            <a:off x="7872984" y="4855464"/>
            <a:ext cx="1371600" cy="420624"/>
          </a:xfrm>
          <a:prstGeom prst="rect">
            <a:avLst/>
          </a:prstGeom>
          <a:noFill/>
          <a:ln/>
        </p:spPr>
        <p:txBody>
          <a:bodyPr wrap="square" lIns="0" tIns="0" rIns="0" bIns="0" rtlCol="0" anchor="t"/>
          <a:lstStyle/>
          <a:p>
            <a:pPr indent="0" marL="0">
              <a:buNone/>
            </a:pPr>
            <a:r>
              <a:rPr lang="en-US" sz="750" dirty="0">
                <a:solidFill>
                  <a:srgbClr val="5A5A5A"/>
                </a:solidFill>
                <a:latin typeface="Arial" pitchFamily="34" charset="0"/>
                <a:ea typeface="Arial" pitchFamily="34" charset="-122"/>
                <a:cs typeface="Arial" pitchFamily="34" charset="-120"/>
              </a:rPr>
              <a:t>para todos los consumidores, sin importar la fuente</a:t>
            </a:r>
            <a:endParaRPr lang="en-US" sz="750" dirty="0"/>
          </a:p>
        </p:txBody>
      </p:sp>
      <p:sp>
        <p:nvSpPr>
          <p:cNvPr id="88" name="Text 83"/>
          <p:cNvSpPr/>
          <p:nvPr/>
        </p:nvSpPr>
        <p:spPr>
          <a:xfrm>
            <a:off x="6391656" y="5358384"/>
            <a:ext cx="1371600" cy="292608"/>
          </a:xfrm>
          <a:prstGeom prst="rect">
            <a:avLst/>
          </a:prstGeom>
          <a:noFill/>
          <a:ln/>
        </p:spPr>
        <p:txBody>
          <a:bodyPr wrap="square" lIns="0" tIns="0" rIns="0" bIns="0" rtlCol="0" anchor="ctr"/>
          <a:lstStyle/>
          <a:p>
            <a:pPr indent="0" marL="0">
              <a:buNone/>
            </a:pPr>
            <a:r>
              <a:rPr lang="en-US" sz="1600" b="1" dirty="0">
                <a:solidFill>
                  <a:srgbClr val="3E6FC7"/>
                </a:solidFill>
                <a:latin typeface="Arial" pitchFamily="34" charset="0"/>
                <a:ea typeface="Arial" pitchFamily="34" charset="-122"/>
                <a:cs typeface="Arial" pitchFamily="34" charset="-120"/>
              </a:rPr>
              <a:t>100%</a:t>
            </a:r>
            <a:endParaRPr lang="en-US" sz="1600" dirty="0"/>
          </a:p>
        </p:txBody>
      </p:sp>
      <p:sp>
        <p:nvSpPr>
          <p:cNvPr id="89" name="Text 84"/>
          <p:cNvSpPr/>
          <p:nvPr/>
        </p:nvSpPr>
        <p:spPr>
          <a:xfrm>
            <a:off x="6391656" y="5641848"/>
            <a:ext cx="1371600" cy="420624"/>
          </a:xfrm>
          <a:prstGeom prst="rect">
            <a:avLst/>
          </a:prstGeom>
          <a:noFill/>
          <a:ln/>
        </p:spPr>
        <p:txBody>
          <a:bodyPr wrap="square" lIns="0" tIns="0" rIns="0" bIns="0" rtlCol="0" anchor="t"/>
          <a:lstStyle/>
          <a:p>
            <a:pPr indent="0" marL="0">
              <a:buNone/>
            </a:pPr>
            <a:r>
              <a:rPr lang="en-US" sz="750" dirty="0">
                <a:solidFill>
                  <a:srgbClr val="5A5A5A"/>
                </a:solidFill>
                <a:latin typeface="Arial" pitchFamily="34" charset="0"/>
                <a:ea typeface="Arial" pitchFamily="34" charset="-122"/>
                <a:cs typeface="Arial" pitchFamily="34" charset="-120"/>
              </a:rPr>
              <a:t>de eventos trazables a modelo, versión y hash</a:t>
            </a:r>
            <a:endParaRPr lang="en-US" sz="750" dirty="0"/>
          </a:p>
        </p:txBody>
      </p:sp>
      <p:sp>
        <p:nvSpPr>
          <p:cNvPr id="90" name="Text 85"/>
          <p:cNvSpPr/>
          <p:nvPr/>
        </p:nvSpPr>
        <p:spPr>
          <a:xfrm>
            <a:off x="7872984" y="5358384"/>
            <a:ext cx="1371600" cy="292608"/>
          </a:xfrm>
          <a:prstGeom prst="rect">
            <a:avLst/>
          </a:prstGeom>
          <a:noFill/>
          <a:ln/>
        </p:spPr>
        <p:txBody>
          <a:bodyPr wrap="square" lIns="0" tIns="0" rIns="0" bIns="0" rtlCol="0" anchor="ctr"/>
          <a:lstStyle/>
          <a:p>
            <a:pPr indent="0" marL="0">
              <a:buNone/>
            </a:pPr>
            <a:r>
              <a:rPr lang="en-US" sz="1600" b="1" dirty="0">
                <a:solidFill>
                  <a:srgbClr val="3E6FC7"/>
                </a:solidFill>
                <a:latin typeface="Arial" pitchFamily="34" charset="0"/>
                <a:ea typeface="Arial" pitchFamily="34" charset="-122"/>
                <a:cs typeface="Arial" pitchFamily="34" charset="-120"/>
              </a:rPr>
              <a:t>4 nubes</a:t>
            </a:r>
            <a:endParaRPr lang="en-US" sz="1600" dirty="0"/>
          </a:p>
        </p:txBody>
      </p:sp>
      <p:sp>
        <p:nvSpPr>
          <p:cNvPr id="91" name="Text 86"/>
          <p:cNvSpPr/>
          <p:nvPr/>
        </p:nvSpPr>
        <p:spPr>
          <a:xfrm>
            <a:off x="7872984" y="5641848"/>
            <a:ext cx="1371600" cy="420624"/>
          </a:xfrm>
          <a:prstGeom prst="rect">
            <a:avLst/>
          </a:prstGeom>
          <a:noFill/>
          <a:ln/>
        </p:spPr>
        <p:txBody>
          <a:bodyPr wrap="square" lIns="0" tIns="0" rIns="0" bIns="0" rtlCol="0" anchor="t"/>
          <a:lstStyle/>
          <a:p>
            <a:pPr indent="0" marL="0">
              <a:buNone/>
            </a:pPr>
            <a:r>
              <a:rPr lang="en-US" sz="750" dirty="0">
                <a:solidFill>
                  <a:srgbClr val="5A5A5A"/>
                </a:solidFill>
                <a:latin typeface="Arial" pitchFamily="34" charset="0"/>
                <a:ea typeface="Arial" pitchFamily="34" charset="-122"/>
                <a:cs typeface="Arial" pitchFamily="34" charset="-120"/>
              </a:rPr>
              <a:t>con despliegue de referencia escrito una vez</a:t>
            </a:r>
            <a:endParaRPr lang="en-US" sz="750" dirty="0"/>
          </a:p>
        </p:txBody>
      </p:sp>
      <p:sp>
        <p:nvSpPr>
          <p:cNvPr id="92" name="Shape 87"/>
          <p:cNvSpPr/>
          <p:nvPr/>
        </p:nvSpPr>
        <p:spPr>
          <a:xfrm>
            <a:off x="7845552" y="4572000"/>
            <a:ext cx="7315" cy="1463040"/>
          </a:xfrm>
          <a:prstGeom prst="rect">
            <a:avLst/>
          </a:prstGeom>
          <a:solidFill>
            <a:srgbClr val="DCDFE5"/>
          </a:solidFill>
          <a:ln/>
        </p:spPr>
      </p:sp>
      <p:sp>
        <p:nvSpPr>
          <p:cNvPr id="93" name="Shape 88"/>
          <p:cNvSpPr/>
          <p:nvPr/>
        </p:nvSpPr>
        <p:spPr>
          <a:xfrm>
            <a:off x="6391656" y="5285232"/>
            <a:ext cx="2834640" cy="7315"/>
          </a:xfrm>
          <a:prstGeom prst="rect">
            <a:avLst/>
          </a:prstGeom>
          <a:solidFill>
            <a:srgbClr val="DCDFE5"/>
          </a:solidFill>
          <a:ln/>
        </p:spPr>
      </p:sp>
      <p:sp>
        <p:nvSpPr>
          <p:cNvPr id="94" name="Text 89"/>
          <p:cNvSpPr/>
          <p:nvPr/>
        </p:nvSpPr>
        <p:spPr>
          <a:xfrm>
            <a:off x="9601200" y="4224528"/>
            <a:ext cx="2194560" cy="603504"/>
          </a:xfrm>
          <a:prstGeom prst="rect">
            <a:avLst/>
          </a:prstGeom>
          <a:noFill/>
          <a:ln/>
        </p:spPr>
        <p:txBody>
          <a:bodyPr wrap="square" lIns="0" tIns="0" rIns="0" bIns="0" rtlCol="0" anchor="ctr"/>
          <a:lstStyle/>
          <a:p>
            <a:pPr algn="ctr" indent="0" marL="0">
              <a:buNone/>
            </a:pPr>
            <a:r>
              <a:rPr lang="en-US" sz="1150" b="1" i="1" dirty="0">
                <a:solidFill>
                  <a:srgbClr val="3E6FC7"/>
                </a:solidFill>
                <a:latin typeface="Arial" pitchFamily="34" charset="0"/>
                <a:ea typeface="Arial" pitchFamily="34" charset="-122"/>
                <a:cs typeface="Arial" pitchFamily="34" charset="-120"/>
              </a:rPr>
              <a:t>¿Listos para dejar de construir</a:t>
            </a:r>
            <a:endParaRPr lang="en-US" sz="1150" dirty="0"/>
          </a:p>
          <a:p>
            <a:pPr algn="ctr" indent="0" marL="0">
              <a:buNone/>
            </a:pPr>
            <a:r>
              <a:rPr lang="en-US" sz="1150" b="1" i="1" dirty="0">
                <a:solidFill>
                  <a:srgbClr val="3E6FC7"/>
                </a:solidFill>
                <a:latin typeface="Arial" pitchFamily="34" charset="0"/>
                <a:ea typeface="Arial" pitchFamily="34" charset="-122"/>
                <a:cs typeface="Arial" pitchFamily="34" charset="-120"/>
              </a:rPr>
              <a:t>lo mismo cada vez?</a:t>
            </a:r>
            <a:endParaRPr lang="en-US" sz="1150" dirty="0"/>
          </a:p>
        </p:txBody>
      </p:sp>
      <p:sp>
        <p:nvSpPr>
          <p:cNvPr id="95" name="Shape 90"/>
          <p:cNvSpPr/>
          <p:nvPr/>
        </p:nvSpPr>
        <p:spPr>
          <a:xfrm>
            <a:off x="9601200" y="4974336"/>
            <a:ext cx="2194560" cy="274320"/>
          </a:xfrm>
          <a:prstGeom prst="roundRect">
            <a:avLst>
              <a:gd name="adj" fmla="val 50000"/>
            </a:avLst>
          </a:prstGeom>
          <a:solidFill>
            <a:srgbClr val="FFFFFF"/>
          </a:solidFill>
          <a:ln w="9525">
            <a:solidFill>
              <a:srgbClr val="3E6FC7"/>
            </a:solidFill>
            <a:prstDash val="solid"/>
          </a:ln>
        </p:spPr>
      </p:sp>
      <p:sp>
        <p:nvSpPr>
          <p:cNvPr id="96" name="Text 91"/>
          <p:cNvSpPr/>
          <p:nvPr/>
        </p:nvSpPr>
        <p:spPr>
          <a:xfrm>
            <a:off x="9601200" y="4974336"/>
            <a:ext cx="2194560" cy="274320"/>
          </a:xfrm>
          <a:prstGeom prst="rect">
            <a:avLst/>
          </a:prstGeom>
          <a:noFill/>
          <a:ln/>
        </p:spPr>
        <p:txBody>
          <a:bodyPr wrap="square" lIns="0" tIns="0" rIns="0" bIns="0" rtlCol="0" anchor="ctr"/>
          <a:lstStyle/>
          <a:p>
            <a:pPr algn="ctr" indent="0" marL="0">
              <a:buNone/>
            </a:pPr>
            <a:r>
              <a:rPr lang="en-US" sz="750" dirty="0">
                <a:solidFill>
                  <a:srgbClr val="1A1A1A"/>
                </a:solidFill>
                <a:latin typeface="Arial" pitchFamily="34" charset="0"/>
                <a:ea typeface="Arial" pitchFamily="34" charset="-122"/>
                <a:cs typeface="Arial" pitchFamily="34" charset="-120"/>
              </a:rPr>
              <a:t>Arquitectura de referencia</a:t>
            </a:r>
            <a:endParaRPr lang="en-US" sz="750" dirty="0"/>
          </a:p>
        </p:txBody>
      </p:sp>
      <p:sp>
        <p:nvSpPr>
          <p:cNvPr id="97" name="Shape 92"/>
          <p:cNvSpPr/>
          <p:nvPr/>
        </p:nvSpPr>
        <p:spPr>
          <a:xfrm>
            <a:off x="9601200" y="5376672"/>
            <a:ext cx="2194560" cy="274320"/>
          </a:xfrm>
          <a:prstGeom prst="roundRect">
            <a:avLst>
              <a:gd name="adj" fmla="val 50000"/>
            </a:avLst>
          </a:prstGeom>
          <a:solidFill>
            <a:srgbClr val="FFFFFF"/>
          </a:solidFill>
          <a:ln w="9525">
            <a:solidFill>
              <a:srgbClr val="3E6FC7"/>
            </a:solidFill>
            <a:prstDash val="solid"/>
          </a:ln>
        </p:spPr>
      </p:sp>
      <p:sp>
        <p:nvSpPr>
          <p:cNvPr id="98" name="Text 93"/>
          <p:cNvSpPr/>
          <p:nvPr/>
        </p:nvSpPr>
        <p:spPr>
          <a:xfrm>
            <a:off x="9601200" y="5376672"/>
            <a:ext cx="2194560" cy="274320"/>
          </a:xfrm>
          <a:prstGeom prst="rect">
            <a:avLst/>
          </a:prstGeom>
          <a:noFill/>
          <a:ln/>
        </p:spPr>
        <p:txBody>
          <a:bodyPr wrap="square" lIns="0" tIns="0" rIns="0" bIns="0" rtlCol="0" anchor="ctr"/>
          <a:lstStyle/>
          <a:p>
            <a:pPr algn="ctr" indent="0" marL="0">
              <a:buNone/>
            </a:pPr>
            <a:r>
              <a:rPr lang="en-US" sz="750" dirty="0">
                <a:solidFill>
                  <a:srgbClr val="1A1A1A"/>
                </a:solidFill>
                <a:latin typeface="Arial" pitchFamily="34" charset="0"/>
                <a:ea typeface="Arial" pitchFamily="34" charset="-122"/>
                <a:cs typeface="Arial" pitchFamily="34" charset="-120"/>
              </a:rPr>
              <a:t>Biblioteca de adaptadores</a:t>
            </a:r>
            <a:endParaRPr lang="en-US" sz="750" dirty="0"/>
          </a:p>
        </p:txBody>
      </p:sp>
      <p:sp>
        <p:nvSpPr>
          <p:cNvPr id="99" name="Shape 94"/>
          <p:cNvSpPr/>
          <p:nvPr/>
        </p:nvSpPr>
        <p:spPr>
          <a:xfrm>
            <a:off x="9601200" y="5779008"/>
            <a:ext cx="2194560" cy="274320"/>
          </a:xfrm>
          <a:prstGeom prst="roundRect">
            <a:avLst>
              <a:gd name="adj" fmla="val 50000"/>
            </a:avLst>
          </a:prstGeom>
          <a:solidFill>
            <a:srgbClr val="FFFFFF"/>
          </a:solidFill>
          <a:ln w="9525">
            <a:solidFill>
              <a:srgbClr val="3E6FC7"/>
            </a:solidFill>
            <a:prstDash val="solid"/>
          </a:ln>
        </p:spPr>
      </p:sp>
      <p:sp>
        <p:nvSpPr>
          <p:cNvPr id="100" name="Text 95"/>
          <p:cNvSpPr/>
          <p:nvPr/>
        </p:nvSpPr>
        <p:spPr>
          <a:xfrm>
            <a:off x="9601200" y="5779008"/>
            <a:ext cx="2194560" cy="274320"/>
          </a:xfrm>
          <a:prstGeom prst="rect">
            <a:avLst/>
          </a:prstGeom>
          <a:noFill/>
          <a:ln/>
        </p:spPr>
        <p:txBody>
          <a:bodyPr wrap="square" lIns="0" tIns="0" rIns="0" bIns="0" rtlCol="0" anchor="ctr"/>
          <a:lstStyle/>
          <a:p>
            <a:pPr algn="ctr" indent="0" marL="0">
              <a:buNone/>
            </a:pPr>
            <a:r>
              <a:rPr lang="en-US" sz="750" dirty="0">
                <a:solidFill>
                  <a:srgbClr val="1A1A1A"/>
                </a:solidFill>
                <a:latin typeface="Arial" pitchFamily="34" charset="0"/>
                <a:ea typeface="Arial" pitchFamily="34" charset="-122"/>
                <a:cs typeface="Arial" pitchFamily="34" charset="-120"/>
              </a:rPr>
              <a:t>Ciclo de vida del modelo</a:t>
            </a:r>
            <a:endParaRPr lang="en-US" sz="750" dirty="0"/>
          </a:p>
        </p:txBody>
      </p:sp>
      <p:sp>
        <p:nvSpPr>
          <p:cNvPr id="101" name="Text 96"/>
          <p:cNvSpPr/>
          <p:nvPr/>
        </p:nvSpPr>
        <p:spPr>
          <a:xfrm>
            <a:off x="457200" y="6437376"/>
            <a:ext cx="1097280" cy="237744"/>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&lt;epam&gt;</a:t>
            </a:r>
            <a:endParaRPr lang="en-US" sz="1400" dirty="0"/>
          </a:p>
        </p:txBody>
      </p:sp>
      <p:sp>
        <p:nvSpPr>
          <p:cNvPr id="102" name="Text 97"/>
          <p:cNvSpPr/>
          <p:nvPr/>
        </p:nvSpPr>
        <p:spPr>
          <a:xfrm>
            <a:off x="9418320" y="6455664"/>
            <a:ext cx="1920240" cy="201168"/>
          </a:xfrm>
          <a:prstGeom prst="rect">
            <a:avLst/>
          </a:prstGeom>
          <a:noFill/>
          <a:ln/>
        </p:spPr>
        <p:txBody>
          <a:bodyPr wrap="square" lIns="0" tIns="0" rIns="0" bIns="0" rtlCol="0" anchor="ctr"/>
          <a:lstStyle/>
          <a:p>
            <a:pPr algn="r" indent="0" marL="0">
              <a:buNone/>
            </a:pPr>
            <a:r>
              <a:rPr lang="en-US" sz="700" dirty="0">
                <a:solidFill>
                  <a:srgbClr val="8C8C8C"/>
                </a:solidFill>
                <a:latin typeface="Arial" pitchFamily="34" charset="0"/>
                <a:ea typeface="Arial" pitchFamily="34" charset="-122"/>
                <a:cs typeface="Arial" pitchFamily="34" charset="-120"/>
              </a:rPr>
              <a:t>EPAM Proprietary &amp; Confidential.</a:t>
            </a:r>
            <a:endParaRPr lang="en-US" sz="700" dirty="0"/>
          </a:p>
        </p:txBody>
      </p:sp>
      <p:sp>
        <p:nvSpPr>
          <p:cNvPr id="103" name="Text 98"/>
          <p:cNvSpPr/>
          <p:nvPr/>
        </p:nvSpPr>
        <p:spPr>
          <a:xfrm>
            <a:off x="11475720" y="6455664"/>
            <a:ext cx="25603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5486400" cy="182880"/>
          </a:xfrm>
          <a:prstGeom prst="rect">
            <a:avLst/>
          </a:prstGeom>
          <a:noFill/>
          <a:ln/>
        </p:spPr>
        <p:txBody>
          <a:bodyPr wrap="square" lIns="0" tIns="0" rIns="0" bIns="0" rtlCol="0" anchor="ctr"/>
          <a:lstStyle/>
          <a:p>
            <a:pPr indent="0" marL="0">
              <a:buNone/>
            </a:pPr>
            <a:r>
              <a:rPr lang="en-US" sz="800" spc="250" kern="0" dirty="0">
                <a:solidFill>
                  <a:srgbClr val="5A5A5A"/>
                </a:solidFill>
                <a:latin typeface="Arial" pitchFamily="34" charset="0"/>
                <a:ea typeface="Arial" pitchFamily="34" charset="-122"/>
                <a:cs typeface="Arial" pitchFamily="34" charset="-120"/>
              </a:rPr>
              <a:t>PROOF-OF-CONCEPT</a:t>
            </a:r>
            <a:endParaRPr lang="en-US" sz="800" dirty="0"/>
          </a:p>
        </p:txBody>
      </p:sp>
      <p:sp>
        <p:nvSpPr>
          <p:cNvPr id="3" name="Text 1"/>
          <p:cNvSpPr/>
          <p:nvPr/>
        </p:nvSpPr>
        <p:spPr>
          <a:xfrm>
            <a:off x="457200" y="548640"/>
            <a:ext cx="11247120" cy="420624"/>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El teléfono como control: el mismo framework, otra industria</a:t>
            </a:r>
            <a:endParaRPr lang="en-US" sz="2400" dirty="0"/>
          </a:p>
        </p:txBody>
      </p:sp>
      <p:sp>
        <p:nvSpPr>
          <p:cNvPr id="4" name="Text 2"/>
          <p:cNvSpPr/>
          <p:nvPr/>
        </p:nvSpPr>
        <p:spPr>
          <a:xfrm>
            <a:off x="457200" y="1005840"/>
            <a:ext cx="1124712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Pedido de preventa recibido el 30 de julio de 2026 — juego interactivo para Netflix</a:t>
            </a:r>
            <a:endParaRPr lang="en-US" sz="1200" dirty="0"/>
          </a:p>
        </p:txBody>
      </p:sp>
      <p:sp>
        <p:nvSpPr>
          <p:cNvPr id="5" name="Shape 3"/>
          <p:cNvSpPr/>
          <p:nvPr/>
        </p:nvSpPr>
        <p:spPr>
          <a:xfrm>
            <a:off x="0" y="1389888"/>
            <a:ext cx="12188952" cy="1152144"/>
          </a:xfrm>
          <a:prstGeom prst="rect">
            <a:avLst/>
          </a:prstGeom>
          <a:solidFill>
            <a:srgbClr val="F4F5F7"/>
          </a:solidFill>
          <a:ln/>
        </p:spPr>
      </p:sp>
      <p:sp>
        <p:nvSpPr>
          <p:cNvPr id="6" name="Text 4"/>
          <p:cNvSpPr/>
          <p:nvPr/>
        </p:nvSpPr>
        <p:spPr>
          <a:xfrm>
            <a:off x="0" y="1481328"/>
            <a:ext cx="12188952" cy="219456"/>
          </a:xfrm>
          <a:prstGeom prst="rect">
            <a:avLst/>
          </a:prstGeom>
          <a:noFill/>
          <a:ln/>
        </p:spPr>
        <p:txBody>
          <a:bodyPr wrap="square" lIns="0" tIns="0" rIns="0" bIns="0" rtlCol="0" anchor="ctr"/>
          <a:lstStyle/>
          <a:p>
            <a:pPr algn="ctr" indent="0" marL="0">
              <a:buNone/>
            </a:pPr>
            <a:r>
              <a:rPr lang="en-US" sz="1050" b="1" spc="200" kern="0" dirty="0">
                <a:solidFill>
                  <a:srgbClr val="3E6FC7"/>
                </a:solidFill>
                <a:latin typeface="Arial" pitchFamily="34" charset="0"/>
                <a:ea typeface="Arial" pitchFamily="34" charset="-122"/>
                <a:cs typeface="Arial" pitchFamily="34" charset="-120"/>
              </a:rPr>
              <a:t>POR QUÉ ESTE CASO EXIGE EL BORDE</a:t>
            </a:r>
            <a:endParaRPr lang="en-US" sz="1050" dirty="0"/>
          </a:p>
        </p:txBody>
      </p:sp>
      <p:sp>
        <p:nvSpPr>
          <p:cNvPr id="7" name="Text 5"/>
          <p:cNvSpPr/>
          <p:nvPr/>
        </p:nvSpPr>
        <p:spPr>
          <a:xfrm>
            <a:off x="502920" y="1773936"/>
            <a:ext cx="2651760" cy="274320"/>
          </a:xfrm>
          <a:prstGeom prst="rect">
            <a:avLst/>
          </a:prstGeom>
          <a:noFill/>
          <a:ln/>
        </p:spPr>
        <p:txBody>
          <a:bodyPr wrap="square" lIns="0" tIns="0" rIns="0" bIns="0" rtlCol="0" anchor="ctr"/>
          <a:lstStyle/>
          <a:p>
            <a:pPr algn="ctr" indent="0" marL="0">
              <a:buNone/>
            </a:pPr>
            <a:r>
              <a:rPr lang="en-US" sz="1550" b="1" dirty="0">
                <a:solidFill>
                  <a:srgbClr val="2C5AA8"/>
                </a:solidFill>
                <a:latin typeface="Arial" pitchFamily="34" charset="0"/>
                <a:ea typeface="Arial" pitchFamily="34" charset="-122"/>
                <a:cs typeface="Arial" pitchFamily="34" charset="-120"/>
              </a:rPr>
              <a:t>&lt; 100 ms</a:t>
            </a:r>
            <a:endParaRPr lang="en-US" sz="1550" dirty="0"/>
          </a:p>
        </p:txBody>
      </p:sp>
      <p:sp>
        <p:nvSpPr>
          <p:cNvPr id="8" name="Text 6"/>
          <p:cNvSpPr/>
          <p:nvPr/>
        </p:nvSpPr>
        <p:spPr>
          <a:xfrm>
            <a:off x="502920" y="2066544"/>
            <a:ext cx="2651760" cy="402336"/>
          </a:xfrm>
          <a:prstGeom prst="rect">
            <a:avLst/>
          </a:prstGeom>
          <a:noFill/>
          <a:ln/>
        </p:spPr>
        <p:txBody>
          <a:bodyPr wrap="square" lIns="0" tIns="0" rIns="0" bIns="0" rtlCol="0" anchor="t"/>
          <a:lstStyle/>
          <a:p>
            <a:pPr algn="ctr" indent="0" marL="0">
              <a:buNone/>
            </a:pPr>
            <a:r>
              <a:rPr lang="en-US" sz="800" dirty="0">
                <a:solidFill>
                  <a:srgbClr val="5A5A5A"/>
                </a:solidFill>
                <a:latin typeface="Arial" pitchFamily="34" charset="0"/>
                <a:ea typeface="Arial" pitchFamily="34" charset="-122"/>
                <a:cs typeface="Arial" pitchFamily="34" charset="-120"/>
              </a:rPr>
              <a:t>Presupuesto total para que un control se sienta responsivo. La nube no cabe.</a:t>
            </a:r>
            <a:endParaRPr lang="en-US" sz="800" dirty="0"/>
          </a:p>
        </p:txBody>
      </p:sp>
      <p:sp>
        <p:nvSpPr>
          <p:cNvPr id="9" name="Shape 7"/>
          <p:cNvSpPr/>
          <p:nvPr/>
        </p:nvSpPr>
        <p:spPr>
          <a:xfrm>
            <a:off x="3246120" y="1755648"/>
            <a:ext cx="7315" cy="658368"/>
          </a:xfrm>
          <a:prstGeom prst="rect">
            <a:avLst/>
          </a:prstGeom>
          <a:solidFill>
            <a:srgbClr val="DCDFE5"/>
          </a:solidFill>
          <a:ln/>
        </p:spPr>
      </p:sp>
      <p:sp>
        <p:nvSpPr>
          <p:cNvPr id="10" name="Text 8"/>
          <p:cNvSpPr/>
          <p:nvPr/>
        </p:nvSpPr>
        <p:spPr>
          <a:xfrm>
            <a:off x="3337560" y="1773936"/>
            <a:ext cx="2651760" cy="274320"/>
          </a:xfrm>
          <a:prstGeom prst="rect">
            <a:avLst/>
          </a:prstGeom>
          <a:noFill/>
          <a:ln/>
        </p:spPr>
        <p:txBody>
          <a:bodyPr wrap="square" lIns="0" tIns="0" rIns="0" bIns="0" rtlCol="0" anchor="ctr"/>
          <a:lstStyle/>
          <a:p>
            <a:pPr algn="ctr" indent="0" marL="0">
              <a:buNone/>
            </a:pPr>
            <a:r>
              <a:rPr lang="en-US" sz="1550" b="1" dirty="0">
                <a:solidFill>
                  <a:srgbClr val="2C5AA8"/>
                </a:solidFill>
                <a:latin typeface="Arial" pitchFamily="34" charset="0"/>
                <a:ea typeface="Arial" pitchFamily="34" charset="-122"/>
                <a:cs typeface="Arial" pitchFamily="34" charset="-120"/>
              </a:rPr>
              <a:t>MILLONES</a:t>
            </a:r>
            <a:endParaRPr lang="en-US" sz="1550" dirty="0"/>
          </a:p>
        </p:txBody>
      </p:sp>
      <p:sp>
        <p:nvSpPr>
          <p:cNvPr id="11" name="Text 9"/>
          <p:cNvSpPr/>
          <p:nvPr/>
        </p:nvSpPr>
        <p:spPr>
          <a:xfrm>
            <a:off x="3337560" y="2066544"/>
            <a:ext cx="2651760" cy="402336"/>
          </a:xfrm>
          <a:prstGeom prst="rect">
            <a:avLst/>
          </a:prstGeom>
          <a:noFill/>
          <a:ln/>
        </p:spPr>
        <p:txBody>
          <a:bodyPr wrap="square" lIns="0" tIns="0" rIns="0" bIns="0" rtlCol="0" anchor="t"/>
          <a:lstStyle/>
          <a:p>
            <a:pPr algn="ctr" indent="0" marL="0">
              <a:buNone/>
            </a:pPr>
            <a:r>
              <a:rPr lang="en-US" sz="800" dirty="0">
                <a:solidFill>
                  <a:srgbClr val="5A5A5A"/>
                </a:solidFill>
                <a:latin typeface="Arial" pitchFamily="34" charset="0"/>
                <a:ea typeface="Arial" pitchFamily="34" charset="-122"/>
                <a:cs typeface="Arial" pitchFamily="34" charset="-120"/>
              </a:rPr>
              <a:t>De dispositivos, cada uno con chip, OS, térmica y red distintos.</a:t>
            </a:r>
            <a:endParaRPr lang="en-US" sz="800" dirty="0"/>
          </a:p>
        </p:txBody>
      </p:sp>
      <p:sp>
        <p:nvSpPr>
          <p:cNvPr id="12" name="Shape 10"/>
          <p:cNvSpPr/>
          <p:nvPr/>
        </p:nvSpPr>
        <p:spPr>
          <a:xfrm>
            <a:off x="6080760" y="1755648"/>
            <a:ext cx="7315" cy="658368"/>
          </a:xfrm>
          <a:prstGeom prst="rect">
            <a:avLst/>
          </a:prstGeom>
          <a:solidFill>
            <a:srgbClr val="DCDFE5"/>
          </a:solidFill>
          <a:ln/>
        </p:spPr>
      </p:sp>
      <p:sp>
        <p:nvSpPr>
          <p:cNvPr id="13" name="Text 11"/>
          <p:cNvSpPr/>
          <p:nvPr/>
        </p:nvSpPr>
        <p:spPr>
          <a:xfrm>
            <a:off x="6172200" y="1773936"/>
            <a:ext cx="2651760" cy="274320"/>
          </a:xfrm>
          <a:prstGeom prst="rect">
            <a:avLst/>
          </a:prstGeom>
          <a:noFill/>
          <a:ln/>
        </p:spPr>
        <p:txBody>
          <a:bodyPr wrap="square" lIns="0" tIns="0" rIns="0" bIns="0" rtlCol="0" anchor="ctr"/>
          <a:lstStyle/>
          <a:p>
            <a:pPr algn="ctr" indent="0" marL="0">
              <a:buNone/>
            </a:pPr>
            <a:r>
              <a:rPr lang="en-US" sz="1550" b="1" dirty="0">
                <a:solidFill>
                  <a:srgbClr val="2C5AA8"/>
                </a:solidFill>
                <a:latin typeface="Arial" pitchFamily="34" charset="0"/>
                <a:ea typeface="Arial" pitchFamily="34" charset="-122"/>
                <a:cs typeface="Arial" pitchFamily="34" charset="-120"/>
              </a:rPr>
              <a:t>COSTO ≈ 0</a:t>
            </a:r>
            <a:endParaRPr lang="en-US" sz="1550" dirty="0"/>
          </a:p>
        </p:txBody>
      </p:sp>
      <p:sp>
        <p:nvSpPr>
          <p:cNvPr id="14" name="Text 12"/>
          <p:cNvSpPr/>
          <p:nvPr/>
        </p:nvSpPr>
        <p:spPr>
          <a:xfrm>
            <a:off x="6172200" y="2066544"/>
            <a:ext cx="2651760" cy="402336"/>
          </a:xfrm>
          <a:prstGeom prst="rect">
            <a:avLst/>
          </a:prstGeom>
          <a:noFill/>
          <a:ln/>
        </p:spPr>
        <p:txBody>
          <a:bodyPr wrap="square" lIns="0" tIns="0" rIns="0" bIns="0" rtlCol="0" anchor="t"/>
          <a:lstStyle/>
          <a:p>
            <a:pPr algn="ctr" indent="0" marL="0">
              <a:buNone/>
            </a:pPr>
            <a:r>
              <a:rPr lang="en-US" sz="800" dirty="0">
                <a:solidFill>
                  <a:srgbClr val="5A5A5A"/>
                </a:solidFill>
                <a:latin typeface="Arial" pitchFamily="34" charset="0"/>
                <a:ea typeface="Arial" pitchFamily="34" charset="-122"/>
                <a:cs typeface="Arial" pitchFamily="34" charset="-120"/>
              </a:rPr>
              <a:t>La inferencia corre en el teléfono del jugador, no en nuestra factura.</a:t>
            </a:r>
            <a:endParaRPr lang="en-US" sz="800" dirty="0"/>
          </a:p>
        </p:txBody>
      </p:sp>
      <p:sp>
        <p:nvSpPr>
          <p:cNvPr id="15" name="Shape 13"/>
          <p:cNvSpPr/>
          <p:nvPr/>
        </p:nvSpPr>
        <p:spPr>
          <a:xfrm>
            <a:off x="8915400" y="1755648"/>
            <a:ext cx="7315" cy="658368"/>
          </a:xfrm>
          <a:prstGeom prst="rect">
            <a:avLst/>
          </a:prstGeom>
          <a:solidFill>
            <a:srgbClr val="DCDFE5"/>
          </a:solidFill>
          <a:ln/>
        </p:spPr>
      </p:sp>
      <p:sp>
        <p:nvSpPr>
          <p:cNvPr id="16" name="Text 14"/>
          <p:cNvSpPr/>
          <p:nvPr/>
        </p:nvSpPr>
        <p:spPr>
          <a:xfrm>
            <a:off x="9006840" y="1773936"/>
            <a:ext cx="2651760" cy="274320"/>
          </a:xfrm>
          <a:prstGeom prst="rect">
            <a:avLst/>
          </a:prstGeom>
          <a:noFill/>
          <a:ln/>
        </p:spPr>
        <p:txBody>
          <a:bodyPr wrap="square" lIns="0" tIns="0" rIns="0" bIns="0" rtlCol="0" anchor="ctr"/>
          <a:lstStyle/>
          <a:p>
            <a:pPr algn="ctr" indent="0" marL="0">
              <a:buNone/>
            </a:pPr>
            <a:r>
              <a:rPr lang="en-US" sz="1550" b="1" dirty="0">
                <a:solidFill>
                  <a:srgbClr val="2C5AA8"/>
                </a:solidFill>
                <a:latin typeface="Arial" pitchFamily="34" charset="0"/>
                <a:ea typeface="Arial" pitchFamily="34" charset="-122"/>
                <a:cs typeface="Arial" pitchFamily="34" charset="-120"/>
              </a:rPr>
              <a:t>TOOLING PROPIO</a:t>
            </a:r>
            <a:endParaRPr lang="en-US" sz="1550" dirty="0"/>
          </a:p>
        </p:txBody>
      </p:sp>
      <p:sp>
        <p:nvSpPr>
          <p:cNvPr id="17" name="Text 15"/>
          <p:cNvSpPr/>
          <p:nvPr/>
        </p:nvSpPr>
        <p:spPr>
          <a:xfrm>
            <a:off x="9006840" y="2066544"/>
            <a:ext cx="2651760" cy="402336"/>
          </a:xfrm>
          <a:prstGeom prst="rect">
            <a:avLst/>
          </a:prstGeom>
          <a:noFill/>
          <a:ln/>
        </p:spPr>
        <p:txBody>
          <a:bodyPr wrap="square" lIns="0" tIns="0" rIns="0" bIns="0" rtlCol="0" anchor="t"/>
          <a:lstStyle/>
          <a:p>
            <a:pPr algn="ctr" indent="0" marL="0">
              <a:buNone/>
            </a:pPr>
            <a:r>
              <a:rPr lang="en-US" sz="800" dirty="0">
                <a:solidFill>
                  <a:srgbClr val="5A5A5A"/>
                </a:solidFill>
                <a:latin typeface="Arial" pitchFamily="34" charset="0"/>
                <a:ea typeface="Arial" pitchFamily="34" charset="-122"/>
                <a:cs typeface="Arial" pitchFamily="34" charset="-120"/>
              </a:rPr>
              <a:t>La infraestructura es del cliente. Hay que integrarse, no traer la nuestra.</a:t>
            </a:r>
            <a:endParaRPr lang="en-US" sz="800" dirty="0"/>
          </a:p>
        </p:txBody>
      </p:sp>
      <p:sp>
        <p:nvSpPr>
          <p:cNvPr id="18" name="Shape 16"/>
          <p:cNvSpPr/>
          <p:nvPr/>
        </p:nvSpPr>
        <p:spPr>
          <a:xfrm>
            <a:off x="457200" y="2798064"/>
            <a:ext cx="1691640" cy="914400"/>
          </a:xfrm>
          <a:prstGeom prst="roundRect">
            <a:avLst>
              <a:gd name="adj" fmla="val 6000"/>
            </a:avLst>
          </a:prstGeom>
          <a:solidFill>
            <a:srgbClr val="FFFFFF"/>
          </a:solidFill>
          <a:ln w="9525">
            <a:solidFill>
              <a:srgbClr val="DCDFE5"/>
            </a:solidFill>
            <a:prstDash val="solid"/>
          </a:ln>
        </p:spPr>
      </p:sp>
      <p:pic>
        <p:nvPicPr>
          <p:cNvPr id="19" name="Image 0" descr="preencoded.png">    </p:cNvPr>
          <p:cNvPicPr>
            <a:picLocks noChangeAspect="1"/>
          </p:cNvPicPr>
          <p:nvPr/>
        </p:nvPicPr>
        <p:blipFill>
          <a:blip r:embed="rId1"/>
          <a:stretch>
            <a:fillRect/>
          </a:stretch>
        </p:blipFill>
        <p:spPr>
          <a:xfrm>
            <a:off x="1207008" y="2907792"/>
            <a:ext cx="201168" cy="201168"/>
          </a:xfrm>
          <a:prstGeom prst="rect">
            <a:avLst/>
          </a:prstGeom>
        </p:spPr>
      </p:pic>
      <p:sp>
        <p:nvSpPr>
          <p:cNvPr id="20" name="Text 17"/>
          <p:cNvSpPr/>
          <p:nvPr/>
        </p:nvSpPr>
        <p:spPr>
          <a:xfrm>
            <a:off x="512064" y="3145536"/>
            <a:ext cx="1581912" cy="292608"/>
          </a:xfrm>
          <a:prstGeom prst="rect">
            <a:avLst/>
          </a:prstGeom>
          <a:noFill/>
          <a:ln/>
        </p:spPr>
        <p:txBody>
          <a:bodyPr wrap="square" lIns="0" tIns="0" rIns="0" bIns="0" rtlCol="0" anchor="ctr"/>
          <a:lstStyle/>
          <a:p>
            <a:pPr algn="ctr" indent="0" marL="0">
              <a:buNone/>
            </a:pPr>
            <a:r>
              <a:rPr lang="en-US" sz="900" b="1" dirty="0">
                <a:solidFill>
                  <a:srgbClr val="1A1A1A"/>
                </a:solidFill>
                <a:latin typeface="Arial" pitchFamily="34" charset="0"/>
                <a:ea typeface="Arial" pitchFamily="34" charset="-122"/>
                <a:cs typeface="Arial" pitchFamily="34" charset="-120"/>
              </a:rPr>
              <a:t>IMU del teléfono</a:t>
            </a:r>
            <a:endParaRPr lang="en-US" sz="900" dirty="0"/>
          </a:p>
        </p:txBody>
      </p:sp>
      <p:sp>
        <p:nvSpPr>
          <p:cNvPr id="21" name="Text 18"/>
          <p:cNvSpPr/>
          <p:nvPr/>
        </p:nvSpPr>
        <p:spPr>
          <a:xfrm>
            <a:off x="512064" y="3438144"/>
            <a:ext cx="1581912" cy="219456"/>
          </a:xfrm>
          <a:prstGeom prst="rect">
            <a:avLst/>
          </a:prstGeom>
          <a:noFill/>
          <a:ln/>
        </p:spPr>
        <p:txBody>
          <a:bodyPr wrap="square" lIns="0" tIns="0" rIns="0" bIns="0" rtlCol="0" anchor="ctr"/>
          <a:lstStyle/>
          <a:p>
            <a:pPr algn="ctr" indent="0" marL="0">
              <a:buNone/>
            </a:pPr>
            <a:r>
              <a:rPr lang="en-US" sz="750" i="1" dirty="0">
                <a:solidFill>
                  <a:srgbClr val="5A5A5A"/>
                </a:solidFill>
                <a:latin typeface="Arial" pitchFamily="34" charset="0"/>
                <a:ea typeface="Arial" pitchFamily="34" charset="-122"/>
                <a:cs typeface="Arial" pitchFamily="34" charset="-120"/>
              </a:rPr>
              <a:t>giroscopio · acelerómetro</a:t>
            </a:r>
            <a:endParaRPr lang="en-US" sz="750" dirty="0"/>
          </a:p>
        </p:txBody>
      </p:sp>
      <p:sp>
        <p:nvSpPr>
          <p:cNvPr id="22" name="Text 19"/>
          <p:cNvSpPr/>
          <p:nvPr/>
        </p:nvSpPr>
        <p:spPr>
          <a:xfrm>
            <a:off x="2157984" y="3108960"/>
            <a:ext cx="201168" cy="274320"/>
          </a:xfrm>
          <a:prstGeom prst="rect">
            <a:avLst/>
          </a:prstGeom>
          <a:noFill/>
          <a:ln/>
        </p:spPr>
        <p:txBody>
          <a:bodyPr wrap="square" lIns="0" tIns="0" rIns="0" bIns="0" rtlCol="0" anchor="ctr"/>
          <a:lstStyle/>
          <a:p>
            <a:pPr algn="ctr" indent="0" marL="0">
              <a:buNone/>
            </a:pPr>
            <a:r>
              <a:rPr lang="en-US" sz="1400" b="1" dirty="0">
                <a:solidFill>
                  <a:srgbClr val="3E6FC7"/>
                </a:solidFill>
                <a:latin typeface="Arial" pitchFamily="34" charset="0"/>
                <a:ea typeface="Arial" pitchFamily="34" charset="-122"/>
                <a:cs typeface="Arial" pitchFamily="34" charset="-120"/>
              </a:rPr>
              <a:t>›</a:t>
            </a:r>
            <a:endParaRPr lang="en-US" sz="1400" dirty="0"/>
          </a:p>
        </p:txBody>
      </p:sp>
      <p:sp>
        <p:nvSpPr>
          <p:cNvPr id="23" name="Shape 20"/>
          <p:cNvSpPr/>
          <p:nvPr/>
        </p:nvSpPr>
        <p:spPr>
          <a:xfrm>
            <a:off x="457200" y="3840480"/>
            <a:ext cx="1691640" cy="914400"/>
          </a:xfrm>
          <a:prstGeom prst="roundRect">
            <a:avLst>
              <a:gd name="adj" fmla="val 6000"/>
            </a:avLst>
          </a:prstGeom>
          <a:solidFill>
            <a:srgbClr val="FFFFFF"/>
          </a:solidFill>
          <a:ln w="9525">
            <a:solidFill>
              <a:srgbClr val="DCDFE5"/>
            </a:solidFill>
            <a:prstDash val="solid"/>
          </a:ln>
        </p:spPr>
      </p:sp>
      <p:pic>
        <p:nvPicPr>
          <p:cNvPr id="24" name="Image 1" descr="preencoded.png">    </p:cNvPr>
          <p:cNvPicPr>
            <a:picLocks noChangeAspect="1"/>
          </p:cNvPicPr>
          <p:nvPr/>
        </p:nvPicPr>
        <p:blipFill>
          <a:blip r:embed="rId2"/>
          <a:stretch>
            <a:fillRect/>
          </a:stretch>
        </p:blipFill>
        <p:spPr>
          <a:xfrm>
            <a:off x="1207008" y="3950208"/>
            <a:ext cx="201168" cy="201168"/>
          </a:xfrm>
          <a:prstGeom prst="rect">
            <a:avLst/>
          </a:prstGeom>
        </p:spPr>
      </p:pic>
      <p:sp>
        <p:nvSpPr>
          <p:cNvPr id="25" name="Text 21"/>
          <p:cNvSpPr/>
          <p:nvPr/>
        </p:nvSpPr>
        <p:spPr>
          <a:xfrm>
            <a:off x="512064" y="4187952"/>
            <a:ext cx="1581912" cy="292608"/>
          </a:xfrm>
          <a:prstGeom prst="rect">
            <a:avLst/>
          </a:prstGeom>
          <a:noFill/>
          <a:ln/>
        </p:spPr>
        <p:txBody>
          <a:bodyPr wrap="square" lIns="0" tIns="0" rIns="0" bIns="0" rtlCol="0" anchor="ctr"/>
          <a:lstStyle/>
          <a:p>
            <a:pPr algn="ctr" indent="0" marL="0">
              <a:buNone/>
            </a:pPr>
            <a:r>
              <a:rPr lang="en-US" sz="900" b="1" dirty="0">
                <a:solidFill>
                  <a:srgbClr val="1A1A1A"/>
                </a:solidFill>
                <a:latin typeface="Arial" pitchFamily="34" charset="0"/>
                <a:ea typeface="Arial" pitchFamily="34" charset="-122"/>
                <a:cs typeface="Arial" pitchFamily="34" charset="-120"/>
              </a:rPr>
              <a:t>Cámara y táctil</a:t>
            </a:r>
            <a:endParaRPr lang="en-US" sz="900" dirty="0"/>
          </a:p>
        </p:txBody>
      </p:sp>
      <p:sp>
        <p:nvSpPr>
          <p:cNvPr id="26" name="Text 22"/>
          <p:cNvSpPr/>
          <p:nvPr/>
        </p:nvSpPr>
        <p:spPr>
          <a:xfrm>
            <a:off x="512064" y="4480560"/>
            <a:ext cx="1581912" cy="219456"/>
          </a:xfrm>
          <a:prstGeom prst="rect">
            <a:avLst/>
          </a:prstGeom>
          <a:noFill/>
          <a:ln/>
        </p:spPr>
        <p:txBody>
          <a:bodyPr wrap="square" lIns="0" tIns="0" rIns="0" bIns="0" rtlCol="0" anchor="ctr"/>
          <a:lstStyle/>
          <a:p>
            <a:pPr algn="ctr" indent="0" marL="0">
              <a:buNone/>
            </a:pPr>
            <a:r>
              <a:rPr lang="en-US" sz="750" i="1" dirty="0">
                <a:solidFill>
                  <a:srgbClr val="5A5A5A"/>
                </a:solidFill>
                <a:latin typeface="Arial" pitchFamily="34" charset="0"/>
                <a:ea typeface="Arial" pitchFamily="34" charset="-122"/>
                <a:cs typeface="Arial" pitchFamily="34" charset="-120"/>
              </a:rPr>
              <a:t>pose · gesto · apuntado</a:t>
            </a:r>
            <a:endParaRPr lang="en-US" sz="750" dirty="0"/>
          </a:p>
        </p:txBody>
      </p:sp>
      <p:sp>
        <p:nvSpPr>
          <p:cNvPr id="27" name="Text 23"/>
          <p:cNvSpPr/>
          <p:nvPr/>
        </p:nvSpPr>
        <p:spPr>
          <a:xfrm>
            <a:off x="2157984" y="4151376"/>
            <a:ext cx="201168" cy="274320"/>
          </a:xfrm>
          <a:prstGeom prst="rect">
            <a:avLst/>
          </a:prstGeom>
          <a:noFill/>
          <a:ln/>
        </p:spPr>
        <p:txBody>
          <a:bodyPr wrap="square" lIns="0" tIns="0" rIns="0" bIns="0" rtlCol="0" anchor="ctr"/>
          <a:lstStyle/>
          <a:p>
            <a:pPr algn="ctr" indent="0" marL="0">
              <a:buNone/>
            </a:pPr>
            <a:r>
              <a:rPr lang="en-US" sz="1400" b="1" dirty="0">
                <a:solidFill>
                  <a:srgbClr val="3E6FC7"/>
                </a:solidFill>
                <a:latin typeface="Arial" pitchFamily="34" charset="0"/>
                <a:ea typeface="Arial" pitchFamily="34" charset="-122"/>
                <a:cs typeface="Arial" pitchFamily="34" charset="-120"/>
              </a:rPr>
              <a:t>›</a:t>
            </a:r>
            <a:endParaRPr lang="en-US" sz="1400" dirty="0"/>
          </a:p>
        </p:txBody>
      </p:sp>
      <p:sp>
        <p:nvSpPr>
          <p:cNvPr id="28" name="Shape 24"/>
          <p:cNvSpPr/>
          <p:nvPr/>
        </p:nvSpPr>
        <p:spPr>
          <a:xfrm>
            <a:off x="457200" y="4882896"/>
            <a:ext cx="1691640" cy="914400"/>
          </a:xfrm>
          <a:prstGeom prst="roundRect">
            <a:avLst>
              <a:gd name="adj" fmla="val 6000"/>
            </a:avLst>
          </a:prstGeom>
          <a:solidFill>
            <a:srgbClr val="FFFFFF"/>
          </a:solidFill>
          <a:ln w="9525">
            <a:solidFill>
              <a:srgbClr val="DCDFE5"/>
            </a:solidFill>
            <a:prstDash val="solid"/>
          </a:ln>
        </p:spPr>
      </p:sp>
      <p:pic>
        <p:nvPicPr>
          <p:cNvPr id="29" name="Image 2" descr="preencoded.png">    </p:cNvPr>
          <p:cNvPicPr>
            <a:picLocks noChangeAspect="1"/>
          </p:cNvPicPr>
          <p:nvPr/>
        </p:nvPicPr>
        <p:blipFill>
          <a:blip r:embed="rId3"/>
          <a:stretch>
            <a:fillRect/>
          </a:stretch>
        </p:blipFill>
        <p:spPr>
          <a:xfrm>
            <a:off x="1207008" y="4992624"/>
            <a:ext cx="201168" cy="201168"/>
          </a:xfrm>
          <a:prstGeom prst="rect">
            <a:avLst/>
          </a:prstGeom>
        </p:spPr>
      </p:pic>
      <p:sp>
        <p:nvSpPr>
          <p:cNvPr id="30" name="Text 25"/>
          <p:cNvSpPr/>
          <p:nvPr/>
        </p:nvSpPr>
        <p:spPr>
          <a:xfrm>
            <a:off x="512064" y="5230368"/>
            <a:ext cx="1581912" cy="292608"/>
          </a:xfrm>
          <a:prstGeom prst="rect">
            <a:avLst/>
          </a:prstGeom>
          <a:noFill/>
          <a:ln/>
        </p:spPr>
        <p:txBody>
          <a:bodyPr wrap="square" lIns="0" tIns="0" rIns="0" bIns="0" rtlCol="0" anchor="ctr"/>
          <a:lstStyle/>
          <a:p>
            <a:pPr algn="ctr" indent="0" marL="0">
              <a:buNone/>
            </a:pPr>
            <a:r>
              <a:rPr lang="en-US" sz="900" b="1" dirty="0">
                <a:solidFill>
                  <a:srgbClr val="1A1A1A"/>
                </a:solidFill>
                <a:latin typeface="Arial" pitchFamily="34" charset="0"/>
                <a:ea typeface="Arial" pitchFamily="34" charset="-122"/>
                <a:cs typeface="Arial" pitchFamily="34" charset="-120"/>
              </a:rPr>
              <a:t>Sesión de juego</a:t>
            </a:r>
            <a:endParaRPr lang="en-US" sz="900" dirty="0"/>
          </a:p>
        </p:txBody>
      </p:sp>
      <p:sp>
        <p:nvSpPr>
          <p:cNvPr id="31" name="Text 26"/>
          <p:cNvSpPr/>
          <p:nvPr/>
        </p:nvSpPr>
        <p:spPr>
          <a:xfrm>
            <a:off x="512064" y="5522976"/>
            <a:ext cx="1581912" cy="219456"/>
          </a:xfrm>
          <a:prstGeom prst="rect">
            <a:avLst/>
          </a:prstGeom>
          <a:noFill/>
          <a:ln/>
        </p:spPr>
        <p:txBody>
          <a:bodyPr wrap="square" lIns="0" tIns="0" rIns="0" bIns="0" rtlCol="0" anchor="ctr"/>
          <a:lstStyle/>
          <a:p>
            <a:pPr algn="ctr" indent="0" marL="0">
              <a:buNone/>
            </a:pPr>
            <a:r>
              <a:rPr lang="en-US" sz="750" i="1" dirty="0">
                <a:solidFill>
                  <a:srgbClr val="5A5A5A"/>
                </a:solidFill>
                <a:latin typeface="Arial" pitchFamily="34" charset="0"/>
                <a:ea typeface="Arial" pitchFamily="34" charset="-122"/>
                <a:cs typeface="Arial" pitchFamily="34" charset="-120"/>
              </a:rPr>
              <a:t>WebSocket · WebRTC</a:t>
            </a:r>
            <a:endParaRPr lang="en-US" sz="750" dirty="0"/>
          </a:p>
        </p:txBody>
      </p:sp>
      <p:sp>
        <p:nvSpPr>
          <p:cNvPr id="32" name="Text 27"/>
          <p:cNvSpPr/>
          <p:nvPr/>
        </p:nvSpPr>
        <p:spPr>
          <a:xfrm>
            <a:off x="2157984" y="5193792"/>
            <a:ext cx="201168" cy="274320"/>
          </a:xfrm>
          <a:prstGeom prst="rect">
            <a:avLst/>
          </a:prstGeom>
          <a:noFill/>
          <a:ln/>
        </p:spPr>
        <p:txBody>
          <a:bodyPr wrap="square" lIns="0" tIns="0" rIns="0" bIns="0" rtlCol="0" anchor="ctr"/>
          <a:lstStyle/>
          <a:p>
            <a:pPr algn="ctr" indent="0" marL="0">
              <a:buNone/>
            </a:pPr>
            <a:r>
              <a:rPr lang="en-US" sz="1400" b="1" dirty="0">
                <a:solidFill>
                  <a:srgbClr val="3E6FC7"/>
                </a:solidFill>
                <a:latin typeface="Arial" pitchFamily="34" charset="0"/>
                <a:ea typeface="Arial" pitchFamily="34" charset="-122"/>
                <a:cs typeface="Arial" pitchFamily="34" charset="-120"/>
              </a:rPr>
              <a:t>›</a:t>
            </a:r>
            <a:endParaRPr lang="en-US" sz="1400" dirty="0"/>
          </a:p>
        </p:txBody>
      </p:sp>
      <p:sp>
        <p:nvSpPr>
          <p:cNvPr id="33" name="Shape 28"/>
          <p:cNvSpPr/>
          <p:nvPr/>
        </p:nvSpPr>
        <p:spPr>
          <a:xfrm>
            <a:off x="2395728" y="2798064"/>
            <a:ext cx="4160520" cy="2944368"/>
          </a:xfrm>
          <a:prstGeom prst="roundRect">
            <a:avLst>
              <a:gd name="adj" fmla="val 2484"/>
            </a:avLst>
          </a:prstGeom>
          <a:solidFill>
            <a:srgbClr val="EEF3FC"/>
          </a:solidFill>
          <a:ln/>
        </p:spPr>
      </p:sp>
      <p:sp>
        <p:nvSpPr>
          <p:cNvPr id="34" name="Shape 29"/>
          <p:cNvSpPr/>
          <p:nvPr/>
        </p:nvSpPr>
        <p:spPr>
          <a:xfrm>
            <a:off x="2596896" y="2980944"/>
            <a:ext cx="1847088" cy="1298448"/>
          </a:xfrm>
          <a:prstGeom prst="roundRect">
            <a:avLst>
              <a:gd name="adj" fmla="val 4225"/>
            </a:avLst>
          </a:prstGeom>
          <a:solidFill>
            <a:srgbClr val="FFFFFF"/>
          </a:solidFill>
          <a:ln/>
        </p:spPr>
      </p:sp>
      <p:pic>
        <p:nvPicPr>
          <p:cNvPr id="35" name="Image 3" descr="preencoded.png">    </p:cNvPr>
          <p:cNvPicPr>
            <a:picLocks noChangeAspect="1"/>
          </p:cNvPicPr>
          <p:nvPr/>
        </p:nvPicPr>
        <p:blipFill>
          <a:blip r:embed="rId4"/>
          <a:stretch>
            <a:fillRect/>
          </a:stretch>
        </p:blipFill>
        <p:spPr>
          <a:xfrm>
            <a:off x="3419856" y="3145536"/>
            <a:ext cx="219456" cy="219456"/>
          </a:xfrm>
          <a:prstGeom prst="rect">
            <a:avLst/>
          </a:prstGeom>
        </p:spPr>
      </p:pic>
      <p:sp>
        <p:nvSpPr>
          <p:cNvPr id="36" name="Text 30"/>
          <p:cNvSpPr/>
          <p:nvPr/>
        </p:nvSpPr>
        <p:spPr>
          <a:xfrm>
            <a:off x="2651760" y="3438144"/>
            <a:ext cx="1737360" cy="219456"/>
          </a:xfrm>
          <a:prstGeom prst="rect">
            <a:avLst/>
          </a:prstGeom>
          <a:noFill/>
          <a:ln/>
        </p:spPr>
        <p:txBody>
          <a:bodyPr wrap="square" lIns="0" tIns="0" rIns="0" bIns="0" rtlCol="0" anchor="ctr"/>
          <a:lstStyle/>
          <a:p>
            <a:pPr algn="ctr" indent="0" marL="0">
              <a:buNone/>
            </a:pPr>
            <a:r>
              <a:rPr lang="en-US" sz="900" b="1" dirty="0">
                <a:solidFill>
                  <a:srgbClr val="1A1A1A"/>
                </a:solidFill>
                <a:latin typeface="Arial" pitchFamily="34" charset="0"/>
                <a:ea typeface="Arial" pitchFamily="34" charset="-122"/>
                <a:cs typeface="Arial" pitchFamily="34" charset="-120"/>
              </a:rPr>
              <a:t>Inferencia en dispositivo</a:t>
            </a:r>
            <a:endParaRPr lang="en-US" sz="900" dirty="0"/>
          </a:p>
        </p:txBody>
      </p:sp>
      <p:sp>
        <p:nvSpPr>
          <p:cNvPr id="37" name="Text 31"/>
          <p:cNvSpPr/>
          <p:nvPr/>
        </p:nvSpPr>
        <p:spPr>
          <a:xfrm>
            <a:off x="2651760" y="3657600"/>
            <a:ext cx="1737360" cy="402336"/>
          </a:xfrm>
          <a:prstGeom prst="rect">
            <a:avLst/>
          </a:prstGeom>
          <a:noFill/>
          <a:ln/>
        </p:spPr>
        <p:txBody>
          <a:bodyPr wrap="square" lIns="0" tIns="0" rIns="0" bIns="0" rtlCol="0" anchor="t"/>
          <a:lstStyle/>
          <a:p>
            <a:pPr algn="ctr" indent="0" marL="0">
              <a:buNone/>
            </a:pPr>
            <a:r>
              <a:rPr lang="en-US" sz="800" i="1" dirty="0">
                <a:solidFill>
                  <a:srgbClr val="5A5A5A"/>
                </a:solidFill>
                <a:latin typeface="Arial" pitchFamily="34" charset="0"/>
                <a:ea typeface="Arial" pitchFamily="34" charset="-122"/>
                <a:cs typeface="Arial" pitchFamily="34" charset="-120"/>
              </a:rPr>
              <a:t>ONNX → Core ML,</a:t>
            </a:r>
            <a:endParaRPr lang="en-US" sz="800" dirty="0"/>
          </a:p>
          <a:p>
            <a:pPr algn="ctr" indent="0" marL="0">
              <a:buNone/>
            </a:pPr>
            <a:r>
              <a:rPr lang="en-US" sz="800" i="1" dirty="0">
                <a:solidFill>
                  <a:srgbClr val="5A5A5A"/>
                </a:solidFill>
                <a:latin typeface="Arial" pitchFamily="34" charset="0"/>
                <a:ea typeface="Arial" pitchFamily="34" charset="-122"/>
                <a:cs typeface="Arial" pitchFamily="34" charset="-120"/>
              </a:rPr>
              <a:t>NNAPI, TFLite</a:t>
            </a:r>
            <a:endParaRPr lang="en-US" sz="800" dirty="0"/>
          </a:p>
        </p:txBody>
      </p:sp>
      <p:sp>
        <p:nvSpPr>
          <p:cNvPr id="38" name="Text 32"/>
          <p:cNvSpPr/>
          <p:nvPr/>
        </p:nvSpPr>
        <p:spPr>
          <a:xfrm>
            <a:off x="4443984" y="3529584"/>
            <a:ext cx="219456" cy="274320"/>
          </a:xfrm>
          <a:prstGeom prst="rect">
            <a:avLst/>
          </a:prstGeom>
          <a:noFill/>
          <a:ln/>
        </p:spPr>
        <p:txBody>
          <a:bodyPr wrap="square" lIns="0" tIns="0" rIns="0" bIns="0" rtlCol="0" anchor="ctr"/>
          <a:lstStyle/>
          <a:p>
            <a:pPr algn="ctr" indent="0" marL="0">
              <a:buNone/>
            </a:pPr>
            <a:r>
              <a:rPr lang="en-US" sz="1300" b="1" dirty="0">
                <a:solidFill>
                  <a:srgbClr val="3E6FC7"/>
                </a:solidFill>
                <a:latin typeface="Arial" pitchFamily="34" charset="0"/>
                <a:ea typeface="Arial" pitchFamily="34" charset="-122"/>
                <a:cs typeface="Arial" pitchFamily="34" charset="-120"/>
              </a:rPr>
              <a:t>→</a:t>
            </a:r>
            <a:endParaRPr lang="en-US" sz="1300" dirty="0"/>
          </a:p>
        </p:txBody>
      </p:sp>
      <p:sp>
        <p:nvSpPr>
          <p:cNvPr id="39" name="Shape 33"/>
          <p:cNvSpPr/>
          <p:nvPr/>
        </p:nvSpPr>
        <p:spPr>
          <a:xfrm>
            <a:off x="4663440" y="2980944"/>
            <a:ext cx="1691640" cy="1298448"/>
          </a:xfrm>
          <a:prstGeom prst="roundRect">
            <a:avLst>
              <a:gd name="adj" fmla="val 4225"/>
            </a:avLst>
          </a:prstGeom>
          <a:solidFill>
            <a:srgbClr val="FFFFFF"/>
          </a:solidFill>
          <a:ln/>
        </p:spPr>
      </p:sp>
      <p:pic>
        <p:nvPicPr>
          <p:cNvPr id="40" name="Image 4" descr="preencoded.png">    </p:cNvPr>
          <p:cNvPicPr>
            <a:picLocks noChangeAspect="1"/>
          </p:cNvPicPr>
          <p:nvPr/>
        </p:nvPicPr>
        <p:blipFill>
          <a:blip r:embed="rId5"/>
          <a:stretch>
            <a:fillRect/>
          </a:stretch>
        </p:blipFill>
        <p:spPr>
          <a:xfrm>
            <a:off x="5404104" y="3145536"/>
            <a:ext cx="219456" cy="219456"/>
          </a:xfrm>
          <a:prstGeom prst="rect">
            <a:avLst/>
          </a:prstGeom>
        </p:spPr>
      </p:pic>
      <p:sp>
        <p:nvSpPr>
          <p:cNvPr id="41" name="Text 34"/>
          <p:cNvSpPr/>
          <p:nvPr/>
        </p:nvSpPr>
        <p:spPr>
          <a:xfrm>
            <a:off x="4718304" y="3438144"/>
            <a:ext cx="1581912" cy="219456"/>
          </a:xfrm>
          <a:prstGeom prst="rect">
            <a:avLst/>
          </a:prstGeom>
          <a:noFill/>
          <a:ln/>
        </p:spPr>
        <p:txBody>
          <a:bodyPr wrap="square" lIns="0" tIns="0" rIns="0" bIns="0" rtlCol="0" anchor="ctr"/>
          <a:lstStyle/>
          <a:p>
            <a:pPr algn="ctr" indent="0" marL="0">
              <a:buNone/>
            </a:pPr>
            <a:r>
              <a:rPr lang="en-US" sz="900" b="1" dirty="0">
                <a:solidFill>
                  <a:srgbClr val="1A1A1A"/>
                </a:solidFill>
                <a:latin typeface="Arial" pitchFamily="34" charset="0"/>
                <a:ea typeface="Arial" pitchFamily="34" charset="-122"/>
                <a:cs typeface="Arial" pitchFamily="34" charset="-120"/>
              </a:rPr>
              <a:t>Contrato de eventos</a:t>
            </a:r>
            <a:endParaRPr lang="en-US" sz="900" dirty="0"/>
          </a:p>
        </p:txBody>
      </p:sp>
      <p:sp>
        <p:nvSpPr>
          <p:cNvPr id="42" name="Text 35"/>
          <p:cNvSpPr/>
          <p:nvPr/>
        </p:nvSpPr>
        <p:spPr>
          <a:xfrm>
            <a:off x="4718304" y="3657600"/>
            <a:ext cx="1581912" cy="402336"/>
          </a:xfrm>
          <a:prstGeom prst="rect">
            <a:avLst/>
          </a:prstGeom>
          <a:noFill/>
          <a:ln/>
        </p:spPr>
        <p:txBody>
          <a:bodyPr wrap="square" lIns="0" tIns="0" rIns="0" bIns="0" rtlCol="0" anchor="t"/>
          <a:lstStyle/>
          <a:p>
            <a:pPr algn="ctr" indent="0" marL="0">
              <a:buNone/>
            </a:pPr>
            <a:r>
              <a:rPr lang="en-US" sz="800" i="1" dirty="0">
                <a:solidFill>
                  <a:srgbClr val="5A5A5A"/>
                </a:solidFill>
                <a:latin typeface="Arial" pitchFamily="34" charset="0"/>
                <a:ea typeface="Arial" pitchFamily="34" charset="-122"/>
                <a:cs typeface="Arial" pitchFamily="34" charset="-120"/>
              </a:rPr>
              <a:t>gesto · confianza</a:t>
            </a:r>
            <a:endParaRPr lang="en-US" sz="800" dirty="0"/>
          </a:p>
          <a:p>
            <a:pPr algn="ctr" indent="0" marL="0">
              <a:buNone/>
            </a:pPr>
            <a:r>
              <a:rPr lang="en-US" sz="800" i="1" dirty="0">
                <a:solidFill>
                  <a:srgbClr val="5A5A5A"/>
                </a:solidFill>
                <a:latin typeface="Arial" pitchFamily="34" charset="0"/>
                <a:ea typeface="Arial" pitchFamily="34" charset="-122"/>
                <a:cs typeface="Arial" pitchFamily="34" charset="-120"/>
              </a:rPr>
              <a:t>latencia · versión</a:t>
            </a:r>
            <a:endParaRPr lang="en-US" sz="800" dirty="0"/>
          </a:p>
        </p:txBody>
      </p:sp>
      <p:sp>
        <p:nvSpPr>
          <p:cNvPr id="43" name="Shape 36"/>
          <p:cNvSpPr/>
          <p:nvPr/>
        </p:nvSpPr>
        <p:spPr>
          <a:xfrm>
            <a:off x="2596896" y="4462272"/>
            <a:ext cx="3758184" cy="1115568"/>
          </a:xfrm>
          <a:prstGeom prst="roundRect">
            <a:avLst>
              <a:gd name="adj" fmla="val 4918"/>
            </a:avLst>
          </a:prstGeom>
          <a:solidFill>
            <a:srgbClr val="FFFFFF"/>
          </a:solidFill>
          <a:ln/>
        </p:spPr>
      </p:sp>
      <p:sp>
        <p:nvSpPr>
          <p:cNvPr id="44" name="Text 37"/>
          <p:cNvSpPr/>
          <p:nvPr/>
        </p:nvSpPr>
        <p:spPr>
          <a:xfrm>
            <a:off x="2743200" y="4572000"/>
            <a:ext cx="3474720" cy="219456"/>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Integración con el tooling propio del cliente</a:t>
            </a:r>
            <a:endParaRPr lang="en-US" sz="900" dirty="0"/>
          </a:p>
        </p:txBody>
      </p:sp>
      <p:sp>
        <p:nvSpPr>
          <p:cNvPr id="45" name="Text 38"/>
          <p:cNvSpPr/>
          <p:nvPr/>
        </p:nvSpPr>
        <p:spPr>
          <a:xfrm>
            <a:off x="2743200" y="4791456"/>
            <a:ext cx="3474720" cy="402336"/>
          </a:xfrm>
          <a:prstGeom prst="rect">
            <a:avLst/>
          </a:prstGeom>
          <a:noFill/>
          <a:ln/>
        </p:spPr>
        <p:txBody>
          <a:bodyPr wrap="square" lIns="0" tIns="0" rIns="0" bIns="0" rtlCol="0" anchor="t"/>
          <a:lstStyle/>
          <a:p>
            <a:pPr indent="0" marL="0">
              <a:buNone/>
            </a:pPr>
            <a:r>
              <a:rPr lang="en-US" sz="750" dirty="0">
                <a:solidFill>
                  <a:srgbClr val="5A5A5A"/>
                </a:solidFill>
                <a:latin typeface="Arial" pitchFamily="34" charset="0"/>
                <a:ea typeface="Arial" pitchFamily="34" charset="-122"/>
                <a:cs typeface="Arial" pitchFamily="34" charset="-120"/>
              </a:rPr>
              <a:t>El contrato publica hacia la infraestructura que el cliente ya opera. No traemos plataforma: nos integramos a la que existe.</a:t>
            </a:r>
            <a:endParaRPr lang="en-US" sz="750" dirty="0"/>
          </a:p>
        </p:txBody>
      </p:sp>
      <p:sp>
        <p:nvSpPr>
          <p:cNvPr id="46" name="Text 39"/>
          <p:cNvSpPr/>
          <p:nvPr/>
        </p:nvSpPr>
        <p:spPr>
          <a:xfrm>
            <a:off x="2743200" y="5230368"/>
            <a:ext cx="3474720" cy="219456"/>
          </a:xfrm>
          <a:prstGeom prst="rect">
            <a:avLst/>
          </a:prstGeom>
          <a:noFill/>
          <a:ln/>
        </p:spPr>
        <p:txBody>
          <a:bodyPr wrap="square" lIns="0" tIns="0" rIns="0" bIns="0" rtlCol="0" anchor="ctr"/>
          <a:lstStyle/>
          <a:p>
            <a:pPr indent="0" marL="0">
              <a:buNone/>
            </a:pPr>
            <a:r>
              <a:rPr lang="en-US" sz="850" b="1" dirty="0">
                <a:solidFill>
                  <a:srgbClr val="3E6FC7"/>
                </a:solidFill>
                <a:latin typeface="Arial" pitchFamily="34" charset="0"/>
                <a:ea typeface="Arial" pitchFamily="34" charset="-122"/>
                <a:cs typeface="Arial" pitchFamily="34" charset="-120"/>
              </a:rPr>
              <a:t>Bespoke   ·   AWS   ·   Azure   ·   GCP   ·   On-premise</a:t>
            </a:r>
            <a:endParaRPr lang="en-US" sz="850" dirty="0"/>
          </a:p>
        </p:txBody>
      </p:sp>
      <p:sp>
        <p:nvSpPr>
          <p:cNvPr id="47" name="Text 40"/>
          <p:cNvSpPr/>
          <p:nvPr/>
        </p:nvSpPr>
        <p:spPr>
          <a:xfrm>
            <a:off x="6583680" y="2889504"/>
            <a:ext cx="237744" cy="274320"/>
          </a:xfrm>
          <a:prstGeom prst="rect">
            <a:avLst/>
          </a:prstGeom>
          <a:noFill/>
          <a:ln/>
        </p:spPr>
        <p:txBody>
          <a:bodyPr wrap="square" lIns="0" tIns="0" rIns="0" bIns="0" rtlCol="0" anchor="ctr"/>
          <a:lstStyle/>
          <a:p>
            <a:pPr algn="ctr" indent="0" marL="0">
              <a:buNone/>
            </a:pPr>
            <a:r>
              <a:rPr lang="en-US" sz="1200" b="1" dirty="0">
                <a:solidFill>
                  <a:srgbClr val="3E6FC7"/>
                </a:solidFill>
                <a:latin typeface="Arial" pitchFamily="34" charset="0"/>
                <a:ea typeface="Arial" pitchFamily="34" charset="-122"/>
                <a:cs typeface="Arial" pitchFamily="34" charset="-120"/>
              </a:rPr>
              <a:t>→</a:t>
            </a:r>
            <a:endParaRPr lang="en-US" sz="1200" dirty="0"/>
          </a:p>
        </p:txBody>
      </p:sp>
      <p:pic>
        <p:nvPicPr>
          <p:cNvPr id="48" name="Image 5" descr="preencoded.png">    </p:cNvPr>
          <p:cNvPicPr>
            <a:picLocks noChangeAspect="1"/>
          </p:cNvPicPr>
          <p:nvPr/>
        </p:nvPicPr>
        <p:blipFill>
          <a:blip r:embed="rId6"/>
          <a:stretch>
            <a:fillRect/>
          </a:stretch>
        </p:blipFill>
        <p:spPr>
          <a:xfrm>
            <a:off x="6894576" y="2926080"/>
            <a:ext cx="182880" cy="182880"/>
          </a:xfrm>
          <a:prstGeom prst="rect">
            <a:avLst/>
          </a:prstGeom>
        </p:spPr>
      </p:pic>
      <p:sp>
        <p:nvSpPr>
          <p:cNvPr id="49" name="Text 41"/>
          <p:cNvSpPr/>
          <p:nvPr/>
        </p:nvSpPr>
        <p:spPr>
          <a:xfrm>
            <a:off x="7187184" y="2834640"/>
            <a:ext cx="2880360" cy="219456"/>
          </a:xfrm>
          <a:prstGeom prst="rect">
            <a:avLst/>
          </a:prstGeom>
          <a:noFill/>
          <a:ln/>
        </p:spPr>
        <p:txBody>
          <a:bodyPr wrap="square" lIns="0" tIns="0" rIns="0" bIns="0" rtlCol="0" anchor="ctr"/>
          <a:lstStyle/>
          <a:p>
            <a:pPr indent="0" marL="0">
              <a:buNone/>
            </a:pPr>
            <a:r>
              <a:rPr lang="en-US" sz="950" b="1" dirty="0">
                <a:solidFill>
                  <a:srgbClr val="1A1A1A"/>
                </a:solidFill>
                <a:latin typeface="Arial" pitchFamily="34" charset="0"/>
                <a:ea typeface="Arial" pitchFamily="34" charset="-122"/>
                <a:cs typeface="Arial" pitchFamily="34" charset="-120"/>
              </a:rPr>
              <a:t>Observabilidad</a:t>
            </a:r>
            <a:endParaRPr lang="en-US" sz="950" dirty="0"/>
          </a:p>
        </p:txBody>
      </p:sp>
      <p:sp>
        <p:nvSpPr>
          <p:cNvPr id="50" name="Text 42"/>
          <p:cNvSpPr/>
          <p:nvPr/>
        </p:nvSpPr>
        <p:spPr>
          <a:xfrm>
            <a:off x="7187184" y="3035808"/>
            <a:ext cx="2880360" cy="201168"/>
          </a:xfrm>
          <a:prstGeom prst="rect">
            <a:avLst/>
          </a:prstGeom>
          <a:noFill/>
          <a:ln/>
        </p:spPr>
        <p:txBody>
          <a:bodyPr wrap="square" lIns="0" tIns="0" rIns="0" bIns="0" rtlCol="0" anchor="ctr"/>
          <a:lstStyle/>
          <a:p>
            <a:pPr indent="0" marL="0">
              <a:buNone/>
            </a:pPr>
            <a:r>
              <a:rPr lang="en-US" sz="800" i="1" dirty="0">
                <a:solidFill>
                  <a:srgbClr val="5A5A5A"/>
                </a:solidFill>
                <a:latin typeface="Arial" pitchFamily="34" charset="0"/>
                <a:ea typeface="Arial" pitchFamily="34" charset="-122"/>
                <a:cs typeface="Arial" pitchFamily="34" charset="-120"/>
              </a:rPr>
              <a:t>Latencia p99 por modelo de dispositivo</a:t>
            </a:r>
            <a:endParaRPr lang="en-US" sz="800" dirty="0"/>
          </a:p>
        </p:txBody>
      </p:sp>
      <p:sp>
        <p:nvSpPr>
          <p:cNvPr id="51" name="Shape 43"/>
          <p:cNvSpPr/>
          <p:nvPr/>
        </p:nvSpPr>
        <p:spPr>
          <a:xfrm>
            <a:off x="7187184" y="3291840"/>
            <a:ext cx="2834640" cy="7315"/>
          </a:xfrm>
          <a:prstGeom prst="rect">
            <a:avLst/>
          </a:prstGeom>
          <a:solidFill>
            <a:srgbClr val="DCDFE5"/>
          </a:solidFill>
          <a:ln/>
        </p:spPr>
      </p:sp>
      <p:sp>
        <p:nvSpPr>
          <p:cNvPr id="52" name="Text 44"/>
          <p:cNvSpPr/>
          <p:nvPr/>
        </p:nvSpPr>
        <p:spPr>
          <a:xfrm>
            <a:off x="6583680" y="3465576"/>
            <a:ext cx="237744" cy="274320"/>
          </a:xfrm>
          <a:prstGeom prst="rect">
            <a:avLst/>
          </a:prstGeom>
          <a:noFill/>
          <a:ln/>
        </p:spPr>
        <p:txBody>
          <a:bodyPr wrap="square" lIns="0" tIns="0" rIns="0" bIns="0" rtlCol="0" anchor="ctr"/>
          <a:lstStyle/>
          <a:p>
            <a:pPr algn="ctr" indent="0" marL="0">
              <a:buNone/>
            </a:pPr>
            <a:r>
              <a:rPr lang="en-US" sz="1200" b="1" dirty="0">
                <a:solidFill>
                  <a:srgbClr val="3E6FC7"/>
                </a:solidFill>
                <a:latin typeface="Arial" pitchFamily="34" charset="0"/>
                <a:ea typeface="Arial" pitchFamily="34" charset="-122"/>
                <a:cs typeface="Arial" pitchFamily="34" charset="-120"/>
              </a:rPr>
              <a:t>→</a:t>
            </a:r>
            <a:endParaRPr lang="en-US" sz="1200" dirty="0"/>
          </a:p>
        </p:txBody>
      </p:sp>
      <p:pic>
        <p:nvPicPr>
          <p:cNvPr id="53" name="Image 6" descr="preencoded.png">    </p:cNvPr>
          <p:cNvPicPr>
            <a:picLocks noChangeAspect="1"/>
          </p:cNvPicPr>
          <p:nvPr/>
        </p:nvPicPr>
        <p:blipFill>
          <a:blip r:embed="rId7"/>
          <a:stretch>
            <a:fillRect/>
          </a:stretch>
        </p:blipFill>
        <p:spPr>
          <a:xfrm>
            <a:off x="6894576" y="3502152"/>
            <a:ext cx="182880" cy="182880"/>
          </a:xfrm>
          <a:prstGeom prst="rect">
            <a:avLst/>
          </a:prstGeom>
        </p:spPr>
      </p:pic>
      <p:sp>
        <p:nvSpPr>
          <p:cNvPr id="54" name="Text 45"/>
          <p:cNvSpPr/>
          <p:nvPr/>
        </p:nvSpPr>
        <p:spPr>
          <a:xfrm>
            <a:off x="7187184" y="3410712"/>
            <a:ext cx="2880360" cy="219456"/>
          </a:xfrm>
          <a:prstGeom prst="rect">
            <a:avLst/>
          </a:prstGeom>
          <a:noFill/>
          <a:ln/>
        </p:spPr>
        <p:txBody>
          <a:bodyPr wrap="square" lIns="0" tIns="0" rIns="0" bIns="0" rtlCol="0" anchor="ctr"/>
          <a:lstStyle/>
          <a:p>
            <a:pPr indent="0" marL="0">
              <a:buNone/>
            </a:pPr>
            <a:r>
              <a:rPr lang="en-US" sz="950" b="1" dirty="0">
                <a:solidFill>
                  <a:srgbClr val="1A1A1A"/>
                </a:solidFill>
                <a:latin typeface="Arial" pitchFamily="34" charset="0"/>
                <a:ea typeface="Arial" pitchFamily="34" charset="-122"/>
                <a:cs typeface="Arial" pitchFamily="34" charset="-120"/>
              </a:rPr>
              <a:t>Costos</a:t>
            </a:r>
            <a:endParaRPr lang="en-US" sz="950" dirty="0"/>
          </a:p>
        </p:txBody>
      </p:sp>
      <p:sp>
        <p:nvSpPr>
          <p:cNvPr id="55" name="Text 46"/>
          <p:cNvSpPr/>
          <p:nvPr/>
        </p:nvSpPr>
        <p:spPr>
          <a:xfrm>
            <a:off x="7187184" y="3611880"/>
            <a:ext cx="2880360" cy="201168"/>
          </a:xfrm>
          <a:prstGeom prst="rect">
            <a:avLst/>
          </a:prstGeom>
          <a:noFill/>
          <a:ln/>
        </p:spPr>
        <p:txBody>
          <a:bodyPr wrap="square" lIns="0" tIns="0" rIns="0" bIns="0" rtlCol="0" anchor="ctr"/>
          <a:lstStyle/>
          <a:p>
            <a:pPr indent="0" marL="0">
              <a:buNone/>
            </a:pPr>
            <a:r>
              <a:rPr lang="en-US" sz="800" i="1" dirty="0">
                <a:solidFill>
                  <a:srgbClr val="5A5A5A"/>
                </a:solidFill>
                <a:latin typeface="Arial" pitchFamily="34" charset="0"/>
                <a:ea typeface="Arial" pitchFamily="34" charset="-122"/>
                <a:cs typeface="Arial" pitchFamily="34" charset="-120"/>
              </a:rPr>
              <a:t>Inferencia en dispositivo vs. en nube</a:t>
            </a:r>
            <a:endParaRPr lang="en-US" sz="800" dirty="0"/>
          </a:p>
        </p:txBody>
      </p:sp>
      <p:sp>
        <p:nvSpPr>
          <p:cNvPr id="56" name="Shape 47"/>
          <p:cNvSpPr/>
          <p:nvPr/>
        </p:nvSpPr>
        <p:spPr>
          <a:xfrm>
            <a:off x="7187184" y="3867912"/>
            <a:ext cx="2834640" cy="7315"/>
          </a:xfrm>
          <a:prstGeom prst="rect">
            <a:avLst/>
          </a:prstGeom>
          <a:solidFill>
            <a:srgbClr val="DCDFE5"/>
          </a:solidFill>
          <a:ln/>
        </p:spPr>
      </p:sp>
      <p:sp>
        <p:nvSpPr>
          <p:cNvPr id="57" name="Text 48"/>
          <p:cNvSpPr/>
          <p:nvPr/>
        </p:nvSpPr>
        <p:spPr>
          <a:xfrm>
            <a:off x="6583680" y="4041648"/>
            <a:ext cx="237744" cy="274320"/>
          </a:xfrm>
          <a:prstGeom prst="rect">
            <a:avLst/>
          </a:prstGeom>
          <a:noFill/>
          <a:ln/>
        </p:spPr>
        <p:txBody>
          <a:bodyPr wrap="square" lIns="0" tIns="0" rIns="0" bIns="0" rtlCol="0" anchor="ctr"/>
          <a:lstStyle/>
          <a:p>
            <a:pPr algn="ctr" indent="0" marL="0">
              <a:buNone/>
            </a:pPr>
            <a:r>
              <a:rPr lang="en-US" sz="1200" b="1" dirty="0">
                <a:solidFill>
                  <a:srgbClr val="3E6FC7"/>
                </a:solidFill>
                <a:latin typeface="Arial" pitchFamily="34" charset="0"/>
                <a:ea typeface="Arial" pitchFamily="34" charset="-122"/>
                <a:cs typeface="Arial" pitchFamily="34" charset="-120"/>
              </a:rPr>
              <a:t>→</a:t>
            </a:r>
            <a:endParaRPr lang="en-US" sz="1200" dirty="0"/>
          </a:p>
        </p:txBody>
      </p:sp>
      <p:pic>
        <p:nvPicPr>
          <p:cNvPr id="58" name="Image 7" descr="preencoded.png">    </p:cNvPr>
          <p:cNvPicPr>
            <a:picLocks noChangeAspect="1"/>
          </p:cNvPicPr>
          <p:nvPr/>
        </p:nvPicPr>
        <p:blipFill>
          <a:blip r:embed="rId8"/>
          <a:stretch>
            <a:fillRect/>
          </a:stretch>
        </p:blipFill>
        <p:spPr>
          <a:xfrm>
            <a:off x="6894576" y="4078224"/>
            <a:ext cx="182880" cy="182880"/>
          </a:xfrm>
          <a:prstGeom prst="rect">
            <a:avLst/>
          </a:prstGeom>
        </p:spPr>
      </p:pic>
      <p:sp>
        <p:nvSpPr>
          <p:cNvPr id="59" name="Text 49"/>
          <p:cNvSpPr/>
          <p:nvPr/>
        </p:nvSpPr>
        <p:spPr>
          <a:xfrm>
            <a:off x="7187184" y="3986784"/>
            <a:ext cx="2880360" cy="219456"/>
          </a:xfrm>
          <a:prstGeom prst="rect">
            <a:avLst/>
          </a:prstGeom>
          <a:noFill/>
          <a:ln/>
        </p:spPr>
        <p:txBody>
          <a:bodyPr wrap="square" lIns="0" tIns="0" rIns="0" bIns="0" rtlCol="0" anchor="ctr"/>
          <a:lstStyle/>
          <a:p>
            <a:pPr indent="0" marL="0">
              <a:buNone/>
            </a:pPr>
            <a:r>
              <a:rPr lang="en-US" sz="950" b="1" dirty="0">
                <a:solidFill>
                  <a:srgbClr val="1A1A1A"/>
                </a:solidFill>
                <a:latin typeface="Arial" pitchFamily="34" charset="0"/>
                <a:ea typeface="Arial" pitchFamily="34" charset="-122"/>
                <a:cs typeface="Arial" pitchFamily="34" charset="-120"/>
              </a:rPr>
              <a:t>Seguridad</a:t>
            </a:r>
            <a:endParaRPr lang="en-US" sz="950" dirty="0"/>
          </a:p>
        </p:txBody>
      </p:sp>
      <p:sp>
        <p:nvSpPr>
          <p:cNvPr id="60" name="Text 50"/>
          <p:cNvSpPr/>
          <p:nvPr/>
        </p:nvSpPr>
        <p:spPr>
          <a:xfrm>
            <a:off x="7187184" y="4187952"/>
            <a:ext cx="2880360" cy="201168"/>
          </a:xfrm>
          <a:prstGeom prst="rect">
            <a:avLst/>
          </a:prstGeom>
          <a:noFill/>
          <a:ln/>
        </p:spPr>
        <p:txBody>
          <a:bodyPr wrap="square" lIns="0" tIns="0" rIns="0" bIns="0" rtlCol="0" anchor="ctr"/>
          <a:lstStyle/>
          <a:p>
            <a:pPr indent="0" marL="0">
              <a:buNone/>
            </a:pPr>
            <a:r>
              <a:rPr lang="en-US" sz="800" i="1" dirty="0">
                <a:solidFill>
                  <a:srgbClr val="5A5A5A"/>
                </a:solidFill>
                <a:latin typeface="Arial" pitchFamily="34" charset="0"/>
                <a:ea typeface="Arial" pitchFamily="34" charset="-122"/>
                <a:cs typeface="Arial" pitchFamily="34" charset="-120"/>
              </a:rPr>
              <a:t>Integridad del cliente, anti-trampa</a:t>
            </a:r>
            <a:endParaRPr lang="en-US" sz="800" dirty="0"/>
          </a:p>
        </p:txBody>
      </p:sp>
      <p:sp>
        <p:nvSpPr>
          <p:cNvPr id="61" name="Shape 51"/>
          <p:cNvSpPr/>
          <p:nvPr/>
        </p:nvSpPr>
        <p:spPr>
          <a:xfrm>
            <a:off x="7187184" y="4443984"/>
            <a:ext cx="2834640" cy="7315"/>
          </a:xfrm>
          <a:prstGeom prst="rect">
            <a:avLst/>
          </a:prstGeom>
          <a:solidFill>
            <a:srgbClr val="DCDFE5"/>
          </a:solidFill>
          <a:ln/>
        </p:spPr>
      </p:sp>
      <p:sp>
        <p:nvSpPr>
          <p:cNvPr id="62" name="Text 52"/>
          <p:cNvSpPr/>
          <p:nvPr/>
        </p:nvSpPr>
        <p:spPr>
          <a:xfrm>
            <a:off x="6583680" y="4617720"/>
            <a:ext cx="237744" cy="274320"/>
          </a:xfrm>
          <a:prstGeom prst="rect">
            <a:avLst/>
          </a:prstGeom>
          <a:noFill/>
          <a:ln/>
        </p:spPr>
        <p:txBody>
          <a:bodyPr wrap="square" lIns="0" tIns="0" rIns="0" bIns="0" rtlCol="0" anchor="ctr"/>
          <a:lstStyle/>
          <a:p>
            <a:pPr algn="ctr" indent="0" marL="0">
              <a:buNone/>
            </a:pPr>
            <a:r>
              <a:rPr lang="en-US" sz="1200" b="1" dirty="0">
                <a:solidFill>
                  <a:srgbClr val="3E6FC7"/>
                </a:solidFill>
                <a:latin typeface="Arial" pitchFamily="34" charset="0"/>
                <a:ea typeface="Arial" pitchFamily="34" charset="-122"/>
                <a:cs typeface="Arial" pitchFamily="34" charset="-120"/>
              </a:rPr>
              <a:t>→</a:t>
            </a:r>
            <a:endParaRPr lang="en-US" sz="1200" dirty="0"/>
          </a:p>
        </p:txBody>
      </p:sp>
      <p:pic>
        <p:nvPicPr>
          <p:cNvPr id="63" name="Image 8" descr="preencoded.png">    </p:cNvPr>
          <p:cNvPicPr>
            <a:picLocks noChangeAspect="1"/>
          </p:cNvPicPr>
          <p:nvPr/>
        </p:nvPicPr>
        <p:blipFill>
          <a:blip r:embed="rId9"/>
          <a:stretch>
            <a:fillRect/>
          </a:stretch>
        </p:blipFill>
        <p:spPr>
          <a:xfrm>
            <a:off x="6894576" y="4654296"/>
            <a:ext cx="182880" cy="182880"/>
          </a:xfrm>
          <a:prstGeom prst="rect">
            <a:avLst/>
          </a:prstGeom>
        </p:spPr>
      </p:pic>
      <p:sp>
        <p:nvSpPr>
          <p:cNvPr id="64" name="Text 53"/>
          <p:cNvSpPr/>
          <p:nvPr/>
        </p:nvSpPr>
        <p:spPr>
          <a:xfrm>
            <a:off x="7187184" y="4562856"/>
            <a:ext cx="2880360" cy="219456"/>
          </a:xfrm>
          <a:prstGeom prst="rect">
            <a:avLst/>
          </a:prstGeom>
          <a:noFill/>
          <a:ln/>
        </p:spPr>
        <p:txBody>
          <a:bodyPr wrap="square" lIns="0" tIns="0" rIns="0" bIns="0" rtlCol="0" anchor="ctr"/>
          <a:lstStyle/>
          <a:p>
            <a:pPr indent="0" marL="0">
              <a:buNone/>
            </a:pPr>
            <a:r>
              <a:rPr lang="en-US" sz="950" b="1" dirty="0">
                <a:solidFill>
                  <a:srgbClr val="1A1A1A"/>
                </a:solidFill>
                <a:latin typeface="Arial" pitchFamily="34" charset="0"/>
                <a:ea typeface="Arial" pitchFamily="34" charset="-122"/>
                <a:cs typeface="Arial" pitchFamily="34" charset="-120"/>
              </a:rPr>
              <a:t>Ciclo del modelo</a:t>
            </a:r>
            <a:endParaRPr lang="en-US" sz="950" dirty="0"/>
          </a:p>
        </p:txBody>
      </p:sp>
      <p:sp>
        <p:nvSpPr>
          <p:cNvPr id="65" name="Text 54"/>
          <p:cNvSpPr/>
          <p:nvPr/>
        </p:nvSpPr>
        <p:spPr>
          <a:xfrm>
            <a:off x="7187184" y="4764024"/>
            <a:ext cx="2880360" cy="201168"/>
          </a:xfrm>
          <a:prstGeom prst="rect">
            <a:avLst/>
          </a:prstGeom>
          <a:noFill/>
          <a:ln/>
        </p:spPr>
        <p:txBody>
          <a:bodyPr wrap="square" lIns="0" tIns="0" rIns="0" bIns="0" rtlCol="0" anchor="ctr"/>
          <a:lstStyle/>
          <a:p>
            <a:pPr indent="0" marL="0">
              <a:buNone/>
            </a:pPr>
            <a:r>
              <a:rPr lang="en-US" sz="800" i="1" dirty="0">
                <a:solidFill>
                  <a:srgbClr val="5A5A5A"/>
                </a:solidFill>
                <a:latin typeface="Arial" pitchFamily="34" charset="0"/>
                <a:ea typeface="Arial" pitchFamily="34" charset="-122"/>
                <a:cs typeface="Arial" pitchFamily="34" charset="-120"/>
              </a:rPr>
              <a:t>Actualizar sin bajar el juego</a:t>
            </a:r>
            <a:endParaRPr lang="en-US" sz="800" dirty="0"/>
          </a:p>
        </p:txBody>
      </p:sp>
      <p:sp>
        <p:nvSpPr>
          <p:cNvPr id="66" name="Shape 55"/>
          <p:cNvSpPr/>
          <p:nvPr/>
        </p:nvSpPr>
        <p:spPr>
          <a:xfrm>
            <a:off x="7187184" y="5020056"/>
            <a:ext cx="2834640" cy="7315"/>
          </a:xfrm>
          <a:prstGeom prst="rect">
            <a:avLst/>
          </a:prstGeom>
          <a:solidFill>
            <a:srgbClr val="DCDFE5"/>
          </a:solidFill>
          <a:ln/>
        </p:spPr>
      </p:sp>
      <p:sp>
        <p:nvSpPr>
          <p:cNvPr id="67" name="Text 56"/>
          <p:cNvSpPr/>
          <p:nvPr/>
        </p:nvSpPr>
        <p:spPr>
          <a:xfrm>
            <a:off x="6583680" y="5193792"/>
            <a:ext cx="237744" cy="274320"/>
          </a:xfrm>
          <a:prstGeom prst="rect">
            <a:avLst/>
          </a:prstGeom>
          <a:noFill/>
          <a:ln/>
        </p:spPr>
        <p:txBody>
          <a:bodyPr wrap="square" lIns="0" tIns="0" rIns="0" bIns="0" rtlCol="0" anchor="ctr"/>
          <a:lstStyle/>
          <a:p>
            <a:pPr algn="ctr" indent="0" marL="0">
              <a:buNone/>
            </a:pPr>
            <a:r>
              <a:rPr lang="en-US" sz="1200" b="1" dirty="0">
                <a:solidFill>
                  <a:srgbClr val="3E6FC7"/>
                </a:solidFill>
                <a:latin typeface="Arial" pitchFamily="34" charset="0"/>
                <a:ea typeface="Arial" pitchFamily="34" charset="-122"/>
                <a:cs typeface="Arial" pitchFamily="34" charset="-120"/>
              </a:rPr>
              <a:t>→</a:t>
            </a:r>
            <a:endParaRPr lang="en-US" sz="1200" dirty="0"/>
          </a:p>
        </p:txBody>
      </p:sp>
      <p:pic>
        <p:nvPicPr>
          <p:cNvPr id="68" name="Image 9" descr="preencoded.png">    </p:cNvPr>
          <p:cNvPicPr>
            <a:picLocks noChangeAspect="1"/>
          </p:cNvPicPr>
          <p:nvPr/>
        </p:nvPicPr>
        <p:blipFill>
          <a:blip r:embed="rId10"/>
          <a:stretch>
            <a:fillRect/>
          </a:stretch>
        </p:blipFill>
        <p:spPr>
          <a:xfrm>
            <a:off x="6894576" y="5230368"/>
            <a:ext cx="182880" cy="182880"/>
          </a:xfrm>
          <a:prstGeom prst="rect">
            <a:avLst/>
          </a:prstGeom>
        </p:spPr>
      </p:pic>
      <p:sp>
        <p:nvSpPr>
          <p:cNvPr id="69" name="Text 57"/>
          <p:cNvSpPr/>
          <p:nvPr/>
        </p:nvSpPr>
        <p:spPr>
          <a:xfrm>
            <a:off x="7187184" y="5138928"/>
            <a:ext cx="2880360" cy="219456"/>
          </a:xfrm>
          <a:prstGeom prst="rect">
            <a:avLst/>
          </a:prstGeom>
          <a:noFill/>
          <a:ln/>
        </p:spPr>
        <p:txBody>
          <a:bodyPr wrap="square" lIns="0" tIns="0" rIns="0" bIns="0" rtlCol="0" anchor="ctr"/>
          <a:lstStyle/>
          <a:p>
            <a:pPr indent="0" marL="0">
              <a:buNone/>
            </a:pPr>
            <a:r>
              <a:rPr lang="en-US" sz="950" b="1" dirty="0">
                <a:solidFill>
                  <a:srgbClr val="1A1A1A"/>
                </a:solidFill>
                <a:latin typeface="Arial" pitchFamily="34" charset="0"/>
                <a:ea typeface="Arial" pitchFamily="34" charset="-122"/>
                <a:cs typeface="Arial" pitchFamily="34" charset="-120"/>
              </a:rPr>
              <a:t>Motor del juego</a:t>
            </a:r>
            <a:endParaRPr lang="en-US" sz="950" dirty="0"/>
          </a:p>
        </p:txBody>
      </p:sp>
      <p:sp>
        <p:nvSpPr>
          <p:cNvPr id="70" name="Text 58"/>
          <p:cNvSpPr/>
          <p:nvPr/>
        </p:nvSpPr>
        <p:spPr>
          <a:xfrm>
            <a:off x="7187184" y="5340096"/>
            <a:ext cx="2880360" cy="201168"/>
          </a:xfrm>
          <a:prstGeom prst="rect">
            <a:avLst/>
          </a:prstGeom>
          <a:noFill/>
          <a:ln/>
        </p:spPr>
        <p:txBody>
          <a:bodyPr wrap="square" lIns="0" tIns="0" rIns="0" bIns="0" rtlCol="0" anchor="ctr"/>
          <a:lstStyle/>
          <a:p>
            <a:pPr indent="0" marL="0">
              <a:buNone/>
            </a:pPr>
            <a:r>
              <a:rPr lang="en-US" sz="800" i="1" dirty="0">
                <a:solidFill>
                  <a:srgbClr val="5A5A5A"/>
                </a:solidFill>
                <a:latin typeface="Arial" pitchFamily="34" charset="0"/>
                <a:ea typeface="Arial" pitchFamily="34" charset="-122"/>
                <a:cs typeface="Arial" pitchFamily="34" charset="-120"/>
              </a:rPr>
              <a:t>El gesto como entrada de control</a:t>
            </a:r>
            <a:endParaRPr lang="en-US" sz="800" dirty="0"/>
          </a:p>
        </p:txBody>
      </p:sp>
      <p:sp>
        <p:nvSpPr>
          <p:cNvPr id="71" name="Shape 59"/>
          <p:cNvSpPr/>
          <p:nvPr/>
        </p:nvSpPr>
        <p:spPr>
          <a:xfrm>
            <a:off x="10241280" y="3200400"/>
            <a:ext cx="1490472" cy="1828800"/>
          </a:xfrm>
          <a:prstGeom prst="roundRect">
            <a:avLst>
              <a:gd name="adj" fmla="val 3681"/>
            </a:avLst>
          </a:prstGeom>
          <a:solidFill>
            <a:srgbClr val="EEF3FC"/>
          </a:solidFill>
          <a:ln/>
        </p:spPr>
      </p:sp>
      <p:pic>
        <p:nvPicPr>
          <p:cNvPr id="72" name="Image 10" descr="preencoded.png">    </p:cNvPr>
          <p:cNvPicPr>
            <a:picLocks noChangeAspect="1"/>
          </p:cNvPicPr>
          <p:nvPr/>
        </p:nvPicPr>
        <p:blipFill>
          <a:blip r:embed="rId11"/>
          <a:stretch>
            <a:fillRect/>
          </a:stretch>
        </p:blipFill>
        <p:spPr>
          <a:xfrm>
            <a:off x="10853928" y="3438144"/>
            <a:ext cx="256032" cy="256032"/>
          </a:xfrm>
          <a:prstGeom prst="rect">
            <a:avLst/>
          </a:prstGeom>
        </p:spPr>
      </p:pic>
      <p:sp>
        <p:nvSpPr>
          <p:cNvPr id="73" name="Text 60"/>
          <p:cNvSpPr/>
          <p:nvPr/>
        </p:nvSpPr>
        <p:spPr>
          <a:xfrm>
            <a:off x="10314432" y="3803904"/>
            <a:ext cx="1344168" cy="402336"/>
          </a:xfrm>
          <a:prstGeom prst="rect">
            <a:avLst/>
          </a:prstGeom>
          <a:noFill/>
          <a:ln/>
        </p:spPr>
        <p:txBody>
          <a:bodyPr wrap="square" lIns="0" tIns="0" rIns="0" bIns="0" rtlCol="0" anchor="ctr"/>
          <a:lstStyle/>
          <a:p>
            <a:pPr algn="ctr" indent="0" marL="0">
              <a:buNone/>
            </a:pPr>
            <a:r>
              <a:rPr lang="en-US" sz="950" b="1" dirty="0">
                <a:solidFill>
                  <a:srgbClr val="1A1A1A"/>
                </a:solidFill>
                <a:latin typeface="Arial" pitchFamily="34" charset="0"/>
                <a:ea typeface="Arial" pitchFamily="34" charset="-122"/>
                <a:cs typeface="Arial" pitchFamily="34" charset="-120"/>
              </a:rPr>
              <a:t>Operación</a:t>
            </a:r>
            <a:endParaRPr lang="en-US" sz="950" dirty="0"/>
          </a:p>
          <a:p>
            <a:pPr algn="ctr" indent="0" marL="0">
              <a:buNone/>
            </a:pPr>
            <a:r>
              <a:rPr lang="en-US" sz="950" b="1" dirty="0">
                <a:solidFill>
                  <a:srgbClr val="1A1A1A"/>
                </a:solidFill>
                <a:latin typeface="Arial" pitchFamily="34" charset="0"/>
                <a:ea typeface="Arial" pitchFamily="34" charset="-122"/>
                <a:cs typeface="Arial" pitchFamily="34" charset="-120"/>
              </a:rPr>
              <a:t>del juego en vivo</a:t>
            </a:r>
            <a:endParaRPr lang="en-US" sz="950" dirty="0"/>
          </a:p>
        </p:txBody>
      </p:sp>
      <p:sp>
        <p:nvSpPr>
          <p:cNvPr id="74" name="Text 61"/>
          <p:cNvSpPr/>
          <p:nvPr/>
        </p:nvSpPr>
        <p:spPr>
          <a:xfrm>
            <a:off x="10314432" y="4261104"/>
            <a:ext cx="1344168" cy="640080"/>
          </a:xfrm>
          <a:prstGeom prst="rect">
            <a:avLst/>
          </a:prstGeom>
          <a:noFill/>
          <a:ln/>
        </p:spPr>
        <p:txBody>
          <a:bodyPr wrap="square" lIns="0" tIns="0" rIns="0" bIns="0" rtlCol="0" anchor="t"/>
          <a:lstStyle/>
          <a:p>
            <a:pPr algn="ctr" indent="0" marL="0">
              <a:buNone/>
            </a:pPr>
            <a:r>
              <a:rPr lang="en-US" sz="750" i="1" dirty="0">
                <a:solidFill>
                  <a:srgbClr val="5A5A5A"/>
                </a:solidFill>
                <a:latin typeface="Arial" pitchFamily="34" charset="0"/>
                <a:ea typeface="Arial" pitchFamily="34" charset="-122"/>
                <a:cs typeface="Arial" pitchFamily="34" charset="-120"/>
              </a:rPr>
              <a:t>Las cuatro cosas que</a:t>
            </a:r>
            <a:endParaRPr lang="en-US" sz="750" dirty="0"/>
          </a:p>
          <a:p>
            <a:pPr algn="ctr" indent="0" marL="0">
              <a:buNone/>
            </a:pPr>
            <a:r>
              <a:rPr lang="en-US" sz="750" i="1" dirty="0">
                <a:solidFill>
                  <a:srgbClr val="5A5A5A"/>
                </a:solidFill>
                <a:latin typeface="Arial" pitchFamily="34" charset="0"/>
                <a:ea typeface="Arial" pitchFamily="34" charset="-122"/>
                <a:cs typeface="Arial" pitchFamily="34" charset="-120"/>
              </a:rPr>
              <a:t>el pedido nombra,</a:t>
            </a:r>
            <a:endParaRPr lang="en-US" sz="750" dirty="0"/>
          </a:p>
          <a:p>
            <a:pPr algn="ctr" indent="0" marL="0">
              <a:buNone/>
            </a:pPr>
            <a:r>
              <a:rPr lang="en-US" sz="750" i="1" dirty="0">
                <a:solidFill>
                  <a:srgbClr val="5A5A5A"/>
                </a:solidFill>
                <a:latin typeface="Arial" pitchFamily="34" charset="0"/>
                <a:ea typeface="Arial" pitchFamily="34" charset="-122"/>
                <a:cs typeface="Arial" pitchFamily="34" charset="-120"/>
              </a:rPr>
              <a:t>sobre un solo contrato</a:t>
            </a:r>
            <a:endParaRPr lang="en-US" sz="750" dirty="0"/>
          </a:p>
        </p:txBody>
      </p:sp>
      <p:sp>
        <p:nvSpPr>
          <p:cNvPr id="75" name="Text 62"/>
          <p:cNvSpPr/>
          <p:nvPr/>
        </p:nvSpPr>
        <p:spPr>
          <a:xfrm>
            <a:off x="457200" y="5961888"/>
            <a:ext cx="5486400" cy="201168"/>
          </a:xfrm>
          <a:prstGeom prst="rect">
            <a:avLst/>
          </a:prstGeom>
          <a:noFill/>
          <a:ln/>
        </p:spPr>
        <p:txBody>
          <a:bodyPr wrap="square" lIns="0" tIns="0" rIns="0" bIns="0" rtlCol="0" anchor="ctr"/>
          <a:lstStyle/>
          <a:p>
            <a:pPr indent="0" marL="0">
              <a:buNone/>
            </a:pPr>
            <a:r>
              <a:rPr lang="en-US" sz="750" i="1" dirty="0">
                <a:solidFill>
                  <a:srgbClr val="5A5A5A"/>
                </a:solidFill>
                <a:latin typeface="Arial" pitchFamily="34" charset="0"/>
                <a:ea typeface="Arial" pitchFamily="34" charset="-122"/>
                <a:cs typeface="Arial" pitchFamily="34" charset="-120"/>
              </a:rPr>
              <a:t>*Objetivos de diseño de la arquitectura, no resultados medidos.</a:t>
            </a:r>
            <a:endParaRPr lang="en-US" sz="750" dirty="0"/>
          </a:p>
        </p:txBody>
      </p:sp>
      <p:sp>
        <p:nvSpPr>
          <p:cNvPr id="76" name="Text 63"/>
          <p:cNvSpPr/>
          <p:nvPr/>
        </p:nvSpPr>
        <p:spPr>
          <a:xfrm>
            <a:off x="5943600" y="5961888"/>
            <a:ext cx="5788152" cy="201168"/>
          </a:xfrm>
          <a:prstGeom prst="rect">
            <a:avLst/>
          </a:prstGeom>
          <a:noFill/>
          <a:ln/>
        </p:spPr>
        <p:txBody>
          <a:bodyPr wrap="square" lIns="0" tIns="0" rIns="0" bIns="0" rtlCol="0" anchor="ctr"/>
          <a:lstStyle/>
          <a:p>
            <a:pPr algn="r" indent="0" marL="0">
              <a:buNone/>
            </a:pPr>
            <a:r>
              <a:rPr lang="en-US" sz="750" b="1" dirty="0">
                <a:solidFill>
                  <a:srgbClr val="1A1A1A"/>
                </a:solidFill>
                <a:latin typeface="Arial" pitchFamily="34" charset="0"/>
                <a:ea typeface="Arial" pitchFamily="34" charset="-122"/>
                <a:cs typeface="Arial" pitchFamily="34" charset="-120"/>
              </a:rPr>
              <a:t>El mismo contrato y el mismo ciclo de vida que en salud, minería o manufactura. Cambian el adaptador y el modelo.</a:t>
            </a:r>
            <a:endParaRPr lang="en-US" sz="750" dirty="0"/>
          </a:p>
        </p:txBody>
      </p:sp>
      <p:sp>
        <p:nvSpPr>
          <p:cNvPr id="77" name="Text 64"/>
          <p:cNvSpPr/>
          <p:nvPr/>
        </p:nvSpPr>
        <p:spPr>
          <a:xfrm>
            <a:off x="457200" y="6437376"/>
            <a:ext cx="1097280" cy="237744"/>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&lt;epam&gt;</a:t>
            </a:r>
            <a:endParaRPr lang="en-US" sz="1400" dirty="0"/>
          </a:p>
        </p:txBody>
      </p:sp>
      <p:sp>
        <p:nvSpPr>
          <p:cNvPr id="78" name="Text 65"/>
          <p:cNvSpPr/>
          <p:nvPr/>
        </p:nvSpPr>
        <p:spPr>
          <a:xfrm>
            <a:off x="9418320" y="6455664"/>
            <a:ext cx="1920240" cy="201168"/>
          </a:xfrm>
          <a:prstGeom prst="rect">
            <a:avLst/>
          </a:prstGeom>
          <a:noFill/>
          <a:ln/>
        </p:spPr>
        <p:txBody>
          <a:bodyPr wrap="square" lIns="0" tIns="0" rIns="0" bIns="0" rtlCol="0" anchor="ctr"/>
          <a:lstStyle/>
          <a:p>
            <a:pPr algn="r" indent="0" marL="0">
              <a:buNone/>
            </a:pPr>
            <a:r>
              <a:rPr lang="en-US" sz="700" dirty="0">
                <a:solidFill>
                  <a:srgbClr val="8C8C8C"/>
                </a:solidFill>
                <a:latin typeface="Arial" pitchFamily="34" charset="0"/>
                <a:ea typeface="Arial" pitchFamily="34" charset="-122"/>
                <a:cs typeface="Arial" pitchFamily="34" charset="-120"/>
              </a:rPr>
              <a:t>EPAM Proprietary &amp; Confidential.</a:t>
            </a:r>
            <a:endParaRPr lang="en-US" sz="700" dirty="0"/>
          </a:p>
        </p:txBody>
      </p:sp>
      <p:sp>
        <p:nvSpPr>
          <p:cNvPr id="79" name="Text 66"/>
          <p:cNvSpPr/>
          <p:nvPr/>
        </p:nvSpPr>
        <p:spPr>
          <a:xfrm>
            <a:off x="11475720" y="6455664"/>
            <a:ext cx="25603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EPAM Edge Inference Framework</dc:title>
  <dc:subject>PptxGenJS Presentation</dc:subject>
  <dc:creator>EPAM</dc:creator>
  <cp:lastModifiedBy>EPAM</cp:lastModifiedBy>
  <cp:revision>1</cp:revision>
  <dcterms:created xsi:type="dcterms:W3CDTF">2026-07-31T13:56:29Z</dcterms:created>
  <dcterms:modified xsi:type="dcterms:W3CDTF">2026-07-31T13:56:29Z</dcterms:modified>
</cp:coreProperties>
</file>