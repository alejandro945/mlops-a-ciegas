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aproximadamente 8 minutos.
CLAVE: reconocer primero lo que ya está resuelto, con nombre propio. Sparkplug B es un estándar de la Eclipse Foundation creado por el co-inventor de MQTT. Litmus tiene 250+ drivers. ZEDEDA gestiona flotas. Decirlo ANTES de que alguien lo diga por nosotros — eso compra toda la credibilidad del resto.
Las cuatro bandas grises son deliberadas: la sala debe ver 'resuelto, resuelto, resuelto' y entonces la banda verde salta sola.
La comparación del centro es el corazón del pitch: Sparkplug B modela un tag con un valor. Un evento de inferencia necesita modelo, versión, confianza, geometría, evidencia y latencia. Eso hoy cada proyecto lo reinventa.
La cita de HiveMQ hace el trabajo: no es nuestra opinión de que hay una brecha, es el diagnóstico de un actor del ecosistema.
En los diferenciadores, el primero es el que desarma la objeción antes de que llegue: extendemos, no reemplazamos. Un cliente con Litmus instalado puede aceptar esto.
NO decir en ningún momento que la ingesta multi-protocolo o la agnosticidad de nube son nuestra ventaja. Son tabla de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aproximadamente 6 minutos.
No leer la tabla fila por fila. Recorrer TRES industrias con detalle: minería (el driver más duro), manufactura (el más medible), salud y farma (la que prueba que el patrón aguanta datos regulados). El resto queda en el papel.
El punto de la tabla no son las industrias, es la COLUMNA que no está: no hay una columna de 'redefinir el contrato'.
En el bloque verde, ojo con el cambio de redacción: dice 'SE DEFINE UNA SOLA VEZ', no 'se reutiliza siempre'. No reclamamos el transporte ni la gestión de flota — eso ya lo resolvió el mercado y lo dijimos en el slide 1.
La banda final es el cierre. Decirlo despacio: el contrato se define una vez, lo demás es configuración.
Si preguntan si esto compite con la plataforma que el cliente ya tiene: no. Publica hacia el Unified Namespace existente. Es la respuesta que convierte una objeción en una vía de entrada.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19"/>
        </a:solidFill>
      </p:bgPr>
    </p:bg>
    <p:spTree>
      <p:nvGrpSpPr>
        <p:cNvPr id="1" name=""/>
        <p:cNvGrpSpPr/>
        <p:nvPr/>
      </p:nvGrpSpPr>
      <p:grpSpPr>
        <a:xfrm>
          <a:off x="0" y="0"/>
          <a:ext cx="0" cy="0"/>
          <a:chOff x="0" y="0"/>
          <a:chExt cx="0" cy="0"/>
        </a:xfrm>
      </p:grpSpPr>
      <p:sp>
        <p:nvSpPr>
          <p:cNvPr id="2" name="Text 0"/>
          <p:cNvSpPr/>
          <p:nvPr/>
        </p:nvSpPr>
        <p:spPr>
          <a:xfrm>
            <a:off x="640080" y="274320"/>
            <a:ext cx="9144000" cy="201168"/>
          </a:xfrm>
          <a:prstGeom prst="rect">
            <a:avLst/>
          </a:prstGeom>
          <a:noFill/>
          <a:ln/>
        </p:spPr>
        <p:txBody>
          <a:bodyPr wrap="square" lIns="0" tIns="0" rIns="0" bIns="0" rtlCol="0" anchor="ctr"/>
          <a:lstStyle/>
          <a:p>
            <a:pPr indent="0" marL="0">
              <a:buNone/>
            </a:pPr>
            <a:r>
              <a:rPr lang="en-US" sz="900" b="1" spc="200" kern="0" dirty="0">
                <a:solidFill>
                  <a:srgbClr val="4B5663"/>
                </a:solidFill>
                <a:latin typeface="Arial" pitchFamily="34" charset="0"/>
                <a:ea typeface="Arial" pitchFamily="34" charset="-122"/>
                <a:cs typeface="Arial" pitchFamily="34" charset="-120"/>
              </a:rPr>
              <a:t>EPAM AWS LATAM SOLUTIONS   ·   PROPUESTA DE SOLUCIÓN</a:t>
            </a:r>
            <a:endParaRPr lang="en-US" sz="900" dirty="0"/>
          </a:p>
        </p:txBody>
      </p:sp>
      <p:sp>
        <p:nvSpPr>
          <p:cNvPr id="3" name="Text 1"/>
          <p:cNvSpPr/>
          <p:nvPr/>
        </p:nvSpPr>
        <p:spPr>
          <a:xfrm>
            <a:off x="640080" y="475488"/>
            <a:ext cx="10908792" cy="530352"/>
          </a:xfrm>
          <a:prstGeom prst="rect">
            <a:avLst/>
          </a:prstGeom>
          <a:noFill/>
          <a:ln/>
        </p:spPr>
        <p:txBody>
          <a:bodyPr wrap="square" lIns="0" tIns="0" rIns="0" bIns="0" rtlCol="0" anchor="ctr"/>
          <a:lstStyle/>
          <a:p>
            <a:pPr indent="0" marL="0">
              <a:buNone/>
            </a:pPr>
            <a:r>
              <a:rPr lang="en-US" sz="3100" b="1" dirty="0">
                <a:solidFill>
                  <a:srgbClr val="FFFFFF"/>
                </a:solidFill>
                <a:latin typeface="Arial" pitchFamily="34" charset="0"/>
                <a:ea typeface="Arial" pitchFamily="34" charset="-122"/>
                <a:cs typeface="Arial" pitchFamily="34" charset="-120"/>
              </a:rPr>
              <a:t>El estándar se detiene justo antes de la inferencia.</a:t>
            </a:r>
            <a:endParaRPr lang="en-US" sz="3100" dirty="0"/>
          </a:p>
        </p:txBody>
      </p:sp>
      <p:sp>
        <p:nvSpPr>
          <p:cNvPr id="4" name="Text 2"/>
          <p:cNvSpPr/>
          <p:nvPr/>
        </p:nvSpPr>
        <p:spPr>
          <a:xfrm>
            <a:off x="640080" y="1024128"/>
            <a:ext cx="10607040" cy="402336"/>
          </a:xfrm>
          <a:prstGeom prst="rect">
            <a:avLst/>
          </a:prstGeom>
          <a:noFill/>
          <a:ln/>
        </p:spPr>
        <p:txBody>
          <a:bodyPr wrap="square" lIns="0" tIns="0" rIns="0" bIns="0" rtlCol="0" anchor="t"/>
          <a:lstStyle/>
          <a:p>
            <a:pPr indent="0" marL="0">
              <a:buNone/>
            </a:pPr>
            <a:r>
              <a:rPr lang="en-US" sz="1150" dirty="0">
                <a:solidFill>
                  <a:srgbClr val="8B97A8"/>
                </a:solidFill>
                <a:latin typeface="Arial" pitchFamily="34" charset="0"/>
                <a:ea typeface="Arial" pitchFamily="34" charset="-122"/>
                <a:cs typeface="Arial" pitchFamily="34" charset="-120"/>
              </a:rPr>
              <a:t>Unified Namespace y Sparkplug B ya resolvieron el contrato para telemetría industrial. Litmus tiene más de 250 drivers de protocolo. ZEDEDA y Balena gestionan flotas de dispositivos. Ninguno de los tres modela un evento de inferencia — y ahí está el hueco.</a:t>
            </a:r>
            <a:endParaRPr lang="en-US" sz="1150" dirty="0"/>
          </a:p>
        </p:txBody>
      </p:sp>
      <p:sp>
        <p:nvSpPr>
          <p:cNvPr id="5" name="Shape 3"/>
          <p:cNvSpPr/>
          <p:nvPr/>
        </p:nvSpPr>
        <p:spPr>
          <a:xfrm>
            <a:off x="640080" y="1517904"/>
            <a:ext cx="10908792" cy="512064"/>
          </a:xfrm>
          <a:prstGeom prst="rect">
            <a:avLst/>
          </a:prstGeom>
          <a:solidFill>
            <a:srgbClr val="161C22"/>
          </a:solidFill>
          <a:ln/>
        </p:spPr>
      </p:sp>
      <p:sp>
        <p:nvSpPr>
          <p:cNvPr id="6" name="Text 4"/>
          <p:cNvSpPr/>
          <p:nvPr/>
        </p:nvSpPr>
        <p:spPr>
          <a:xfrm>
            <a:off x="877824" y="1655064"/>
            <a:ext cx="2194560" cy="237744"/>
          </a:xfrm>
          <a:prstGeom prst="rect">
            <a:avLst/>
          </a:prstGeom>
          <a:noFill/>
          <a:ln/>
        </p:spPr>
        <p:txBody>
          <a:bodyPr wrap="square" lIns="0" tIns="0" rIns="0" bIns="0" rtlCol="0" anchor="ctr"/>
          <a:lstStyle/>
          <a:p>
            <a:pPr indent="0" marL="0">
              <a:buNone/>
            </a:pPr>
            <a:r>
              <a:rPr lang="en-US" sz="1050" b="1" dirty="0">
                <a:solidFill>
                  <a:srgbClr val="8B97A8"/>
                </a:solidFill>
                <a:latin typeface="Arial" pitchFamily="34" charset="0"/>
                <a:ea typeface="Arial" pitchFamily="34" charset="-122"/>
                <a:cs typeface="Arial" pitchFamily="34" charset="-120"/>
              </a:rPr>
              <a:t>Ingesta multi-protocolo</a:t>
            </a:r>
            <a:endParaRPr lang="en-US" sz="1050" dirty="0"/>
          </a:p>
        </p:txBody>
      </p:sp>
      <p:sp>
        <p:nvSpPr>
          <p:cNvPr id="7" name="Text 5"/>
          <p:cNvSpPr/>
          <p:nvPr/>
        </p:nvSpPr>
        <p:spPr>
          <a:xfrm>
            <a:off x="3200400" y="1655064"/>
            <a:ext cx="4663440" cy="237744"/>
          </a:xfrm>
          <a:prstGeom prst="rect">
            <a:avLst/>
          </a:prstGeom>
          <a:noFill/>
          <a:ln/>
        </p:spPr>
        <p:txBody>
          <a:bodyPr wrap="square" lIns="0" tIns="0" rIns="0" bIns="0" rtlCol="0" anchor="ctr"/>
          <a:lstStyle/>
          <a:p>
            <a:pPr indent="0" marL="0">
              <a:buNone/>
            </a:pPr>
            <a:r>
              <a:rPr lang="en-US" sz="950" dirty="0">
                <a:solidFill>
                  <a:srgbClr val="4B5663"/>
                </a:solidFill>
                <a:latin typeface="Arial" pitchFamily="34" charset="0"/>
                <a:ea typeface="Arial" pitchFamily="34" charset="-122"/>
                <a:cs typeface="Arial" pitchFamily="34" charset="-120"/>
              </a:rPr>
              <a:t>RTSP, OPC-UA, Modbus, MQTT, analógico</a:t>
            </a:r>
            <a:endParaRPr lang="en-US" sz="950" dirty="0"/>
          </a:p>
        </p:txBody>
      </p:sp>
      <p:pic>
        <p:nvPicPr>
          <p:cNvPr id="8" name="Image 0" descr="preencoded.png">    </p:cNvPr>
          <p:cNvPicPr>
            <a:picLocks noChangeAspect="1"/>
          </p:cNvPicPr>
          <p:nvPr/>
        </p:nvPicPr>
        <p:blipFill>
          <a:blip r:embed="rId1"/>
          <a:stretch>
            <a:fillRect/>
          </a:stretch>
        </p:blipFill>
        <p:spPr>
          <a:xfrm>
            <a:off x="7452360" y="1719072"/>
            <a:ext cx="118872" cy="118872"/>
          </a:xfrm>
          <a:prstGeom prst="rect">
            <a:avLst/>
          </a:prstGeom>
        </p:spPr>
      </p:pic>
      <p:sp>
        <p:nvSpPr>
          <p:cNvPr id="9" name="Text 6"/>
          <p:cNvSpPr/>
          <p:nvPr/>
        </p:nvSpPr>
        <p:spPr>
          <a:xfrm>
            <a:off x="7680960" y="1655064"/>
            <a:ext cx="3657600" cy="237744"/>
          </a:xfrm>
          <a:prstGeom prst="rect">
            <a:avLst/>
          </a:prstGeom>
          <a:noFill/>
          <a:ln/>
        </p:spPr>
        <p:txBody>
          <a:bodyPr wrap="square" lIns="0" tIns="0" rIns="0" bIns="0" rtlCol="0" anchor="ctr"/>
          <a:lstStyle/>
          <a:p>
            <a:pPr indent="0" marL="0">
              <a:buNone/>
            </a:pPr>
            <a:r>
              <a:rPr lang="en-US" sz="900" i="1" dirty="0">
                <a:solidFill>
                  <a:srgbClr val="4B5663"/>
                </a:solidFill>
                <a:latin typeface="Arial" pitchFamily="34" charset="0"/>
                <a:ea typeface="Arial" pitchFamily="34" charset="-122"/>
                <a:cs typeface="Arial" pitchFamily="34" charset="-120"/>
              </a:rPr>
              <a:t>Resuelto — Litmus (250+ drivers), HighByte</a:t>
            </a:r>
            <a:endParaRPr lang="en-US" sz="900" dirty="0"/>
          </a:p>
        </p:txBody>
      </p:sp>
      <p:sp>
        <p:nvSpPr>
          <p:cNvPr id="10" name="Shape 7"/>
          <p:cNvSpPr/>
          <p:nvPr/>
        </p:nvSpPr>
        <p:spPr>
          <a:xfrm>
            <a:off x="640080" y="2103120"/>
            <a:ext cx="10908792" cy="512064"/>
          </a:xfrm>
          <a:prstGeom prst="rect">
            <a:avLst/>
          </a:prstGeom>
          <a:solidFill>
            <a:srgbClr val="161C22"/>
          </a:solidFill>
          <a:ln/>
        </p:spPr>
      </p:sp>
      <p:sp>
        <p:nvSpPr>
          <p:cNvPr id="11" name="Text 8"/>
          <p:cNvSpPr/>
          <p:nvPr/>
        </p:nvSpPr>
        <p:spPr>
          <a:xfrm>
            <a:off x="877824" y="2240280"/>
            <a:ext cx="2194560" cy="237744"/>
          </a:xfrm>
          <a:prstGeom prst="rect">
            <a:avLst/>
          </a:prstGeom>
          <a:noFill/>
          <a:ln/>
        </p:spPr>
        <p:txBody>
          <a:bodyPr wrap="square" lIns="0" tIns="0" rIns="0" bIns="0" rtlCol="0" anchor="ctr"/>
          <a:lstStyle/>
          <a:p>
            <a:pPr indent="0" marL="0">
              <a:buNone/>
            </a:pPr>
            <a:r>
              <a:rPr lang="en-US" sz="1050" b="1" dirty="0">
                <a:solidFill>
                  <a:srgbClr val="8B97A8"/>
                </a:solidFill>
                <a:latin typeface="Arial" pitchFamily="34" charset="0"/>
                <a:ea typeface="Arial" pitchFamily="34" charset="-122"/>
                <a:cs typeface="Arial" pitchFamily="34" charset="-120"/>
              </a:rPr>
              <a:t>Cómputo en el borde</a:t>
            </a:r>
            <a:endParaRPr lang="en-US" sz="1050" dirty="0"/>
          </a:p>
        </p:txBody>
      </p:sp>
      <p:sp>
        <p:nvSpPr>
          <p:cNvPr id="12" name="Text 9"/>
          <p:cNvSpPr/>
          <p:nvPr/>
        </p:nvSpPr>
        <p:spPr>
          <a:xfrm>
            <a:off x="3200400" y="2240280"/>
            <a:ext cx="4663440" cy="237744"/>
          </a:xfrm>
          <a:prstGeom prst="rect">
            <a:avLst/>
          </a:prstGeom>
          <a:noFill/>
          <a:ln/>
        </p:spPr>
        <p:txBody>
          <a:bodyPr wrap="square" lIns="0" tIns="0" rIns="0" bIns="0" rtlCol="0" anchor="ctr"/>
          <a:lstStyle/>
          <a:p>
            <a:pPr indent="0" marL="0">
              <a:buNone/>
            </a:pPr>
            <a:r>
              <a:rPr lang="en-US" sz="950" dirty="0">
                <a:solidFill>
                  <a:srgbClr val="4B5663"/>
                </a:solidFill>
                <a:latin typeface="Arial" pitchFamily="34" charset="0"/>
                <a:ea typeface="Arial" pitchFamily="34" charset="-122"/>
                <a:cs typeface="Arial" pitchFamily="34" charset="-120"/>
              </a:rPr>
              <a:t>GPU, NPU, silicio dedicado, CPU</a:t>
            </a:r>
            <a:endParaRPr lang="en-US" sz="950" dirty="0"/>
          </a:p>
        </p:txBody>
      </p:sp>
      <p:pic>
        <p:nvPicPr>
          <p:cNvPr id="13" name="Image 1" descr="preencoded.png">    </p:cNvPr>
          <p:cNvPicPr>
            <a:picLocks noChangeAspect="1"/>
          </p:cNvPicPr>
          <p:nvPr/>
        </p:nvPicPr>
        <p:blipFill>
          <a:blip r:embed="rId2"/>
          <a:stretch>
            <a:fillRect/>
          </a:stretch>
        </p:blipFill>
        <p:spPr>
          <a:xfrm>
            <a:off x="7452360" y="2304288"/>
            <a:ext cx="118872" cy="118872"/>
          </a:xfrm>
          <a:prstGeom prst="rect">
            <a:avLst/>
          </a:prstGeom>
        </p:spPr>
      </p:pic>
      <p:sp>
        <p:nvSpPr>
          <p:cNvPr id="14" name="Text 10"/>
          <p:cNvSpPr/>
          <p:nvPr/>
        </p:nvSpPr>
        <p:spPr>
          <a:xfrm>
            <a:off x="7680960" y="2240280"/>
            <a:ext cx="3657600" cy="237744"/>
          </a:xfrm>
          <a:prstGeom prst="rect">
            <a:avLst/>
          </a:prstGeom>
          <a:noFill/>
          <a:ln/>
        </p:spPr>
        <p:txBody>
          <a:bodyPr wrap="square" lIns="0" tIns="0" rIns="0" bIns="0" rtlCol="0" anchor="ctr"/>
          <a:lstStyle/>
          <a:p>
            <a:pPr indent="0" marL="0">
              <a:buNone/>
            </a:pPr>
            <a:r>
              <a:rPr lang="en-US" sz="900" i="1" dirty="0">
                <a:solidFill>
                  <a:srgbClr val="4B5663"/>
                </a:solidFill>
                <a:latin typeface="Arial" pitchFamily="34" charset="0"/>
                <a:ea typeface="Arial" pitchFamily="34" charset="-122"/>
                <a:cs typeface="Arial" pitchFamily="34" charset="-120"/>
              </a:rPr>
              <a:t>Resuelto — el hardware existe y corre</a:t>
            </a:r>
            <a:endParaRPr lang="en-US" sz="900" dirty="0"/>
          </a:p>
        </p:txBody>
      </p:sp>
      <p:sp>
        <p:nvSpPr>
          <p:cNvPr id="15" name="Shape 11"/>
          <p:cNvSpPr/>
          <p:nvPr/>
        </p:nvSpPr>
        <p:spPr>
          <a:xfrm>
            <a:off x="640080" y="2688336"/>
            <a:ext cx="10908792" cy="1517904"/>
          </a:xfrm>
          <a:prstGeom prst="rect">
            <a:avLst/>
          </a:prstGeom>
          <a:solidFill>
            <a:srgbClr val="17322F"/>
          </a:solidFill>
          <a:ln/>
        </p:spPr>
      </p:sp>
      <p:sp>
        <p:nvSpPr>
          <p:cNvPr id="16" name="Shape 12"/>
          <p:cNvSpPr/>
          <p:nvPr/>
        </p:nvSpPr>
        <p:spPr>
          <a:xfrm>
            <a:off x="640080" y="2688336"/>
            <a:ext cx="155448" cy="25603"/>
          </a:xfrm>
          <a:prstGeom prst="rect">
            <a:avLst/>
          </a:prstGeom>
          <a:solidFill>
            <a:srgbClr val="2DD4BF"/>
          </a:solidFill>
          <a:ln/>
        </p:spPr>
      </p:sp>
      <p:sp>
        <p:nvSpPr>
          <p:cNvPr id="17" name="Shape 13"/>
          <p:cNvSpPr/>
          <p:nvPr/>
        </p:nvSpPr>
        <p:spPr>
          <a:xfrm>
            <a:off x="640080" y="2688336"/>
            <a:ext cx="25603" cy="155448"/>
          </a:xfrm>
          <a:prstGeom prst="rect">
            <a:avLst/>
          </a:prstGeom>
          <a:solidFill>
            <a:srgbClr val="2DD4BF"/>
          </a:solidFill>
          <a:ln/>
        </p:spPr>
      </p:sp>
      <p:sp>
        <p:nvSpPr>
          <p:cNvPr id="18" name="Shape 14"/>
          <p:cNvSpPr/>
          <p:nvPr/>
        </p:nvSpPr>
        <p:spPr>
          <a:xfrm>
            <a:off x="11393424" y="2688336"/>
            <a:ext cx="155448" cy="25603"/>
          </a:xfrm>
          <a:prstGeom prst="rect">
            <a:avLst/>
          </a:prstGeom>
          <a:solidFill>
            <a:srgbClr val="2DD4BF"/>
          </a:solidFill>
          <a:ln/>
        </p:spPr>
      </p:sp>
      <p:sp>
        <p:nvSpPr>
          <p:cNvPr id="19" name="Shape 15"/>
          <p:cNvSpPr/>
          <p:nvPr/>
        </p:nvSpPr>
        <p:spPr>
          <a:xfrm>
            <a:off x="11523269" y="2688336"/>
            <a:ext cx="25603" cy="155448"/>
          </a:xfrm>
          <a:prstGeom prst="rect">
            <a:avLst/>
          </a:prstGeom>
          <a:solidFill>
            <a:srgbClr val="2DD4BF"/>
          </a:solidFill>
          <a:ln/>
        </p:spPr>
      </p:sp>
      <p:sp>
        <p:nvSpPr>
          <p:cNvPr id="20" name="Shape 16"/>
          <p:cNvSpPr/>
          <p:nvPr/>
        </p:nvSpPr>
        <p:spPr>
          <a:xfrm>
            <a:off x="640080" y="4180637"/>
            <a:ext cx="155448" cy="25603"/>
          </a:xfrm>
          <a:prstGeom prst="rect">
            <a:avLst/>
          </a:prstGeom>
          <a:solidFill>
            <a:srgbClr val="2DD4BF"/>
          </a:solidFill>
          <a:ln/>
        </p:spPr>
      </p:sp>
      <p:sp>
        <p:nvSpPr>
          <p:cNvPr id="21" name="Shape 17"/>
          <p:cNvSpPr/>
          <p:nvPr/>
        </p:nvSpPr>
        <p:spPr>
          <a:xfrm>
            <a:off x="640080" y="4050792"/>
            <a:ext cx="25603" cy="155448"/>
          </a:xfrm>
          <a:prstGeom prst="rect">
            <a:avLst/>
          </a:prstGeom>
          <a:solidFill>
            <a:srgbClr val="2DD4BF"/>
          </a:solidFill>
          <a:ln/>
        </p:spPr>
      </p:sp>
      <p:sp>
        <p:nvSpPr>
          <p:cNvPr id="22" name="Shape 18"/>
          <p:cNvSpPr/>
          <p:nvPr/>
        </p:nvSpPr>
        <p:spPr>
          <a:xfrm>
            <a:off x="11393424" y="4180637"/>
            <a:ext cx="155448" cy="25603"/>
          </a:xfrm>
          <a:prstGeom prst="rect">
            <a:avLst/>
          </a:prstGeom>
          <a:solidFill>
            <a:srgbClr val="2DD4BF"/>
          </a:solidFill>
          <a:ln/>
        </p:spPr>
      </p:sp>
      <p:sp>
        <p:nvSpPr>
          <p:cNvPr id="23" name="Shape 19"/>
          <p:cNvSpPr/>
          <p:nvPr/>
        </p:nvSpPr>
        <p:spPr>
          <a:xfrm>
            <a:off x="11523269" y="4050792"/>
            <a:ext cx="25603" cy="155448"/>
          </a:xfrm>
          <a:prstGeom prst="rect">
            <a:avLst/>
          </a:prstGeom>
          <a:solidFill>
            <a:srgbClr val="2DD4BF"/>
          </a:solidFill>
          <a:ln/>
        </p:spPr>
      </p:sp>
      <p:sp>
        <p:nvSpPr>
          <p:cNvPr id="24" name="Shape 20"/>
          <p:cNvSpPr/>
          <p:nvPr/>
        </p:nvSpPr>
        <p:spPr>
          <a:xfrm>
            <a:off x="877824" y="2834640"/>
            <a:ext cx="329184" cy="329184"/>
          </a:xfrm>
          <a:prstGeom prst="ellipse">
            <a:avLst/>
          </a:prstGeom>
          <a:solidFill>
            <a:srgbClr val="2DD4BF"/>
          </a:solidFill>
          <a:ln/>
        </p:spPr>
      </p:sp>
      <p:pic>
        <p:nvPicPr>
          <p:cNvPr id="25" name="Image 2" descr="preencoded.png">    </p:cNvPr>
          <p:cNvPicPr>
            <a:picLocks noChangeAspect="1"/>
          </p:cNvPicPr>
          <p:nvPr/>
        </p:nvPicPr>
        <p:blipFill>
          <a:blip r:embed="rId3"/>
          <a:stretch>
            <a:fillRect/>
          </a:stretch>
        </p:blipFill>
        <p:spPr>
          <a:xfrm>
            <a:off x="960120" y="2916936"/>
            <a:ext cx="164592" cy="164592"/>
          </a:xfrm>
          <a:prstGeom prst="rect">
            <a:avLst/>
          </a:prstGeom>
        </p:spPr>
      </p:pic>
      <p:sp>
        <p:nvSpPr>
          <p:cNvPr id="26" name="Text 21"/>
          <p:cNvSpPr/>
          <p:nvPr/>
        </p:nvSpPr>
        <p:spPr>
          <a:xfrm>
            <a:off x="1316736" y="2834640"/>
            <a:ext cx="4937760" cy="329184"/>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Contrato de eventos de inferencia</a:t>
            </a:r>
            <a:endParaRPr lang="en-US" sz="1450" dirty="0"/>
          </a:p>
        </p:txBody>
      </p:sp>
      <p:sp>
        <p:nvSpPr>
          <p:cNvPr id="27" name="Text 22"/>
          <p:cNvSpPr/>
          <p:nvPr/>
        </p:nvSpPr>
        <p:spPr>
          <a:xfrm>
            <a:off x="7680960" y="2852928"/>
            <a:ext cx="3630168" cy="292608"/>
          </a:xfrm>
          <a:prstGeom prst="rect">
            <a:avLst/>
          </a:prstGeom>
          <a:noFill/>
          <a:ln/>
        </p:spPr>
        <p:txBody>
          <a:bodyPr wrap="square" lIns="0" tIns="0" rIns="0" bIns="0" rtlCol="0" anchor="ctr"/>
          <a:lstStyle/>
          <a:p>
            <a:pPr algn="r" indent="0" marL="0">
              <a:buNone/>
            </a:pPr>
            <a:r>
              <a:rPr lang="en-US" sz="950" b="1" spc="120" kern="0" dirty="0">
                <a:solidFill>
                  <a:srgbClr val="F5A524"/>
                </a:solidFill>
                <a:latin typeface="Arial" pitchFamily="34" charset="0"/>
                <a:ea typeface="Arial" pitchFamily="34" charset="-122"/>
                <a:cs typeface="Arial" pitchFamily="34" charset="-120"/>
              </a:rPr>
              <a:t>EL HUECO — ACÁ ENTRAMOS</a:t>
            </a:r>
            <a:endParaRPr lang="en-US" sz="950" dirty="0"/>
          </a:p>
        </p:txBody>
      </p:sp>
      <p:sp>
        <p:nvSpPr>
          <p:cNvPr id="28" name="Text 23"/>
          <p:cNvSpPr/>
          <p:nvPr/>
        </p:nvSpPr>
        <p:spPr>
          <a:xfrm>
            <a:off x="896112" y="3255264"/>
            <a:ext cx="4572000" cy="201168"/>
          </a:xfrm>
          <a:prstGeom prst="rect">
            <a:avLst/>
          </a:prstGeom>
          <a:noFill/>
          <a:ln/>
        </p:spPr>
        <p:txBody>
          <a:bodyPr wrap="square" lIns="0" tIns="0" rIns="0" bIns="0" rtlCol="0" anchor="ctr"/>
          <a:lstStyle/>
          <a:p>
            <a:pPr indent="0" marL="0">
              <a:buNone/>
            </a:pPr>
            <a:r>
              <a:rPr lang="en-US" sz="950" b="1" dirty="0">
                <a:solidFill>
                  <a:srgbClr val="8B97A8"/>
                </a:solidFill>
                <a:latin typeface="Arial" pitchFamily="34" charset="0"/>
                <a:ea typeface="Arial" pitchFamily="34" charset="-122"/>
                <a:cs typeface="Arial" pitchFamily="34" charset="-120"/>
              </a:rPr>
              <a:t>Sparkplug B modela un tag con un valor</a:t>
            </a:r>
            <a:endParaRPr lang="en-US" sz="950" dirty="0"/>
          </a:p>
        </p:txBody>
      </p:sp>
      <p:sp>
        <p:nvSpPr>
          <p:cNvPr id="29" name="Text 24"/>
          <p:cNvSpPr/>
          <p:nvPr/>
        </p:nvSpPr>
        <p:spPr>
          <a:xfrm>
            <a:off x="896112" y="3465576"/>
            <a:ext cx="4572000" cy="219456"/>
          </a:xfrm>
          <a:prstGeom prst="rect">
            <a:avLst/>
          </a:prstGeom>
          <a:noFill/>
          <a:ln/>
        </p:spPr>
        <p:txBody>
          <a:bodyPr wrap="square" lIns="0" tIns="0" rIns="0" bIns="0" rtlCol="0" anchor="ctr"/>
          <a:lstStyle/>
          <a:p>
            <a:pPr indent="0" marL="0">
              <a:buNone/>
            </a:pPr>
            <a:r>
              <a:rPr lang="en-US" sz="1000" dirty="0">
                <a:solidFill>
                  <a:srgbClr val="4B5663"/>
                </a:solidFill>
                <a:latin typeface="Courier New" pitchFamily="34" charset="0"/>
                <a:ea typeface="Courier New" pitchFamily="34" charset="-122"/>
                <a:cs typeface="Courier New" pitchFamily="34" charset="-120"/>
              </a:rPr>
              <a:t>temperatura = 72,4</a:t>
            </a:r>
            <a:endParaRPr lang="en-US" sz="1000" dirty="0"/>
          </a:p>
        </p:txBody>
      </p:sp>
      <p:sp>
        <p:nvSpPr>
          <p:cNvPr id="30" name="Text 25"/>
          <p:cNvSpPr/>
          <p:nvPr/>
        </p:nvSpPr>
        <p:spPr>
          <a:xfrm>
            <a:off x="5760720" y="3255264"/>
            <a:ext cx="5577840" cy="201168"/>
          </a:xfrm>
          <a:prstGeom prst="rect">
            <a:avLst/>
          </a:prstGeom>
          <a:noFill/>
          <a:ln/>
        </p:spPr>
        <p:txBody>
          <a:bodyPr wrap="square" lIns="0" tIns="0" rIns="0" bIns="0" rtlCol="0" anchor="ctr"/>
          <a:lstStyle/>
          <a:p>
            <a:pPr indent="0" marL="0">
              <a:buNone/>
            </a:pPr>
            <a:r>
              <a:rPr lang="en-US" sz="950" b="1" dirty="0">
                <a:solidFill>
                  <a:srgbClr val="2DD4BF"/>
                </a:solidFill>
                <a:latin typeface="Arial" pitchFamily="34" charset="0"/>
                <a:ea typeface="Arial" pitchFamily="34" charset="-122"/>
                <a:cs typeface="Arial" pitchFamily="34" charset="-120"/>
              </a:rPr>
              <a:t>Un evento de inferencia necesita</a:t>
            </a:r>
            <a:endParaRPr lang="en-US" sz="950" dirty="0"/>
          </a:p>
        </p:txBody>
      </p:sp>
      <p:sp>
        <p:nvSpPr>
          <p:cNvPr id="31" name="Text 26"/>
          <p:cNvSpPr/>
          <p:nvPr/>
        </p:nvSpPr>
        <p:spPr>
          <a:xfrm>
            <a:off x="5760720" y="3465576"/>
            <a:ext cx="5577840" cy="219456"/>
          </a:xfrm>
          <a:prstGeom prst="rect">
            <a:avLst/>
          </a:prstGeom>
          <a:noFill/>
          <a:ln/>
        </p:spPr>
        <p:txBody>
          <a:bodyPr wrap="square" lIns="0" tIns="0" rIns="0" bIns="0" rtlCol="0" anchor="ctr"/>
          <a:lstStyle/>
          <a:p>
            <a:pPr indent="0" marL="0">
              <a:buNone/>
            </a:pPr>
            <a:r>
              <a:rPr lang="en-US" sz="850" dirty="0">
                <a:solidFill>
                  <a:srgbClr val="2DD4BF"/>
                </a:solidFill>
                <a:latin typeface="Courier New" pitchFamily="34" charset="0"/>
                <a:ea typeface="Courier New" pitchFamily="34" charset="-122"/>
                <a:cs typeface="Courier New" pitchFamily="34" charset="-120"/>
              </a:rPr>
              <a:t>modelo · versión · confianza · geometría · evidencia · latencia · versión_esquema</a:t>
            </a:r>
            <a:endParaRPr lang="en-US" sz="850" dirty="0"/>
          </a:p>
        </p:txBody>
      </p:sp>
      <p:sp>
        <p:nvSpPr>
          <p:cNvPr id="32" name="Text 27"/>
          <p:cNvSpPr/>
          <p:nvPr/>
        </p:nvSpPr>
        <p:spPr>
          <a:xfrm>
            <a:off x="896112" y="3749040"/>
            <a:ext cx="10424160" cy="365760"/>
          </a:xfrm>
          <a:prstGeom prst="rect">
            <a:avLst/>
          </a:prstGeom>
          <a:noFill/>
          <a:ln/>
        </p:spPr>
        <p:txBody>
          <a:bodyPr wrap="square" lIns="0" tIns="0" rIns="0" bIns="0" rtlCol="0" anchor="t"/>
          <a:lstStyle/>
          <a:p>
            <a:pPr indent="0" marL="0">
              <a:buNone/>
            </a:pPr>
            <a:r>
              <a:rPr lang="en-US" sz="900" i="1" dirty="0">
                <a:solidFill>
                  <a:srgbClr val="E6EDF3"/>
                </a:solidFill>
                <a:latin typeface="Arial" pitchFamily="34" charset="0"/>
                <a:ea typeface="Arial" pitchFamily="34" charset="-122"/>
                <a:cs typeface="Arial" pitchFamily="34" charset="-120"/>
              </a:rPr>
              <a:t>"La ausencia de estandarización en la integración de datos de modelos de IA dentro de MQTT resulta en despliegues de Edge AI complejos y no escalables, que carecen de flexibilidad y reutilización."  — HiveMQ</a:t>
            </a:r>
            <a:endParaRPr lang="en-US" sz="900" dirty="0"/>
          </a:p>
        </p:txBody>
      </p:sp>
      <p:sp>
        <p:nvSpPr>
          <p:cNvPr id="33" name="Shape 28"/>
          <p:cNvSpPr/>
          <p:nvPr/>
        </p:nvSpPr>
        <p:spPr>
          <a:xfrm>
            <a:off x="640080" y="4279392"/>
            <a:ext cx="10908792" cy="512064"/>
          </a:xfrm>
          <a:prstGeom prst="rect">
            <a:avLst/>
          </a:prstGeom>
          <a:solidFill>
            <a:srgbClr val="161C22"/>
          </a:solidFill>
          <a:ln/>
        </p:spPr>
      </p:sp>
      <p:sp>
        <p:nvSpPr>
          <p:cNvPr id="34" name="Text 29"/>
          <p:cNvSpPr/>
          <p:nvPr/>
        </p:nvSpPr>
        <p:spPr>
          <a:xfrm>
            <a:off x="877824" y="4416552"/>
            <a:ext cx="2194560" cy="237744"/>
          </a:xfrm>
          <a:prstGeom prst="rect">
            <a:avLst/>
          </a:prstGeom>
          <a:noFill/>
          <a:ln/>
        </p:spPr>
        <p:txBody>
          <a:bodyPr wrap="square" lIns="0" tIns="0" rIns="0" bIns="0" rtlCol="0" anchor="ctr"/>
          <a:lstStyle/>
          <a:p>
            <a:pPr indent="0" marL="0">
              <a:buNone/>
            </a:pPr>
            <a:r>
              <a:rPr lang="en-US" sz="1050" b="1" dirty="0">
                <a:solidFill>
                  <a:srgbClr val="8B97A8"/>
                </a:solidFill>
                <a:latin typeface="Arial" pitchFamily="34" charset="0"/>
                <a:ea typeface="Arial" pitchFamily="34" charset="-122"/>
                <a:cs typeface="Arial" pitchFamily="34" charset="-120"/>
              </a:rPr>
              <a:t>Transporte y destino</a:t>
            </a:r>
            <a:endParaRPr lang="en-US" sz="1050" dirty="0"/>
          </a:p>
        </p:txBody>
      </p:sp>
      <p:sp>
        <p:nvSpPr>
          <p:cNvPr id="35" name="Text 30"/>
          <p:cNvSpPr/>
          <p:nvPr/>
        </p:nvSpPr>
        <p:spPr>
          <a:xfrm>
            <a:off x="3200400" y="4416552"/>
            <a:ext cx="4663440" cy="237744"/>
          </a:xfrm>
          <a:prstGeom prst="rect">
            <a:avLst/>
          </a:prstGeom>
          <a:noFill/>
          <a:ln/>
        </p:spPr>
        <p:txBody>
          <a:bodyPr wrap="square" lIns="0" tIns="0" rIns="0" bIns="0" rtlCol="0" anchor="ctr"/>
          <a:lstStyle/>
          <a:p>
            <a:pPr indent="0" marL="0">
              <a:buNone/>
            </a:pPr>
            <a:r>
              <a:rPr lang="en-US" sz="950" dirty="0">
                <a:solidFill>
                  <a:srgbClr val="4B5663"/>
                </a:solidFill>
                <a:latin typeface="Arial" pitchFamily="34" charset="0"/>
                <a:ea typeface="Arial" pitchFamily="34" charset="-122"/>
                <a:cs typeface="Arial" pitchFamily="34" charset="-120"/>
              </a:rPr>
              <a:t>Cualquier broker, cualquier nube, on-premise</a:t>
            </a:r>
            <a:endParaRPr lang="en-US" sz="950" dirty="0"/>
          </a:p>
        </p:txBody>
      </p:sp>
      <p:pic>
        <p:nvPicPr>
          <p:cNvPr id="36" name="Image 3" descr="preencoded.png">    </p:cNvPr>
          <p:cNvPicPr>
            <a:picLocks noChangeAspect="1"/>
          </p:cNvPicPr>
          <p:nvPr/>
        </p:nvPicPr>
        <p:blipFill>
          <a:blip r:embed="rId4"/>
          <a:stretch>
            <a:fillRect/>
          </a:stretch>
        </p:blipFill>
        <p:spPr>
          <a:xfrm>
            <a:off x="7452360" y="4480560"/>
            <a:ext cx="118872" cy="118872"/>
          </a:xfrm>
          <a:prstGeom prst="rect">
            <a:avLst/>
          </a:prstGeom>
        </p:spPr>
      </p:pic>
      <p:sp>
        <p:nvSpPr>
          <p:cNvPr id="37" name="Text 31"/>
          <p:cNvSpPr/>
          <p:nvPr/>
        </p:nvSpPr>
        <p:spPr>
          <a:xfrm>
            <a:off x="7680960" y="4416552"/>
            <a:ext cx="3657600" cy="237744"/>
          </a:xfrm>
          <a:prstGeom prst="rect">
            <a:avLst/>
          </a:prstGeom>
          <a:noFill/>
          <a:ln/>
        </p:spPr>
        <p:txBody>
          <a:bodyPr wrap="square" lIns="0" tIns="0" rIns="0" bIns="0" rtlCol="0" anchor="ctr"/>
          <a:lstStyle/>
          <a:p>
            <a:pPr indent="0" marL="0">
              <a:buNone/>
            </a:pPr>
            <a:r>
              <a:rPr lang="en-US" sz="900" i="1" dirty="0">
                <a:solidFill>
                  <a:srgbClr val="4B5663"/>
                </a:solidFill>
                <a:latin typeface="Arial" pitchFamily="34" charset="0"/>
                <a:ea typeface="Arial" pitchFamily="34" charset="-122"/>
                <a:cs typeface="Arial" pitchFamily="34" charset="-120"/>
              </a:rPr>
              <a:t>Resuelto — Sparkplug B, UNS, ISA-95</a:t>
            </a:r>
            <a:endParaRPr lang="en-US" sz="900" dirty="0"/>
          </a:p>
        </p:txBody>
      </p:sp>
      <p:sp>
        <p:nvSpPr>
          <p:cNvPr id="38" name="Shape 32"/>
          <p:cNvSpPr/>
          <p:nvPr/>
        </p:nvSpPr>
        <p:spPr>
          <a:xfrm>
            <a:off x="640080" y="4864608"/>
            <a:ext cx="10908792" cy="512064"/>
          </a:xfrm>
          <a:prstGeom prst="rect">
            <a:avLst/>
          </a:prstGeom>
          <a:solidFill>
            <a:srgbClr val="161C22"/>
          </a:solidFill>
          <a:ln/>
        </p:spPr>
      </p:sp>
      <p:sp>
        <p:nvSpPr>
          <p:cNvPr id="39" name="Text 33"/>
          <p:cNvSpPr/>
          <p:nvPr/>
        </p:nvSpPr>
        <p:spPr>
          <a:xfrm>
            <a:off x="877824" y="5001768"/>
            <a:ext cx="2194560" cy="237744"/>
          </a:xfrm>
          <a:prstGeom prst="rect">
            <a:avLst/>
          </a:prstGeom>
          <a:noFill/>
          <a:ln/>
        </p:spPr>
        <p:txBody>
          <a:bodyPr wrap="square" lIns="0" tIns="0" rIns="0" bIns="0" rtlCol="0" anchor="ctr"/>
          <a:lstStyle/>
          <a:p>
            <a:pPr indent="0" marL="0">
              <a:buNone/>
            </a:pPr>
            <a:r>
              <a:rPr lang="en-US" sz="1050" b="1" dirty="0">
                <a:solidFill>
                  <a:srgbClr val="8B97A8"/>
                </a:solidFill>
                <a:latin typeface="Arial" pitchFamily="34" charset="0"/>
                <a:ea typeface="Arial" pitchFamily="34" charset="-122"/>
                <a:cs typeface="Arial" pitchFamily="34" charset="-120"/>
              </a:rPr>
              <a:t>Gestión de flota</a:t>
            </a:r>
            <a:endParaRPr lang="en-US" sz="1050" dirty="0"/>
          </a:p>
        </p:txBody>
      </p:sp>
      <p:sp>
        <p:nvSpPr>
          <p:cNvPr id="40" name="Text 34"/>
          <p:cNvSpPr/>
          <p:nvPr/>
        </p:nvSpPr>
        <p:spPr>
          <a:xfrm>
            <a:off x="3200400" y="5001768"/>
            <a:ext cx="4663440" cy="237744"/>
          </a:xfrm>
          <a:prstGeom prst="rect">
            <a:avLst/>
          </a:prstGeom>
          <a:noFill/>
          <a:ln/>
        </p:spPr>
        <p:txBody>
          <a:bodyPr wrap="square" lIns="0" tIns="0" rIns="0" bIns="0" rtlCol="0" anchor="ctr"/>
          <a:lstStyle/>
          <a:p>
            <a:pPr indent="0" marL="0">
              <a:buNone/>
            </a:pPr>
            <a:r>
              <a:rPr lang="en-US" sz="950" dirty="0">
                <a:solidFill>
                  <a:srgbClr val="4B5663"/>
                </a:solidFill>
                <a:latin typeface="Arial" pitchFamily="34" charset="0"/>
                <a:ea typeface="Arial" pitchFamily="34" charset="-122"/>
                <a:cs typeface="Arial" pitchFamily="34" charset="-120"/>
              </a:rPr>
              <a:t>Despliegue y versionado de modelos a escala</a:t>
            </a:r>
            <a:endParaRPr lang="en-US" sz="950" dirty="0"/>
          </a:p>
        </p:txBody>
      </p:sp>
      <p:pic>
        <p:nvPicPr>
          <p:cNvPr id="41" name="Image 4" descr="preencoded.png">    </p:cNvPr>
          <p:cNvPicPr>
            <a:picLocks noChangeAspect="1"/>
          </p:cNvPicPr>
          <p:nvPr/>
        </p:nvPicPr>
        <p:blipFill>
          <a:blip r:embed="rId5"/>
          <a:stretch>
            <a:fillRect/>
          </a:stretch>
        </p:blipFill>
        <p:spPr>
          <a:xfrm>
            <a:off x="7452360" y="5065776"/>
            <a:ext cx="118872" cy="118872"/>
          </a:xfrm>
          <a:prstGeom prst="rect">
            <a:avLst/>
          </a:prstGeom>
        </p:spPr>
      </p:pic>
      <p:sp>
        <p:nvSpPr>
          <p:cNvPr id="42" name="Text 35"/>
          <p:cNvSpPr/>
          <p:nvPr/>
        </p:nvSpPr>
        <p:spPr>
          <a:xfrm>
            <a:off x="7680960" y="5001768"/>
            <a:ext cx="3657600" cy="237744"/>
          </a:xfrm>
          <a:prstGeom prst="rect">
            <a:avLst/>
          </a:prstGeom>
          <a:noFill/>
          <a:ln/>
        </p:spPr>
        <p:txBody>
          <a:bodyPr wrap="square" lIns="0" tIns="0" rIns="0" bIns="0" rtlCol="0" anchor="ctr"/>
          <a:lstStyle/>
          <a:p>
            <a:pPr indent="0" marL="0">
              <a:buNone/>
            </a:pPr>
            <a:r>
              <a:rPr lang="en-US" sz="900" i="1" dirty="0">
                <a:solidFill>
                  <a:srgbClr val="4B5663"/>
                </a:solidFill>
                <a:latin typeface="Arial" pitchFamily="34" charset="0"/>
                <a:ea typeface="Arial" pitchFamily="34" charset="-122"/>
                <a:cs typeface="Arial" pitchFamily="34" charset="-120"/>
              </a:rPr>
              <a:t>Resuelto — ZEDEDA, Balena, Fleet Command</a:t>
            </a:r>
            <a:endParaRPr lang="en-US" sz="900" dirty="0"/>
          </a:p>
        </p:txBody>
      </p:sp>
      <p:sp>
        <p:nvSpPr>
          <p:cNvPr id="43" name="Shape 36"/>
          <p:cNvSpPr/>
          <p:nvPr/>
        </p:nvSpPr>
        <p:spPr>
          <a:xfrm>
            <a:off x="640080" y="5577840"/>
            <a:ext cx="3447288" cy="859536"/>
          </a:xfrm>
          <a:prstGeom prst="rect">
            <a:avLst/>
          </a:prstGeom>
          <a:solidFill>
            <a:srgbClr val="1E2830"/>
          </a:solidFill>
          <a:ln/>
        </p:spPr>
      </p:sp>
      <p:sp>
        <p:nvSpPr>
          <p:cNvPr id="44" name="Text 37"/>
          <p:cNvSpPr/>
          <p:nvPr/>
        </p:nvSpPr>
        <p:spPr>
          <a:xfrm>
            <a:off x="841248" y="5650992"/>
            <a:ext cx="3044952" cy="219456"/>
          </a:xfrm>
          <a:prstGeom prst="rect">
            <a:avLst/>
          </a:prstGeom>
          <a:noFill/>
          <a:ln/>
        </p:spPr>
        <p:txBody>
          <a:bodyPr wrap="square" lIns="0" tIns="0" rIns="0" bIns="0" rtlCol="0" anchor="ctr"/>
          <a:lstStyle/>
          <a:p>
            <a:pPr indent="0" marL="0">
              <a:buNone/>
            </a:pPr>
            <a:r>
              <a:rPr lang="en-US" sz="1050" b="1" dirty="0">
                <a:solidFill>
                  <a:srgbClr val="F5A524"/>
                </a:solidFill>
                <a:latin typeface="Arial" pitchFamily="34" charset="0"/>
                <a:ea typeface="Arial" pitchFamily="34" charset="-122"/>
                <a:cs typeface="Arial" pitchFamily="34" charset="-120"/>
              </a:rPr>
              <a:t>Extiende, no reemplaza</a:t>
            </a:r>
            <a:endParaRPr lang="en-US" sz="1050" dirty="0"/>
          </a:p>
        </p:txBody>
      </p:sp>
      <p:sp>
        <p:nvSpPr>
          <p:cNvPr id="45" name="Text 38"/>
          <p:cNvSpPr/>
          <p:nvPr/>
        </p:nvSpPr>
        <p:spPr>
          <a:xfrm>
            <a:off x="841248" y="5870448"/>
            <a:ext cx="3044952" cy="512064"/>
          </a:xfrm>
          <a:prstGeom prst="rect">
            <a:avLst/>
          </a:prstGeom>
          <a:noFill/>
          <a:ln/>
        </p:spPr>
        <p:txBody>
          <a:bodyPr wrap="square" lIns="0" tIns="0" rIns="0" bIns="0" rtlCol="0" anchor="t"/>
          <a:lstStyle/>
          <a:p>
            <a:pPr indent="0" marL="0">
              <a:buNone/>
            </a:pPr>
            <a:r>
              <a:rPr lang="en-US" sz="800" dirty="0">
                <a:solidFill>
                  <a:srgbClr val="E6EDF3"/>
                </a:solidFill>
                <a:latin typeface="Arial" pitchFamily="34" charset="0"/>
                <a:ea typeface="Arial" pitchFamily="34" charset="-122"/>
                <a:cs typeface="Arial" pitchFamily="34" charset="-120"/>
              </a:rPr>
              <a:t>El evento de inferencia se publica hacia el Unified Namespace que el cliente ya tenga. Compatible con Litmus y con ZEDEDA, no en competencia.</a:t>
            </a:r>
            <a:endParaRPr lang="en-US" sz="800" dirty="0"/>
          </a:p>
        </p:txBody>
      </p:sp>
      <p:sp>
        <p:nvSpPr>
          <p:cNvPr id="46" name="Shape 39"/>
          <p:cNvSpPr/>
          <p:nvPr/>
        </p:nvSpPr>
        <p:spPr>
          <a:xfrm>
            <a:off x="4370832" y="5577840"/>
            <a:ext cx="3447288" cy="859536"/>
          </a:xfrm>
          <a:prstGeom prst="rect">
            <a:avLst/>
          </a:prstGeom>
          <a:solidFill>
            <a:srgbClr val="1E2830"/>
          </a:solidFill>
          <a:ln/>
        </p:spPr>
      </p:sp>
      <p:sp>
        <p:nvSpPr>
          <p:cNvPr id="47" name="Text 40"/>
          <p:cNvSpPr/>
          <p:nvPr/>
        </p:nvSpPr>
        <p:spPr>
          <a:xfrm>
            <a:off x="4572000" y="5650992"/>
            <a:ext cx="3044952" cy="219456"/>
          </a:xfrm>
          <a:prstGeom prst="rect">
            <a:avLst/>
          </a:prstGeom>
          <a:noFill/>
          <a:ln/>
        </p:spPr>
        <p:txBody>
          <a:bodyPr wrap="square" lIns="0" tIns="0" rIns="0" bIns="0" rtlCol="0" anchor="ctr"/>
          <a:lstStyle/>
          <a:p>
            <a:pPr indent="0" marL="0">
              <a:buNone/>
            </a:pPr>
            <a:r>
              <a:rPr lang="en-US" sz="1050" b="1" dirty="0">
                <a:solidFill>
                  <a:srgbClr val="F5A524"/>
                </a:solidFill>
                <a:latin typeface="Arial" pitchFamily="34" charset="0"/>
                <a:ea typeface="Arial" pitchFamily="34" charset="-122"/>
                <a:cs typeface="Arial" pitchFamily="34" charset="-120"/>
              </a:rPr>
              <a:t>El lenguaje nunca ve un píxel</a:t>
            </a:r>
            <a:endParaRPr lang="en-US" sz="1050" dirty="0"/>
          </a:p>
        </p:txBody>
      </p:sp>
      <p:sp>
        <p:nvSpPr>
          <p:cNvPr id="48" name="Text 41"/>
          <p:cNvSpPr/>
          <p:nvPr/>
        </p:nvSpPr>
        <p:spPr>
          <a:xfrm>
            <a:off x="4572000" y="5870448"/>
            <a:ext cx="3044952" cy="512064"/>
          </a:xfrm>
          <a:prstGeom prst="rect">
            <a:avLst/>
          </a:prstGeom>
          <a:noFill/>
          <a:ln/>
        </p:spPr>
        <p:txBody>
          <a:bodyPr wrap="square" lIns="0" tIns="0" rIns="0" bIns="0" rtlCol="0" anchor="t"/>
          <a:lstStyle/>
          <a:p>
            <a:pPr indent="0" marL="0">
              <a:buNone/>
            </a:pPr>
            <a:r>
              <a:rPr lang="en-US" sz="800" dirty="0">
                <a:solidFill>
                  <a:srgbClr val="E6EDF3"/>
                </a:solidFill>
                <a:latin typeface="Arial" pitchFamily="34" charset="0"/>
                <a:ea typeface="Arial" pitchFamily="34" charset="-122"/>
                <a:cs typeface="Arial" pitchFamily="34" charset="-120"/>
              </a:rPr>
              <a:t>Detección determinista y auditable; el lenguaje razona sobre eventos ya establecidos. En 2026 los modelos visión-lenguaje sobre píxeles industriales alcanzan 42,6% frente a 84,6% humano.</a:t>
            </a:r>
            <a:endParaRPr lang="en-US" sz="800" dirty="0"/>
          </a:p>
        </p:txBody>
      </p:sp>
      <p:sp>
        <p:nvSpPr>
          <p:cNvPr id="49" name="Shape 42"/>
          <p:cNvSpPr/>
          <p:nvPr/>
        </p:nvSpPr>
        <p:spPr>
          <a:xfrm>
            <a:off x="8101584" y="5577840"/>
            <a:ext cx="3447288" cy="859536"/>
          </a:xfrm>
          <a:prstGeom prst="rect">
            <a:avLst/>
          </a:prstGeom>
          <a:solidFill>
            <a:srgbClr val="1E2830"/>
          </a:solidFill>
          <a:ln/>
        </p:spPr>
      </p:sp>
      <p:sp>
        <p:nvSpPr>
          <p:cNvPr id="50" name="Text 43"/>
          <p:cNvSpPr/>
          <p:nvPr/>
        </p:nvSpPr>
        <p:spPr>
          <a:xfrm>
            <a:off x="8302752" y="5650992"/>
            <a:ext cx="3044952" cy="219456"/>
          </a:xfrm>
          <a:prstGeom prst="rect">
            <a:avLst/>
          </a:prstGeom>
          <a:noFill/>
          <a:ln/>
        </p:spPr>
        <p:txBody>
          <a:bodyPr wrap="square" lIns="0" tIns="0" rIns="0" bIns="0" rtlCol="0" anchor="ctr"/>
          <a:lstStyle/>
          <a:p>
            <a:pPr indent="0" marL="0">
              <a:buNone/>
            </a:pPr>
            <a:r>
              <a:rPr lang="en-US" sz="1050" b="1" dirty="0">
                <a:solidFill>
                  <a:srgbClr val="F5A524"/>
                </a:solidFill>
                <a:latin typeface="Arial" pitchFamily="34" charset="0"/>
                <a:ea typeface="Arial" pitchFamily="34" charset="-122"/>
                <a:cs typeface="Arial" pitchFamily="34" charset="-120"/>
              </a:rPr>
              <a:t>El dato crudo no sale del sitio</a:t>
            </a:r>
            <a:endParaRPr lang="en-US" sz="1050" dirty="0"/>
          </a:p>
        </p:txBody>
      </p:sp>
      <p:sp>
        <p:nvSpPr>
          <p:cNvPr id="51" name="Text 44"/>
          <p:cNvSpPr/>
          <p:nvPr/>
        </p:nvSpPr>
        <p:spPr>
          <a:xfrm>
            <a:off x="8302752" y="5870448"/>
            <a:ext cx="3044952" cy="512064"/>
          </a:xfrm>
          <a:prstGeom prst="rect">
            <a:avLst/>
          </a:prstGeom>
          <a:noFill/>
          <a:ln/>
        </p:spPr>
        <p:txBody>
          <a:bodyPr wrap="square" lIns="0" tIns="0" rIns="0" bIns="0" rtlCol="0" anchor="t"/>
          <a:lstStyle/>
          <a:p>
            <a:pPr indent="0" marL="0">
              <a:buNone/>
            </a:pPr>
            <a:r>
              <a:rPr lang="en-US" sz="800" dirty="0">
                <a:solidFill>
                  <a:srgbClr val="E6EDF3"/>
                </a:solidFill>
                <a:latin typeface="Arial" pitchFamily="34" charset="0"/>
                <a:ea typeface="Arial" pitchFamily="34" charset="-122"/>
                <a:cs typeface="Arial" pitchFamily="34" charset="-120"/>
              </a:rPr>
              <a:t>Salen eventos, no el dato. Con la Ley 21.719 vigente el 1-dic-2026 y multas de hasta 4% de ingresos, es el diseño que aprueba una evaluación de impacto.</a:t>
            </a:r>
            <a:endParaRPr lang="en-US" sz="800" dirty="0"/>
          </a:p>
        </p:txBody>
      </p:sp>
      <p:sp>
        <p:nvSpPr>
          <p:cNvPr id="52" name="Text 45"/>
          <p:cNvSpPr/>
          <p:nvPr/>
        </p:nvSpPr>
        <p:spPr>
          <a:xfrm>
            <a:off x="640080" y="6528816"/>
            <a:ext cx="10908792" cy="201168"/>
          </a:xfrm>
          <a:prstGeom prst="rect">
            <a:avLst/>
          </a:prstGeom>
          <a:noFill/>
          <a:ln/>
        </p:spPr>
        <p:txBody>
          <a:bodyPr wrap="square" lIns="0" tIns="0" rIns="0" bIns="0" rtlCol="0" anchor="ctr"/>
          <a:lstStyle/>
          <a:p>
            <a:pPr indent="0" marL="0">
              <a:buNone/>
            </a:pPr>
            <a:r>
              <a:rPr lang="en-US" sz="750" i="1" dirty="0">
                <a:solidFill>
                  <a:srgbClr val="4B5663"/>
                </a:solidFill>
                <a:latin typeface="Arial" pitchFamily="34" charset="0"/>
                <a:ea typeface="Arial" pitchFamily="34" charset="-122"/>
                <a:cs typeface="Arial" pitchFamily="34" charset="-120"/>
              </a:rPr>
              <a:t>Fuentes: Eclipse Sparkplug B · HiveMQ, estándares de compatibilidad Edge AI con MQTT · SteelBench e iSafetyBench 2026 · Ley 21.719 de Chile.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9144000" cy="201168"/>
          </a:xfrm>
          <a:prstGeom prst="rect">
            <a:avLst/>
          </a:prstGeom>
          <a:noFill/>
          <a:ln/>
        </p:spPr>
        <p:txBody>
          <a:bodyPr wrap="square" lIns="0" tIns="0" rIns="0" bIns="0" rtlCol="0" anchor="ctr"/>
          <a:lstStyle/>
          <a:p>
            <a:pPr indent="0" marL="0">
              <a:buNone/>
            </a:pPr>
            <a:r>
              <a:rPr lang="en-US" sz="900" b="1" spc="200" kern="0" dirty="0">
                <a:solidFill>
                  <a:srgbClr val="5C6875"/>
                </a:solidFill>
                <a:latin typeface="Arial" pitchFamily="34" charset="0"/>
                <a:ea typeface="Arial" pitchFamily="34" charset="-122"/>
                <a:cs typeface="Arial" pitchFamily="34" charset="-120"/>
              </a:rPr>
              <a:t>EL MISMO CONTRATO, CAMBIANDO DOS PIEZAS</a:t>
            </a:r>
            <a:endParaRPr lang="en-US" sz="900" dirty="0"/>
          </a:p>
        </p:txBody>
      </p:sp>
      <p:sp>
        <p:nvSpPr>
          <p:cNvPr id="3" name="Text 1"/>
          <p:cNvSpPr/>
          <p:nvPr/>
        </p:nvSpPr>
        <p:spPr>
          <a:xfrm>
            <a:off x="640080" y="475488"/>
            <a:ext cx="10908792" cy="512064"/>
          </a:xfrm>
          <a:prstGeom prst="rect">
            <a:avLst/>
          </a:prstGeom>
          <a:noFill/>
          <a:ln/>
        </p:spPr>
        <p:txBody>
          <a:bodyPr wrap="square" lIns="0" tIns="0" rIns="0" bIns="0" rtlCol="0" anchor="ctr"/>
          <a:lstStyle/>
          <a:p>
            <a:pPr indent="0" marL="0">
              <a:buNone/>
            </a:pPr>
            <a:r>
              <a:rPr lang="en-US" sz="2900" b="1" dirty="0">
                <a:solidFill>
                  <a:srgbClr val="0F1419"/>
                </a:solidFill>
                <a:latin typeface="Arial" pitchFamily="34" charset="0"/>
                <a:ea typeface="Arial" pitchFamily="34" charset="-122"/>
                <a:cs typeface="Arial" pitchFamily="34" charset="-120"/>
              </a:rPr>
              <a:t>Se define una vez. Se adapta por industria.</a:t>
            </a:r>
            <a:endParaRPr lang="en-US" sz="2900" dirty="0"/>
          </a:p>
        </p:txBody>
      </p:sp>
      <p:sp>
        <p:nvSpPr>
          <p:cNvPr id="4" name="Text 2"/>
          <p:cNvSpPr/>
          <p:nvPr/>
        </p:nvSpPr>
        <p:spPr>
          <a:xfrm>
            <a:off x="640080" y="1005840"/>
            <a:ext cx="10908792" cy="256032"/>
          </a:xfrm>
          <a:prstGeom prst="rect">
            <a:avLst/>
          </a:prstGeom>
          <a:noFill/>
          <a:ln/>
        </p:spPr>
        <p:txBody>
          <a:bodyPr wrap="square" lIns="0" tIns="0" rIns="0" bIns="0" rtlCol="0" anchor="ctr"/>
          <a:lstStyle/>
          <a:p>
            <a:pPr indent="0" marL="0">
              <a:buNone/>
            </a:pPr>
            <a:r>
              <a:rPr lang="en-US" sz="1150" dirty="0">
                <a:solidFill>
                  <a:srgbClr val="5C6875"/>
                </a:solidFill>
                <a:latin typeface="Arial" pitchFamily="34" charset="0"/>
                <a:ea typeface="Arial" pitchFamily="34" charset="-122"/>
                <a:cs typeface="Arial" pitchFamily="34" charset="-120"/>
              </a:rPr>
              <a:t>Cada fila publica hacia el mismo contrato. Lo único que cambia es de dónde entra el dato y qué modelo corre.</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1408176"/>
          <a:ext cx="10908792" cy="914400"/>
        </p:xfrm>
        <a:graphic>
          <a:graphicData uri="http://schemas.openxmlformats.org/drawingml/2006/table">
            <a:tbl>
              <a:tblPr/>
              <a:tblGrid>
                <a:gridCol w="1874520"/>
                <a:gridCol w="2148840"/>
                <a:gridCol w="1965960"/>
                <a:gridCol w="3246120"/>
                <a:gridCol w="1673352"/>
              </a:tblGrid>
              <a:tr h="274320">
                <a:tc>
                  <a:txBody>
                    <a:bodyPr/>
                    <a:lstStyle/>
                    <a:p>
                      <a:pPr indent="0" marL="0">
                        <a:buNone/>
                      </a:pPr>
                      <a:r>
                        <a:rPr lang="en-US" sz="950" b="1" dirty="0">
                          <a:solidFill>
                            <a:srgbClr val="FFFFFF"/>
                          </a:solidFill>
                          <a:latin typeface="Arial" pitchFamily="34" charset="0"/>
                          <a:ea typeface="Arial" pitchFamily="34" charset="-122"/>
                          <a:cs typeface="Arial" pitchFamily="34" charset="-120"/>
                        </a:rPr>
                        <a:t>Industria</a:t>
                      </a:r>
                      <a:endParaRPr lang="en-US" sz="95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0F141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Ingesta (cambia)</a:t>
                      </a:r>
                      <a:endParaRPr lang="en-US" sz="95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0F141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Modelo (cambia)</a:t>
                      </a:r>
                      <a:endParaRPr lang="en-US" sz="95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0F141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La decisión que habilita</a:t>
                      </a:r>
                      <a:endParaRPr lang="en-US" sz="95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0F1419"/>
                    </a:solidFill>
                  </a:tcPr>
                </a:tc>
                <a:tc>
                  <a:txBody>
                    <a:bodyPr/>
                    <a:lstStyle/>
                    <a:p>
                      <a:pPr indent="0" marL="0">
                        <a:buNone/>
                      </a:pPr>
                      <a:r>
                        <a:rPr lang="en-US" sz="950" b="1" dirty="0">
                          <a:solidFill>
                            <a:srgbClr val="FFFFFF"/>
                          </a:solidFill>
                          <a:latin typeface="Arial" pitchFamily="34" charset="0"/>
                          <a:ea typeface="Arial" pitchFamily="34" charset="-122"/>
                          <a:cs typeface="Arial" pitchFamily="34" charset="-120"/>
                        </a:rPr>
                        <a:t>Driver de compra</a:t>
                      </a:r>
                      <a:endParaRPr lang="en-US" sz="95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0F1419"/>
                    </a:solidFill>
                  </a:tcPr>
                </a:tc>
              </a:tr>
              <a:tr h="402336">
                <a:tc>
                  <a:txBody>
                    <a:bodyPr/>
                    <a:lstStyle/>
                    <a:p>
                      <a:pPr indent="0" marL="0">
                        <a:buNone/>
                      </a:pPr>
                      <a:r>
                        <a:rPr lang="en-US" sz="900" b="1" dirty="0">
                          <a:solidFill>
                            <a:srgbClr val="0F1419"/>
                          </a:solidFill>
                          <a:latin typeface="Arial" pitchFamily="34" charset="0"/>
                          <a:ea typeface="Arial" pitchFamily="34" charset="-122"/>
                          <a:cs typeface="Arial" pitchFamily="34" charset="-120"/>
                        </a:rPr>
                        <a:t>Minería y metales</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Cámaras, LiDAR, vibración</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Personas, EPP, vehículos</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Frenar antes de la colisión; parar antes de la falla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b="1" dirty="0">
                          <a:solidFill>
                            <a:srgbClr val="A8722B"/>
                          </a:solidFill>
                          <a:latin typeface="Arial" pitchFamily="34" charset="0"/>
                          <a:ea typeface="Arial" pitchFamily="34" charset="-122"/>
                          <a:cs typeface="Arial" pitchFamily="34" charset="-120"/>
                        </a:rPr>
                        <a:t>Accidentabilidad y tonelaje</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r>
              <a:tr h="402336">
                <a:tc>
                  <a:txBody>
                    <a:bodyPr/>
                    <a:lstStyle/>
                    <a:p>
                      <a:pPr indent="0" marL="0">
                        <a:buNone/>
                      </a:pPr>
                      <a:r>
                        <a:rPr lang="en-US" sz="900" b="1" dirty="0">
                          <a:solidFill>
                            <a:srgbClr val="0F1419"/>
                          </a:solidFill>
                          <a:latin typeface="Arial" pitchFamily="34" charset="0"/>
                          <a:ea typeface="Arial" pitchFamily="34" charset="-122"/>
                          <a:cs typeface="Arial" pitchFamily="34" charset="-120"/>
                        </a:rPr>
                        <a:t>Manufactura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Cámaras de línea, OPC-UA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Defectos, anomalía de proceso</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Rechazar la unidad y corregir el proceso en la línea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b="1" dirty="0">
                          <a:solidFill>
                            <a:srgbClr val="A8722B"/>
                          </a:solidFill>
                          <a:latin typeface="Arial" pitchFamily="34" charset="0"/>
                          <a:ea typeface="Arial" pitchFamily="34" charset="-122"/>
                          <a:cs typeface="Arial" pitchFamily="34" charset="-120"/>
                        </a:rPr>
                        <a:t>PPM y merma de scrap</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r>
              <a:tr h="402336">
                <a:tc>
                  <a:txBody>
                    <a:bodyPr/>
                    <a:lstStyle/>
                    <a:p>
                      <a:pPr indent="0" marL="0">
                        <a:buNone/>
                      </a:pPr>
                      <a:r>
                        <a:rPr lang="en-US" sz="900" b="1" dirty="0">
                          <a:solidFill>
                            <a:srgbClr val="0F1419"/>
                          </a:solidFill>
                          <a:latin typeface="Arial" pitchFamily="34" charset="0"/>
                          <a:ea typeface="Arial" pitchFamily="34" charset="-122"/>
                          <a:cs typeface="Arial" pitchFamily="34" charset="-120"/>
                        </a:rPr>
                        <a:t>Energía y O&amp;G</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Presión, caudal, acústica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Firma de fuga y de desgaste</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Cerrar la válvula; mantener con días de aviso</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b="1" dirty="0">
                          <a:solidFill>
                            <a:srgbClr val="A8722B"/>
                          </a:solidFill>
                          <a:latin typeface="Arial" pitchFamily="34" charset="0"/>
                          <a:ea typeface="Arial" pitchFamily="34" charset="-122"/>
                          <a:cs typeface="Arial" pitchFamily="34" charset="-120"/>
                        </a:rPr>
                        <a:t>Paradas no planificadas</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r>
              <a:tr h="402336">
                <a:tc>
                  <a:txBody>
                    <a:bodyPr/>
                    <a:lstStyle/>
                    <a:p>
                      <a:pPr indent="0" marL="0">
                        <a:buNone/>
                      </a:pPr>
                      <a:r>
                        <a:rPr lang="en-US" sz="900" b="1" dirty="0">
                          <a:solidFill>
                            <a:srgbClr val="0F1419"/>
                          </a:solidFill>
                          <a:latin typeface="Arial" pitchFamily="34" charset="0"/>
                          <a:ea typeface="Arial" pitchFamily="34" charset="-122"/>
                          <a:cs typeface="Arial" pitchFamily="34" charset="-120"/>
                        </a:rPr>
                        <a:t>Retail</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Cámaras de sala y caja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Comportamiento, faltante en góndola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Intervenir durante el turno, no en el informe del mes</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b="1" dirty="0">
                          <a:solidFill>
                            <a:srgbClr val="A8722B"/>
                          </a:solidFill>
                          <a:latin typeface="Arial" pitchFamily="34" charset="0"/>
                          <a:ea typeface="Arial" pitchFamily="34" charset="-122"/>
                          <a:cs typeface="Arial" pitchFamily="34" charset="-120"/>
                        </a:rPr>
                        <a:t>Merma desconocida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r>
              <a:tr h="402336">
                <a:tc>
                  <a:txBody>
                    <a:bodyPr/>
                    <a:lstStyle/>
                    <a:p>
                      <a:pPr indent="0" marL="0">
                        <a:buNone/>
                      </a:pPr>
                      <a:r>
                        <a:rPr lang="en-US" sz="900" b="1" dirty="0">
                          <a:solidFill>
                            <a:srgbClr val="0F1419"/>
                          </a:solidFill>
                          <a:latin typeface="Arial" pitchFamily="34" charset="0"/>
                          <a:ea typeface="Arial" pitchFamily="34" charset="-122"/>
                          <a:cs typeface="Arial" pitchFamily="34" charset="-120"/>
                        </a:rPr>
                        <a:t>Logística y puertos</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Cámaras de puerta, RFID</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OCR de contenedor, permanencia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Liberar el camión sin disputa y sin planilla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b="1" dirty="0">
                          <a:solidFill>
                            <a:srgbClr val="A8722B"/>
                          </a:solidFill>
                          <a:latin typeface="Arial" pitchFamily="34" charset="0"/>
                          <a:ea typeface="Arial" pitchFamily="34" charset="-122"/>
                          <a:cs typeface="Arial" pitchFamily="34" charset="-120"/>
                        </a:rPr>
                        <a:t>Capacidad sin obra nueva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r>
              <a:tr h="402336">
                <a:tc>
                  <a:txBody>
                    <a:bodyPr/>
                    <a:lstStyle/>
                    <a:p>
                      <a:pPr indent="0" marL="0">
                        <a:buNone/>
                      </a:pPr>
                      <a:r>
                        <a:rPr lang="en-US" sz="900" b="1" dirty="0">
                          <a:solidFill>
                            <a:srgbClr val="0F1419"/>
                          </a:solidFill>
                          <a:latin typeface="Arial" pitchFamily="34" charset="0"/>
                          <a:ea typeface="Arial" pitchFamily="34" charset="-122"/>
                          <a:cs typeface="Arial" pitchFamily="34" charset="-120"/>
                        </a:rPr>
                        <a:t>Agroindustria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Drones, cámaras de campo</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Conteo, madurez, plagas</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Cosechar el lote correcto la semana correcta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c>
                  <a:txBody>
                    <a:bodyPr/>
                    <a:lstStyle/>
                    <a:p>
                      <a:pPr indent="0" marL="0">
                        <a:buNone/>
                      </a:pPr>
                      <a:r>
                        <a:rPr lang="en-US" sz="900" b="1" dirty="0">
                          <a:solidFill>
                            <a:srgbClr val="A8722B"/>
                          </a:solidFill>
                          <a:latin typeface="Arial" pitchFamily="34" charset="0"/>
                          <a:ea typeface="Arial" pitchFamily="34" charset="-122"/>
                          <a:cs typeface="Arial" pitchFamily="34" charset="-120"/>
                        </a:rPr>
                        <a:t>Rendimiento y merma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FFFFF"/>
                    </a:solidFill>
                  </a:tcPr>
                </a:tc>
              </a:tr>
              <a:tr h="402336">
                <a:tc>
                  <a:txBody>
                    <a:bodyPr/>
                    <a:lstStyle/>
                    <a:p>
                      <a:pPr indent="0" marL="0">
                        <a:buNone/>
                      </a:pPr>
                      <a:r>
                        <a:rPr lang="en-US" sz="900" b="1" dirty="0">
                          <a:solidFill>
                            <a:srgbClr val="0F1419"/>
                          </a:solidFill>
                          <a:latin typeface="Arial" pitchFamily="34" charset="0"/>
                          <a:ea typeface="Arial" pitchFamily="34" charset="-122"/>
                          <a:cs typeface="Arial" pitchFamily="34" charset="-120"/>
                        </a:rPr>
                        <a:t>Salud y farma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Equipo médico, cámaras de sala limpia</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Anomalía de proceso e imagen</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dirty="0">
                          <a:solidFill>
                            <a:srgbClr val="2A3550"/>
                          </a:solidFill>
                          <a:latin typeface="Arial" pitchFamily="34" charset="0"/>
                          <a:ea typeface="Arial" pitchFamily="34" charset="-122"/>
                          <a:cs typeface="Arial" pitchFamily="34" charset="-120"/>
                        </a:rPr>
                        <a:t>Actuar sin que el dato del paciente salga del recinto</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c>
                  <a:txBody>
                    <a:bodyPr/>
                    <a:lstStyle/>
                    <a:p>
                      <a:pPr indent="0" marL="0">
                        <a:buNone/>
                      </a:pPr>
                      <a:r>
                        <a:rPr lang="en-US" sz="900" b="1" dirty="0">
                          <a:solidFill>
                            <a:srgbClr val="A8722B"/>
                          </a:solidFill>
                          <a:latin typeface="Arial" pitchFamily="34" charset="0"/>
                          <a:ea typeface="Arial" pitchFamily="34" charset="-122"/>
                          <a:cs typeface="Arial" pitchFamily="34" charset="-120"/>
                        </a:rPr>
                        <a:t>Regulación y trazabilidad</a:t>
                      </a:r>
                      <a:endParaRPr lang="en-US" sz="900" dirty="0">
                        <a:latin typeface="Arial" charset="0"/>
                        <a:ea typeface="Arial" charset="0"/>
                        <a:cs typeface="Arial" charset="0"/>
                      </a:endParaRPr>
                    </a:p>
                  </a:txBody>
                  <a:tcPr marL="91440" marR="91440" marT="45720" marB="45720" anchor="ctr">
                    <a:lnL w="9525" cap="flat" cmpd="sng" algn="ctr">
                      <a:solidFill>
                        <a:srgbClr val="DDE5F2"/>
                      </a:solidFill>
                      <a:prstDash val="solid"/>
                      <a:round/>
                      <a:headEnd type="none" w="med" len="med"/>
                      <a:tailEnd type="none" w="med" len="med"/>
                    </a:lnL>
                    <a:lnR w="9525" cap="flat" cmpd="sng" algn="ctr">
                      <a:solidFill>
                        <a:srgbClr val="DDE5F2"/>
                      </a:solidFill>
                      <a:prstDash val="solid"/>
                      <a:round/>
                      <a:headEnd type="none" w="med" len="med"/>
                      <a:tailEnd type="none" w="med" len="med"/>
                    </a:lnR>
                    <a:lnT w="9525" cap="flat" cmpd="sng" algn="ctr">
                      <a:solidFill>
                        <a:srgbClr val="DDE5F2"/>
                      </a:solidFill>
                      <a:prstDash val="solid"/>
                      <a:round/>
                      <a:headEnd type="none" w="med" len="med"/>
                      <a:tailEnd type="none" w="med" len="med"/>
                    </a:lnT>
                    <a:lnB w="9525" cap="flat" cmpd="sng" algn="ctr">
                      <a:solidFill>
                        <a:srgbClr val="DDE5F2"/>
                      </a:solidFill>
                      <a:prstDash val="solid"/>
                      <a:round/>
                      <a:headEnd type="none" w="med" len="med"/>
                      <a:tailEnd type="none" w="med" len="med"/>
                    </a:lnB>
                    <a:solidFill>
                      <a:srgbClr val="F4F6F8"/>
                    </a:solidFill>
                  </a:tcPr>
                </a:tc>
              </a:tr>
            </a:tbl>
          </a:graphicData>
        </a:graphic>
      </p:graphicFrame>
      <p:sp>
        <p:nvSpPr>
          <p:cNvPr id="6" name="Text 3"/>
          <p:cNvSpPr/>
          <p:nvPr/>
        </p:nvSpPr>
        <p:spPr>
          <a:xfrm>
            <a:off x="640080" y="4535424"/>
            <a:ext cx="10908792" cy="219456"/>
          </a:xfrm>
          <a:prstGeom prst="rect">
            <a:avLst/>
          </a:prstGeom>
          <a:noFill/>
          <a:ln/>
        </p:spPr>
        <p:txBody>
          <a:bodyPr wrap="square" lIns="0" tIns="0" rIns="0" bIns="0" rtlCol="0" anchor="ctr"/>
          <a:lstStyle/>
          <a:p>
            <a:pPr indent="0" marL="0">
              <a:buNone/>
            </a:pPr>
            <a:r>
              <a:rPr lang="en-US" sz="900" i="1" dirty="0">
                <a:solidFill>
                  <a:srgbClr val="5C6875"/>
                </a:solidFill>
                <a:latin typeface="Arial" pitchFamily="34" charset="0"/>
                <a:ea typeface="Arial" pitchFamily="34" charset="-122"/>
                <a:cs typeface="Arial" pitchFamily="34" charset="-120"/>
              </a:rPr>
              <a:t>Telecomunicaciones, servicios públicos y ciudad inteligente entran con el mismo patrón.</a:t>
            </a:r>
            <a:endParaRPr lang="en-US" sz="900" dirty="0"/>
          </a:p>
        </p:txBody>
      </p:sp>
      <p:sp>
        <p:nvSpPr>
          <p:cNvPr id="7" name="Shape 4"/>
          <p:cNvSpPr/>
          <p:nvPr/>
        </p:nvSpPr>
        <p:spPr>
          <a:xfrm>
            <a:off x="640080" y="4846320"/>
            <a:ext cx="5303520" cy="768096"/>
          </a:xfrm>
          <a:prstGeom prst="rect">
            <a:avLst/>
          </a:prstGeom>
          <a:solidFill>
            <a:srgbClr val="EAF7F3"/>
          </a:solidFill>
          <a:ln/>
        </p:spPr>
      </p:sp>
      <p:sp>
        <p:nvSpPr>
          <p:cNvPr id="8" name="Shape 5"/>
          <p:cNvSpPr/>
          <p:nvPr/>
        </p:nvSpPr>
        <p:spPr>
          <a:xfrm>
            <a:off x="640080" y="4846320"/>
            <a:ext cx="137160" cy="23774"/>
          </a:xfrm>
          <a:prstGeom prst="rect">
            <a:avLst/>
          </a:prstGeom>
          <a:solidFill>
            <a:srgbClr val="2DD4BF"/>
          </a:solidFill>
          <a:ln/>
        </p:spPr>
      </p:sp>
      <p:sp>
        <p:nvSpPr>
          <p:cNvPr id="9" name="Shape 6"/>
          <p:cNvSpPr/>
          <p:nvPr/>
        </p:nvSpPr>
        <p:spPr>
          <a:xfrm>
            <a:off x="640080" y="4846320"/>
            <a:ext cx="23774" cy="137160"/>
          </a:xfrm>
          <a:prstGeom prst="rect">
            <a:avLst/>
          </a:prstGeom>
          <a:solidFill>
            <a:srgbClr val="2DD4BF"/>
          </a:solidFill>
          <a:ln/>
        </p:spPr>
      </p:sp>
      <p:sp>
        <p:nvSpPr>
          <p:cNvPr id="10" name="Shape 7"/>
          <p:cNvSpPr/>
          <p:nvPr/>
        </p:nvSpPr>
        <p:spPr>
          <a:xfrm>
            <a:off x="5806440" y="4846320"/>
            <a:ext cx="137160" cy="23774"/>
          </a:xfrm>
          <a:prstGeom prst="rect">
            <a:avLst/>
          </a:prstGeom>
          <a:solidFill>
            <a:srgbClr val="2DD4BF"/>
          </a:solidFill>
          <a:ln/>
        </p:spPr>
      </p:sp>
      <p:sp>
        <p:nvSpPr>
          <p:cNvPr id="11" name="Shape 8"/>
          <p:cNvSpPr/>
          <p:nvPr/>
        </p:nvSpPr>
        <p:spPr>
          <a:xfrm>
            <a:off x="5919826" y="4846320"/>
            <a:ext cx="23774" cy="137160"/>
          </a:xfrm>
          <a:prstGeom prst="rect">
            <a:avLst/>
          </a:prstGeom>
          <a:solidFill>
            <a:srgbClr val="2DD4BF"/>
          </a:solidFill>
          <a:ln/>
        </p:spPr>
      </p:sp>
      <p:sp>
        <p:nvSpPr>
          <p:cNvPr id="12" name="Shape 9"/>
          <p:cNvSpPr/>
          <p:nvPr/>
        </p:nvSpPr>
        <p:spPr>
          <a:xfrm>
            <a:off x="640080" y="5590642"/>
            <a:ext cx="137160" cy="23774"/>
          </a:xfrm>
          <a:prstGeom prst="rect">
            <a:avLst/>
          </a:prstGeom>
          <a:solidFill>
            <a:srgbClr val="2DD4BF"/>
          </a:solidFill>
          <a:ln/>
        </p:spPr>
      </p:sp>
      <p:sp>
        <p:nvSpPr>
          <p:cNvPr id="13" name="Shape 10"/>
          <p:cNvSpPr/>
          <p:nvPr/>
        </p:nvSpPr>
        <p:spPr>
          <a:xfrm>
            <a:off x="640080" y="5477256"/>
            <a:ext cx="23774" cy="137160"/>
          </a:xfrm>
          <a:prstGeom prst="rect">
            <a:avLst/>
          </a:prstGeom>
          <a:solidFill>
            <a:srgbClr val="2DD4BF"/>
          </a:solidFill>
          <a:ln/>
        </p:spPr>
      </p:sp>
      <p:sp>
        <p:nvSpPr>
          <p:cNvPr id="14" name="Shape 11"/>
          <p:cNvSpPr/>
          <p:nvPr/>
        </p:nvSpPr>
        <p:spPr>
          <a:xfrm>
            <a:off x="5806440" y="5590642"/>
            <a:ext cx="137160" cy="23774"/>
          </a:xfrm>
          <a:prstGeom prst="rect">
            <a:avLst/>
          </a:prstGeom>
          <a:solidFill>
            <a:srgbClr val="2DD4BF"/>
          </a:solidFill>
          <a:ln/>
        </p:spPr>
      </p:sp>
      <p:sp>
        <p:nvSpPr>
          <p:cNvPr id="15" name="Shape 12"/>
          <p:cNvSpPr/>
          <p:nvPr/>
        </p:nvSpPr>
        <p:spPr>
          <a:xfrm>
            <a:off x="5919826" y="5477256"/>
            <a:ext cx="23774" cy="137160"/>
          </a:xfrm>
          <a:prstGeom prst="rect">
            <a:avLst/>
          </a:prstGeom>
          <a:solidFill>
            <a:srgbClr val="2DD4BF"/>
          </a:solidFill>
          <a:ln/>
        </p:spPr>
      </p:sp>
      <p:sp>
        <p:nvSpPr>
          <p:cNvPr id="16" name="Text 13"/>
          <p:cNvSpPr/>
          <p:nvPr/>
        </p:nvSpPr>
        <p:spPr>
          <a:xfrm>
            <a:off x="859536" y="4937760"/>
            <a:ext cx="4846320" cy="182880"/>
          </a:xfrm>
          <a:prstGeom prst="rect">
            <a:avLst/>
          </a:prstGeom>
          <a:noFill/>
          <a:ln/>
        </p:spPr>
        <p:txBody>
          <a:bodyPr wrap="square" lIns="0" tIns="0" rIns="0" bIns="0" rtlCol="0" anchor="ctr"/>
          <a:lstStyle/>
          <a:p>
            <a:pPr indent="0" marL="0">
              <a:buNone/>
            </a:pPr>
            <a:r>
              <a:rPr lang="en-US" sz="800" b="1" spc="100" kern="0" dirty="0">
                <a:solidFill>
                  <a:srgbClr val="1B7F6B"/>
                </a:solidFill>
                <a:latin typeface="Arial" pitchFamily="34" charset="0"/>
                <a:ea typeface="Arial" pitchFamily="34" charset="-122"/>
                <a:cs typeface="Arial" pitchFamily="34" charset="-120"/>
              </a:rPr>
              <a:t>SE DEFINE UNA SOLA VEZ</a:t>
            </a:r>
            <a:endParaRPr lang="en-US" sz="800" dirty="0"/>
          </a:p>
        </p:txBody>
      </p:sp>
      <p:sp>
        <p:nvSpPr>
          <p:cNvPr id="17" name="Text 14"/>
          <p:cNvSpPr/>
          <p:nvPr/>
        </p:nvSpPr>
        <p:spPr>
          <a:xfrm>
            <a:off x="859536" y="5120640"/>
            <a:ext cx="4901184" cy="420624"/>
          </a:xfrm>
          <a:prstGeom prst="rect">
            <a:avLst/>
          </a:prstGeom>
          <a:noFill/>
          <a:ln/>
        </p:spPr>
        <p:txBody>
          <a:bodyPr wrap="square" lIns="0" tIns="0" rIns="0" bIns="0" rtlCol="0" anchor="t"/>
          <a:lstStyle/>
          <a:p>
            <a:pPr indent="0" marL="0">
              <a:buNone/>
            </a:pPr>
            <a:r>
              <a:rPr lang="en-US" sz="850" dirty="0">
                <a:solidFill>
                  <a:srgbClr val="0F1419"/>
                </a:solidFill>
                <a:latin typeface="Arial" pitchFamily="34" charset="0"/>
                <a:ea typeface="Arial" pitchFamily="34" charset="-122"/>
                <a:cs typeface="Arial" pitchFamily="34" charset="-120"/>
              </a:rPr>
              <a:t>El contrato de eventos de inferencia · la capa de razonamiento sobre esos eventos · el empaquetado del modelo para el borde</a:t>
            </a:r>
            <a:endParaRPr lang="en-US" sz="850" dirty="0"/>
          </a:p>
        </p:txBody>
      </p:sp>
      <p:sp>
        <p:nvSpPr>
          <p:cNvPr id="18" name="Shape 15"/>
          <p:cNvSpPr/>
          <p:nvPr/>
        </p:nvSpPr>
        <p:spPr>
          <a:xfrm>
            <a:off x="6245352" y="4846320"/>
            <a:ext cx="5303520" cy="768096"/>
          </a:xfrm>
          <a:prstGeom prst="rect">
            <a:avLst/>
          </a:prstGeom>
          <a:solidFill>
            <a:srgbClr val="FDF3E3"/>
          </a:solidFill>
          <a:ln/>
        </p:spPr>
      </p:sp>
      <p:sp>
        <p:nvSpPr>
          <p:cNvPr id="19" name="Shape 16"/>
          <p:cNvSpPr/>
          <p:nvPr/>
        </p:nvSpPr>
        <p:spPr>
          <a:xfrm>
            <a:off x="6245352" y="4846320"/>
            <a:ext cx="137160" cy="23774"/>
          </a:xfrm>
          <a:prstGeom prst="rect">
            <a:avLst/>
          </a:prstGeom>
          <a:solidFill>
            <a:srgbClr val="F5A524"/>
          </a:solidFill>
          <a:ln/>
        </p:spPr>
      </p:sp>
      <p:sp>
        <p:nvSpPr>
          <p:cNvPr id="20" name="Shape 17"/>
          <p:cNvSpPr/>
          <p:nvPr/>
        </p:nvSpPr>
        <p:spPr>
          <a:xfrm>
            <a:off x="6245352" y="4846320"/>
            <a:ext cx="23774" cy="137160"/>
          </a:xfrm>
          <a:prstGeom prst="rect">
            <a:avLst/>
          </a:prstGeom>
          <a:solidFill>
            <a:srgbClr val="F5A524"/>
          </a:solidFill>
          <a:ln/>
        </p:spPr>
      </p:sp>
      <p:sp>
        <p:nvSpPr>
          <p:cNvPr id="21" name="Shape 18"/>
          <p:cNvSpPr/>
          <p:nvPr/>
        </p:nvSpPr>
        <p:spPr>
          <a:xfrm>
            <a:off x="11411712" y="4846320"/>
            <a:ext cx="137160" cy="23774"/>
          </a:xfrm>
          <a:prstGeom prst="rect">
            <a:avLst/>
          </a:prstGeom>
          <a:solidFill>
            <a:srgbClr val="F5A524"/>
          </a:solidFill>
          <a:ln/>
        </p:spPr>
      </p:sp>
      <p:sp>
        <p:nvSpPr>
          <p:cNvPr id="22" name="Shape 19"/>
          <p:cNvSpPr/>
          <p:nvPr/>
        </p:nvSpPr>
        <p:spPr>
          <a:xfrm>
            <a:off x="11525098" y="4846320"/>
            <a:ext cx="23774" cy="137160"/>
          </a:xfrm>
          <a:prstGeom prst="rect">
            <a:avLst/>
          </a:prstGeom>
          <a:solidFill>
            <a:srgbClr val="F5A524"/>
          </a:solidFill>
          <a:ln/>
        </p:spPr>
      </p:sp>
      <p:sp>
        <p:nvSpPr>
          <p:cNvPr id="23" name="Shape 20"/>
          <p:cNvSpPr/>
          <p:nvPr/>
        </p:nvSpPr>
        <p:spPr>
          <a:xfrm>
            <a:off x="6245352" y="5590642"/>
            <a:ext cx="137160" cy="23774"/>
          </a:xfrm>
          <a:prstGeom prst="rect">
            <a:avLst/>
          </a:prstGeom>
          <a:solidFill>
            <a:srgbClr val="F5A524"/>
          </a:solidFill>
          <a:ln/>
        </p:spPr>
      </p:sp>
      <p:sp>
        <p:nvSpPr>
          <p:cNvPr id="24" name="Shape 21"/>
          <p:cNvSpPr/>
          <p:nvPr/>
        </p:nvSpPr>
        <p:spPr>
          <a:xfrm>
            <a:off x="6245352" y="5477256"/>
            <a:ext cx="23774" cy="137160"/>
          </a:xfrm>
          <a:prstGeom prst="rect">
            <a:avLst/>
          </a:prstGeom>
          <a:solidFill>
            <a:srgbClr val="F5A524"/>
          </a:solidFill>
          <a:ln/>
        </p:spPr>
      </p:sp>
      <p:sp>
        <p:nvSpPr>
          <p:cNvPr id="25" name="Shape 22"/>
          <p:cNvSpPr/>
          <p:nvPr/>
        </p:nvSpPr>
        <p:spPr>
          <a:xfrm>
            <a:off x="11411712" y="5590642"/>
            <a:ext cx="137160" cy="23774"/>
          </a:xfrm>
          <a:prstGeom prst="rect">
            <a:avLst/>
          </a:prstGeom>
          <a:solidFill>
            <a:srgbClr val="F5A524"/>
          </a:solidFill>
          <a:ln/>
        </p:spPr>
      </p:sp>
      <p:sp>
        <p:nvSpPr>
          <p:cNvPr id="26" name="Shape 23"/>
          <p:cNvSpPr/>
          <p:nvPr/>
        </p:nvSpPr>
        <p:spPr>
          <a:xfrm>
            <a:off x="11525098" y="5477256"/>
            <a:ext cx="23774" cy="137160"/>
          </a:xfrm>
          <a:prstGeom prst="rect">
            <a:avLst/>
          </a:prstGeom>
          <a:solidFill>
            <a:srgbClr val="F5A524"/>
          </a:solidFill>
          <a:ln/>
        </p:spPr>
      </p:sp>
      <p:sp>
        <p:nvSpPr>
          <p:cNvPr id="27" name="Text 24"/>
          <p:cNvSpPr/>
          <p:nvPr/>
        </p:nvSpPr>
        <p:spPr>
          <a:xfrm>
            <a:off x="6464808" y="4937760"/>
            <a:ext cx="4846320" cy="182880"/>
          </a:xfrm>
          <a:prstGeom prst="rect">
            <a:avLst/>
          </a:prstGeom>
          <a:noFill/>
          <a:ln/>
        </p:spPr>
        <p:txBody>
          <a:bodyPr wrap="square" lIns="0" tIns="0" rIns="0" bIns="0" rtlCol="0" anchor="ctr"/>
          <a:lstStyle/>
          <a:p>
            <a:pPr indent="0" marL="0">
              <a:buNone/>
            </a:pPr>
            <a:r>
              <a:rPr lang="en-US" sz="800" b="1" spc="100" kern="0" dirty="0">
                <a:solidFill>
                  <a:srgbClr val="A8722B"/>
                </a:solidFill>
                <a:latin typeface="Arial" pitchFamily="34" charset="0"/>
                <a:ea typeface="Arial" pitchFamily="34" charset="-122"/>
                <a:cs typeface="Arial" pitchFamily="34" charset="-120"/>
              </a:rPr>
              <a:t>CAMBIA POR INDUSTRIA</a:t>
            </a:r>
            <a:endParaRPr lang="en-US" sz="800" dirty="0"/>
          </a:p>
        </p:txBody>
      </p:sp>
      <p:sp>
        <p:nvSpPr>
          <p:cNvPr id="28" name="Text 25"/>
          <p:cNvSpPr/>
          <p:nvPr/>
        </p:nvSpPr>
        <p:spPr>
          <a:xfrm>
            <a:off x="6464808" y="5120640"/>
            <a:ext cx="4901184" cy="420624"/>
          </a:xfrm>
          <a:prstGeom prst="rect">
            <a:avLst/>
          </a:prstGeom>
          <a:noFill/>
          <a:ln/>
        </p:spPr>
        <p:txBody>
          <a:bodyPr wrap="square" lIns="0" tIns="0" rIns="0" bIns="0" rtlCol="0" anchor="t"/>
          <a:lstStyle/>
          <a:p>
            <a:pPr indent="0" marL="0">
              <a:buNone/>
            </a:pPr>
            <a:r>
              <a:rPr lang="en-US" sz="850" dirty="0">
                <a:solidFill>
                  <a:srgbClr val="0F1419"/>
                </a:solidFill>
                <a:latin typeface="Arial" pitchFamily="34" charset="0"/>
                <a:ea typeface="Arial" pitchFamily="34" charset="-122"/>
                <a:cs typeface="Arial" pitchFamily="34" charset="-120"/>
              </a:rPr>
              <a:t>Dos piezas: el adaptador del protocolo de la fuente, y el modelo entrenado para ese dominio. Nada más.</a:t>
            </a:r>
            <a:endParaRPr lang="en-US" sz="850" dirty="0"/>
          </a:p>
        </p:txBody>
      </p:sp>
      <p:sp>
        <p:nvSpPr>
          <p:cNvPr id="29" name="Shape 26"/>
          <p:cNvSpPr/>
          <p:nvPr/>
        </p:nvSpPr>
        <p:spPr>
          <a:xfrm>
            <a:off x="640080" y="5760720"/>
            <a:ext cx="10908792" cy="859536"/>
          </a:xfrm>
          <a:prstGeom prst="rect">
            <a:avLst/>
          </a:prstGeom>
          <a:solidFill>
            <a:srgbClr val="0F1419"/>
          </a:solidFill>
          <a:ln/>
        </p:spPr>
      </p:sp>
      <p:sp>
        <p:nvSpPr>
          <p:cNvPr id="30" name="Text 27"/>
          <p:cNvSpPr/>
          <p:nvPr/>
        </p:nvSpPr>
        <p:spPr>
          <a:xfrm>
            <a:off x="877824" y="5879592"/>
            <a:ext cx="3840480" cy="201168"/>
          </a:xfrm>
          <a:prstGeom prst="rect">
            <a:avLst/>
          </a:prstGeom>
          <a:noFill/>
          <a:ln/>
        </p:spPr>
        <p:txBody>
          <a:bodyPr wrap="square" lIns="0" tIns="0" rIns="0" bIns="0" rtlCol="0" anchor="ctr"/>
          <a:lstStyle/>
          <a:p>
            <a:pPr indent="0" marL="0">
              <a:buNone/>
            </a:pPr>
            <a:r>
              <a:rPr lang="en-US" sz="900" b="1" spc="120" kern="0" dirty="0">
                <a:solidFill>
                  <a:srgbClr val="F5A524"/>
                </a:solidFill>
                <a:latin typeface="Arial" pitchFamily="34" charset="0"/>
                <a:ea typeface="Arial" pitchFamily="34" charset="-122"/>
                <a:cs typeface="Arial" pitchFamily="34" charset="-120"/>
              </a:rPr>
              <a:t>EL COSTO MARGINAL DE LA SIGUIENTE INDUSTRIA</a:t>
            </a:r>
            <a:endParaRPr lang="en-US" sz="900" dirty="0"/>
          </a:p>
        </p:txBody>
      </p:sp>
      <p:sp>
        <p:nvSpPr>
          <p:cNvPr id="31" name="Text 28"/>
          <p:cNvSpPr/>
          <p:nvPr/>
        </p:nvSpPr>
        <p:spPr>
          <a:xfrm>
            <a:off x="877824" y="6108192"/>
            <a:ext cx="3840480" cy="402336"/>
          </a:xfrm>
          <a:prstGeom prst="rect">
            <a:avLst/>
          </a:prstGeom>
          <a:noFill/>
          <a:ln/>
        </p:spPr>
        <p:txBody>
          <a:bodyPr wrap="square" lIns="0" tIns="0" rIns="0" bIns="0" rtlCol="0" anchor="t"/>
          <a:lstStyle/>
          <a:p>
            <a:pPr indent="0" marL="0">
              <a:buNone/>
            </a:pPr>
            <a:r>
              <a:rPr lang="en-US" sz="1150" b="1" dirty="0">
                <a:solidFill>
                  <a:srgbClr val="FFFFFF"/>
                </a:solidFill>
                <a:latin typeface="Arial" pitchFamily="34" charset="0"/>
                <a:ea typeface="Arial" pitchFamily="34" charset="-122"/>
                <a:cs typeface="Arial" pitchFamily="34" charset="-120"/>
              </a:rPr>
              <a:t>El contrato se define una vez. Lo demás es configuración.</a:t>
            </a:r>
            <a:endParaRPr lang="en-US" sz="1150" dirty="0"/>
          </a:p>
        </p:txBody>
      </p:sp>
      <p:sp>
        <p:nvSpPr>
          <p:cNvPr id="32" name="Shape 29"/>
          <p:cNvSpPr/>
          <p:nvPr/>
        </p:nvSpPr>
        <p:spPr>
          <a:xfrm>
            <a:off x="5029200" y="5907024"/>
            <a:ext cx="1993392" cy="566928"/>
          </a:xfrm>
          <a:prstGeom prst="rect">
            <a:avLst/>
          </a:prstGeom>
          <a:solidFill>
            <a:srgbClr val="1E2830"/>
          </a:solidFill>
          <a:ln/>
        </p:spPr>
      </p:sp>
      <p:sp>
        <p:nvSpPr>
          <p:cNvPr id="33" name="Text 30"/>
          <p:cNvSpPr/>
          <p:nvPr/>
        </p:nvSpPr>
        <p:spPr>
          <a:xfrm>
            <a:off x="5175504" y="5961888"/>
            <a:ext cx="1700784" cy="201168"/>
          </a:xfrm>
          <a:prstGeom prst="rect">
            <a:avLst/>
          </a:prstGeom>
          <a:noFill/>
          <a:ln/>
        </p:spPr>
        <p:txBody>
          <a:bodyPr wrap="square" lIns="0" tIns="0" rIns="0" bIns="0" rtlCol="0" anchor="ctr"/>
          <a:lstStyle/>
          <a:p>
            <a:pPr indent="0" marL="0">
              <a:buNone/>
            </a:pPr>
            <a:r>
              <a:rPr lang="en-US" sz="900" b="1" dirty="0">
                <a:solidFill>
                  <a:srgbClr val="F5A524"/>
                </a:solidFill>
                <a:latin typeface="Arial" pitchFamily="34" charset="0"/>
                <a:ea typeface="Arial" pitchFamily="34" charset="-122"/>
                <a:cs typeface="Arial" pitchFamily="34" charset="-120"/>
              </a:rPr>
              <a:t>Primera industria</a:t>
            </a:r>
            <a:endParaRPr lang="en-US" sz="900" dirty="0"/>
          </a:p>
        </p:txBody>
      </p:sp>
      <p:sp>
        <p:nvSpPr>
          <p:cNvPr id="34" name="Text 31"/>
          <p:cNvSpPr/>
          <p:nvPr/>
        </p:nvSpPr>
        <p:spPr>
          <a:xfrm>
            <a:off x="5175504" y="6163056"/>
            <a:ext cx="1700784" cy="274320"/>
          </a:xfrm>
          <a:prstGeom prst="rect">
            <a:avLst/>
          </a:prstGeom>
          <a:noFill/>
          <a:ln/>
        </p:spPr>
        <p:txBody>
          <a:bodyPr wrap="square" lIns="0" tIns="0" rIns="0" bIns="0" rtlCol="0" anchor="ctr"/>
          <a:lstStyle/>
          <a:p>
            <a:pPr indent="0" marL="0">
              <a:buNone/>
            </a:pPr>
            <a:r>
              <a:rPr lang="en-US" sz="850" dirty="0">
                <a:solidFill>
                  <a:srgbClr val="E6EDF3"/>
                </a:solidFill>
                <a:latin typeface="Arial" pitchFamily="34" charset="0"/>
                <a:ea typeface="Arial" pitchFamily="34" charset="-122"/>
                <a:cs typeface="Arial" pitchFamily="34" charset="-120"/>
              </a:rPr>
              <a:t>contrato  +  adaptador  +  modelo</a:t>
            </a:r>
            <a:endParaRPr lang="en-US" sz="850" dirty="0"/>
          </a:p>
        </p:txBody>
      </p:sp>
      <p:sp>
        <p:nvSpPr>
          <p:cNvPr id="35" name="Text 32"/>
          <p:cNvSpPr/>
          <p:nvPr/>
        </p:nvSpPr>
        <p:spPr>
          <a:xfrm>
            <a:off x="7022592" y="6053328"/>
            <a:ext cx="146304" cy="274320"/>
          </a:xfrm>
          <a:prstGeom prst="rect">
            <a:avLst/>
          </a:prstGeom>
          <a:noFill/>
          <a:ln/>
        </p:spPr>
        <p:txBody>
          <a:bodyPr wrap="square" lIns="0" tIns="0" rIns="0" bIns="0" rtlCol="0" anchor="ctr"/>
          <a:lstStyle/>
          <a:p>
            <a:pPr algn="ctr" indent="0" marL="0">
              <a:buNone/>
            </a:pPr>
            <a:r>
              <a:rPr lang="en-US" sz="1100" b="1" dirty="0">
                <a:solidFill>
                  <a:srgbClr val="4B5663"/>
                </a:solidFill>
                <a:latin typeface="Arial" pitchFamily="34" charset="0"/>
                <a:ea typeface="Arial" pitchFamily="34" charset="-122"/>
                <a:cs typeface="Arial" pitchFamily="34" charset="-120"/>
              </a:rPr>
              <a:t>→</a:t>
            </a:r>
            <a:endParaRPr lang="en-US" sz="1100" dirty="0"/>
          </a:p>
        </p:txBody>
      </p:sp>
      <p:sp>
        <p:nvSpPr>
          <p:cNvPr id="36" name="Shape 33"/>
          <p:cNvSpPr/>
          <p:nvPr/>
        </p:nvSpPr>
        <p:spPr>
          <a:xfrm>
            <a:off x="7168896" y="5907024"/>
            <a:ext cx="1993392" cy="566928"/>
          </a:xfrm>
          <a:prstGeom prst="rect">
            <a:avLst/>
          </a:prstGeom>
          <a:solidFill>
            <a:srgbClr val="1E2830"/>
          </a:solidFill>
          <a:ln/>
        </p:spPr>
      </p:sp>
      <p:sp>
        <p:nvSpPr>
          <p:cNvPr id="37" name="Text 34"/>
          <p:cNvSpPr/>
          <p:nvPr/>
        </p:nvSpPr>
        <p:spPr>
          <a:xfrm>
            <a:off x="7315200" y="5961888"/>
            <a:ext cx="1700784" cy="201168"/>
          </a:xfrm>
          <a:prstGeom prst="rect">
            <a:avLst/>
          </a:prstGeom>
          <a:noFill/>
          <a:ln/>
        </p:spPr>
        <p:txBody>
          <a:bodyPr wrap="square" lIns="0" tIns="0" rIns="0" bIns="0" rtlCol="0" anchor="ctr"/>
          <a:lstStyle/>
          <a:p>
            <a:pPr indent="0" marL="0">
              <a:buNone/>
            </a:pPr>
            <a:r>
              <a:rPr lang="en-US" sz="900" b="1" dirty="0">
                <a:solidFill>
                  <a:srgbClr val="2DD4BF"/>
                </a:solidFill>
                <a:latin typeface="Arial" pitchFamily="34" charset="0"/>
                <a:ea typeface="Arial" pitchFamily="34" charset="-122"/>
                <a:cs typeface="Arial" pitchFamily="34" charset="-120"/>
              </a:rPr>
              <a:t>Segunda industria</a:t>
            </a:r>
            <a:endParaRPr lang="en-US" sz="900" dirty="0"/>
          </a:p>
        </p:txBody>
      </p:sp>
      <p:sp>
        <p:nvSpPr>
          <p:cNvPr id="38" name="Text 35"/>
          <p:cNvSpPr/>
          <p:nvPr/>
        </p:nvSpPr>
        <p:spPr>
          <a:xfrm>
            <a:off x="7315200" y="6163056"/>
            <a:ext cx="1700784" cy="274320"/>
          </a:xfrm>
          <a:prstGeom prst="rect">
            <a:avLst/>
          </a:prstGeom>
          <a:noFill/>
          <a:ln/>
        </p:spPr>
        <p:txBody>
          <a:bodyPr wrap="square" lIns="0" tIns="0" rIns="0" bIns="0" rtlCol="0" anchor="ctr"/>
          <a:lstStyle/>
          <a:p>
            <a:pPr indent="0" marL="0">
              <a:buNone/>
            </a:pPr>
            <a:r>
              <a:rPr lang="en-US" sz="850" dirty="0">
                <a:solidFill>
                  <a:srgbClr val="E6EDF3"/>
                </a:solidFill>
                <a:latin typeface="Arial" pitchFamily="34" charset="0"/>
                <a:ea typeface="Arial" pitchFamily="34" charset="-122"/>
                <a:cs typeface="Arial" pitchFamily="34" charset="-120"/>
              </a:rPr>
              <a:t>adaptador  +  modelo</a:t>
            </a:r>
            <a:endParaRPr lang="en-US" sz="850" dirty="0"/>
          </a:p>
        </p:txBody>
      </p:sp>
      <p:sp>
        <p:nvSpPr>
          <p:cNvPr id="39" name="Text 36"/>
          <p:cNvSpPr/>
          <p:nvPr/>
        </p:nvSpPr>
        <p:spPr>
          <a:xfrm>
            <a:off x="9162288" y="6053328"/>
            <a:ext cx="146304" cy="274320"/>
          </a:xfrm>
          <a:prstGeom prst="rect">
            <a:avLst/>
          </a:prstGeom>
          <a:noFill/>
          <a:ln/>
        </p:spPr>
        <p:txBody>
          <a:bodyPr wrap="square" lIns="0" tIns="0" rIns="0" bIns="0" rtlCol="0" anchor="ctr"/>
          <a:lstStyle/>
          <a:p>
            <a:pPr algn="ctr" indent="0" marL="0">
              <a:buNone/>
            </a:pPr>
            <a:r>
              <a:rPr lang="en-US" sz="1100" b="1" dirty="0">
                <a:solidFill>
                  <a:srgbClr val="4B5663"/>
                </a:solidFill>
                <a:latin typeface="Arial" pitchFamily="34" charset="0"/>
                <a:ea typeface="Arial" pitchFamily="34" charset="-122"/>
                <a:cs typeface="Arial" pitchFamily="34" charset="-120"/>
              </a:rPr>
              <a:t>→</a:t>
            </a:r>
            <a:endParaRPr lang="en-US" sz="1100" dirty="0"/>
          </a:p>
        </p:txBody>
      </p:sp>
      <p:sp>
        <p:nvSpPr>
          <p:cNvPr id="40" name="Shape 37"/>
          <p:cNvSpPr/>
          <p:nvPr/>
        </p:nvSpPr>
        <p:spPr>
          <a:xfrm>
            <a:off x="9308592" y="5907024"/>
            <a:ext cx="1993392" cy="566928"/>
          </a:xfrm>
          <a:prstGeom prst="rect">
            <a:avLst/>
          </a:prstGeom>
          <a:solidFill>
            <a:srgbClr val="1E2830"/>
          </a:solidFill>
          <a:ln/>
        </p:spPr>
      </p:sp>
      <p:sp>
        <p:nvSpPr>
          <p:cNvPr id="41" name="Text 38"/>
          <p:cNvSpPr/>
          <p:nvPr/>
        </p:nvSpPr>
        <p:spPr>
          <a:xfrm>
            <a:off x="9454896" y="5961888"/>
            <a:ext cx="1700784" cy="201168"/>
          </a:xfrm>
          <a:prstGeom prst="rect">
            <a:avLst/>
          </a:prstGeom>
          <a:noFill/>
          <a:ln/>
        </p:spPr>
        <p:txBody>
          <a:bodyPr wrap="square" lIns="0" tIns="0" rIns="0" bIns="0" rtlCol="0" anchor="ctr"/>
          <a:lstStyle/>
          <a:p>
            <a:pPr indent="0" marL="0">
              <a:buNone/>
            </a:pPr>
            <a:r>
              <a:rPr lang="en-US" sz="900" b="1" dirty="0">
                <a:solidFill>
                  <a:srgbClr val="2DD4BF"/>
                </a:solidFill>
                <a:latin typeface="Arial" pitchFamily="34" charset="0"/>
                <a:ea typeface="Arial" pitchFamily="34" charset="-122"/>
                <a:cs typeface="Arial" pitchFamily="34" charset="-120"/>
              </a:rPr>
              <a:t>Décima industria</a:t>
            </a:r>
            <a:endParaRPr lang="en-US" sz="900" dirty="0"/>
          </a:p>
        </p:txBody>
      </p:sp>
      <p:sp>
        <p:nvSpPr>
          <p:cNvPr id="42" name="Text 39"/>
          <p:cNvSpPr/>
          <p:nvPr/>
        </p:nvSpPr>
        <p:spPr>
          <a:xfrm>
            <a:off x="9454896" y="6163056"/>
            <a:ext cx="1700784" cy="274320"/>
          </a:xfrm>
          <a:prstGeom prst="rect">
            <a:avLst/>
          </a:prstGeom>
          <a:noFill/>
          <a:ln/>
        </p:spPr>
        <p:txBody>
          <a:bodyPr wrap="square" lIns="0" tIns="0" rIns="0" bIns="0" rtlCol="0" anchor="ctr"/>
          <a:lstStyle/>
          <a:p>
            <a:pPr indent="0" marL="0">
              <a:buNone/>
            </a:pPr>
            <a:r>
              <a:rPr lang="en-US" sz="850" dirty="0">
                <a:solidFill>
                  <a:srgbClr val="E6EDF3"/>
                </a:solidFill>
                <a:latin typeface="Arial" pitchFamily="34" charset="0"/>
                <a:ea typeface="Arial" pitchFamily="34" charset="-122"/>
                <a:cs typeface="Arial" pitchFamily="34" charset="-120"/>
              </a:rPr>
              <a:t>adaptador  +  modelo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contrato que falta</dc:title>
  <dc:subject>PptxGenJS Presentation</dc:subject>
  <dc:creator>EPAM AWS Latam Solutions</dc:creator>
  <cp:lastModifiedBy>EPAM AWS Latam Solutions</cp:lastModifiedBy>
  <cp:revision>1</cp:revision>
  <dcterms:created xsi:type="dcterms:W3CDTF">2026-07-30T22:00:08Z</dcterms:created>
  <dcterms:modified xsi:type="dcterms:W3CDTF">2026-07-30T22:00:08Z</dcterms:modified>
</cp:coreProperties>
</file>