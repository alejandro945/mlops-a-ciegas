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DE ARQUITECTURA — usalo como respaldo, no en el flujo principal.
Si alguien pregunta '¿cómo lo implementaste?', mostrás esto.
Los dos puntos del pie son lo importante:
1. Device Shadow (desired vs reported) ES el mecanismo de reversa. No construí un sistema de despliegue: usé la primitiva que ya existe. Rollback = cambiar un string.
2. Stream Manager de Greengrass hace el buffer offline nativo. No escribí cola persistente ni lógica de reintentos.
Lo único que sí construí es el contrato de eventos — que es la tesis de la charla. La arquitectura demuestra el argumento.
El controlador destacado en ámbar son ~60 líneas: una consulta de desacuerdo y un UpdateThingShadow. Sin orquestador, sin agente de despliegue, sin SSH.
Si preguntan por costo: IoT Core cobra por millón de mensajes; Timestream, Lambda y EventBridge tienen capa gratuita. Una demo de este tamaño cuesta menos de un café al 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0E13"/>
        </a:solidFill>
      </p:bgPr>
    </p:bg>
    <p:spTree>
      <p:nvGrpSpPr>
        <p:cNvPr id="1" name=""/>
        <p:cNvGrpSpPr/>
        <p:nvPr/>
      </p:nvGrpSpPr>
      <p:grpSpPr>
        <a:xfrm>
          <a:off x="0" y="0"/>
          <a:ext cx="0" cy="0"/>
          <a:chOff x="0" y="0"/>
          <a:chExt cx="0" cy="0"/>
        </a:xfrm>
      </p:grpSpPr>
      <p:sp>
        <p:nvSpPr>
          <p:cNvPr id="2" name="Text 0"/>
          <p:cNvSpPr/>
          <p:nvPr/>
        </p:nvSpPr>
        <p:spPr>
          <a:xfrm>
            <a:off x="640080" y="365760"/>
            <a:ext cx="7315200" cy="237744"/>
          </a:xfrm>
          <a:prstGeom prst="rect">
            <a:avLst/>
          </a:prstGeom>
          <a:noFill/>
          <a:ln/>
        </p:spPr>
        <p:txBody>
          <a:bodyPr wrap="square" lIns="0" tIns="0" rIns="0" bIns="0" rtlCol="0" anchor="ctr"/>
          <a:lstStyle/>
          <a:p>
            <a:pPr indent="0" marL="0">
              <a:buNone/>
            </a:pPr>
            <a:r>
              <a:rPr lang="en-US" sz="1000" b="1" spc="300" kern="0" dirty="0">
                <a:solidFill>
                  <a:srgbClr val="465162"/>
                </a:solidFill>
                <a:latin typeface="Arial" pitchFamily="34" charset="0"/>
                <a:ea typeface="Arial" pitchFamily="34" charset="-122"/>
                <a:cs typeface="Arial" pitchFamily="34" charset="-120"/>
              </a:rPr>
              <a:t>ARQUITECTURA DE REFERENCIA</a:t>
            </a:r>
            <a:endParaRPr lang="en-US" sz="1000" dirty="0"/>
          </a:p>
        </p:txBody>
      </p:sp>
      <p:sp>
        <p:nvSpPr>
          <p:cNvPr id="3" name="Text 1"/>
          <p:cNvSpPr/>
          <p:nvPr/>
        </p:nvSpPr>
        <p:spPr>
          <a:xfrm>
            <a:off x="640080" y="621792"/>
            <a:ext cx="10881360" cy="457200"/>
          </a:xfrm>
          <a:prstGeom prst="rect">
            <a:avLst/>
          </a:prstGeom>
          <a:noFill/>
          <a:ln/>
        </p:spPr>
        <p:txBody>
          <a:bodyPr wrap="square" lIns="0" tIns="0" rIns="0" bIns="0" rtlCol="0" anchor="ctr"/>
          <a:lstStyle/>
          <a:p>
            <a:pPr indent="0" marL="0">
              <a:buNone/>
            </a:pPr>
            <a:r>
              <a:rPr lang="en-US" sz="2600" b="1" dirty="0">
                <a:solidFill>
                  <a:srgbClr val="FFFFFF"/>
                </a:solidFill>
                <a:latin typeface="Arial" pitchFamily="34" charset="0"/>
                <a:ea typeface="Arial" pitchFamily="34" charset="-122"/>
                <a:cs typeface="Arial" pitchFamily="34" charset="-120"/>
              </a:rPr>
              <a:t>Desplegar, observar y revertir — sobre AWS</a:t>
            </a:r>
            <a:endParaRPr lang="en-US" sz="2600" dirty="0"/>
          </a:p>
        </p:txBody>
      </p:sp>
      <p:sp>
        <p:nvSpPr>
          <p:cNvPr id="4" name="Shape 2"/>
          <p:cNvSpPr/>
          <p:nvPr/>
        </p:nvSpPr>
        <p:spPr>
          <a:xfrm>
            <a:off x="640080" y="1325880"/>
            <a:ext cx="3977640" cy="4160520"/>
          </a:xfrm>
          <a:prstGeom prst="rect">
            <a:avLst/>
          </a:prstGeom>
          <a:solidFill>
            <a:srgbClr val="17322F"/>
          </a:solidFill>
          <a:ln w="15875">
            <a:solidFill>
              <a:srgbClr val="2DD4BF"/>
            </a:solidFill>
            <a:prstDash val="dash"/>
          </a:ln>
        </p:spPr>
      </p:sp>
      <p:sp>
        <p:nvSpPr>
          <p:cNvPr id="5" name="Text 3"/>
          <p:cNvSpPr/>
          <p:nvPr/>
        </p:nvSpPr>
        <p:spPr>
          <a:xfrm>
            <a:off x="868680" y="1490472"/>
            <a:ext cx="3520440" cy="256032"/>
          </a:xfrm>
          <a:prstGeom prst="rect">
            <a:avLst/>
          </a:prstGeom>
          <a:noFill/>
          <a:ln/>
        </p:spPr>
        <p:txBody>
          <a:bodyPr wrap="square" lIns="0" tIns="0" rIns="0" bIns="0" rtlCol="0" anchor="ctr"/>
          <a:lstStyle/>
          <a:p>
            <a:pPr indent="0" marL="0">
              <a:buNone/>
            </a:pPr>
            <a:r>
              <a:rPr lang="en-US" sz="1000" b="1" spc="200" kern="0" dirty="0">
                <a:solidFill>
                  <a:srgbClr val="2DD4BF"/>
                </a:solidFill>
                <a:latin typeface="Arial" pitchFamily="34" charset="0"/>
                <a:ea typeface="Arial" pitchFamily="34" charset="-122"/>
                <a:cs typeface="Arial" pitchFamily="34" charset="-120"/>
              </a:rPr>
              <a:t>EDGE · por dispositivo</a:t>
            </a:r>
            <a:endParaRPr lang="en-US" sz="1000" dirty="0"/>
          </a:p>
        </p:txBody>
      </p:sp>
      <p:sp>
        <p:nvSpPr>
          <p:cNvPr id="6" name="Shape 4"/>
          <p:cNvSpPr/>
          <p:nvPr/>
        </p:nvSpPr>
        <p:spPr>
          <a:xfrm>
            <a:off x="896112" y="1920240"/>
            <a:ext cx="3465576" cy="713232"/>
          </a:xfrm>
          <a:prstGeom prst="rect">
            <a:avLst/>
          </a:prstGeom>
          <a:solidFill>
            <a:srgbClr val="151B24"/>
          </a:solidFill>
          <a:ln/>
        </p:spPr>
      </p:sp>
      <p:sp>
        <p:nvSpPr>
          <p:cNvPr id="7" name="Shape 5"/>
          <p:cNvSpPr/>
          <p:nvPr/>
        </p:nvSpPr>
        <p:spPr>
          <a:xfrm>
            <a:off x="896112" y="1920240"/>
            <a:ext cx="41148" cy="713232"/>
          </a:xfrm>
          <a:prstGeom prst="rect">
            <a:avLst/>
          </a:prstGeom>
          <a:solidFill>
            <a:srgbClr val="2DD4BF"/>
          </a:solidFill>
          <a:ln/>
        </p:spPr>
      </p:sp>
      <p:sp>
        <p:nvSpPr>
          <p:cNvPr id="8" name="Text 6"/>
          <p:cNvSpPr/>
          <p:nvPr/>
        </p:nvSpPr>
        <p:spPr>
          <a:xfrm>
            <a:off x="1097280" y="1993392"/>
            <a:ext cx="3200400" cy="29260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Greengrass v2</a:t>
            </a:r>
            <a:endParaRPr lang="en-US" sz="1300" dirty="0"/>
          </a:p>
        </p:txBody>
      </p:sp>
      <p:sp>
        <p:nvSpPr>
          <p:cNvPr id="9" name="Text 7"/>
          <p:cNvSpPr/>
          <p:nvPr/>
        </p:nvSpPr>
        <p:spPr>
          <a:xfrm>
            <a:off x="1097280" y="2286000"/>
            <a:ext cx="3200400" cy="274320"/>
          </a:xfrm>
          <a:prstGeom prst="rect">
            <a:avLst/>
          </a:prstGeom>
          <a:noFill/>
          <a:ln/>
        </p:spPr>
        <p:txBody>
          <a:bodyPr wrap="square" lIns="0" tIns="0" rIns="0" bIns="0" rtlCol="0" anchor="ctr"/>
          <a:lstStyle/>
          <a:p>
            <a:pPr indent="0" marL="0">
              <a:buNone/>
            </a:pPr>
            <a:r>
              <a:rPr lang="en-US" sz="900" dirty="0">
                <a:solidFill>
                  <a:srgbClr val="8A97A8"/>
                </a:solidFill>
                <a:latin typeface="Arial" pitchFamily="34" charset="0"/>
                <a:ea typeface="Arial" pitchFamily="34" charset="-122"/>
                <a:cs typeface="Arial" pitchFamily="34" charset="-120"/>
              </a:rPr>
              <a:t>runtime + componentes</a:t>
            </a:r>
            <a:endParaRPr lang="en-US" sz="900" dirty="0"/>
          </a:p>
        </p:txBody>
      </p:sp>
      <p:sp>
        <p:nvSpPr>
          <p:cNvPr id="10" name="Shape 8"/>
          <p:cNvSpPr/>
          <p:nvPr/>
        </p:nvSpPr>
        <p:spPr>
          <a:xfrm>
            <a:off x="896112" y="2788920"/>
            <a:ext cx="3465576" cy="713232"/>
          </a:xfrm>
          <a:prstGeom prst="rect">
            <a:avLst/>
          </a:prstGeom>
          <a:solidFill>
            <a:srgbClr val="151B24"/>
          </a:solidFill>
          <a:ln/>
        </p:spPr>
      </p:sp>
      <p:sp>
        <p:nvSpPr>
          <p:cNvPr id="11" name="Shape 9"/>
          <p:cNvSpPr/>
          <p:nvPr/>
        </p:nvSpPr>
        <p:spPr>
          <a:xfrm>
            <a:off x="896112" y="2788920"/>
            <a:ext cx="41148" cy="713232"/>
          </a:xfrm>
          <a:prstGeom prst="rect">
            <a:avLst/>
          </a:prstGeom>
          <a:solidFill>
            <a:srgbClr val="2DD4BF"/>
          </a:solidFill>
          <a:ln/>
        </p:spPr>
      </p:sp>
      <p:sp>
        <p:nvSpPr>
          <p:cNvPr id="12" name="Text 10"/>
          <p:cNvSpPr/>
          <p:nvPr/>
        </p:nvSpPr>
        <p:spPr>
          <a:xfrm>
            <a:off x="1097280" y="2862072"/>
            <a:ext cx="3200400" cy="29260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ONNX Runtime</a:t>
            </a:r>
            <a:endParaRPr lang="en-US" sz="1300" dirty="0"/>
          </a:p>
        </p:txBody>
      </p:sp>
      <p:sp>
        <p:nvSpPr>
          <p:cNvPr id="13" name="Text 11"/>
          <p:cNvSpPr/>
          <p:nvPr/>
        </p:nvSpPr>
        <p:spPr>
          <a:xfrm>
            <a:off x="1097280" y="3154680"/>
            <a:ext cx="3200400" cy="274320"/>
          </a:xfrm>
          <a:prstGeom prst="rect">
            <a:avLst/>
          </a:prstGeom>
          <a:noFill/>
          <a:ln/>
        </p:spPr>
        <p:txBody>
          <a:bodyPr wrap="square" lIns="0" tIns="0" rIns="0" bIns="0" rtlCol="0" anchor="ctr"/>
          <a:lstStyle/>
          <a:p>
            <a:pPr indent="0" marL="0">
              <a:buNone/>
            </a:pPr>
            <a:r>
              <a:rPr lang="en-US" sz="900" dirty="0">
                <a:solidFill>
                  <a:srgbClr val="8A97A8"/>
                </a:solidFill>
                <a:latin typeface="Arial" pitchFamily="34" charset="0"/>
                <a:ea typeface="Arial" pitchFamily="34" charset="-122"/>
                <a:cs typeface="Arial" pitchFamily="34" charset="-120"/>
              </a:rPr>
              <a:t>provider por acelerador</a:t>
            </a:r>
            <a:endParaRPr lang="en-US" sz="900" dirty="0"/>
          </a:p>
        </p:txBody>
      </p:sp>
      <p:sp>
        <p:nvSpPr>
          <p:cNvPr id="14" name="Shape 12"/>
          <p:cNvSpPr/>
          <p:nvPr/>
        </p:nvSpPr>
        <p:spPr>
          <a:xfrm>
            <a:off x="896112" y="3657600"/>
            <a:ext cx="3465576" cy="713232"/>
          </a:xfrm>
          <a:prstGeom prst="rect">
            <a:avLst/>
          </a:prstGeom>
          <a:solidFill>
            <a:srgbClr val="151B24"/>
          </a:solidFill>
          <a:ln/>
        </p:spPr>
      </p:sp>
      <p:sp>
        <p:nvSpPr>
          <p:cNvPr id="15" name="Shape 13"/>
          <p:cNvSpPr/>
          <p:nvPr/>
        </p:nvSpPr>
        <p:spPr>
          <a:xfrm>
            <a:off x="896112" y="3657600"/>
            <a:ext cx="41148" cy="713232"/>
          </a:xfrm>
          <a:prstGeom prst="rect">
            <a:avLst/>
          </a:prstGeom>
          <a:solidFill>
            <a:srgbClr val="2DD4BF"/>
          </a:solidFill>
          <a:ln/>
        </p:spPr>
      </p:sp>
      <p:sp>
        <p:nvSpPr>
          <p:cNvPr id="16" name="Text 14"/>
          <p:cNvSpPr/>
          <p:nvPr/>
        </p:nvSpPr>
        <p:spPr>
          <a:xfrm>
            <a:off x="1097280" y="3730752"/>
            <a:ext cx="3200400" cy="29260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Agente</a:t>
            </a:r>
            <a:endParaRPr lang="en-US" sz="1300" dirty="0"/>
          </a:p>
        </p:txBody>
      </p:sp>
      <p:sp>
        <p:nvSpPr>
          <p:cNvPr id="17" name="Text 15"/>
          <p:cNvSpPr/>
          <p:nvPr/>
        </p:nvSpPr>
        <p:spPr>
          <a:xfrm>
            <a:off x="1097280" y="4023360"/>
            <a:ext cx="3200400" cy="274320"/>
          </a:xfrm>
          <a:prstGeom prst="rect">
            <a:avLst/>
          </a:prstGeom>
          <a:noFill/>
          <a:ln/>
        </p:spPr>
        <p:txBody>
          <a:bodyPr wrap="square" lIns="0" tIns="0" rIns="0" bIns="0" rtlCol="0" anchor="ctr"/>
          <a:lstStyle/>
          <a:p>
            <a:pPr indent="0" marL="0">
              <a:buNone/>
            </a:pPr>
            <a:r>
              <a:rPr lang="en-US" sz="900" dirty="0">
                <a:solidFill>
                  <a:srgbClr val="8A97A8"/>
                </a:solidFill>
                <a:latin typeface="Arial" pitchFamily="34" charset="0"/>
                <a:ea typeface="Arial" pitchFamily="34" charset="-122"/>
                <a:cs typeface="Arial" pitchFamily="34" charset="-120"/>
              </a:rPr>
              <a:t>lee shadow · verifica sha256</a:t>
            </a:r>
            <a:endParaRPr lang="en-US" sz="900" dirty="0"/>
          </a:p>
        </p:txBody>
      </p:sp>
      <p:sp>
        <p:nvSpPr>
          <p:cNvPr id="18" name="Shape 16"/>
          <p:cNvSpPr/>
          <p:nvPr/>
        </p:nvSpPr>
        <p:spPr>
          <a:xfrm>
            <a:off x="896112" y="4526280"/>
            <a:ext cx="3465576" cy="713232"/>
          </a:xfrm>
          <a:prstGeom prst="rect">
            <a:avLst/>
          </a:prstGeom>
          <a:solidFill>
            <a:srgbClr val="151B24"/>
          </a:solidFill>
          <a:ln/>
        </p:spPr>
      </p:sp>
      <p:sp>
        <p:nvSpPr>
          <p:cNvPr id="19" name="Shape 17"/>
          <p:cNvSpPr/>
          <p:nvPr/>
        </p:nvSpPr>
        <p:spPr>
          <a:xfrm>
            <a:off x="896112" y="4526280"/>
            <a:ext cx="41148" cy="713232"/>
          </a:xfrm>
          <a:prstGeom prst="rect">
            <a:avLst/>
          </a:prstGeom>
          <a:solidFill>
            <a:srgbClr val="2DD4BF"/>
          </a:solidFill>
          <a:ln/>
        </p:spPr>
      </p:sp>
      <p:sp>
        <p:nvSpPr>
          <p:cNvPr id="20" name="Text 18"/>
          <p:cNvSpPr/>
          <p:nvPr/>
        </p:nvSpPr>
        <p:spPr>
          <a:xfrm>
            <a:off x="1097280" y="4599432"/>
            <a:ext cx="3200400" cy="29260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Stream Manager</a:t>
            </a:r>
            <a:endParaRPr lang="en-US" sz="1300" dirty="0"/>
          </a:p>
        </p:txBody>
      </p:sp>
      <p:sp>
        <p:nvSpPr>
          <p:cNvPr id="21" name="Text 19"/>
          <p:cNvSpPr/>
          <p:nvPr/>
        </p:nvSpPr>
        <p:spPr>
          <a:xfrm>
            <a:off x="1097280" y="4892040"/>
            <a:ext cx="3200400" cy="274320"/>
          </a:xfrm>
          <a:prstGeom prst="rect">
            <a:avLst/>
          </a:prstGeom>
          <a:noFill/>
          <a:ln/>
        </p:spPr>
        <p:txBody>
          <a:bodyPr wrap="square" lIns="0" tIns="0" rIns="0" bIns="0" rtlCol="0" anchor="ctr"/>
          <a:lstStyle/>
          <a:p>
            <a:pPr indent="0" marL="0">
              <a:buNone/>
            </a:pPr>
            <a:r>
              <a:rPr lang="en-US" sz="900" dirty="0">
                <a:solidFill>
                  <a:srgbClr val="8A97A8"/>
                </a:solidFill>
                <a:latin typeface="Arial" pitchFamily="34" charset="0"/>
                <a:ea typeface="Arial" pitchFamily="34" charset="-122"/>
                <a:cs typeface="Arial" pitchFamily="34" charset="-120"/>
              </a:rPr>
              <a:t>buffer offline nativo</a:t>
            </a:r>
            <a:endParaRPr lang="en-US" sz="900" dirty="0"/>
          </a:p>
        </p:txBody>
      </p:sp>
      <p:sp>
        <p:nvSpPr>
          <p:cNvPr id="22" name="Text 20"/>
          <p:cNvSpPr/>
          <p:nvPr/>
        </p:nvSpPr>
        <p:spPr>
          <a:xfrm>
            <a:off x="4663440" y="2194560"/>
            <a:ext cx="868680" cy="365760"/>
          </a:xfrm>
          <a:prstGeom prst="rect">
            <a:avLst/>
          </a:prstGeom>
          <a:noFill/>
          <a:ln/>
        </p:spPr>
        <p:txBody>
          <a:bodyPr wrap="square" lIns="0" tIns="0" rIns="0" bIns="0" rtlCol="0" anchor="ctr"/>
          <a:lstStyle/>
          <a:p>
            <a:pPr algn="ctr" indent="0" marL="0">
              <a:buNone/>
            </a:pPr>
            <a:r>
              <a:rPr lang="en-US" sz="2200" b="1" dirty="0">
                <a:solidFill>
                  <a:srgbClr val="F5A524"/>
                </a:solidFill>
                <a:latin typeface="Arial" pitchFamily="34" charset="0"/>
                <a:ea typeface="Arial" pitchFamily="34" charset="-122"/>
                <a:cs typeface="Arial" pitchFamily="34" charset="-120"/>
              </a:rPr>
              <a:t>→</a:t>
            </a:r>
            <a:endParaRPr lang="en-US" sz="2200" dirty="0"/>
          </a:p>
        </p:txBody>
      </p:sp>
      <p:sp>
        <p:nvSpPr>
          <p:cNvPr id="23" name="Text 21"/>
          <p:cNvSpPr/>
          <p:nvPr/>
        </p:nvSpPr>
        <p:spPr>
          <a:xfrm>
            <a:off x="4636008" y="2542032"/>
            <a:ext cx="914400" cy="237744"/>
          </a:xfrm>
          <a:prstGeom prst="rect">
            <a:avLst/>
          </a:prstGeom>
          <a:noFill/>
          <a:ln/>
        </p:spPr>
        <p:txBody>
          <a:bodyPr wrap="square" lIns="0" tIns="0" rIns="0" bIns="0" rtlCol="0" anchor="ctr"/>
          <a:lstStyle/>
          <a:p>
            <a:pPr algn="ctr" indent="0" marL="0">
              <a:buNone/>
            </a:pPr>
            <a:r>
              <a:rPr lang="en-US" sz="850" dirty="0">
                <a:solidFill>
                  <a:srgbClr val="F5A524"/>
                </a:solidFill>
                <a:latin typeface="Arial" pitchFamily="34" charset="0"/>
                <a:ea typeface="Arial" pitchFamily="34" charset="-122"/>
                <a:cs typeface="Arial" pitchFamily="34" charset="-120"/>
              </a:rPr>
              <a:t>eventos</a:t>
            </a:r>
            <a:endParaRPr lang="en-US" sz="850" dirty="0"/>
          </a:p>
        </p:txBody>
      </p:sp>
      <p:sp>
        <p:nvSpPr>
          <p:cNvPr id="24" name="Text 22"/>
          <p:cNvSpPr/>
          <p:nvPr/>
        </p:nvSpPr>
        <p:spPr>
          <a:xfrm>
            <a:off x="4663440" y="3931920"/>
            <a:ext cx="868680" cy="365760"/>
          </a:xfrm>
          <a:prstGeom prst="rect">
            <a:avLst/>
          </a:prstGeom>
          <a:noFill/>
          <a:ln/>
        </p:spPr>
        <p:txBody>
          <a:bodyPr wrap="square" lIns="0" tIns="0" rIns="0" bIns="0" rtlCol="0" anchor="ctr"/>
          <a:lstStyle/>
          <a:p>
            <a:pPr algn="ctr" indent="0" marL="0">
              <a:buNone/>
            </a:pPr>
            <a:r>
              <a:rPr lang="en-US" sz="2200" b="1" dirty="0">
                <a:solidFill>
                  <a:srgbClr val="2DD4BF"/>
                </a:solidFill>
                <a:latin typeface="Arial" pitchFamily="34" charset="0"/>
                <a:ea typeface="Arial" pitchFamily="34" charset="-122"/>
                <a:cs typeface="Arial" pitchFamily="34" charset="-120"/>
              </a:rPr>
              <a:t>←</a:t>
            </a:r>
            <a:endParaRPr lang="en-US" sz="2200" dirty="0"/>
          </a:p>
        </p:txBody>
      </p:sp>
      <p:sp>
        <p:nvSpPr>
          <p:cNvPr id="25" name="Text 23"/>
          <p:cNvSpPr/>
          <p:nvPr/>
        </p:nvSpPr>
        <p:spPr>
          <a:xfrm>
            <a:off x="4636008" y="4279392"/>
            <a:ext cx="914400" cy="237744"/>
          </a:xfrm>
          <a:prstGeom prst="rect">
            <a:avLst/>
          </a:prstGeom>
          <a:noFill/>
          <a:ln/>
        </p:spPr>
        <p:txBody>
          <a:bodyPr wrap="square" lIns="0" tIns="0" rIns="0" bIns="0" rtlCol="0" anchor="ctr"/>
          <a:lstStyle/>
          <a:p>
            <a:pPr algn="ctr" indent="0" marL="0">
              <a:buNone/>
            </a:pPr>
            <a:r>
              <a:rPr lang="en-US" sz="850" dirty="0">
                <a:solidFill>
                  <a:srgbClr val="2DD4BF"/>
                </a:solidFill>
                <a:latin typeface="Arial" pitchFamily="34" charset="0"/>
                <a:ea typeface="Arial" pitchFamily="34" charset="-122"/>
                <a:cs typeface="Arial" pitchFamily="34" charset="-120"/>
              </a:rPr>
              <a:t>desired</a:t>
            </a:r>
            <a:endParaRPr lang="en-US" sz="850" dirty="0"/>
          </a:p>
        </p:txBody>
      </p:sp>
      <p:sp>
        <p:nvSpPr>
          <p:cNvPr id="26" name="Shape 24"/>
          <p:cNvSpPr/>
          <p:nvPr/>
        </p:nvSpPr>
        <p:spPr>
          <a:xfrm>
            <a:off x="5577840" y="1325880"/>
            <a:ext cx="5971032" cy="4160520"/>
          </a:xfrm>
          <a:prstGeom prst="rect">
            <a:avLst/>
          </a:prstGeom>
          <a:solidFill>
            <a:srgbClr val="1A1410"/>
          </a:solidFill>
          <a:ln w="15875">
            <a:solidFill>
              <a:srgbClr val="F5A524"/>
            </a:solidFill>
            <a:prstDash val="dash"/>
          </a:ln>
        </p:spPr>
      </p:sp>
      <p:sp>
        <p:nvSpPr>
          <p:cNvPr id="27" name="Text 25"/>
          <p:cNvSpPr/>
          <p:nvPr/>
        </p:nvSpPr>
        <p:spPr>
          <a:xfrm>
            <a:off x="5806440" y="1490472"/>
            <a:ext cx="5513832" cy="256032"/>
          </a:xfrm>
          <a:prstGeom prst="rect">
            <a:avLst/>
          </a:prstGeom>
          <a:noFill/>
          <a:ln/>
        </p:spPr>
        <p:txBody>
          <a:bodyPr wrap="square" lIns="0" tIns="0" rIns="0" bIns="0" rtlCol="0" anchor="ctr"/>
          <a:lstStyle/>
          <a:p>
            <a:pPr indent="0" marL="0">
              <a:buNone/>
            </a:pPr>
            <a:r>
              <a:rPr lang="en-US" sz="1000" b="1" spc="200" kern="0" dirty="0">
                <a:solidFill>
                  <a:srgbClr val="F5A524"/>
                </a:solidFill>
                <a:latin typeface="Arial" pitchFamily="34" charset="0"/>
                <a:ea typeface="Arial" pitchFamily="34" charset="-122"/>
                <a:cs typeface="Arial" pitchFamily="34" charset="-120"/>
              </a:rPr>
              <a:t>AWS</a:t>
            </a:r>
            <a:endParaRPr lang="en-US" sz="1000" dirty="0"/>
          </a:p>
        </p:txBody>
      </p:sp>
      <p:sp>
        <p:nvSpPr>
          <p:cNvPr id="28" name="Shape 26"/>
          <p:cNvSpPr/>
          <p:nvPr/>
        </p:nvSpPr>
        <p:spPr>
          <a:xfrm>
            <a:off x="5833872" y="1892808"/>
            <a:ext cx="5458968" cy="749808"/>
          </a:xfrm>
          <a:prstGeom prst="rect">
            <a:avLst/>
          </a:prstGeom>
          <a:solidFill>
            <a:srgbClr val="151B24"/>
          </a:solidFill>
          <a:ln/>
        </p:spPr>
      </p:sp>
      <p:sp>
        <p:nvSpPr>
          <p:cNvPr id="29" name="Shape 27"/>
          <p:cNvSpPr/>
          <p:nvPr/>
        </p:nvSpPr>
        <p:spPr>
          <a:xfrm>
            <a:off x="5833872" y="1892808"/>
            <a:ext cx="41148" cy="749808"/>
          </a:xfrm>
          <a:prstGeom prst="rect">
            <a:avLst/>
          </a:prstGeom>
          <a:solidFill>
            <a:srgbClr val="F5A524"/>
          </a:solidFill>
          <a:ln/>
        </p:spPr>
      </p:sp>
      <p:sp>
        <p:nvSpPr>
          <p:cNvPr id="30" name="Text 28"/>
          <p:cNvSpPr/>
          <p:nvPr/>
        </p:nvSpPr>
        <p:spPr>
          <a:xfrm>
            <a:off x="6035040" y="1965960"/>
            <a:ext cx="2011680" cy="29260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IoT Core</a:t>
            </a:r>
            <a:endParaRPr lang="en-US" sz="1300" dirty="0"/>
          </a:p>
        </p:txBody>
      </p:sp>
      <p:sp>
        <p:nvSpPr>
          <p:cNvPr id="31" name="Text 29"/>
          <p:cNvSpPr/>
          <p:nvPr/>
        </p:nvSpPr>
        <p:spPr>
          <a:xfrm>
            <a:off x="6035040" y="2258568"/>
            <a:ext cx="3657600" cy="274320"/>
          </a:xfrm>
          <a:prstGeom prst="rect">
            <a:avLst/>
          </a:prstGeom>
          <a:noFill/>
          <a:ln/>
        </p:spPr>
        <p:txBody>
          <a:bodyPr wrap="square" lIns="0" tIns="0" rIns="0" bIns="0" rtlCol="0" anchor="ctr"/>
          <a:lstStyle/>
          <a:p>
            <a:pPr indent="0" marL="0">
              <a:buNone/>
            </a:pPr>
            <a:r>
              <a:rPr lang="en-US" sz="900" dirty="0">
                <a:solidFill>
                  <a:srgbClr val="8A97A8"/>
                </a:solidFill>
                <a:latin typeface="Arial" pitchFamily="34" charset="0"/>
                <a:ea typeface="Arial" pitchFamily="34" charset="-122"/>
                <a:cs typeface="Arial" pitchFamily="34" charset="-120"/>
              </a:rPr>
              <a:t>Device Shadow  ·  Rules Engine</a:t>
            </a:r>
            <a:endParaRPr lang="en-US" sz="900" dirty="0"/>
          </a:p>
        </p:txBody>
      </p:sp>
      <p:sp>
        <p:nvSpPr>
          <p:cNvPr id="32" name="Text 30"/>
          <p:cNvSpPr/>
          <p:nvPr/>
        </p:nvSpPr>
        <p:spPr>
          <a:xfrm>
            <a:off x="8869680" y="1965960"/>
            <a:ext cx="2194560" cy="292608"/>
          </a:xfrm>
          <a:prstGeom prst="rect">
            <a:avLst/>
          </a:prstGeom>
          <a:noFill/>
          <a:ln/>
        </p:spPr>
        <p:txBody>
          <a:bodyPr wrap="square" lIns="0" tIns="0" rIns="0" bIns="0" rtlCol="0" anchor="ctr"/>
          <a:lstStyle/>
          <a:p>
            <a:pPr algn="r" indent="0" marL="0">
              <a:buNone/>
            </a:pPr>
            <a:r>
              <a:rPr lang="en-US" sz="900" i="1" dirty="0">
                <a:solidFill>
                  <a:srgbClr val="F5A524"/>
                </a:solidFill>
                <a:latin typeface="Arial" pitchFamily="34" charset="0"/>
                <a:ea typeface="Arial" pitchFamily="34" charset="-122"/>
                <a:cs typeface="Arial" pitchFamily="34" charset="-120"/>
              </a:rPr>
              <a:t>la primitiva de reversa</a:t>
            </a:r>
            <a:endParaRPr lang="en-US" sz="900" dirty="0"/>
          </a:p>
        </p:txBody>
      </p:sp>
      <p:sp>
        <p:nvSpPr>
          <p:cNvPr id="33" name="Shape 31"/>
          <p:cNvSpPr/>
          <p:nvPr/>
        </p:nvSpPr>
        <p:spPr>
          <a:xfrm>
            <a:off x="5833872" y="2807208"/>
            <a:ext cx="2651760" cy="713232"/>
          </a:xfrm>
          <a:prstGeom prst="rect">
            <a:avLst/>
          </a:prstGeom>
          <a:solidFill>
            <a:srgbClr val="151B24"/>
          </a:solidFill>
          <a:ln/>
        </p:spPr>
      </p:sp>
      <p:sp>
        <p:nvSpPr>
          <p:cNvPr id="34" name="Shape 32"/>
          <p:cNvSpPr/>
          <p:nvPr/>
        </p:nvSpPr>
        <p:spPr>
          <a:xfrm>
            <a:off x="5833872" y="2807208"/>
            <a:ext cx="41148" cy="713232"/>
          </a:xfrm>
          <a:prstGeom prst="rect">
            <a:avLst/>
          </a:prstGeom>
          <a:solidFill>
            <a:srgbClr val="2DD4BF"/>
          </a:solidFill>
          <a:ln/>
        </p:spPr>
      </p:sp>
      <p:sp>
        <p:nvSpPr>
          <p:cNvPr id="35" name="Text 33"/>
          <p:cNvSpPr/>
          <p:nvPr/>
        </p:nvSpPr>
        <p:spPr>
          <a:xfrm>
            <a:off x="6035040" y="2880360"/>
            <a:ext cx="237744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Timestream</a:t>
            </a:r>
            <a:endParaRPr lang="en-US" sz="1200" dirty="0"/>
          </a:p>
        </p:txBody>
      </p:sp>
      <p:sp>
        <p:nvSpPr>
          <p:cNvPr id="36" name="Text 34"/>
          <p:cNvSpPr/>
          <p:nvPr/>
        </p:nvSpPr>
        <p:spPr>
          <a:xfrm>
            <a:off x="6035040" y="3154680"/>
            <a:ext cx="2377440" cy="274320"/>
          </a:xfrm>
          <a:prstGeom prst="rect">
            <a:avLst/>
          </a:prstGeom>
          <a:noFill/>
          <a:ln/>
        </p:spPr>
        <p:txBody>
          <a:bodyPr wrap="square" lIns="0" tIns="0" rIns="0" bIns="0" rtlCol="0" anchor="ctr"/>
          <a:lstStyle/>
          <a:p>
            <a:pPr indent="0" marL="0">
              <a:buNone/>
            </a:pPr>
            <a:r>
              <a:rPr lang="en-US" sz="850" dirty="0">
                <a:solidFill>
                  <a:srgbClr val="8A97A8"/>
                </a:solidFill>
                <a:latin typeface="Arial" pitchFamily="34" charset="0"/>
                <a:ea typeface="Arial" pitchFamily="34" charset="-122"/>
                <a:cs typeface="Arial" pitchFamily="34" charset="-120"/>
              </a:rPr>
              <a:t>consulta de desacuerdo</a:t>
            </a:r>
            <a:endParaRPr lang="en-US" sz="850" dirty="0"/>
          </a:p>
        </p:txBody>
      </p:sp>
      <p:sp>
        <p:nvSpPr>
          <p:cNvPr id="37" name="Shape 35"/>
          <p:cNvSpPr/>
          <p:nvPr/>
        </p:nvSpPr>
        <p:spPr>
          <a:xfrm>
            <a:off x="8631936" y="2807208"/>
            <a:ext cx="2651760" cy="713232"/>
          </a:xfrm>
          <a:prstGeom prst="rect">
            <a:avLst/>
          </a:prstGeom>
          <a:solidFill>
            <a:srgbClr val="151B24"/>
          </a:solidFill>
          <a:ln/>
        </p:spPr>
      </p:sp>
      <p:sp>
        <p:nvSpPr>
          <p:cNvPr id="38" name="Shape 36"/>
          <p:cNvSpPr/>
          <p:nvPr/>
        </p:nvSpPr>
        <p:spPr>
          <a:xfrm>
            <a:off x="8631936" y="2807208"/>
            <a:ext cx="41148" cy="713232"/>
          </a:xfrm>
          <a:prstGeom prst="rect">
            <a:avLst/>
          </a:prstGeom>
          <a:solidFill>
            <a:srgbClr val="465162"/>
          </a:solidFill>
          <a:ln/>
        </p:spPr>
      </p:sp>
      <p:sp>
        <p:nvSpPr>
          <p:cNvPr id="39" name="Text 37"/>
          <p:cNvSpPr/>
          <p:nvPr/>
        </p:nvSpPr>
        <p:spPr>
          <a:xfrm>
            <a:off x="8833104" y="2880360"/>
            <a:ext cx="237744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Firehose → S3</a:t>
            </a:r>
            <a:endParaRPr lang="en-US" sz="1200" dirty="0"/>
          </a:p>
        </p:txBody>
      </p:sp>
      <p:sp>
        <p:nvSpPr>
          <p:cNvPr id="40" name="Text 38"/>
          <p:cNvSpPr/>
          <p:nvPr/>
        </p:nvSpPr>
        <p:spPr>
          <a:xfrm>
            <a:off x="8833104" y="3154680"/>
            <a:ext cx="2377440" cy="274320"/>
          </a:xfrm>
          <a:prstGeom prst="rect">
            <a:avLst/>
          </a:prstGeom>
          <a:noFill/>
          <a:ln/>
        </p:spPr>
        <p:txBody>
          <a:bodyPr wrap="square" lIns="0" tIns="0" rIns="0" bIns="0" rtlCol="0" anchor="ctr"/>
          <a:lstStyle/>
          <a:p>
            <a:pPr indent="0" marL="0">
              <a:buNone/>
            </a:pPr>
            <a:r>
              <a:rPr lang="en-US" sz="850" dirty="0">
                <a:solidFill>
                  <a:srgbClr val="8A97A8"/>
                </a:solidFill>
                <a:latin typeface="Arial" pitchFamily="34" charset="0"/>
                <a:ea typeface="Arial" pitchFamily="34" charset="-122"/>
                <a:cs typeface="Arial" pitchFamily="34" charset="-120"/>
              </a:rPr>
              <a:t>histórico particionado</a:t>
            </a:r>
            <a:endParaRPr lang="en-US" sz="850" dirty="0"/>
          </a:p>
        </p:txBody>
      </p:sp>
      <p:sp>
        <p:nvSpPr>
          <p:cNvPr id="41" name="Shape 39"/>
          <p:cNvSpPr/>
          <p:nvPr/>
        </p:nvSpPr>
        <p:spPr>
          <a:xfrm>
            <a:off x="5833872" y="3703320"/>
            <a:ext cx="5458968" cy="914400"/>
          </a:xfrm>
          <a:prstGeom prst="rect">
            <a:avLst/>
          </a:prstGeom>
          <a:solidFill>
            <a:srgbClr val="2A1F08"/>
          </a:solidFill>
          <a:ln w="19050">
            <a:solidFill>
              <a:srgbClr val="F5A524"/>
            </a:solidFill>
            <a:prstDash val="solid"/>
          </a:ln>
        </p:spPr>
      </p:sp>
      <p:sp>
        <p:nvSpPr>
          <p:cNvPr id="42" name="Text 40"/>
          <p:cNvSpPr/>
          <p:nvPr/>
        </p:nvSpPr>
        <p:spPr>
          <a:xfrm>
            <a:off x="6035040" y="3813048"/>
            <a:ext cx="5056632" cy="310896"/>
          </a:xfrm>
          <a:prstGeom prst="rect">
            <a:avLst/>
          </a:prstGeom>
          <a:noFill/>
          <a:ln/>
        </p:spPr>
        <p:txBody>
          <a:bodyPr wrap="square" lIns="0" tIns="0" rIns="0" bIns="0" rtlCol="0" anchor="ctr"/>
          <a:lstStyle/>
          <a:p>
            <a:pPr indent="0" marL="0">
              <a:buNone/>
            </a:pPr>
            <a:r>
              <a:rPr lang="en-US" sz="1300" b="1" dirty="0">
                <a:solidFill>
                  <a:srgbClr val="F5A524"/>
                </a:solidFill>
                <a:latin typeface="Arial" pitchFamily="34" charset="0"/>
                <a:ea typeface="Arial" pitchFamily="34" charset="-122"/>
                <a:cs typeface="Arial" pitchFamily="34" charset="-120"/>
              </a:rPr>
              <a:t>EventBridge (30 s)  →  Lambda · CONTROLADOR</a:t>
            </a:r>
            <a:endParaRPr lang="en-US" sz="1300" dirty="0"/>
          </a:p>
        </p:txBody>
      </p:sp>
      <p:sp>
        <p:nvSpPr>
          <p:cNvPr id="43" name="Text 41"/>
          <p:cNvSpPr/>
          <p:nvPr/>
        </p:nvSpPr>
        <p:spPr>
          <a:xfrm>
            <a:off x="6035040" y="4142232"/>
            <a:ext cx="5056632" cy="274320"/>
          </a:xfrm>
          <a:prstGeom prst="rect">
            <a:avLst/>
          </a:prstGeom>
          <a:noFill/>
          <a:ln/>
        </p:spPr>
        <p:txBody>
          <a:bodyPr wrap="square" lIns="0" tIns="0" rIns="0" bIns="0" rtlCol="0" anchor="ctr"/>
          <a:lstStyle/>
          <a:p>
            <a:pPr indent="0" marL="0">
              <a:buNone/>
            </a:pPr>
            <a:r>
              <a:rPr lang="en-US" sz="900" dirty="0">
                <a:solidFill>
                  <a:srgbClr val="FFFFFF"/>
                </a:solidFill>
                <a:latin typeface="Courier New" pitchFamily="34" charset="0"/>
                <a:ea typeface="Courier New" pitchFamily="34" charset="-122"/>
                <a:cs typeface="Courier New" pitchFamily="34" charset="-120"/>
              </a:rPr>
              <a:t>consulta desacuerdo campeón/retador  →  decide  →  UpdateThingShadow</a:t>
            </a:r>
            <a:endParaRPr lang="en-US" sz="900" dirty="0"/>
          </a:p>
        </p:txBody>
      </p:sp>
      <p:sp>
        <p:nvSpPr>
          <p:cNvPr id="44" name="Text 42"/>
          <p:cNvSpPr/>
          <p:nvPr/>
        </p:nvSpPr>
        <p:spPr>
          <a:xfrm>
            <a:off x="6035040" y="4379976"/>
            <a:ext cx="5056632" cy="219456"/>
          </a:xfrm>
          <a:prstGeom prst="rect">
            <a:avLst/>
          </a:prstGeom>
          <a:noFill/>
          <a:ln/>
        </p:spPr>
        <p:txBody>
          <a:bodyPr wrap="square" lIns="0" tIns="0" rIns="0" bIns="0" rtlCol="0" anchor="ctr"/>
          <a:lstStyle/>
          <a:p>
            <a:pPr indent="0" marL="0">
              <a:buNone/>
            </a:pPr>
            <a:r>
              <a:rPr lang="en-US" sz="850" i="1" dirty="0">
                <a:solidFill>
                  <a:srgbClr val="8A97A8"/>
                </a:solidFill>
                <a:latin typeface="Arial" pitchFamily="34" charset="0"/>
                <a:ea typeface="Arial" pitchFamily="34" charset="-122"/>
                <a:cs typeface="Arial" pitchFamily="34" charset="-120"/>
              </a:rPr>
              <a:t>~60 líneas</a:t>
            </a:r>
            <a:endParaRPr lang="en-US" sz="850" dirty="0"/>
          </a:p>
        </p:txBody>
      </p:sp>
      <p:sp>
        <p:nvSpPr>
          <p:cNvPr id="45" name="Shape 43"/>
          <p:cNvSpPr/>
          <p:nvPr/>
        </p:nvSpPr>
        <p:spPr>
          <a:xfrm>
            <a:off x="5833872" y="4782312"/>
            <a:ext cx="1737360" cy="548640"/>
          </a:xfrm>
          <a:prstGeom prst="rect">
            <a:avLst/>
          </a:prstGeom>
          <a:solidFill>
            <a:srgbClr val="151B24"/>
          </a:solidFill>
          <a:ln/>
        </p:spPr>
      </p:sp>
      <p:sp>
        <p:nvSpPr>
          <p:cNvPr id="46" name="Text 44"/>
          <p:cNvSpPr/>
          <p:nvPr/>
        </p:nvSpPr>
        <p:spPr>
          <a:xfrm>
            <a:off x="5971032" y="4828032"/>
            <a:ext cx="1463040" cy="256032"/>
          </a:xfrm>
          <a:prstGeom prst="rect">
            <a:avLst/>
          </a:prstGeom>
          <a:noFill/>
          <a:ln/>
        </p:spPr>
        <p:txBody>
          <a:bodyPr wrap="square" lIns="0" tIns="0" rIns="0" bIns="0" rtlCol="0" anchor="ctr"/>
          <a:lstStyle/>
          <a:p>
            <a:pPr indent="0" marL="0">
              <a:buNone/>
            </a:pPr>
            <a:r>
              <a:rPr lang="en-US" sz="1100" b="1" dirty="0">
                <a:solidFill>
                  <a:srgbClr val="8A97A8"/>
                </a:solidFill>
                <a:latin typeface="Arial" pitchFamily="34" charset="0"/>
                <a:ea typeface="Arial" pitchFamily="34" charset="-122"/>
                <a:cs typeface="Arial" pitchFamily="34" charset="-120"/>
              </a:rPr>
              <a:t>S3</a:t>
            </a:r>
            <a:endParaRPr lang="en-US" sz="1100" dirty="0"/>
          </a:p>
        </p:txBody>
      </p:sp>
      <p:sp>
        <p:nvSpPr>
          <p:cNvPr id="47" name="Text 45"/>
          <p:cNvSpPr/>
          <p:nvPr/>
        </p:nvSpPr>
        <p:spPr>
          <a:xfrm>
            <a:off x="5971032" y="5065776"/>
            <a:ext cx="1463040" cy="219456"/>
          </a:xfrm>
          <a:prstGeom prst="rect">
            <a:avLst/>
          </a:prstGeom>
          <a:noFill/>
          <a:ln/>
        </p:spPr>
        <p:txBody>
          <a:bodyPr wrap="square" lIns="0" tIns="0" rIns="0" bIns="0" rtlCol="0" anchor="ctr"/>
          <a:lstStyle/>
          <a:p>
            <a:pPr indent="0" marL="0">
              <a:buNone/>
            </a:pPr>
            <a:r>
              <a:rPr lang="en-US" sz="800" dirty="0">
                <a:solidFill>
                  <a:srgbClr val="465162"/>
                </a:solidFill>
                <a:latin typeface="Arial" pitchFamily="34" charset="0"/>
                <a:ea typeface="Arial" pitchFamily="34" charset="-122"/>
                <a:cs typeface="Arial" pitchFamily="34" charset="-120"/>
              </a:rPr>
              <a:t>artefactos firmados</a:t>
            </a:r>
            <a:endParaRPr lang="en-US" sz="800" dirty="0"/>
          </a:p>
        </p:txBody>
      </p:sp>
      <p:sp>
        <p:nvSpPr>
          <p:cNvPr id="48" name="Shape 46"/>
          <p:cNvSpPr/>
          <p:nvPr/>
        </p:nvSpPr>
        <p:spPr>
          <a:xfrm>
            <a:off x="7680960" y="4782312"/>
            <a:ext cx="1737360" cy="548640"/>
          </a:xfrm>
          <a:prstGeom prst="rect">
            <a:avLst/>
          </a:prstGeom>
          <a:solidFill>
            <a:srgbClr val="151B24"/>
          </a:solidFill>
          <a:ln/>
        </p:spPr>
      </p:sp>
      <p:sp>
        <p:nvSpPr>
          <p:cNvPr id="49" name="Text 47"/>
          <p:cNvSpPr/>
          <p:nvPr/>
        </p:nvSpPr>
        <p:spPr>
          <a:xfrm>
            <a:off x="7818120" y="4828032"/>
            <a:ext cx="1463040" cy="256032"/>
          </a:xfrm>
          <a:prstGeom prst="rect">
            <a:avLst/>
          </a:prstGeom>
          <a:noFill/>
          <a:ln/>
        </p:spPr>
        <p:txBody>
          <a:bodyPr wrap="square" lIns="0" tIns="0" rIns="0" bIns="0" rtlCol="0" anchor="ctr"/>
          <a:lstStyle/>
          <a:p>
            <a:pPr indent="0" marL="0">
              <a:buNone/>
            </a:pPr>
            <a:r>
              <a:rPr lang="en-US" sz="1100" b="1" dirty="0">
                <a:solidFill>
                  <a:srgbClr val="8A97A8"/>
                </a:solidFill>
                <a:latin typeface="Arial" pitchFamily="34" charset="0"/>
                <a:ea typeface="Arial" pitchFamily="34" charset="-122"/>
                <a:cs typeface="Arial" pitchFamily="34" charset="-120"/>
              </a:rPr>
              <a:t>ECR</a:t>
            </a:r>
            <a:endParaRPr lang="en-US" sz="1100" dirty="0"/>
          </a:p>
        </p:txBody>
      </p:sp>
      <p:sp>
        <p:nvSpPr>
          <p:cNvPr id="50" name="Text 48"/>
          <p:cNvSpPr/>
          <p:nvPr/>
        </p:nvSpPr>
        <p:spPr>
          <a:xfrm>
            <a:off x="7818120" y="5065776"/>
            <a:ext cx="1463040" cy="219456"/>
          </a:xfrm>
          <a:prstGeom prst="rect">
            <a:avLst/>
          </a:prstGeom>
          <a:noFill/>
          <a:ln/>
        </p:spPr>
        <p:txBody>
          <a:bodyPr wrap="square" lIns="0" tIns="0" rIns="0" bIns="0" rtlCol="0" anchor="ctr"/>
          <a:lstStyle/>
          <a:p>
            <a:pPr indent="0" marL="0">
              <a:buNone/>
            </a:pPr>
            <a:r>
              <a:rPr lang="en-US" sz="800" dirty="0">
                <a:solidFill>
                  <a:srgbClr val="465162"/>
                </a:solidFill>
                <a:latin typeface="Arial" pitchFamily="34" charset="0"/>
                <a:ea typeface="Arial" pitchFamily="34" charset="-122"/>
                <a:cs typeface="Arial" pitchFamily="34" charset="-120"/>
              </a:rPr>
              <a:t>imágenes</a:t>
            </a:r>
            <a:endParaRPr lang="en-US" sz="800" dirty="0"/>
          </a:p>
        </p:txBody>
      </p:sp>
      <p:sp>
        <p:nvSpPr>
          <p:cNvPr id="51" name="Shape 49"/>
          <p:cNvSpPr/>
          <p:nvPr/>
        </p:nvSpPr>
        <p:spPr>
          <a:xfrm>
            <a:off x="9528048" y="4782312"/>
            <a:ext cx="1737360" cy="548640"/>
          </a:xfrm>
          <a:prstGeom prst="rect">
            <a:avLst/>
          </a:prstGeom>
          <a:solidFill>
            <a:srgbClr val="151B24"/>
          </a:solidFill>
          <a:ln/>
        </p:spPr>
      </p:sp>
      <p:sp>
        <p:nvSpPr>
          <p:cNvPr id="52" name="Text 50"/>
          <p:cNvSpPr/>
          <p:nvPr/>
        </p:nvSpPr>
        <p:spPr>
          <a:xfrm>
            <a:off x="9665208" y="4828032"/>
            <a:ext cx="1463040" cy="256032"/>
          </a:xfrm>
          <a:prstGeom prst="rect">
            <a:avLst/>
          </a:prstGeom>
          <a:noFill/>
          <a:ln/>
        </p:spPr>
        <p:txBody>
          <a:bodyPr wrap="square" lIns="0" tIns="0" rIns="0" bIns="0" rtlCol="0" anchor="ctr"/>
          <a:lstStyle/>
          <a:p>
            <a:pPr indent="0" marL="0">
              <a:buNone/>
            </a:pPr>
            <a:r>
              <a:rPr lang="en-US" sz="1100" b="1" dirty="0">
                <a:solidFill>
                  <a:srgbClr val="8A97A8"/>
                </a:solidFill>
                <a:latin typeface="Arial" pitchFamily="34" charset="0"/>
                <a:ea typeface="Arial" pitchFamily="34" charset="-122"/>
                <a:cs typeface="Arial" pitchFamily="34" charset="-120"/>
              </a:rPr>
              <a:t>Model Registry</a:t>
            </a:r>
            <a:endParaRPr lang="en-US" sz="1100" dirty="0"/>
          </a:p>
        </p:txBody>
      </p:sp>
      <p:sp>
        <p:nvSpPr>
          <p:cNvPr id="53" name="Text 51"/>
          <p:cNvSpPr/>
          <p:nvPr/>
        </p:nvSpPr>
        <p:spPr>
          <a:xfrm>
            <a:off x="9665208" y="5065776"/>
            <a:ext cx="1463040" cy="219456"/>
          </a:xfrm>
          <a:prstGeom prst="rect">
            <a:avLst/>
          </a:prstGeom>
          <a:noFill/>
          <a:ln/>
        </p:spPr>
        <p:txBody>
          <a:bodyPr wrap="square" lIns="0" tIns="0" rIns="0" bIns="0" rtlCol="0" anchor="ctr"/>
          <a:lstStyle/>
          <a:p>
            <a:pPr indent="0" marL="0">
              <a:buNone/>
            </a:pPr>
            <a:r>
              <a:rPr lang="en-US" sz="800" dirty="0">
                <a:solidFill>
                  <a:srgbClr val="465162"/>
                </a:solidFill>
                <a:latin typeface="Arial" pitchFamily="34" charset="0"/>
                <a:ea typeface="Arial" pitchFamily="34" charset="-122"/>
                <a:cs typeface="Arial" pitchFamily="34" charset="-120"/>
              </a:rPr>
              <a:t>linaje</a:t>
            </a:r>
            <a:endParaRPr lang="en-US" sz="800" dirty="0"/>
          </a:p>
        </p:txBody>
      </p:sp>
      <p:sp>
        <p:nvSpPr>
          <p:cNvPr id="54" name="Shape 52"/>
          <p:cNvSpPr/>
          <p:nvPr/>
        </p:nvSpPr>
        <p:spPr>
          <a:xfrm>
            <a:off x="640080" y="5715000"/>
            <a:ext cx="5422392" cy="658368"/>
          </a:xfrm>
          <a:prstGeom prst="rect">
            <a:avLst/>
          </a:prstGeom>
          <a:solidFill>
            <a:srgbClr val="151B24"/>
          </a:solidFill>
          <a:ln/>
        </p:spPr>
      </p:sp>
      <p:sp>
        <p:nvSpPr>
          <p:cNvPr id="55" name="Shape 53"/>
          <p:cNvSpPr/>
          <p:nvPr/>
        </p:nvSpPr>
        <p:spPr>
          <a:xfrm>
            <a:off x="640080" y="5715000"/>
            <a:ext cx="41148" cy="658368"/>
          </a:xfrm>
          <a:prstGeom prst="rect">
            <a:avLst/>
          </a:prstGeom>
          <a:solidFill>
            <a:srgbClr val="2DD4BF"/>
          </a:solidFill>
          <a:ln/>
        </p:spPr>
      </p:sp>
      <p:sp>
        <p:nvSpPr>
          <p:cNvPr id="56" name="Text 54"/>
          <p:cNvSpPr/>
          <p:nvPr/>
        </p:nvSpPr>
        <p:spPr>
          <a:xfrm>
            <a:off x="868680" y="5788152"/>
            <a:ext cx="4937760" cy="256032"/>
          </a:xfrm>
          <a:prstGeom prst="rect">
            <a:avLst/>
          </a:prstGeom>
          <a:noFill/>
          <a:ln/>
        </p:spPr>
        <p:txBody>
          <a:bodyPr wrap="square" lIns="0" tIns="0" rIns="0" bIns="0" rtlCol="0" anchor="ctr"/>
          <a:lstStyle/>
          <a:p>
            <a:pPr indent="0" marL="0">
              <a:buNone/>
            </a:pPr>
            <a:r>
              <a:rPr lang="en-US" sz="1150" b="1" dirty="0">
                <a:solidFill>
                  <a:srgbClr val="2DD4BF"/>
                </a:solidFill>
                <a:latin typeface="Arial" pitchFamily="34" charset="0"/>
                <a:ea typeface="Arial" pitchFamily="34" charset="-122"/>
                <a:cs typeface="Arial" pitchFamily="34" charset="-120"/>
              </a:rPr>
              <a:t>Device Shadow</a:t>
            </a:r>
            <a:endParaRPr lang="en-US" sz="1150" dirty="0"/>
          </a:p>
        </p:txBody>
      </p:sp>
      <p:sp>
        <p:nvSpPr>
          <p:cNvPr id="57" name="Text 55"/>
          <p:cNvSpPr/>
          <p:nvPr/>
        </p:nvSpPr>
        <p:spPr>
          <a:xfrm>
            <a:off x="868680" y="6035040"/>
            <a:ext cx="5029200" cy="256032"/>
          </a:xfrm>
          <a:prstGeom prst="rect">
            <a:avLst/>
          </a:prstGeom>
          <a:noFill/>
          <a:ln/>
        </p:spPr>
        <p:txBody>
          <a:bodyPr wrap="square" lIns="0" tIns="0" rIns="0" bIns="0" rtlCol="0" anchor="ctr"/>
          <a:lstStyle/>
          <a:p>
            <a:pPr indent="0" marL="0">
              <a:buNone/>
            </a:pPr>
            <a:r>
              <a:rPr lang="en-US" sz="900" dirty="0">
                <a:solidFill>
                  <a:srgbClr val="8A97A8"/>
                </a:solidFill>
                <a:latin typeface="Arial" pitchFamily="34" charset="0"/>
                <a:ea typeface="Arial" pitchFamily="34" charset="-122"/>
                <a:cs typeface="Arial" pitchFamily="34" charset="-120"/>
              </a:rPr>
              <a:t>desired vs reported = rollback nativo, sin agente de despliegue</a:t>
            </a:r>
            <a:endParaRPr lang="en-US" sz="900" dirty="0"/>
          </a:p>
        </p:txBody>
      </p:sp>
      <p:sp>
        <p:nvSpPr>
          <p:cNvPr id="58" name="Shape 56"/>
          <p:cNvSpPr/>
          <p:nvPr/>
        </p:nvSpPr>
        <p:spPr>
          <a:xfrm>
            <a:off x="6309360" y="5715000"/>
            <a:ext cx="5422392" cy="658368"/>
          </a:xfrm>
          <a:prstGeom prst="rect">
            <a:avLst/>
          </a:prstGeom>
          <a:solidFill>
            <a:srgbClr val="151B24"/>
          </a:solidFill>
          <a:ln/>
        </p:spPr>
      </p:sp>
      <p:sp>
        <p:nvSpPr>
          <p:cNvPr id="59" name="Shape 57"/>
          <p:cNvSpPr/>
          <p:nvPr/>
        </p:nvSpPr>
        <p:spPr>
          <a:xfrm>
            <a:off x="6309360" y="5715000"/>
            <a:ext cx="41148" cy="658368"/>
          </a:xfrm>
          <a:prstGeom prst="rect">
            <a:avLst/>
          </a:prstGeom>
          <a:solidFill>
            <a:srgbClr val="2DD4BF"/>
          </a:solidFill>
          <a:ln/>
        </p:spPr>
      </p:sp>
      <p:sp>
        <p:nvSpPr>
          <p:cNvPr id="60" name="Text 58"/>
          <p:cNvSpPr/>
          <p:nvPr/>
        </p:nvSpPr>
        <p:spPr>
          <a:xfrm>
            <a:off x="6537960" y="5788152"/>
            <a:ext cx="4937760" cy="256032"/>
          </a:xfrm>
          <a:prstGeom prst="rect">
            <a:avLst/>
          </a:prstGeom>
          <a:noFill/>
          <a:ln/>
        </p:spPr>
        <p:txBody>
          <a:bodyPr wrap="square" lIns="0" tIns="0" rIns="0" bIns="0" rtlCol="0" anchor="ctr"/>
          <a:lstStyle/>
          <a:p>
            <a:pPr indent="0" marL="0">
              <a:buNone/>
            </a:pPr>
            <a:r>
              <a:rPr lang="en-US" sz="1150" b="1" dirty="0">
                <a:solidFill>
                  <a:srgbClr val="2DD4BF"/>
                </a:solidFill>
                <a:latin typeface="Arial" pitchFamily="34" charset="0"/>
                <a:ea typeface="Arial" pitchFamily="34" charset="-122"/>
                <a:cs typeface="Arial" pitchFamily="34" charset="-120"/>
              </a:rPr>
              <a:t>Stream Manager</a:t>
            </a:r>
            <a:endParaRPr lang="en-US" sz="1150" dirty="0"/>
          </a:p>
        </p:txBody>
      </p:sp>
      <p:sp>
        <p:nvSpPr>
          <p:cNvPr id="61" name="Text 59"/>
          <p:cNvSpPr/>
          <p:nvPr/>
        </p:nvSpPr>
        <p:spPr>
          <a:xfrm>
            <a:off x="6537960" y="6035040"/>
            <a:ext cx="5029200" cy="256032"/>
          </a:xfrm>
          <a:prstGeom prst="rect">
            <a:avLst/>
          </a:prstGeom>
          <a:noFill/>
          <a:ln/>
        </p:spPr>
        <p:txBody>
          <a:bodyPr wrap="square" lIns="0" tIns="0" rIns="0" bIns="0" rtlCol="0" anchor="ctr"/>
          <a:lstStyle/>
          <a:p>
            <a:pPr indent="0" marL="0">
              <a:buNone/>
            </a:pPr>
            <a:r>
              <a:rPr lang="en-US" sz="900" dirty="0">
                <a:solidFill>
                  <a:srgbClr val="8A97A8"/>
                </a:solidFill>
                <a:latin typeface="Arial" pitchFamily="34" charset="0"/>
                <a:ea typeface="Arial" pitchFamily="34" charset="-122"/>
                <a:cs typeface="Arial" pitchFamily="34" charset="-120"/>
              </a:rPr>
              <a:t>buffer offline y drenado, sin escribir cola persistente</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Arquitectura AWS — MLOps a ciegas</dc:title>
  <dc:subject>PptxGenJS Presentation</dc:subject>
  <dc:creator>PptxGenJS</dc:creator>
  <cp:lastModifiedBy>PptxGenJS</cp:lastModifiedBy>
  <cp:revision>1</cp:revision>
  <dcterms:created xsi:type="dcterms:W3CDTF">2026-08-19T15:46:19Z</dcterms:created>
  <dcterms:modified xsi:type="dcterms:W3CDTF">2026-08-19T15:46:19Z</dcterms:modified>
</cp:coreProperties>
</file>