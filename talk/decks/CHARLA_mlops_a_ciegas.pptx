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hables. Dejá la portada 5 segundos mientras se acomodan.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MECÁNICA — esta es la apertura, no la saltees:
1. '¿Quién desbloqueó su teléfono con la cara hoy?' — sube casi toda la sala.
2. 'Déjenla arriba si además usaron un asistente de voz, o pasaron por un peaje con lectura de placa, o su reloj les contó los pasos.'
3. 'Todos ustedes usaron un modelo de IA hoy. Y ninguno de esos modelos corrió en la nube.'
PAUSA. Pasás al slide 3.
Esta apertura NO asume que sepan de edge AI. Los lleva ahí desde algo que hicieron esta mañana.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modelo no corrió en la nube. Corrió en el teléfono, en menos de 20 milisegundos, sin conexión, y tu cara nunca salió del dispositivo.'
'Lo mismo con el asistente de voz, la placa del peaje, y el conteo de pasos del reloj.'
'Eso es edge AI. No es futuro ni nicho: es lo que ya usan todos los días.'
Este slide es el que construye el contexto. Sin él, el resto de la charla flota.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no es un nicho.'
'1.600 millones de chips de IA en el borde se despachan este año. El mercado de inferencia en dispositivo son decenas de miles de millones de dólares. Y el 97% de los CIOs en EE.UU. lo tienen en su hoja de ruta.'
'O sea: dentro de poco, a alguno de ustedes le va a tocar operar uno de estos.'
Slide CLARO — el cambio de fondo marca cambio de tema. Fuentes: ABI Research, Grand View, encuestas de CIO 2025-26.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la pregunta incómoda.'
'Ese modelo que te desbloquea el teléfono. ¿Cómo sabés que sigue funcionando bien?'
PAUSA.
'No hablo de si el teléfono prende. Hablo del modelo. ¿Cómo sabrías que hoy acierta menos que hace seis meses?'
Dejá que la incomodidad se instale. Nadie tiene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un servicio, esta pregunta está resuelta hace 40 años. Healthcheck, alerta, SLO, pager.'
'Para un modelo, no hay nada de eso. Un modelo que se equivoca devuelve 200 OK, con latencia normal, y el dashboard queda en verde.'
'Un servicio caído grita. Un modelo roto susurra.'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todo lo que llamamos MLOps asume tres cosas que en el borde no se cumplen.'
Una por una, con pausa entre cada una:
1. El dispositivo no es tuyo — es del cliente, del usuario, de la planta.
2. Los datos no salen del sitio — por costo, por ancho de banda, o por ley.
3. No hay cluster, ni SSH, ni ventana de mantenimiento.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 1 — desplegar.
'La flota es heterogénea: cada dispositivo tiene un acelerador distinto. La respuesta es ONNX como frontera: se exporta una vez, se compila por destino.'
'Y esto es deliberado: el hardware de IA se mueve demasiado rápido para amarrar una arquitectura a un proveedor. Esa decisión se paga en 18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Paréntesis de seguridad, una frase:
'El modelo es un artefacto ejecutable. Si el dispositivo carga pesos sin verificar firma, le diste a cualquiera un camino de ejecución en toda tu flota.'
'sha256 en un manifiesto firmado. Una tarde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 2 — observar. La idea central de la charla.
'No podés mirar las entradas. Entonces: que el modelo DECLARE lo que hizo.'
'Cada inferencia emite un evento: qué modelo, qué versión, hash de los pesos, qué predijo, con qué certeza, en cuánto tiempo.'
'En IIoT ya existe el estándar para telemetría de sensores: Sparkplug B, de la Eclipse Foundation. Pero un tag con un valor no modela esto. HiveMQ publicó ese diagnóstico.'
Si preguntan dónde encaja: hay una taxonomía de 5 capas para observabilidad de IA — esta es la del medio.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MEJOR SLIDE DE LA CHARLA. Contalo como una confesión:
'Mi primer diseño disparaba la reversa cuando bajaba la confianza. Parece obvio.'
'Y está mal.'
'La literatura de calibración dice que bajo drift los modelos se vuelven MÁS sobreconfiados, no menos. La exactitud cae y la confianza sube.'
'Mi trigger se apagaba justo cuando más lo necesitaba.'
Referencias: On Calibration of Modern Neural Networks (Guo et al. 2017) y trabajo reciente sobre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señal correcta no es cuán seguro está el modelo. Es cuánto DIFIERE de la versión anterior sobre el mismo input.'
'Y eso ya lo tengo: el despliegue en sombra hace correr las dos versiones en paralelo. El correlation_id las aparea.'
'No requiere etiquetas. No depende de calibración. Es una consulta agregada sobre el stream de eventos.'
Dejá el slide 10 segundos en silencio. Es el único código de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ACTO 3 — revertir. Con esa consulta como métrica, el ciclo completo:
Validación offline contra el campeón → sombra (ambos corren, solo el campeón actúa) → canario por segmento → y si el desacuerdo sube sostenido, reversa AUTOMÁTICA.
'El agente en el dispositivo hace pull, no push. Por eso funciona con conectividad intermitente. Nadie hace SSH a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historia de la PoC:
'Tomé el mismo modelo y le apliqué cuantización post-entrenamiento a 4 bits, para que entrara en la Raspberry. Es lo que cualquiera haría.'
'Pasó TODOS los tests offline.'
'Lo desplegué a tres dispositivos: una Pi, mi laptop y mi teléfono. Tres aceleradores, el mismo ONNX.'
'Y en producción hizo esto.' → mostrás la degradación.
REEMPLAZÁ el XX con tu número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'MLPerf tiene una suite para edge y está muy bien: mide throughput y latencia de inferencia.'
'Pero fijate lo que nadie mide: cuánto tarda una flota en converger. Cuánto tarda una reversa. Cuánto pesa un evento.'
'Son las métricas de OPERAR el modelo, no de correrlo. Por eso las medí yo.'
REEMPLAZÁ los XX.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de honestidad. En DevOpsDays esto vale oro.
'No inventé casi nada. La ingesta la resolvió Litmus con 250 drivers. La telemetría la estandarizó Sparkplug B, de la Eclipse Foundation. Red Hat trabaja en despliegue a edge con FlightCtl. Hay 136 estudios sobre monitoreo de ML.'
'Lo único que no existe es el formato común de lo que un modelo declara sobre sí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cierre. Despacio, con pausas de verdad.
'Los servicios caídos gritan.' PAUSA.
'Los modelos rotos susurran. Y en el borde, susurran en un dispositivo que no es tuyo, con datos que no podés ver.' PAUSA.
'Dales un idioma para declarar lo que hacen — y la reversa se vuelve una consulta.'
Punto. Pasás al slide del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Dejá este slide durante TODA la ronda de preguntas.
El QR va al repo: esquema de eventos, agente, controlador, y un docker compose que reproduce la demo sin hardware.
ANTES de publicar: confirmá con tu manager qué se puede abrir.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D"/>
        </a:solidFill>
      </p:bgPr>
    </p:bg>
    <p:spTree>
      <p:nvGrpSpPr>
        <p:cNvPr id="1" name=""/>
        <p:cNvGrpSpPr/>
        <p:nvPr/>
      </p:nvGrpSpPr>
      <p:grpSpPr>
        <a:xfrm>
          <a:off x="0" y="0"/>
          <a:ext cx="0" cy="0"/>
          <a:chOff x="0" y="0"/>
          <a:chExt cx="0" cy="0"/>
        </a:xfrm>
      </p:grpSpPr>
      <p:sp>
        <p:nvSpPr>
          <p:cNvPr id="3" name="Shape 0"/>
          <p:cNvSpPr/>
          <p:nvPr/>
        </p:nvSpPr>
        <p:spPr>
          <a:xfrm>
            <a:off x="0" y="1847088"/>
            <a:ext cx="12191695" cy="12802"/>
          </a:xfrm>
          <a:prstGeom prst="rect">
            <a:avLst/>
          </a:prstGeom>
          <a:solidFill>
            <a:srgbClr val="FF9F1C"/>
          </a:solidFill>
          <a:ln/>
        </p:spPr>
      </p:sp>
      <p:sp>
        <p:nvSpPr>
          <p:cNvPr id="4" name="Text 1"/>
          <p:cNvSpPr/>
          <p:nvPr/>
        </p:nvSpPr>
        <p:spPr>
          <a:xfrm>
            <a:off x="841248" y="2057400"/>
            <a:ext cx="8757666" cy="1170432"/>
          </a:xfrm>
          <a:prstGeom prst="rect">
            <a:avLst/>
          </a:prstGeom>
          <a:noFill/>
          <a:ln/>
        </p:spPr>
        <p:txBody>
          <a:bodyPr wrap="square" lIns="0" tIns="0" rIns="0" bIns="0" rtlCol="0" anchor="ctr"/>
          <a:lstStyle/>
          <a:p>
            <a:pPr indent="0" marL="0">
              <a:buNone/>
            </a:pPr>
            <a:r>
              <a:rPr lang="en-US" sz="9600" b="1" spc="-200" kern="0" dirty="0">
                <a:solidFill>
                  <a:srgbClr val="FFFFFF"/>
                </a:solidFill>
                <a:latin typeface="Arial" pitchFamily="34" charset="0"/>
                <a:ea typeface="Arial" pitchFamily="34" charset="-122"/>
                <a:cs typeface="Arial" pitchFamily="34" charset="-120"/>
              </a:rPr>
              <a:t>MLOPS</a:t>
            </a:r>
            <a:endParaRPr lang="en-US" sz="9600" dirty="0"/>
          </a:p>
        </p:txBody>
      </p:sp>
      <p:sp>
        <p:nvSpPr>
          <p:cNvPr id="5" name="Text 2"/>
          <p:cNvSpPr/>
          <p:nvPr/>
        </p:nvSpPr>
        <p:spPr>
          <a:xfrm>
            <a:off x="841248" y="3127248"/>
            <a:ext cx="8757666" cy="1170432"/>
          </a:xfrm>
          <a:prstGeom prst="rect">
            <a:avLst/>
          </a:prstGeom>
          <a:noFill/>
          <a:ln/>
        </p:spPr>
        <p:txBody>
          <a:bodyPr wrap="square" lIns="0" tIns="0" rIns="0" bIns="0" rtlCol="0" anchor="ctr"/>
          <a:lstStyle/>
          <a:p>
            <a:pPr indent="0" marL="0">
              <a:buNone/>
            </a:pPr>
            <a:r>
              <a:rPr lang="en-US" sz="9600" b="1" spc="-200" kern="0" dirty="0">
                <a:solidFill>
                  <a:srgbClr val="3A424E"/>
                </a:solidFill>
                <a:latin typeface="Arial" pitchFamily="34" charset="0"/>
                <a:ea typeface="Arial" pitchFamily="34" charset="-122"/>
                <a:cs typeface="Arial" pitchFamily="34" charset="-120"/>
              </a:rPr>
              <a:t>A CIEGAS</a:t>
            </a:r>
            <a:endParaRPr lang="en-US" sz="9600" dirty="0"/>
          </a:p>
        </p:txBody>
      </p:sp>
      <p:sp>
        <p:nvSpPr>
          <p:cNvPr id="6" name="Shape 3"/>
          <p:cNvSpPr/>
          <p:nvPr/>
        </p:nvSpPr>
        <p:spPr>
          <a:xfrm>
            <a:off x="0" y="4370832"/>
            <a:ext cx="12191695" cy="12802"/>
          </a:xfrm>
          <a:prstGeom prst="rect">
            <a:avLst/>
          </a:prstGeom>
          <a:solidFill>
            <a:srgbClr val="1C222C"/>
          </a:solidFill>
          <a:ln/>
        </p:spPr>
      </p:sp>
      <p:sp>
        <p:nvSpPr>
          <p:cNvPr id="7" name="Text 4"/>
          <p:cNvSpPr/>
          <p:nvPr/>
        </p:nvSpPr>
        <p:spPr>
          <a:xfrm>
            <a:off x="841248" y="4572000"/>
            <a:ext cx="7881899" cy="365760"/>
          </a:xfrm>
          <a:prstGeom prst="rect">
            <a:avLst/>
          </a:prstGeom>
          <a:noFill/>
          <a:ln/>
        </p:spPr>
        <p:txBody>
          <a:bodyPr wrap="square" lIns="0" tIns="0" rIns="0" bIns="0" rtlCol="0" anchor="ctr"/>
          <a:lstStyle/>
          <a:p>
            <a:pPr indent="0" marL="0">
              <a:buNone/>
            </a:pPr>
            <a:r>
              <a:rPr lang="en-US" sz="1600" dirty="0">
                <a:solidFill>
                  <a:srgbClr val="8A93A0"/>
                </a:solidFill>
                <a:latin typeface="Arial" pitchFamily="34" charset="0"/>
                <a:ea typeface="Arial" pitchFamily="34" charset="-122"/>
                <a:cs typeface="Arial" pitchFamily="34" charset="-120"/>
              </a:rPr>
              <a:t>Desplegar, observar y revertir modelos de IA que corren fuera de tu infraestructura</a:t>
            </a:r>
            <a:endParaRPr lang="en-US" sz="1600" dirty="0"/>
          </a:p>
        </p:txBody>
      </p:sp>
      <p:sp>
        <p:nvSpPr>
          <p:cNvPr id="8" name="Text 5"/>
          <p:cNvSpPr/>
          <p:nvPr/>
        </p:nvSpPr>
        <p:spPr>
          <a:xfrm>
            <a:off x="841248" y="5669280"/>
            <a:ext cx="5254600" cy="548640"/>
          </a:xfrm>
          <a:prstGeom prst="rect">
            <a:avLst/>
          </a:prstGeom>
          <a:noFill/>
          <a:ln/>
        </p:spPr>
        <p:txBody>
          <a:bodyPr wrap="square" lIns="0" tIns="0" rIns="0" bIns="0" rtlCol="0" anchor="t"/>
          <a:lstStyle/>
          <a:p>
            <a:pPr indent="0" marL="0">
              <a:lnSpc>
                <a:spcPct val="150000"/>
              </a:lnSpc>
              <a:buNone/>
            </a:pPr>
            <a:r>
              <a:rPr lang="en-US" sz="900" spc="140" kern="0" dirty="0">
                <a:solidFill>
                  <a:srgbClr val="3A424E"/>
                </a:solidFill>
                <a:latin typeface="Courier New" pitchFamily="34" charset="0"/>
                <a:ea typeface="Courier New" pitchFamily="34" charset="-122"/>
                <a:cs typeface="Courier New" pitchFamily="34" charset="-120"/>
              </a:rPr>
              <a:t>ALEJANDRO VARELA</a:t>
            </a:r>
            <a:endParaRPr lang="en-US" sz="900" dirty="0"/>
          </a:p>
          <a:p>
            <a:pPr indent="0" marL="0">
              <a:lnSpc>
                <a:spcPct val="150000"/>
              </a:lnSpc>
              <a:buNone/>
            </a:pPr>
            <a:r>
              <a:rPr lang="en-US" sz="900" spc="140" kern="0" dirty="0">
                <a:solidFill>
                  <a:srgbClr val="3A424E"/>
                </a:solidFill>
                <a:latin typeface="Courier New" pitchFamily="34" charset="0"/>
                <a:ea typeface="Courier New" pitchFamily="34" charset="-122"/>
                <a:cs typeface="Courier New" pitchFamily="34" charset="-120"/>
              </a:rPr>
              <a:t>LEAD PLATFORM ENGINEER · EPAM</a:t>
            </a:r>
            <a:endParaRPr lang="en-US" sz="900" dirty="0"/>
          </a:p>
        </p:txBody>
      </p:sp>
      <p:sp>
        <p:nvSpPr>
          <p:cNvPr id="9" name="Text 6"/>
          <p:cNvSpPr/>
          <p:nvPr/>
        </p:nvSpPr>
        <p:spPr>
          <a:xfrm>
            <a:off x="7847381" y="5669280"/>
            <a:ext cx="3503066" cy="548640"/>
          </a:xfrm>
          <a:prstGeom prst="rect">
            <a:avLst/>
          </a:prstGeom>
          <a:noFill/>
          <a:ln/>
        </p:spPr>
        <p:txBody>
          <a:bodyPr wrap="square" lIns="0" tIns="0" rIns="0" bIns="0" rtlCol="0" anchor="t"/>
          <a:lstStyle/>
          <a:p>
            <a:pPr algn="r" indent="0" marL="0">
              <a:lnSpc>
                <a:spcPct val="150000"/>
              </a:lnSpc>
              <a:buNone/>
            </a:pPr>
            <a:r>
              <a:rPr lang="en-US" sz="900" spc="140" kern="0" dirty="0">
                <a:solidFill>
                  <a:srgbClr val="3A424E"/>
                </a:solidFill>
                <a:latin typeface="Courier New" pitchFamily="34" charset="0"/>
                <a:ea typeface="Courier New" pitchFamily="34" charset="-122"/>
                <a:cs typeface="Courier New" pitchFamily="34" charset="-120"/>
              </a:rPr>
              <a:t>DEVOPSDAYS BOGOTÁ</a:t>
            </a:r>
            <a:endParaRPr lang="en-US" sz="900" dirty="0"/>
          </a:p>
          <a:p>
            <a:pPr algn="r" indent="0" marL="0">
              <a:lnSpc>
                <a:spcPct val="150000"/>
              </a:lnSpc>
              <a:buNone/>
            </a:pPr>
            <a:r>
              <a:rPr lang="en-US" sz="900" spc="140" kern="0" dirty="0">
                <a:solidFill>
                  <a:srgbClr val="3A424E"/>
                </a:solidFill>
                <a:latin typeface="Courier New" pitchFamily="34" charset="0"/>
                <a:ea typeface="Courier New" pitchFamily="34" charset="-122"/>
                <a:cs typeface="Courier New" pitchFamily="34" charset="-120"/>
              </a:rPr>
              <a:t>23 · 10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9F1C"/>
                </a:solidFill>
                <a:latin typeface="Courier New" pitchFamily="34" charset="0"/>
                <a:ea typeface="Courier New" pitchFamily="34" charset="-122"/>
                <a:cs typeface="Courier New" pitchFamily="34" charset="-120"/>
              </a:rPr>
              <a:t>EMPECEMOS POR ALGO QUE TODOS HICIMOS HOY</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965960"/>
            <a:ext cx="9633433" cy="914400"/>
          </a:xfrm>
          <a:prstGeom prst="rect">
            <a:avLst/>
          </a:prstGeom>
          <a:noFill/>
          <a:ln/>
        </p:spPr>
        <p:txBody>
          <a:bodyPr wrap="square" lIns="0" tIns="0" rIns="0" bIns="0" rtlCol="0" anchor="ctr"/>
          <a:lstStyle/>
          <a:p>
            <a:pPr indent="0" marL="0">
              <a:buNone/>
            </a:pPr>
            <a:r>
              <a:rPr lang="en-US" sz="6200" b="1" spc="-100" kern="0" dirty="0">
                <a:solidFill>
                  <a:srgbClr val="8A93A0"/>
                </a:solidFill>
                <a:latin typeface="Arial" pitchFamily="34" charset="0"/>
                <a:ea typeface="Arial" pitchFamily="34" charset="-122"/>
                <a:cs typeface="Arial" pitchFamily="34" charset="-120"/>
              </a:rPr>
              <a:t>¿Quién desbloqueó</a:t>
            </a:r>
            <a:endParaRPr lang="en-US" sz="6200" dirty="0"/>
          </a:p>
        </p:txBody>
      </p:sp>
      <p:sp>
        <p:nvSpPr>
          <p:cNvPr id="6" name="Text 3"/>
          <p:cNvSpPr/>
          <p:nvPr/>
        </p:nvSpPr>
        <p:spPr>
          <a:xfrm>
            <a:off x="841248" y="2880360"/>
            <a:ext cx="9633433" cy="914400"/>
          </a:xfrm>
          <a:prstGeom prst="rect">
            <a:avLst/>
          </a:prstGeom>
          <a:noFill/>
          <a:ln/>
        </p:spPr>
        <p:txBody>
          <a:bodyPr wrap="square" lIns="0" tIns="0" rIns="0" bIns="0" rtlCol="0" anchor="ctr"/>
          <a:lstStyle/>
          <a:p>
            <a:pPr indent="0" marL="0">
              <a:buNone/>
            </a:pPr>
            <a:r>
              <a:rPr lang="en-US" sz="6200" b="1" spc="-100" kern="0" dirty="0">
                <a:solidFill>
                  <a:srgbClr val="FFFFFF"/>
                </a:solidFill>
                <a:latin typeface="Arial" pitchFamily="34" charset="0"/>
                <a:ea typeface="Arial" pitchFamily="34" charset="-122"/>
                <a:cs typeface="Arial" pitchFamily="34" charset="-120"/>
              </a:rPr>
              <a:t>su teléfono con la cara?</a:t>
            </a:r>
            <a:endParaRPr lang="en-US" sz="6200" dirty="0"/>
          </a:p>
        </p:txBody>
      </p:sp>
      <p:sp>
        <p:nvSpPr>
          <p:cNvPr id="7" name="Text 4"/>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02 / 18</a:t>
            </a:r>
            <a:endParaRPr lang="en-US" sz="850" dirty="0"/>
          </a:p>
        </p:txBody>
      </p:sp>
      <p:sp>
        <p:nvSpPr>
          <p:cNvPr id="8" name="Text 5"/>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APERTURA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9F1C"/>
                </a:solidFill>
                <a:latin typeface="Courier New" pitchFamily="34" charset="0"/>
                <a:ea typeface="Courier New" pitchFamily="34" charset="-122"/>
                <a:cs typeface="Courier New" pitchFamily="34" charset="-120"/>
              </a:rPr>
              <a:t>ESO ES EDGE AI</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417320"/>
            <a:ext cx="9633433" cy="777240"/>
          </a:xfrm>
          <a:prstGeom prst="rect">
            <a:avLst/>
          </a:prstGeom>
          <a:noFill/>
          <a:ln/>
        </p:spPr>
        <p:txBody>
          <a:bodyPr wrap="square" lIns="0" tIns="0" rIns="0" bIns="0" rtlCol="0" anchor="ctr"/>
          <a:lstStyle/>
          <a:p>
            <a:pPr indent="0" marL="0">
              <a:buNone/>
            </a:pPr>
            <a:r>
              <a:rPr lang="en-US" sz="4400" b="1" spc="-50" kern="0" dirty="0">
                <a:solidFill>
                  <a:srgbClr val="FFFFFF"/>
                </a:solidFill>
                <a:latin typeface="Arial" pitchFamily="34" charset="0"/>
                <a:ea typeface="Arial" pitchFamily="34" charset="-122"/>
                <a:cs typeface="Arial" pitchFamily="34" charset="-120"/>
              </a:rPr>
              <a:t>El modelo no corrió en la nube.</a:t>
            </a:r>
            <a:endParaRPr lang="en-US" sz="4400" dirty="0"/>
          </a:p>
        </p:txBody>
      </p:sp>
      <p:sp>
        <p:nvSpPr>
          <p:cNvPr id="6" name="Shape 3"/>
          <p:cNvSpPr/>
          <p:nvPr/>
        </p:nvSpPr>
        <p:spPr>
          <a:xfrm>
            <a:off x="841248" y="2487168"/>
            <a:ext cx="10509199" cy="10973"/>
          </a:xfrm>
          <a:prstGeom prst="rect">
            <a:avLst/>
          </a:prstGeom>
          <a:solidFill>
            <a:srgbClr val="1C222C"/>
          </a:solidFill>
          <a:ln/>
        </p:spPr>
      </p:sp>
      <p:sp>
        <p:nvSpPr>
          <p:cNvPr id="7" name="Text 4"/>
          <p:cNvSpPr/>
          <p:nvPr/>
        </p:nvSpPr>
        <p:spPr>
          <a:xfrm>
            <a:off x="841248" y="2578608"/>
            <a:ext cx="1751533"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Cara</a:t>
            </a:r>
            <a:endParaRPr lang="en-US" sz="2400" dirty="0"/>
          </a:p>
        </p:txBody>
      </p:sp>
      <p:sp>
        <p:nvSpPr>
          <p:cNvPr id="8" name="Text 5"/>
          <p:cNvSpPr/>
          <p:nvPr/>
        </p:nvSpPr>
        <p:spPr>
          <a:xfrm>
            <a:off x="2943088" y="2578608"/>
            <a:ext cx="3503066" cy="457200"/>
          </a:xfrm>
          <a:prstGeom prst="rect">
            <a:avLst/>
          </a:prstGeom>
          <a:noFill/>
          <a:ln/>
        </p:spPr>
        <p:txBody>
          <a:bodyPr wrap="square" lIns="0" tIns="0" rIns="0" bIns="0" rtlCol="0" anchor="ctr"/>
          <a:lstStyle/>
          <a:p>
            <a:pPr indent="0" marL="0">
              <a:buNone/>
            </a:pPr>
            <a:r>
              <a:rPr lang="en-US" sz="1600" dirty="0">
                <a:solidFill>
                  <a:srgbClr val="FF9F1C"/>
                </a:solidFill>
                <a:latin typeface="Arial" pitchFamily="34" charset="0"/>
                <a:ea typeface="Arial" pitchFamily="34" charset="-122"/>
                <a:cs typeface="Arial" pitchFamily="34" charset="-120"/>
              </a:rPr>
              <a:t>en el teléfono</a:t>
            </a:r>
            <a:endParaRPr lang="en-US" sz="1600" dirty="0"/>
          </a:p>
        </p:txBody>
      </p:sp>
      <p:sp>
        <p:nvSpPr>
          <p:cNvPr id="9" name="Text 6"/>
          <p:cNvSpPr/>
          <p:nvPr/>
        </p:nvSpPr>
        <p:spPr>
          <a:xfrm>
            <a:off x="6621308" y="2578608"/>
            <a:ext cx="4729140" cy="457200"/>
          </a:xfrm>
          <a:prstGeom prst="rect">
            <a:avLst/>
          </a:prstGeom>
          <a:noFill/>
          <a:ln/>
        </p:spPr>
        <p:txBody>
          <a:bodyPr wrap="square" lIns="0" tIns="0" rIns="0" bIns="0" rtlCol="0" anchor="ctr"/>
          <a:lstStyle/>
          <a:p>
            <a:pPr algn="r" indent="0" marL="0">
              <a:buNone/>
            </a:pPr>
            <a:r>
              <a:rPr lang="en-US" sz="1100" dirty="0">
                <a:solidFill>
                  <a:srgbClr val="8A93A0"/>
                </a:solidFill>
                <a:latin typeface="Courier New" pitchFamily="34" charset="0"/>
                <a:ea typeface="Courier New" pitchFamily="34" charset="-122"/>
                <a:cs typeface="Courier New" pitchFamily="34" charset="-120"/>
              </a:rPr>
              <a:t>&lt; 20 ms · sin red · tu cara no viaja</a:t>
            </a:r>
            <a:endParaRPr lang="en-US" sz="1100" dirty="0"/>
          </a:p>
        </p:txBody>
      </p:sp>
      <p:sp>
        <p:nvSpPr>
          <p:cNvPr id="10" name="Shape 7"/>
          <p:cNvSpPr/>
          <p:nvPr/>
        </p:nvSpPr>
        <p:spPr>
          <a:xfrm>
            <a:off x="841248" y="3200400"/>
            <a:ext cx="10509199" cy="10973"/>
          </a:xfrm>
          <a:prstGeom prst="rect">
            <a:avLst/>
          </a:prstGeom>
          <a:solidFill>
            <a:srgbClr val="1C222C"/>
          </a:solidFill>
          <a:ln/>
        </p:spPr>
      </p:sp>
      <p:sp>
        <p:nvSpPr>
          <p:cNvPr id="11" name="Text 8"/>
          <p:cNvSpPr/>
          <p:nvPr/>
        </p:nvSpPr>
        <p:spPr>
          <a:xfrm>
            <a:off x="841248" y="3291840"/>
            <a:ext cx="1751533"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Voz</a:t>
            </a:r>
            <a:endParaRPr lang="en-US" sz="2400" dirty="0"/>
          </a:p>
        </p:txBody>
      </p:sp>
      <p:sp>
        <p:nvSpPr>
          <p:cNvPr id="12" name="Text 9"/>
          <p:cNvSpPr/>
          <p:nvPr/>
        </p:nvSpPr>
        <p:spPr>
          <a:xfrm>
            <a:off x="2943088" y="3291840"/>
            <a:ext cx="3503066" cy="457200"/>
          </a:xfrm>
          <a:prstGeom prst="rect">
            <a:avLst/>
          </a:prstGeom>
          <a:noFill/>
          <a:ln/>
        </p:spPr>
        <p:txBody>
          <a:bodyPr wrap="square" lIns="0" tIns="0" rIns="0" bIns="0" rtlCol="0" anchor="ctr"/>
          <a:lstStyle/>
          <a:p>
            <a:pPr indent="0" marL="0">
              <a:buNone/>
            </a:pPr>
            <a:r>
              <a:rPr lang="en-US" sz="1600" dirty="0">
                <a:solidFill>
                  <a:srgbClr val="FF9F1C"/>
                </a:solidFill>
                <a:latin typeface="Arial" pitchFamily="34" charset="0"/>
                <a:ea typeface="Arial" pitchFamily="34" charset="-122"/>
                <a:cs typeface="Arial" pitchFamily="34" charset="-120"/>
              </a:rPr>
              <a:t>en el altavoz</a:t>
            </a:r>
            <a:endParaRPr lang="en-US" sz="1600" dirty="0"/>
          </a:p>
        </p:txBody>
      </p:sp>
      <p:sp>
        <p:nvSpPr>
          <p:cNvPr id="13" name="Text 10"/>
          <p:cNvSpPr/>
          <p:nvPr/>
        </p:nvSpPr>
        <p:spPr>
          <a:xfrm>
            <a:off x="6621308" y="3291840"/>
            <a:ext cx="4729140" cy="457200"/>
          </a:xfrm>
          <a:prstGeom prst="rect">
            <a:avLst/>
          </a:prstGeom>
          <a:noFill/>
          <a:ln/>
        </p:spPr>
        <p:txBody>
          <a:bodyPr wrap="square" lIns="0" tIns="0" rIns="0" bIns="0" rtlCol="0" anchor="ctr"/>
          <a:lstStyle/>
          <a:p>
            <a:pPr algn="r" indent="0" marL="0">
              <a:buNone/>
            </a:pPr>
            <a:r>
              <a:rPr lang="en-US" sz="1100" dirty="0">
                <a:solidFill>
                  <a:srgbClr val="8A93A0"/>
                </a:solidFill>
                <a:latin typeface="Courier New" pitchFamily="34" charset="0"/>
                <a:ea typeface="Courier New" pitchFamily="34" charset="-122"/>
                <a:cs typeface="Courier New" pitchFamily="34" charset="-120"/>
              </a:rPr>
              <a:t>la palabra de activación nunca sube</a:t>
            </a:r>
            <a:endParaRPr lang="en-US" sz="1100" dirty="0"/>
          </a:p>
        </p:txBody>
      </p:sp>
      <p:sp>
        <p:nvSpPr>
          <p:cNvPr id="14" name="Shape 11"/>
          <p:cNvSpPr/>
          <p:nvPr/>
        </p:nvSpPr>
        <p:spPr>
          <a:xfrm>
            <a:off x="841248" y="3913632"/>
            <a:ext cx="10509199" cy="10973"/>
          </a:xfrm>
          <a:prstGeom prst="rect">
            <a:avLst/>
          </a:prstGeom>
          <a:solidFill>
            <a:srgbClr val="1C222C"/>
          </a:solidFill>
          <a:ln/>
        </p:spPr>
      </p:sp>
      <p:sp>
        <p:nvSpPr>
          <p:cNvPr id="15" name="Text 12"/>
          <p:cNvSpPr/>
          <p:nvPr/>
        </p:nvSpPr>
        <p:spPr>
          <a:xfrm>
            <a:off x="841248" y="4005072"/>
            <a:ext cx="1751533"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Placa</a:t>
            </a:r>
            <a:endParaRPr lang="en-US" sz="2400" dirty="0"/>
          </a:p>
        </p:txBody>
      </p:sp>
      <p:sp>
        <p:nvSpPr>
          <p:cNvPr id="16" name="Text 13"/>
          <p:cNvSpPr/>
          <p:nvPr/>
        </p:nvSpPr>
        <p:spPr>
          <a:xfrm>
            <a:off x="2943088" y="4005072"/>
            <a:ext cx="3503066" cy="457200"/>
          </a:xfrm>
          <a:prstGeom prst="rect">
            <a:avLst/>
          </a:prstGeom>
          <a:noFill/>
          <a:ln/>
        </p:spPr>
        <p:txBody>
          <a:bodyPr wrap="square" lIns="0" tIns="0" rIns="0" bIns="0" rtlCol="0" anchor="ctr"/>
          <a:lstStyle/>
          <a:p>
            <a:pPr indent="0" marL="0">
              <a:buNone/>
            </a:pPr>
            <a:r>
              <a:rPr lang="en-US" sz="1600" dirty="0">
                <a:solidFill>
                  <a:srgbClr val="FF9F1C"/>
                </a:solidFill>
                <a:latin typeface="Arial" pitchFamily="34" charset="0"/>
                <a:ea typeface="Arial" pitchFamily="34" charset="-122"/>
                <a:cs typeface="Arial" pitchFamily="34" charset="-120"/>
              </a:rPr>
              <a:t>en la cámara del peaje</a:t>
            </a:r>
            <a:endParaRPr lang="en-US" sz="1600" dirty="0"/>
          </a:p>
        </p:txBody>
      </p:sp>
      <p:sp>
        <p:nvSpPr>
          <p:cNvPr id="17" name="Text 14"/>
          <p:cNvSpPr/>
          <p:nvPr/>
        </p:nvSpPr>
        <p:spPr>
          <a:xfrm>
            <a:off x="6621308" y="4005072"/>
            <a:ext cx="4729140" cy="457200"/>
          </a:xfrm>
          <a:prstGeom prst="rect">
            <a:avLst/>
          </a:prstGeom>
          <a:noFill/>
          <a:ln/>
        </p:spPr>
        <p:txBody>
          <a:bodyPr wrap="square" lIns="0" tIns="0" rIns="0" bIns="0" rtlCol="0" anchor="ctr"/>
          <a:lstStyle/>
          <a:p>
            <a:pPr algn="r" indent="0" marL="0">
              <a:buNone/>
            </a:pPr>
            <a:r>
              <a:rPr lang="en-US" sz="1100" dirty="0">
                <a:solidFill>
                  <a:srgbClr val="8A93A0"/>
                </a:solidFill>
                <a:latin typeface="Courier New" pitchFamily="34" charset="0"/>
                <a:ea typeface="Courier New" pitchFamily="34" charset="-122"/>
                <a:cs typeface="Courier New" pitchFamily="34" charset="-120"/>
              </a:rPr>
              <a:t>decide antes de que pases</a:t>
            </a:r>
            <a:endParaRPr lang="en-US" sz="1100" dirty="0"/>
          </a:p>
        </p:txBody>
      </p:sp>
      <p:sp>
        <p:nvSpPr>
          <p:cNvPr id="18" name="Shape 15"/>
          <p:cNvSpPr/>
          <p:nvPr/>
        </p:nvSpPr>
        <p:spPr>
          <a:xfrm>
            <a:off x="841248" y="4626864"/>
            <a:ext cx="10509199" cy="10973"/>
          </a:xfrm>
          <a:prstGeom prst="rect">
            <a:avLst/>
          </a:prstGeom>
          <a:solidFill>
            <a:srgbClr val="1C222C"/>
          </a:solidFill>
          <a:ln/>
        </p:spPr>
      </p:sp>
      <p:sp>
        <p:nvSpPr>
          <p:cNvPr id="19" name="Text 16"/>
          <p:cNvSpPr/>
          <p:nvPr/>
        </p:nvSpPr>
        <p:spPr>
          <a:xfrm>
            <a:off x="841248" y="4718304"/>
            <a:ext cx="1751533" cy="4572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Pasos</a:t>
            </a:r>
            <a:endParaRPr lang="en-US" sz="2400" dirty="0"/>
          </a:p>
        </p:txBody>
      </p:sp>
      <p:sp>
        <p:nvSpPr>
          <p:cNvPr id="20" name="Text 17"/>
          <p:cNvSpPr/>
          <p:nvPr/>
        </p:nvSpPr>
        <p:spPr>
          <a:xfrm>
            <a:off x="2943088" y="4718304"/>
            <a:ext cx="3503066" cy="457200"/>
          </a:xfrm>
          <a:prstGeom prst="rect">
            <a:avLst/>
          </a:prstGeom>
          <a:noFill/>
          <a:ln/>
        </p:spPr>
        <p:txBody>
          <a:bodyPr wrap="square" lIns="0" tIns="0" rIns="0" bIns="0" rtlCol="0" anchor="ctr"/>
          <a:lstStyle/>
          <a:p>
            <a:pPr indent="0" marL="0">
              <a:buNone/>
            </a:pPr>
            <a:r>
              <a:rPr lang="en-US" sz="1600" dirty="0">
                <a:solidFill>
                  <a:srgbClr val="FF9F1C"/>
                </a:solidFill>
                <a:latin typeface="Arial" pitchFamily="34" charset="0"/>
                <a:ea typeface="Arial" pitchFamily="34" charset="-122"/>
                <a:cs typeface="Arial" pitchFamily="34" charset="-120"/>
              </a:rPr>
              <a:t>en el reloj</a:t>
            </a:r>
            <a:endParaRPr lang="en-US" sz="1600" dirty="0"/>
          </a:p>
        </p:txBody>
      </p:sp>
      <p:sp>
        <p:nvSpPr>
          <p:cNvPr id="21" name="Text 18"/>
          <p:cNvSpPr/>
          <p:nvPr/>
        </p:nvSpPr>
        <p:spPr>
          <a:xfrm>
            <a:off x="6621308" y="4718304"/>
            <a:ext cx="4729140" cy="457200"/>
          </a:xfrm>
          <a:prstGeom prst="rect">
            <a:avLst/>
          </a:prstGeom>
          <a:noFill/>
          <a:ln/>
        </p:spPr>
        <p:txBody>
          <a:bodyPr wrap="square" lIns="0" tIns="0" rIns="0" bIns="0" rtlCol="0" anchor="ctr"/>
          <a:lstStyle/>
          <a:p>
            <a:pPr algn="r" indent="0" marL="0">
              <a:buNone/>
            </a:pPr>
            <a:r>
              <a:rPr lang="en-US" sz="1100" dirty="0">
                <a:solidFill>
                  <a:srgbClr val="8A93A0"/>
                </a:solidFill>
                <a:latin typeface="Courier New" pitchFamily="34" charset="0"/>
                <a:ea typeface="Courier New" pitchFamily="34" charset="-122"/>
                <a:cs typeface="Courier New" pitchFamily="34" charset="-120"/>
              </a:rPr>
              <a:t>sin batería para mandar todo</a:t>
            </a:r>
            <a:endParaRPr lang="en-US" sz="1100" dirty="0"/>
          </a:p>
        </p:txBody>
      </p:sp>
      <p:sp>
        <p:nvSpPr>
          <p:cNvPr id="22" name="Shape 19"/>
          <p:cNvSpPr/>
          <p:nvPr/>
        </p:nvSpPr>
        <p:spPr>
          <a:xfrm>
            <a:off x="841248" y="5340096"/>
            <a:ext cx="10509199" cy="10973"/>
          </a:xfrm>
          <a:prstGeom prst="rect">
            <a:avLst/>
          </a:prstGeom>
          <a:solidFill>
            <a:srgbClr val="1C222C"/>
          </a:solidFill>
          <a:ln/>
        </p:spPr>
      </p:sp>
      <p:sp>
        <p:nvSpPr>
          <p:cNvPr id="23" name="Text 20"/>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03 / 18</a:t>
            </a:r>
            <a:endParaRPr lang="en-US" sz="850" dirty="0"/>
          </a:p>
        </p:txBody>
      </p:sp>
      <p:sp>
        <p:nvSpPr>
          <p:cNvPr id="24" name="Text 21"/>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CONTEXTO</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8A7A5E"/>
                </a:solidFill>
                <a:latin typeface="Courier New" pitchFamily="34" charset="0"/>
                <a:ea typeface="Courier New" pitchFamily="34" charset="-122"/>
                <a:cs typeface="Courier New" pitchFamily="34" charset="-120"/>
              </a:rPr>
              <a:t>Y NO ES UN NICHO</a:t>
            </a:r>
            <a:endParaRPr lang="en-US" sz="900" dirty="0"/>
          </a:p>
        </p:txBody>
      </p:sp>
      <p:sp>
        <p:nvSpPr>
          <p:cNvPr id="4" name="Shape 1"/>
          <p:cNvSpPr/>
          <p:nvPr/>
        </p:nvSpPr>
        <p:spPr>
          <a:xfrm>
            <a:off x="0" y="1051560"/>
            <a:ext cx="12191695" cy="12802"/>
          </a:xfrm>
          <a:prstGeom prst="rect">
            <a:avLst/>
          </a:prstGeom>
          <a:solidFill>
            <a:srgbClr val="D8D3CC"/>
          </a:solidFill>
          <a:ln/>
        </p:spPr>
      </p:sp>
      <p:sp>
        <p:nvSpPr>
          <p:cNvPr id="5" name="Text 2"/>
          <p:cNvSpPr/>
          <p:nvPr/>
        </p:nvSpPr>
        <p:spPr>
          <a:xfrm>
            <a:off x="841248" y="1600200"/>
            <a:ext cx="6130366" cy="1737360"/>
          </a:xfrm>
          <a:prstGeom prst="rect">
            <a:avLst/>
          </a:prstGeom>
          <a:noFill/>
          <a:ln/>
        </p:spPr>
        <p:txBody>
          <a:bodyPr wrap="square" lIns="0" tIns="0" rIns="0" bIns="0" rtlCol="0" anchor="ctr"/>
          <a:lstStyle/>
          <a:p>
            <a:pPr indent="0" marL="0">
              <a:buNone/>
            </a:pPr>
            <a:r>
              <a:rPr lang="en-US" sz="15000" b="1" spc="-400" kern="0" dirty="0">
                <a:solidFill>
                  <a:srgbClr val="07090D"/>
                </a:solidFill>
                <a:latin typeface="Arial" pitchFamily="34" charset="0"/>
                <a:ea typeface="Arial" pitchFamily="34" charset="-122"/>
                <a:cs typeface="Arial" pitchFamily="34" charset="-120"/>
              </a:rPr>
              <a:t>1.600</a:t>
            </a:r>
            <a:endParaRPr lang="en-US" sz="15000" dirty="0"/>
          </a:p>
        </p:txBody>
      </p:sp>
      <p:sp>
        <p:nvSpPr>
          <p:cNvPr id="6" name="Text 3"/>
          <p:cNvSpPr/>
          <p:nvPr/>
        </p:nvSpPr>
        <p:spPr>
          <a:xfrm>
            <a:off x="6446154" y="2084832"/>
            <a:ext cx="4904293" cy="548640"/>
          </a:xfrm>
          <a:prstGeom prst="rect">
            <a:avLst/>
          </a:prstGeom>
          <a:noFill/>
          <a:ln/>
        </p:spPr>
        <p:txBody>
          <a:bodyPr wrap="square" lIns="0" tIns="0" rIns="0" bIns="0" rtlCol="0" anchor="ctr"/>
          <a:lstStyle/>
          <a:p>
            <a:pPr indent="0" marL="0">
              <a:buNone/>
            </a:pPr>
            <a:r>
              <a:rPr lang="en-US" sz="3000" b="1" spc="100" kern="0" dirty="0">
                <a:solidFill>
                  <a:srgbClr val="FF9F1C"/>
                </a:solidFill>
                <a:latin typeface="Arial" pitchFamily="34" charset="0"/>
                <a:ea typeface="Arial" pitchFamily="34" charset="-122"/>
                <a:cs typeface="Arial" pitchFamily="34" charset="-120"/>
              </a:rPr>
              <a:t>MILLONES</a:t>
            </a:r>
            <a:endParaRPr lang="en-US" sz="3000" dirty="0"/>
          </a:p>
        </p:txBody>
      </p:sp>
      <p:sp>
        <p:nvSpPr>
          <p:cNvPr id="7" name="Text 4"/>
          <p:cNvSpPr/>
          <p:nvPr/>
        </p:nvSpPr>
        <p:spPr>
          <a:xfrm>
            <a:off x="6446154" y="2651760"/>
            <a:ext cx="4904293" cy="731520"/>
          </a:xfrm>
          <a:prstGeom prst="rect">
            <a:avLst/>
          </a:prstGeom>
          <a:noFill/>
          <a:ln/>
        </p:spPr>
        <p:txBody>
          <a:bodyPr wrap="square" lIns="0" tIns="0" rIns="0" bIns="0" rtlCol="0" anchor="t"/>
          <a:lstStyle/>
          <a:p>
            <a:pPr indent="0" marL="0">
              <a:buNone/>
            </a:pPr>
            <a:r>
              <a:rPr lang="en-US" sz="1500" dirty="0">
                <a:solidFill>
                  <a:srgbClr val="6B6560"/>
                </a:solidFill>
                <a:latin typeface="Arial" pitchFamily="34" charset="0"/>
                <a:ea typeface="Arial" pitchFamily="34" charset="-122"/>
                <a:cs typeface="Arial" pitchFamily="34" charset="-120"/>
              </a:rPr>
              <a:t>de chips de IA en el borde</a:t>
            </a:r>
            <a:endParaRPr lang="en-US" sz="1500" dirty="0"/>
          </a:p>
          <a:p>
            <a:pPr indent="0" marL="0">
              <a:buNone/>
            </a:pPr>
            <a:r>
              <a:rPr lang="en-US" sz="1500" dirty="0">
                <a:solidFill>
                  <a:srgbClr val="6B6560"/>
                </a:solidFill>
                <a:latin typeface="Arial" pitchFamily="34" charset="0"/>
                <a:ea typeface="Arial" pitchFamily="34" charset="-122"/>
                <a:cs typeface="Arial" pitchFamily="34" charset="-120"/>
              </a:rPr>
              <a:t>despachados este año</a:t>
            </a:r>
            <a:endParaRPr lang="en-US" sz="1500" dirty="0"/>
          </a:p>
        </p:txBody>
      </p:sp>
      <p:sp>
        <p:nvSpPr>
          <p:cNvPr id="8" name="Shape 5"/>
          <p:cNvSpPr/>
          <p:nvPr/>
        </p:nvSpPr>
        <p:spPr>
          <a:xfrm>
            <a:off x="841248" y="3977640"/>
            <a:ext cx="10509199" cy="10973"/>
          </a:xfrm>
          <a:prstGeom prst="rect">
            <a:avLst/>
          </a:prstGeom>
          <a:solidFill>
            <a:srgbClr val="D8D3CC"/>
          </a:solidFill>
          <a:ln/>
        </p:spPr>
      </p:sp>
      <p:sp>
        <p:nvSpPr>
          <p:cNvPr id="9" name="Text 6"/>
          <p:cNvSpPr/>
          <p:nvPr/>
        </p:nvSpPr>
        <p:spPr>
          <a:xfrm>
            <a:off x="841248" y="4206240"/>
            <a:ext cx="3152760" cy="54864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US$ 30-37 B</a:t>
            </a:r>
            <a:endParaRPr lang="en-US" sz="3000" dirty="0"/>
          </a:p>
        </p:txBody>
      </p:sp>
      <p:sp>
        <p:nvSpPr>
          <p:cNvPr id="10" name="Text 7"/>
          <p:cNvSpPr/>
          <p:nvPr/>
        </p:nvSpPr>
        <p:spPr>
          <a:xfrm>
            <a:off x="841248" y="4754880"/>
            <a:ext cx="3152760" cy="457200"/>
          </a:xfrm>
          <a:prstGeom prst="rect">
            <a:avLst/>
          </a:prstGeom>
          <a:noFill/>
          <a:ln/>
        </p:spPr>
        <p:txBody>
          <a:bodyPr wrap="square" lIns="0" tIns="0" rIns="0" bIns="0" rtlCol="0" anchor="t"/>
          <a:lstStyle/>
          <a:p>
            <a:pPr indent="0" marL="0">
              <a:buNone/>
            </a:pPr>
            <a:r>
              <a:rPr lang="en-US" sz="1200" dirty="0">
                <a:solidFill>
                  <a:srgbClr val="6B6560"/>
                </a:solidFill>
                <a:latin typeface="Arial" pitchFamily="34" charset="0"/>
                <a:ea typeface="Arial" pitchFamily="34" charset="-122"/>
                <a:cs typeface="Arial" pitchFamily="34" charset="-120"/>
              </a:rPr>
              <a:t>mercado edge AI 2026</a:t>
            </a:r>
            <a:endParaRPr lang="en-US" sz="1200" dirty="0"/>
          </a:p>
        </p:txBody>
      </p:sp>
      <p:sp>
        <p:nvSpPr>
          <p:cNvPr id="11" name="Text 8"/>
          <p:cNvSpPr/>
          <p:nvPr/>
        </p:nvSpPr>
        <p:spPr>
          <a:xfrm>
            <a:off x="4344314" y="4206240"/>
            <a:ext cx="3152760" cy="54864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97 %</a:t>
            </a:r>
            <a:endParaRPr lang="en-US" sz="3000" dirty="0"/>
          </a:p>
        </p:txBody>
      </p:sp>
      <p:sp>
        <p:nvSpPr>
          <p:cNvPr id="12" name="Text 9"/>
          <p:cNvSpPr/>
          <p:nvPr/>
        </p:nvSpPr>
        <p:spPr>
          <a:xfrm>
            <a:off x="4344314" y="4754880"/>
            <a:ext cx="3152760" cy="457200"/>
          </a:xfrm>
          <a:prstGeom prst="rect">
            <a:avLst/>
          </a:prstGeom>
          <a:noFill/>
          <a:ln/>
        </p:spPr>
        <p:txBody>
          <a:bodyPr wrap="square" lIns="0" tIns="0" rIns="0" bIns="0" rtlCol="0" anchor="t"/>
          <a:lstStyle/>
          <a:p>
            <a:pPr indent="0" marL="0">
              <a:buNone/>
            </a:pPr>
            <a:r>
              <a:rPr lang="en-US" sz="1200" dirty="0">
                <a:solidFill>
                  <a:srgbClr val="6B6560"/>
                </a:solidFill>
                <a:latin typeface="Arial" pitchFamily="34" charset="0"/>
                <a:ea typeface="Arial" pitchFamily="34" charset="-122"/>
                <a:cs typeface="Arial" pitchFamily="34" charset="-120"/>
              </a:rPr>
              <a:t>de CIOs con edge AI en su roadmap</a:t>
            </a:r>
            <a:endParaRPr lang="en-US" sz="1200" dirty="0"/>
          </a:p>
        </p:txBody>
      </p:sp>
      <p:sp>
        <p:nvSpPr>
          <p:cNvPr id="13" name="Text 10"/>
          <p:cNvSpPr/>
          <p:nvPr/>
        </p:nvSpPr>
        <p:spPr>
          <a:xfrm>
            <a:off x="7847381" y="4206240"/>
            <a:ext cx="3152760" cy="54864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21,7 %</a:t>
            </a:r>
            <a:endParaRPr lang="en-US" sz="3000" dirty="0"/>
          </a:p>
        </p:txBody>
      </p:sp>
      <p:sp>
        <p:nvSpPr>
          <p:cNvPr id="14" name="Text 11"/>
          <p:cNvSpPr/>
          <p:nvPr/>
        </p:nvSpPr>
        <p:spPr>
          <a:xfrm>
            <a:off x="7847381" y="4754880"/>
            <a:ext cx="3152760" cy="457200"/>
          </a:xfrm>
          <a:prstGeom prst="rect">
            <a:avLst/>
          </a:prstGeom>
          <a:noFill/>
          <a:ln/>
        </p:spPr>
        <p:txBody>
          <a:bodyPr wrap="square" lIns="0" tIns="0" rIns="0" bIns="0" rtlCol="0" anchor="t"/>
          <a:lstStyle/>
          <a:p>
            <a:pPr indent="0" marL="0">
              <a:buNone/>
            </a:pPr>
            <a:r>
              <a:rPr lang="en-US" sz="1200" dirty="0">
                <a:solidFill>
                  <a:srgbClr val="6B6560"/>
                </a:solidFill>
                <a:latin typeface="Arial" pitchFamily="34" charset="0"/>
                <a:ea typeface="Arial" pitchFamily="34" charset="-122"/>
                <a:cs typeface="Arial" pitchFamily="34" charset="-120"/>
              </a:rPr>
              <a:t>CAGR proyectado a 2033</a:t>
            </a:r>
            <a:endParaRPr lang="en-US" sz="1200" dirty="0"/>
          </a:p>
        </p:txBody>
      </p:sp>
      <p:sp>
        <p:nvSpPr>
          <p:cNvPr id="15" name="Text 12"/>
          <p:cNvSpPr/>
          <p:nvPr/>
        </p:nvSpPr>
        <p:spPr>
          <a:xfrm>
            <a:off x="841248" y="5852160"/>
            <a:ext cx="7006133" cy="274320"/>
          </a:xfrm>
          <a:prstGeom prst="rect">
            <a:avLst/>
          </a:prstGeom>
          <a:noFill/>
          <a:ln/>
        </p:spPr>
        <p:txBody>
          <a:bodyPr wrap="square" lIns="0" tIns="0" rIns="0" bIns="0" rtlCol="0" anchor="ctr"/>
          <a:lstStyle/>
          <a:p>
            <a:pPr indent="0" marL="0">
              <a:buNone/>
            </a:pPr>
            <a:r>
              <a:rPr lang="en-US" sz="800" dirty="0">
                <a:solidFill>
                  <a:srgbClr val="A9A29A"/>
                </a:solidFill>
                <a:latin typeface="Courier New" pitchFamily="34" charset="0"/>
                <a:ea typeface="Courier New" pitchFamily="34" charset="-122"/>
                <a:cs typeface="Courier New" pitchFamily="34" charset="-120"/>
              </a:rPr>
              <a:t>ABI Research · Grand View · encuestas CIO 2025-26</a:t>
            </a:r>
            <a:endParaRPr lang="en-US" sz="800" dirty="0"/>
          </a:p>
        </p:txBody>
      </p:sp>
      <p:sp>
        <p:nvSpPr>
          <p:cNvPr id="16" name="Text 13"/>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A9A29A"/>
                </a:solidFill>
                <a:latin typeface="Courier New" pitchFamily="34" charset="0"/>
                <a:ea typeface="Courier New" pitchFamily="34" charset="-122"/>
                <a:cs typeface="Courier New" pitchFamily="34" charset="-120"/>
              </a:rPr>
              <a:t>04 / 18</a:t>
            </a:r>
            <a:endParaRPr lang="en-US" sz="850" dirty="0"/>
          </a:p>
        </p:txBody>
      </p:sp>
      <p:sp>
        <p:nvSpPr>
          <p:cNvPr id="17" name="Text 14"/>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A9A29A"/>
                </a:solidFill>
                <a:latin typeface="Courier New" pitchFamily="34" charset="0"/>
                <a:ea typeface="Courier New" pitchFamily="34" charset="-122"/>
                <a:cs typeface="Courier New" pitchFamily="34" charset="-120"/>
              </a:rPr>
              <a:t>ESCALA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2148840"/>
            <a:ext cx="9633433" cy="960120"/>
          </a:xfrm>
          <a:prstGeom prst="rect">
            <a:avLst/>
          </a:prstGeom>
          <a:noFill/>
          <a:ln/>
        </p:spPr>
        <p:txBody>
          <a:bodyPr wrap="square" lIns="0" tIns="0" rIns="0" bIns="0" rtlCol="0" anchor="ctr"/>
          <a:lstStyle/>
          <a:p>
            <a:pPr indent="0" marL="0">
              <a:buNone/>
            </a:pPr>
            <a:r>
              <a:rPr lang="en-US" sz="6600" b="1" spc="-150" kern="0" dirty="0">
                <a:solidFill>
                  <a:srgbClr val="FFFFFF"/>
                </a:solidFill>
                <a:latin typeface="Arial" pitchFamily="34" charset="0"/>
                <a:ea typeface="Arial" pitchFamily="34" charset="-122"/>
                <a:cs typeface="Arial" pitchFamily="34" charset="-120"/>
              </a:rPr>
              <a:t>¿Cómo sabés</a:t>
            </a:r>
            <a:endParaRPr lang="en-US" sz="6600" dirty="0"/>
          </a:p>
        </p:txBody>
      </p:sp>
      <p:sp>
        <p:nvSpPr>
          <p:cNvPr id="4" name="Text 1"/>
          <p:cNvSpPr/>
          <p:nvPr/>
        </p:nvSpPr>
        <p:spPr>
          <a:xfrm>
            <a:off x="841248" y="3127248"/>
            <a:ext cx="9633433" cy="960120"/>
          </a:xfrm>
          <a:prstGeom prst="rect">
            <a:avLst/>
          </a:prstGeom>
          <a:noFill/>
          <a:ln/>
        </p:spPr>
        <p:txBody>
          <a:bodyPr wrap="square" lIns="0" tIns="0" rIns="0" bIns="0" rtlCol="0" anchor="ctr"/>
          <a:lstStyle/>
          <a:p>
            <a:pPr indent="0" marL="0">
              <a:buNone/>
            </a:pPr>
            <a:r>
              <a:rPr lang="en-US" sz="6600" b="1" spc="-150" kern="0" dirty="0">
                <a:solidFill>
                  <a:srgbClr val="FF9F1C"/>
                </a:solidFill>
                <a:latin typeface="Arial" pitchFamily="34" charset="0"/>
                <a:ea typeface="Arial" pitchFamily="34" charset="-122"/>
                <a:cs typeface="Arial" pitchFamily="34" charset="-120"/>
              </a:rPr>
              <a:t>que sigue funcionando?</a:t>
            </a:r>
            <a:endParaRPr lang="en-US" sz="6600" dirty="0"/>
          </a:p>
        </p:txBody>
      </p:sp>
      <p:sp>
        <p:nvSpPr>
          <p:cNvPr id="5" name="Shape 2"/>
          <p:cNvSpPr/>
          <p:nvPr/>
        </p:nvSpPr>
        <p:spPr>
          <a:xfrm>
            <a:off x="0" y="4480560"/>
            <a:ext cx="12191695" cy="12802"/>
          </a:xfrm>
          <a:prstGeom prst="rect">
            <a:avLst/>
          </a:prstGeom>
          <a:solidFill>
            <a:srgbClr val="1C222C"/>
          </a:solidFill>
          <a:ln/>
        </p:spPr>
      </p:sp>
      <p:sp>
        <p:nvSpPr>
          <p:cNvPr id="6" name="Text 3"/>
          <p:cNvSpPr/>
          <p:nvPr/>
        </p:nvSpPr>
        <p:spPr>
          <a:xfrm>
            <a:off x="841248" y="4663440"/>
            <a:ext cx="7006133" cy="365760"/>
          </a:xfrm>
          <a:prstGeom prst="rect">
            <a:avLst/>
          </a:prstGeom>
          <a:noFill/>
          <a:ln/>
        </p:spPr>
        <p:txBody>
          <a:bodyPr wrap="square" lIns="0" tIns="0" rIns="0" bIns="0" rtlCol="0" anchor="ctr"/>
          <a:lstStyle/>
          <a:p>
            <a:pPr indent="0" marL="0">
              <a:buNone/>
            </a:pPr>
            <a:r>
              <a:rPr lang="en-US" sz="1300" dirty="0">
                <a:solidFill>
                  <a:srgbClr val="8A93A0"/>
                </a:solidFill>
                <a:latin typeface="Courier New" pitchFamily="34" charset="0"/>
                <a:ea typeface="Courier New" pitchFamily="34" charset="-122"/>
                <a:cs typeface="Courier New" pitchFamily="34" charset="-120"/>
              </a:rPr>
              <a:t>no el dispositivo — el modelo</a:t>
            </a:r>
            <a:endParaRPr lang="en-US" sz="1300" dirty="0"/>
          </a:p>
        </p:txBody>
      </p:sp>
      <p:sp>
        <p:nvSpPr>
          <p:cNvPr id="7" name="Text 4"/>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05 / 18</a:t>
            </a:r>
            <a:endParaRPr lang="en-US" sz="850" dirty="0"/>
          </a:p>
        </p:txBody>
      </p:sp>
      <p:sp>
        <p:nvSpPr>
          <p:cNvPr id="8" name="Text 5"/>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EL GIRO</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9F1C"/>
                </a:solidFill>
                <a:latin typeface="Courier New" pitchFamily="34" charset="0"/>
                <a:ea typeface="Courier New" pitchFamily="34" charset="-122"/>
                <a:cs typeface="Courier New" pitchFamily="34" charset="-120"/>
              </a:rPr>
              <a:t>LA ASIMETRÍA</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463040"/>
            <a:ext cx="4378833" cy="365760"/>
          </a:xfrm>
          <a:prstGeom prst="rect">
            <a:avLst/>
          </a:prstGeom>
          <a:noFill/>
          <a:ln/>
        </p:spPr>
        <p:txBody>
          <a:bodyPr wrap="square" lIns="0" tIns="0" rIns="0" bIns="0" rtlCol="0" anchor="ctr"/>
          <a:lstStyle/>
          <a:p>
            <a:pPr indent="0" marL="0">
              <a:buNone/>
            </a:pPr>
            <a:r>
              <a:rPr lang="en-US" sz="1100" spc="200" kern="0" dirty="0">
                <a:solidFill>
                  <a:srgbClr val="2DD4BF"/>
                </a:solidFill>
                <a:latin typeface="Courier New" pitchFamily="34" charset="0"/>
                <a:ea typeface="Courier New" pitchFamily="34" charset="-122"/>
                <a:cs typeface="Courier New" pitchFamily="34" charset="-120"/>
              </a:rPr>
              <a:t>SERVICIO CAÍDO</a:t>
            </a:r>
            <a:endParaRPr lang="en-US" sz="1100" dirty="0"/>
          </a:p>
        </p:txBody>
      </p:sp>
      <p:sp>
        <p:nvSpPr>
          <p:cNvPr id="6" name="Text 3"/>
          <p:cNvSpPr/>
          <p:nvPr/>
        </p:nvSpPr>
        <p:spPr>
          <a:xfrm>
            <a:off x="841248" y="1965960"/>
            <a:ext cx="4378833" cy="411480"/>
          </a:xfrm>
          <a:prstGeom prst="rect">
            <a:avLst/>
          </a:prstGeom>
          <a:noFill/>
          <a:ln/>
        </p:spPr>
        <p:txBody>
          <a:bodyPr wrap="square" lIns="0" tIns="0" rIns="0" bIns="0" rtlCol="0" anchor="ctr"/>
          <a:lstStyle/>
          <a:p>
            <a:pPr indent="0" marL="0">
              <a:buNone/>
            </a:pPr>
            <a:r>
              <a:rPr lang="en-US" sz="1900" dirty="0">
                <a:solidFill>
                  <a:srgbClr val="E8E4DE"/>
                </a:solidFill>
                <a:latin typeface="Arial" pitchFamily="34" charset="0"/>
                <a:ea typeface="Arial" pitchFamily="34" charset="-122"/>
                <a:cs typeface="Arial" pitchFamily="34" charset="-120"/>
              </a:rPr>
              <a:t>healthcheck falla</a:t>
            </a:r>
            <a:endParaRPr lang="en-US" sz="1900" dirty="0"/>
          </a:p>
        </p:txBody>
      </p:sp>
      <p:sp>
        <p:nvSpPr>
          <p:cNvPr id="7" name="Shape 4"/>
          <p:cNvSpPr/>
          <p:nvPr/>
        </p:nvSpPr>
        <p:spPr>
          <a:xfrm>
            <a:off x="841248" y="2450592"/>
            <a:ext cx="4378833" cy="9144"/>
          </a:xfrm>
          <a:prstGeom prst="rect">
            <a:avLst/>
          </a:prstGeom>
          <a:solidFill>
            <a:srgbClr val="1C222C"/>
          </a:solidFill>
          <a:ln/>
        </p:spPr>
      </p:sp>
      <p:sp>
        <p:nvSpPr>
          <p:cNvPr id="8" name="Text 5"/>
          <p:cNvSpPr/>
          <p:nvPr/>
        </p:nvSpPr>
        <p:spPr>
          <a:xfrm>
            <a:off x="841248" y="2532888"/>
            <a:ext cx="4378833" cy="411480"/>
          </a:xfrm>
          <a:prstGeom prst="rect">
            <a:avLst/>
          </a:prstGeom>
          <a:noFill/>
          <a:ln/>
        </p:spPr>
        <p:txBody>
          <a:bodyPr wrap="square" lIns="0" tIns="0" rIns="0" bIns="0" rtlCol="0" anchor="ctr"/>
          <a:lstStyle/>
          <a:p>
            <a:pPr indent="0" marL="0">
              <a:buNone/>
            </a:pPr>
            <a:r>
              <a:rPr lang="en-US" sz="1900" dirty="0">
                <a:solidFill>
                  <a:srgbClr val="E8E4DE"/>
                </a:solidFill>
                <a:latin typeface="Arial" pitchFamily="34" charset="0"/>
                <a:ea typeface="Arial" pitchFamily="34" charset="-122"/>
                <a:cs typeface="Arial" pitchFamily="34" charset="-120"/>
              </a:rPr>
              <a:t>excepción en el log</a:t>
            </a:r>
            <a:endParaRPr lang="en-US" sz="1900" dirty="0"/>
          </a:p>
        </p:txBody>
      </p:sp>
      <p:sp>
        <p:nvSpPr>
          <p:cNvPr id="9" name="Shape 6"/>
          <p:cNvSpPr/>
          <p:nvPr/>
        </p:nvSpPr>
        <p:spPr>
          <a:xfrm>
            <a:off x="841248" y="3017520"/>
            <a:ext cx="4378833" cy="9144"/>
          </a:xfrm>
          <a:prstGeom prst="rect">
            <a:avLst/>
          </a:prstGeom>
          <a:solidFill>
            <a:srgbClr val="1C222C"/>
          </a:solidFill>
          <a:ln/>
        </p:spPr>
      </p:sp>
      <p:sp>
        <p:nvSpPr>
          <p:cNvPr id="10" name="Text 7"/>
          <p:cNvSpPr/>
          <p:nvPr/>
        </p:nvSpPr>
        <p:spPr>
          <a:xfrm>
            <a:off x="841248" y="3099816"/>
            <a:ext cx="4378833" cy="411480"/>
          </a:xfrm>
          <a:prstGeom prst="rect">
            <a:avLst/>
          </a:prstGeom>
          <a:noFill/>
          <a:ln/>
        </p:spPr>
        <p:txBody>
          <a:bodyPr wrap="square" lIns="0" tIns="0" rIns="0" bIns="0" rtlCol="0" anchor="ctr"/>
          <a:lstStyle/>
          <a:p>
            <a:pPr indent="0" marL="0">
              <a:buNone/>
            </a:pPr>
            <a:r>
              <a:rPr lang="en-US" sz="1900" dirty="0">
                <a:solidFill>
                  <a:srgbClr val="E8E4DE"/>
                </a:solidFill>
                <a:latin typeface="Arial" pitchFamily="34" charset="0"/>
                <a:ea typeface="Arial" pitchFamily="34" charset="-122"/>
                <a:cs typeface="Arial" pitchFamily="34" charset="-120"/>
              </a:rPr>
              <a:t>SLO quemado</a:t>
            </a:r>
            <a:endParaRPr lang="en-US" sz="1900" dirty="0"/>
          </a:p>
        </p:txBody>
      </p:sp>
      <p:sp>
        <p:nvSpPr>
          <p:cNvPr id="11" name="Shape 8"/>
          <p:cNvSpPr/>
          <p:nvPr/>
        </p:nvSpPr>
        <p:spPr>
          <a:xfrm>
            <a:off x="841248" y="3584448"/>
            <a:ext cx="4378833" cy="9144"/>
          </a:xfrm>
          <a:prstGeom prst="rect">
            <a:avLst/>
          </a:prstGeom>
          <a:solidFill>
            <a:srgbClr val="1C222C"/>
          </a:solidFill>
          <a:ln/>
        </p:spPr>
      </p:sp>
      <p:sp>
        <p:nvSpPr>
          <p:cNvPr id="12" name="Text 9"/>
          <p:cNvSpPr/>
          <p:nvPr/>
        </p:nvSpPr>
        <p:spPr>
          <a:xfrm>
            <a:off x="841248" y="3666744"/>
            <a:ext cx="4378833" cy="411480"/>
          </a:xfrm>
          <a:prstGeom prst="rect">
            <a:avLst/>
          </a:prstGeom>
          <a:noFill/>
          <a:ln/>
        </p:spPr>
        <p:txBody>
          <a:bodyPr wrap="square" lIns="0" tIns="0" rIns="0" bIns="0" rtlCol="0" anchor="ctr"/>
          <a:lstStyle/>
          <a:p>
            <a:pPr indent="0" marL="0">
              <a:buNone/>
            </a:pPr>
            <a:r>
              <a:rPr lang="en-US" sz="1900" dirty="0">
                <a:solidFill>
                  <a:srgbClr val="E8E4DE"/>
                </a:solidFill>
                <a:latin typeface="Arial" pitchFamily="34" charset="0"/>
                <a:ea typeface="Arial" pitchFamily="34" charset="-122"/>
                <a:cs typeface="Arial" pitchFamily="34" charset="-120"/>
              </a:rPr>
              <a:t>pager a las 3 a.m.</a:t>
            </a:r>
            <a:endParaRPr lang="en-US" sz="1900" dirty="0"/>
          </a:p>
        </p:txBody>
      </p:sp>
      <p:sp>
        <p:nvSpPr>
          <p:cNvPr id="13" name="Shape 10"/>
          <p:cNvSpPr/>
          <p:nvPr/>
        </p:nvSpPr>
        <p:spPr>
          <a:xfrm>
            <a:off x="841248" y="4151376"/>
            <a:ext cx="4378833" cy="9144"/>
          </a:xfrm>
          <a:prstGeom prst="rect">
            <a:avLst/>
          </a:prstGeom>
          <a:solidFill>
            <a:srgbClr val="1C222C"/>
          </a:solidFill>
          <a:ln/>
        </p:spPr>
      </p:sp>
      <p:sp>
        <p:nvSpPr>
          <p:cNvPr id="14" name="Shape 11"/>
          <p:cNvSpPr/>
          <p:nvPr/>
        </p:nvSpPr>
        <p:spPr>
          <a:xfrm>
            <a:off x="5833118" y="1417320"/>
            <a:ext cx="10973" cy="3291840"/>
          </a:xfrm>
          <a:prstGeom prst="rect">
            <a:avLst/>
          </a:prstGeom>
          <a:solidFill>
            <a:srgbClr val="1C222C"/>
          </a:solidFill>
          <a:ln/>
        </p:spPr>
      </p:sp>
      <p:sp>
        <p:nvSpPr>
          <p:cNvPr id="15" name="Text 12"/>
          <p:cNvSpPr/>
          <p:nvPr/>
        </p:nvSpPr>
        <p:spPr>
          <a:xfrm>
            <a:off x="6358578" y="1463040"/>
            <a:ext cx="4991870" cy="365760"/>
          </a:xfrm>
          <a:prstGeom prst="rect">
            <a:avLst/>
          </a:prstGeom>
          <a:noFill/>
          <a:ln/>
        </p:spPr>
        <p:txBody>
          <a:bodyPr wrap="square" lIns="0" tIns="0" rIns="0" bIns="0" rtlCol="0" anchor="ctr"/>
          <a:lstStyle/>
          <a:p>
            <a:pPr indent="0" marL="0">
              <a:buNone/>
            </a:pPr>
            <a:r>
              <a:rPr lang="en-US" sz="1100" spc="200" kern="0" dirty="0">
                <a:solidFill>
                  <a:srgbClr val="FF5C4D"/>
                </a:solidFill>
                <a:latin typeface="Courier New" pitchFamily="34" charset="0"/>
                <a:ea typeface="Courier New" pitchFamily="34" charset="-122"/>
                <a:cs typeface="Courier New" pitchFamily="34" charset="-120"/>
              </a:rPr>
              <a:t>MODELO EQUIVOCADO</a:t>
            </a:r>
            <a:endParaRPr lang="en-US" sz="1100" dirty="0"/>
          </a:p>
        </p:txBody>
      </p:sp>
      <p:sp>
        <p:nvSpPr>
          <p:cNvPr id="16" name="Text 13"/>
          <p:cNvSpPr/>
          <p:nvPr/>
        </p:nvSpPr>
        <p:spPr>
          <a:xfrm>
            <a:off x="6358578" y="1965960"/>
            <a:ext cx="4991870" cy="411480"/>
          </a:xfrm>
          <a:prstGeom prst="rect">
            <a:avLst/>
          </a:prstGeom>
          <a:noFill/>
          <a:ln/>
        </p:spPr>
        <p:txBody>
          <a:bodyPr wrap="square" lIns="0" tIns="0" rIns="0" bIns="0" rtlCol="0" anchor="ctr"/>
          <a:lstStyle/>
          <a:p>
            <a:pPr indent="0" marL="0">
              <a:buNone/>
            </a:pPr>
            <a:r>
              <a:rPr lang="en-US" sz="1900" dirty="0">
                <a:solidFill>
                  <a:srgbClr val="3A424E"/>
                </a:solidFill>
                <a:latin typeface="Courier New" pitchFamily="34" charset="0"/>
                <a:ea typeface="Courier New" pitchFamily="34" charset="-122"/>
                <a:cs typeface="Courier New" pitchFamily="34" charset="-120"/>
              </a:rPr>
              <a:t>200 OK</a:t>
            </a:r>
            <a:endParaRPr lang="en-US" sz="1900" dirty="0"/>
          </a:p>
        </p:txBody>
      </p:sp>
      <p:sp>
        <p:nvSpPr>
          <p:cNvPr id="17" name="Shape 14"/>
          <p:cNvSpPr/>
          <p:nvPr/>
        </p:nvSpPr>
        <p:spPr>
          <a:xfrm>
            <a:off x="6358578" y="2450592"/>
            <a:ext cx="4991870" cy="9144"/>
          </a:xfrm>
          <a:prstGeom prst="rect">
            <a:avLst/>
          </a:prstGeom>
          <a:solidFill>
            <a:srgbClr val="1C222C"/>
          </a:solidFill>
          <a:ln/>
        </p:spPr>
      </p:sp>
      <p:sp>
        <p:nvSpPr>
          <p:cNvPr id="18" name="Text 15"/>
          <p:cNvSpPr/>
          <p:nvPr/>
        </p:nvSpPr>
        <p:spPr>
          <a:xfrm>
            <a:off x="6358578" y="2532888"/>
            <a:ext cx="4991870" cy="411480"/>
          </a:xfrm>
          <a:prstGeom prst="rect">
            <a:avLst/>
          </a:prstGeom>
          <a:noFill/>
          <a:ln/>
        </p:spPr>
        <p:txBody>
          <a:bodyPr wrap="square" lIns="0" tIns="0" rIns="0" bIns="0" rtlCol="0" anchor="ctr"/>
          <a:lstStyle/>
          <a:p>
            <a:pPr indent="0" marL="0">
              <a:buNone/>
            </a:pPr>
            <a:r>
              <a:rPr lang="en-US" sz="1900" dirty="0">
                <a:solidFill>
                  <a:srgbClr val="3A424E"/>
                </a:solidFill>
                <a:latin typeface="Courier New" pitchFamily="34" charset="0"/>
                <a:ea typeface="Courier New" pitchFamily="34" charset="-122"/>
                <a:cs typeface="Courier New" pitchFamily="34" charset="-120"/>
              </a:rPr>
              <a:t>sin excepción</a:t>
            </a:r>
            <a:endParaRPr lang="en-US" sz="1900" dirty="0"/>
          </a:p>
        </p:txBody>
      </p:sp>
      <p:sp>
        <p:nvSpPr>
          <p:cNvPr id="19" name="Shape 16"/>
          <p:cNvSpPr/>
          <p:nvPr/>
        </p:nvSpPr>
        <p:spPr>
          <a:xfrm>
            <a:off x="6358578" y="3017520"/>
            <a:ext cx="4991870" cy="9144"/>
          </a:xfrm>
          <a:prstGeom prst="rect">
            <a:avLst/>
          </a:prstGeom>
          <a:solidFill>
            <a:srgbClr val="1C222C"/>
          </a:solidFill>
          <a:ln/>
        </p:spPr>
      </p:sp>
      <p:sp>
        <p:nvSpPr>
          <p:cNvPr id="20" name="Text 17"/>
          <p:cNvSpPr/>
          <p:nvPr/>
        </p:nvSpPr>
        <p:spPr>
          <a:xfrm>
            <a:off x="6358578" y="3099816"/>
            <a:ext cx="4991870" cy="411480"/>
          </a:xfrm>
          <a:prstGeom prst="rect">
            <a:avLst/>
          </a:prstGeom>
          <a:noFill/>
          <a:ln/>
        </p:spPr>
        <p:txBody>
          <a:bodyPr wrap="square" lIns="0" tIns="0" rIns="0" bIns="0" rtlCol="0" anchor="ctr"/>
          <a:lstStyle/>
          <a:p>
            <a:pPr indent="0" marL="0">
              <a:buNone/>
            </a:pPr>
            <a:r>
              <a:rPr lang="en-US" sz="1900" dirty="0">
                <a:solidFill>
                  <a:srgbClr val="3A424E"/>
                </a:solidFill>
                <a:latin typeface="Courier New" pitchFamily="34" charset="0"/>
                <a:ea typeface="Courier New" pitchFamily="34" charset="-122"/>
                <a:cs typeface="Courier New" pitchFamily="34" charset="-120"/>
              </a:rPr>
              <a:t>latencia normal</a:t>
            </a:r>
            <a:endParaRPr lang="en-US" sz="1900" dirty="0"/>
          </a:p>
        </p:txBody>
      </p:sp>
      <p:sp>
        <p:nvSpPr>
          <p:cNvPr id="21" name="Shape 18"/>
          <p:cNvSpPr/>
          <p:nvPr/>
        </p:nvSpPr>
        <p:spPr>
          <a:xfrm>
            <a:off x="6358578" y="3584448"/>
            <a:ext cx="4991870" cy="9144"/>
          </a:xfrm>
          <a:prstGeom prst="rect">
            <a:avLst/>
          </a:prstGeom>
          <a:solidFill>
            <a:srgbClr val="1C222C"/>
          </a:solidFill>
          <a:ln/>
        </p:spPr>
      </p:sp>
      <p:sp>
        <p:nvSpPr>
          <p:cNvPr id="22" name="Text 19"/>
          <p:cNvSpPr/>
          <p:nvPr/>
        </p:nvSpPr>
        <p:spPr>
          <a:xfrm>
            <a:off x="6358578" y="3666744"/>
            <a:ext cx="4991870" cy="411480"/>
          </a:xfrm>
          <a:prstGeom prst="rect">
            <a:avLst/>
          </a:prstGeom>
          <a:noFill/>
          <a:ln/>
        </p:spPr>
        <p:txBody>
          <a:bodyPr wrap="square" lIns="0" tIns="0" rIns="0" bIns="0" rtlCol="0" anchor="ctr"/>
          <a:lstStyle/>
          <a:p>
            <a:pPr indent="0" marL="0">
              <a:buNone/>
            </a:pPr>
            <a:r>
              <a:rPr lang="en-US" sz="1900" dirty="0">
                <a:solidFill>
                  <a:srgbClr val="3A424E"/>
                </a:solidFill>
                <a:latin typeface="Courier New" pitchFamily="34" charset="0"/>
                <a:ea typeface="Courier New" pitchFamily="34" charset="-122"/>
                <a:cs typeface="Courier New" pitchFamily="34" charset="-120"/>
              </a:rPr>
              <a:t>dashboard en verde</a:t>
            </a:r>
            <a:endParaRPr lang="en-US" sz="1900" dirty="0"/>
          </a:p>
        </p:txBody>
      </p:sp>
      <p:sp>
        <p:nvSpPr>
          <p:cNvPr id="23" name="Shape 20"/>
          <p:cNvSpPr/>
          <p:nvPr/>
        </p:nvSpPr>
        <p:spPr>
          <a:xfrm>
            <a:off x="6358578" y="4151376"/>
            <a:ext cx="4991870" cy="9144"/>
          </a:xfrm>
          <a:prstGeom prst="rect">
            <a:avLst/>
          </a:prstGeom>
          <a:solidFill>
            <a:srgbClr val="1C222C"/>
          </a:solidFill>
          <a:ln/>
        </p:spPr>
      </p:sp>
      <p:sp>
        <p:nvSpPr>
          <p:cNvPr id="24" name="Text 21"/>
          <p:cNvSpPr/>
          <p:nvPr/>
        </p:nvSpPr>
        <p:spPr>
          <a:xfrm>
            <a:off x="841248" y="5257800"/>
            <a:ext cx="10509199" cy="5029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Un servicio caído grita.  Un modelo roto susurra.</a:t>
            </a:r>
            <a:endParaRPr lang="en-US" sz="2700" dirty="0"/>
          </a:p>
        </p:txBody>
      </p:sp>
      <p:sp>
        <p:nvSpPr>
          <p:cNvPr id="25" name="Text 22"/>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06 / 18</a:t>
            </a:r>
            <a:endParaRPr lang="en-US" sz="850" dirty="0"/>
          </a:p>
        </p:txBody>
      </p:sp>
      <p:sp>
        <p:nvSpPr>
          <p:cNvPr id="26" name="Text 23"/>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EL PROBLEMA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9F1C"/>
                </a:solidFill>
                <a:latin typeface="Courier New" pitchFamily="34" charset="0"/>
                <a:ea typeface="Courier New" pitchFamily="34" charset="-122"/>
                <a:cs typeface="Courier New" pitchFamily="34" charset="-120"/>
              </a:rPr>
              <a:t>MLOPS ASUME</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600200"/>
            <a:ext cx="875767" cy="822960"/>
          </a:xfrm>
          <a:prstGeom prst="rect">
            <a:avLst/>
          </a:prstGeom>
          <a:noFill/>
          <a:ln/>
        </p:spPr>
        <p:txBody>
          <a:bodyPr wrap="square" lIns="0" tIns="0" rIns="0" bIns="0" rtlCol="0" anchor="ctr"/>
          <a:lstStyle/>
          <a:p>
            <a:pPr indent="0" marL="0">
              <a:buNone/>
            </a:pPr>
            <a:r>
              <a:rPr lang="en-US" sz="3400" dirty="0">
                <a:solidFill>
                  <a:srgbClr val="3A424E"/>
                </a:solidFill>
                <a:latin typeface="Courier New" pitchFamily="34" charset="0"/>
                <a:ea typeface="Courier New" pitchFamily="34" charset="-122"/>
                <a:cs typeface="Courier New" pitchFamily="34" charset="-120"/>
              </a:rPr>
              <a:t>01</a:t>
            </a:r>
            <a:endParaRPr lang="en-US" sz="3400" dirty="0"/>
          </a:p>
        </p:txBody>
      </p:sp>
      <p:sp>
        <p:nvSpPr>
          <p:cNvPr id="6" name="Text 3"/>
          <p:cNvSpPr/>
          <p:nvPr/>
        </p:nvSpPr>
        <p:spPr>
          <a:xfrm>
            <a:off x="1979745" y="1618488"/>
            <a:ext cx="6130366" cy="457200"/>
          </a:xfrm>
          <a:prstGeom prst="rect">
            <a:avLst/>
          </a:prstGeom>
          <a:noFill/>
          <a:ln/>
        </p:spPr>
        <p:txBody>
          <a:bodyPr wrap="square" lIns="0" tIns="0" rIns="0" bIns="0" rtlCol="0" anchor="ctr"/>
          <a:lstStyle/>
          <a:p>
            <a:pPr indent="0" marL="0">
              <a:buNone/>
            </a:pPr>
            <a:r>
              <a:rPr lang="en-US" sz="2500" b="1" strike="sngStrike" dirty="0">
                <a:solidFill>
                  <a:srgbClr val="3A424E"/>
                </a:solidFill>
                <a:latin typeface="Arial" pitchFamily="34" charset="0"/>
                <a:ea typeface="Arial" pitchFamily="34" charset="-122"/>
                <a:cs typeface="Arial" pitchFamily="34" charset="-120"/>
              </a:rPr>
              <a:t>El modelo corre en tu infraestructura</a:t>
            </a:r>
            <a:endParaRPr lang="en-US" sz="2500" dirty="0"/>
          </a:p>
        </p:txBody>
      </p:sp>
      <p:sp>
        <p:nvSpPr>
          <p:cNvPr id="7" name="Text 4"/>
          <p:cNvSpPr/>
          <p:nvPr/>
        </p:nvSpPr>
        <p:spPr>
          <a:xfrm>
            <a:off x="1979745" y="2057400"/>
            <a:ext cx="6130366" cy="365760"/>
          </a:xfrm>
          <a:prstGeom prst="rect">
            <a:avLst/>
          </a:prstGeom>
          <a:noFill/>
          <a:ln/>
        </p:spPr>
        <p:txBody>
          <a:bodyPr wrap="square" lIns="0" tIns="0" rIns="0" bIns="0" rtlCol="0" anchor="ctr"/>
          <a:lstStyle/>
          <a:p>
            <a:pPr indent="0" marL="0">
              <a:buNone/>
            </a:pPr>
            <a:r>
              <a:rPr lang="en-US" sz="1500" dirty="0">
                <a:solidFill>
                  <a:srgbClr val="FF5C4D"/>
                </a:solidFill>
                <a:latin typeface="Arial" pitchFamily="34" charset="0"/>
                <a:ea typeface="Arial" pitchFamily="34" charset="-122"/>
                <a:cs typeface="Arial" pitchFamily="34" charset="-120"/>
              </a:rPr>
              <a:t>el dispositivo no es tuyo</a:t>
            </a:r>
            <a:endParaRPr lang="en-US" sz="1500" dirty="0"/>
          </a:p>
        </p:txBody>
      </p:sp>
      <p:sp>
        <p:nvSpPr>
          <p:cNvPr id="8" name="Shape 5"/>
          <p:cNvSpPr/>
          <p:nvPr/>
        </p:nvSpPr>
        <p:spPr>
          <a:xfrm>
            <a:off x="841248" y="2532888"/>
            <a:ext cx="10509199" cy="10973"/>
          </a:xfrm>
          <a:prstGeom prst="rect">
            <a:avLst/>
          </a:prstGeom>
          <a:solidFill>
            <a:srgbClr val="1C222C"/>
          </a:solidFill>
          <a:ln/>
        </p:spPr>
      </p:sp>
      <p:sp>
        <p:nvSpPr>
          <p:cNvPr id="9" name="Text 6"/>
          <p:cNvSpPr/>
          <p:nvPr/>
        </p:nvSpPr>
        <p:spPr>
          <a:xfrm>
            <a:off x="841248" y="2807208"/>
            <a:ext cx="875767" cy="822960"/>
          </a:xfrm>
          <a:prstGeom prst="rect">
            <a:avLst/>
          </a:prstGeom>
          <a:noFill/>
          <a:ln/>
        </p:spPr>
        <p:txBody>
          <a:bodyPr wrap="square" lIns="0" tIns="0" rIns="0" bIns="0" rtlCol="0" anchor="ctr"/>
          <a:lstStyle/>
          <a:p>
            <a:pPr indent="0" marL="0">
              <a:buNone/>
            </a:pPr>
            <a:r>
              <a:rPr lang="en-US" sz="3400" dirty="0">
                <a:solidFill>
                  <a:srgbClr val="3A424E"/>
                </a:solidFill>
                <a:latin typeface="Courier New" pitchFamily="34" charset="0"/>
                <a:ea typeface="Courier New" pitchFamily="34" charset="-122"/>
                <a:cs typeface="Courier New" pitchFamily="34" charset="-120"/>
              </a:rPr>
              <a:t>02</a:t>
            </a:r>
            <a:endParaRPr lang="en-US" sz="3400" dirty="0"/>
          </a:p>
        </p:txBody>
      </p:sp>
      <p:sp>
        <p:nvSpPr>
          <p:cNvPr id="10" name="Text 7"/>
          <p:cNvSpPr/>
          <p:nvPr/>
        </p:nvSpPr>
        <p:spPr>
          <a:xfrm>
            <a:off x="1979745" y="2825496"/>
            <a:ext cx="6130366" cy="457200"/>
          </a:xfrm>
          <a:prstGeom prst="rect">
            <a:avLst/>
          </a:prstGeom>
          <a:noFill/>
          <a:ln/>
        </p:spPr>
        <p:txBody>
          <a:bodyPr wrap="square" lIns="0" tIns="0" rIns="0" bIns="0" rtlCol="0" anchor="ctr"/>
          <a:lstStyle/>
          <a:p>
            <a:pPr indent="0" marL="0">
              <a:buNone/>
            </a:pPr>
            <a:r>
              <a:rPr lang="en-US" sz="2500" b="1" strike="sngStrike" dirty="0">
                <a:solidFill>
                  <a:srgbClr val="3A424E"/>
                </a:solidFill>
                <a:latin typeface="Arial" pitchFamily="34" charset="0"/>
                <a:ea typeface="Arial" pitchFamily="34" charset="-122"/>
                <a:cs typeface="Arial" pitchFamily="34" charset="-120"/>
              </a:rPr>
              <a:t>Podés ver los datos que entran</a:t>
            </a:r>
            <a:endParaRPr lang="en-US" sz="2500" dirty="0"/>
          </a:p>
        </p:txBody>
      </p:sp>
      <p:sp>
        <p:nvSpPr>
          <p:cNvPr id="11" name="Text 8"/>
          <p:cNvSpPr/>
          <p:nvPr/>
        </p:nvSpPr>
        <p:spPr>
          <a:xfrm>
            <a:off x="1979745" y="3264408"/>
            <a:ext cx="6130366" cy="365760"/>
          </a:xfrm>
          <a:prstGeom prst="rect">
            <a:avLst/>
          </a:prstGeom>
          <a:noFill/>
          <a:ln/>
        </p:spPr>
        <p:txBody>
          <a:bodyPr wrap="square" lIns="0" tIns="0" rIns="0" bIns="0" rtlCol="0" anchor="ctr"/>
          <a:lstStyle/>
          <a:p>
            <a:pPr indent="0" marL="0">
              <a:buNone/>
            </a:pPr>
            <a:r>
              <a:rPr lang="en-US" sz="1500" dirty="0">
                <a:solidFill>
                  <a:srgbClr val="FF5C4D"/>
                </a:solidFill>
                <a:latin typeface="Arial" pitchFamily="34" charset="0"/>
                <a:ea typeface="Arial" pitchFamily="34" charset="-122"/>
                <a:cs typeface="Arial" pitchFamily="34" charset="-120"/>
              </a:rPr>
              <a:t>no salen del sitio</a:t>
            </a:r>
            <a:endParaRPr lang="en-US" sz="1500" dirty="0"/>
          </a:p>
        </p:txBody>
      </p:sp>
      <p:sp>
        <p:nvSpPr>
          <p:cNvPr id="12" name="Shape 9"/>
          <p:cNvSpPr/>
          <p:nvPr/>
        </p:nvSpPr>
        <p:spPr>
          <a:xfrm>
            <a:off x="841248" y="3739896"/>
            <a:ext cx="10509199" cy="10973"/>
          </a:xfrm>
          <a:prstGeom prst="rect">
            <a:avLst/>
          </a:prstGeom>
          <a:solidFill>
            <a:srgbClr val="1C222C"/>
          </a:solidFill>
          <a:ln/>
        </p:spPr>
      </p:sp>
      <p:sp>
        <p:nvSpPr>
          <p:cNvPr id="13" name="Text 10"/>
          <p:cNvSpPr/>
          <p:nvPr/>
        </p:nvSpPr>
        <p:spPr>
          <a:xfrm>
            <a:off x="841248" y="4014216"/>
            <a:ext cx="875767" cy="822960"/>
          </a:xfrm>
          <a:prstGeom prst="rect">
            <a:avLst/>
          </a:prstGeom>
          <a:noFill/>
          <a:ln/>
        </p:spPr>
        <p:txBody>
          <a:bodyPr wrap="square" lIns="0" tIns="0" rIns="0" bIns="0" rtlCol="0" anchor="ctr"/>
          <a:lstStyle/>
          <a:p>
            <a:pPr indent="0" marL="0">
              <a:buNone/>
            </a:pPr>
            <a:r>
              <a:rPr lang="en-US" sz="3400" dirty="0">
                <a:solidFill>
                  <a:srgbClr val="3A424E"/>
                </a:solidFill>
                <a:latin typeface="Courier New" pitchFamily="34" charset="0"/>
                <a:ea typeface="Courier New" pitchFamily="34" charset="-122"/>
                <a:cs typeface="Courier New" pitchFamily="34" charset="-120"/>
              </a:rPr>
              <a:t>03</a:t>
            </a:r>
            <a:endParaRPr lang="en-US" sz="3400" dirty="0"/>
          </a:p>
        </p:txBody>
      </p:sp>
      <p:sp>
        <p:nvSpPr>
          <p:cNvPr id="14" name="Text 11"/>
          <p:cNvSpPr/>
          <p:nvPr/>
        </p:nvSpPr>
        <p:spPr>
          <a:xfrm>
            <a:off x="1979745" y="4032504"/>
            <a:ext cx="6130366" cy="457200"/>
          </a:xfrm>
          <a:prstGeom prst="rect">
            <a:avLst/>
          </a:prstGeom>
          <a:noFill/>
          <a:ln/>
        </p:spPr>
        <p:txBody>
          <a:bodyPr wrap="square" lIns="0" tIns="0" rIns="0" bIns="0" rtlCol="0" anchor="ctr"/>
          <a:lstStyle/>
          <a:p>
            <a:pPr indent="0" marL="0">
              <a:buNone/>
            </a:pPr>
            <a:r>
              <a:rPr lang="en-US" sz="2500" b="1" strike="sngStrike" dirty="0">
                <a:solidFill>
                  <a:srgbClr val="3A424E"/>
                </a:solidFill>
                <a:latin typeface="Arial" pitchFamily="34" charset="0"/>
                <a:ea typeface="Arial" pitchFamily="34" charset="-122"/>
                <a:cs typeface="Arial" pitchFamily="34" charset="-120"/>
              </a:rPr>
              <a:t>Si algo falla: kubectl rollout undo</a:t>
            </a:r>
            <a:endParaRPr lang="en-US" sz="2500" dirty="0"/>
          </a:p>
        </p:txBody>
      </p:sp>
      <p:sp>
        <p:nvSpPr>
          <p:cNvPr id="15" name="Text 12"/>
          <p:cNvSpPr/>
          <p:nvPr/>
        </p:nvSpPr>
        <p:spPr>
          <a:xfrm>
            <a:off x="1979745" y="4471416"/>
            <a:ext cx="6130366" cy="365760"/>
          </a:xfrm>
          <a:prstGeom prst="rect">
            <a:avLst/>
          </a:prstGeom>
          <a:noFill/>
          <a:ln/>
        </p:spPr>
        <p:txBody>
          <a:bodyPr wrap="square" lIns="0" tIns="0" rIns="0" bIns="0" rtlCol="0" anchor="ctr"/>
          <a:lstStyle/>
          <a:p>
            <a:pPr indent="0" marL="0">
              <a:buNone/>
            </a:pPr>
            <a:r>
              <a:rPr lang="en-US" sz="1500" dirty="0">
                <a:solidFill>
                  <a:srgbClr val="FF5C4D"/>
                </a:solidFill>
                <a:latin typeface="Arial" pitchFamily="34" charset="0"/>
                <a:ea typeface="Arial" pitchFamily="34" charset="-122"/>
                <a:cs typeface="Arial" pitchFamily="34" charset="-120"/>
              </a:rPr>
              <a:t>no hay cluster ni SSH</a:t>
            </a:r>
            <a:endParaRPr lang="en-US" sz="1500" dirty="0"/>
          </a:p>
        </p:txBody>
      </p:sp>
      <p:sp>
        <p:nvSpPr>
          <p:cNvPr id="16" name="Shape 13"/>
          <p:cNvSpPr/>
          <p:nvPr/>
        </p:nvSpPr>
        <p:spPr>
          <a:xfrm>
            <a:off x="841248" y="4946904"/>
            <a:ext cx="10509199" cy="10973"/>
          </a:xfrm>
          <a:prstGeom prst="rect">
            <a:avLst/>
          </a:prstGeom>
          <a:solidFill>
            <a:srgbClr val="1C222C"/>
          </a:solidFill>
          <a:ln/>
        </p:spPr>
      </p:sp>
      <p:sp>
        <p:nvSpPr>
          <p:cNvPr id="17" name="Text 14"/>
          <p:cNvSpPr/>
          <p:nvPr/>
        </p:nvSpPr>
        <p:spPr>
          <a:xfrm>
            <a:off x="841248" y="5486400"/>
            <a:ext cx="10509199" cy="502920"/>
          </a:xfrm>
          <a:prstGeom prst="rect">
            <a:avLst/>
          </a:prstGeom>
          <a:noFill/>
          <a:ln/>
        </p:spPr>
        <p:txBody>
          <a:bodyPr wrap="square" lIns="0" tIns="0" rIns="0" bIns="0" rtlCol="0" anchor="ctr"/>
          <a:lstStyle/>
          <a:p>
            <a:pPr indent="0" marL="0">
              <a:buNone/>
            </a:pPr>
            <a:r>
              <a:rPr lang="en-US" sz="2700" b="1" dirty="0">
                <a:solidFill>
                  <a:srgbClr val="FF9F1C"/>
                </a:solidFill>
                <a:latin typeface="Arial" pitchFamily="34" charset="0"/>
                <a:ea typeface="Arial" pitchFamily="34" charset="-122"/>
                <a:cs typeface="Arial" pitchFamily="34" charset="-120"/>
              </a:rPr>
              <a:t>En el borde no se cumple ninguna.</a:t>
            </a:r>
            <a:endParaRPr lang="en-US" sz="2700" dirty="0"/>
          </a:p>
        </p:txBody>
      </p:sp>
      <p:sp>
        <p:nvSpPr>
          <p:cNvPr id="18" name="Text 15"/>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07 / 18</a:t>
            </a:r>
            <a:endParaRPr lang="en-US" sz="850" dirty="0"/>
          </a:p>
        </p:txBody>
      </p:sp>
      <p:sp>
        <p:nvSpPr>
          <p:cNvPr id="19" name="Text 16"/>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EL PROBLEMA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502920"/>
            <a:ext cx="1751533" cy="822960"/>
          </a:xfrm>
          <a:prstGeom prst="rect">
            <a:avLst/>
          </a:prstGeom>
          <a:noFill/>
          <a:ln/>
        </p:spPr>
        <p:txBody>
          <a:bodyPr wrap="square" lIns="0" tIns="0" rIns="0" bIns="0" rtlCol="0" anchor="ctr"/>
          <a:lstStyle/>
          <a:p>
            <a:pPr indent="0" marL="0">
              <a:buNone/>
            </a:pPr>
            <a:r>
              <a:rPr lang="en-US" sz="6200" b="1" dirty="0">
                <a:solidFill>
                  <a:srgbClr val="E0DAD2"/>
                </a:solidFill>
                <a:latin typeface="Arial" pitchFamily="34" charset="0"/>
                <a:ea typeface="Arial" pitchFamily="34" charset="-122"/>
                <a:cs typeface="Arial" pitchFamily="34" charset="-120"/>
              </a:rPr>
              <a:t>01</a:t>
            </a:r>
            <a:endParaRPr lang="en-US" sz="6200" dirty="0"/>
          </a:p>
        </p:txBody>
      </p:sp>
      <p:sp>
        <p:nvSpPr>
          <p:cNvPr id="4" name="Text 1"/>
          <p:cNvSpPr/>
          <p:nvPr/>
        </p:nvSpPr>
        <p:spPr>
          <a:xfrm>
            <a:off x="2154898" y="685800"/>
            <a:ext cx="5254600" cy="457200"/>
          </a:xfrm>
          <a:prstGeom prst="rect">
            <a:avLst/>
          </a:prstGeom>
          <a:noFill/>
          <a:ln/>
        </p:spPr>
        <p:txBody>
          <a:bodyPr wrap="square" lIns="0" tIns="0" rIns="0" bIns="0" rtlCol="0" anchor="ctr"/>
          <a:lstStyle/>
          <a:p>
            <a:pPr indent="0" marL="0">
              <a:buNone/>
            </a:pPr>
            <a:r>
              <a:rPr lang="en-US" sz="1300" spc="300" kern="0" dirty="0">
                <a:solidFill>
                  <a:srgbClr val="8A7A5E"/>
                </a:solidFill>
                <a:latin typeface="Courier New" pitchFamily="34" charset="0"/>
                <a:ea typeface="Courier New" pitchFamily="34" charset="-122"/>
                <a:cs typeface="Courier New" pitchFamily="34" charset="-120"/>
              </a:rPr>
              <a:t>DESPLEGAR</a:t>
            </a:r>
            <a:endParaRPr lang="en-US" sz="1300" dirty="0"/>
          </a:p>
        </p:txBody>
      </p:sp>
      <p:sp>
        <p:nvSpPr>
          <p:cNvPr id="5" name="Shape 2"/>
          <p:cNvSpPr/>
          <p:nvPr/>
        </p:nvSpPr>
        <p:spPr>
          <a:xfrm>
            <a:off x="0" y="1481328"/>
            <a:ext cx="12191695" cy="12802"/>
          </a:xfrm>
          <a:prstGeom prst="rect">
            <a:avLst/>
          </a:prstGeom>
          <a:solidFill>
            <a:srgbClr val="D8D3CC"/>
          </a:solidFill>
          <a:ln/>
        </p:spPr>
      </p:sp>
      <p:sp>
        <p:nvSpPr>
          <p:cNvPr id="6" name="Text 3"/>
          <p:cNvSpPr/>
          <p:nvPr/>
        </p:nvSpPr>
        <p:spPr>
          <a:xfrm>
            <a:off x="841248" y="1828800"/>
            <a:ext cx="5604906" cy="1463040"/>
          </a:xfrm>
          <a:prstGeom prst="rect">
            <a:avLst/>
          </a:prstGeom>
          <a:noFill/>
          <a:ln/>
        </p:spPr>
        <p:txBody>
          <a:bodyPr wrap="square" lIns="0" tIns="0" rIns="0" bIns="0" rtlCol="0" anchor="t"/>
          <a:lstStyle/>
          <a:p>
            <a:pPr indent="0" marL="0">
              <a:lnSpc>
                <a:spcPct val="115000"/>
              </a:lnSpc>
              <a:buNone/>
            </a:pPr>
            <a:r>
              <a:rPr lang="en-US" sz="3800" b="1" dirty="0">
                <a:solidFill>
                  <a:srgbClr val="07090D"/>
                </a:solidFill>
                <a:latin typeface="Arial" pitchFamily="34" charset="0"/>
                <a:ea typeface="Arial" pitchFamily="34" charset="-122"/>
                <a:cs typeface="Arial" pitchFamily="34" charset="-120"/>
              </a:rPr>
              <a:t>Se exporta una vez.</a:t>
            </a:r>
            <a:endParaRPr lang="en-US" sz="3800" dirty="0"/>
          </a:p>
          <a:p>
            <a:pPr indent="0" marL="0">
              <a:lnSpc>
                <a:spcPct val="115000"/>
              </a:lnSpc>
              <a:buNone/>
            </a:pPr>
            <a:r>
              <a:rPr lang="en-US" sz="3800" b="1" dirty="0">
                <a:solidFill>
                  <a:srgbClr val="07090D"/>
                </a:solidFill>
                <a:latin typeface="Arial" pitchFamily="34" charset="0"/>
                <a:ea typeface="Arial" pitchFamily="34" charset="-122"/>
                <a:cs typeface="Arial" pitchFamily="34" charset="-120"/>
              </a:rPr>
              <a:t>Se compila por destino.</a:t>
            </a:r>
            <a:endParaRPr lang="en-US" sz="3800" dirty="0"/>
          </a:p>
        </p:txBody>
      </p:sp>
      <p:sp>
        <p:nvSpPr>
          <p:cNvPr id="7" name="Text 4"/>
          <p:cNvSpPr/>
          <p:nvPr/>
        </p:nvSpPr>
        <p:spPr>
          <a:xfrm>
            <a:off x="841248" y="3520440"/>
            <a:ext cx="5254600" cy="731520"/>
          </a:xfrm>
          <a:prstGeom prst="rect">
            <a:avLst/>
          </a:prstGeom>
          <a:noFill/>
          <a:ln/>
        </p:spPr>
        <p:txBody>
          <a:bodyPr wrap="square" lIns="0" tIns="0" rIns="0" bIns="0" rtlCol="0" anchor="t"/>
          <a:lstStyle/>
          <a:p>
            <a:pPr indent="0" marL="0">
              <a:buNone/>
            </a:pPr>
            <a:r>
              <a:rPr lang="en-US" sz="1400" dirty="0">
                <a:solidFill>
                  <a:srgbClr val="6B6560"/>
                </a:solidFill>
                <a:latin typeface="Arial" pitchFamily="34" charset="0"/>
                <a:ea typeface="Arial" pitchFamily="34" charset="-122"/>
                <a:cs typeface="Arial" pitchFamily="34" charset="-120"/>
              </a:rPr>
              <a:t>El hardware de IA se mueve demasiado rápido</a:t>
            </a:r>
            <a:endParaRPr lang="en-US" sz="1400" dirty="0"/>
          </a:p>
          <a:p>
            <a:pPr indent="0" marL="0">
              <a:buNone/>
            </a:pPr>
            <a:r>
              <a:rPr lang="en-US" sz="1400" dirty="0">
                <a:solidFill>
                  <a:srgbClr val="6B6560"/>
                </a:solidFill>
                <a:latin typeface="Arial" pitchFamily="34" charset="0"/>
                <a:ea typeface="Arial" pitchFamily="34" charset="-122"/>
                <a:cs typeface="Arial" pitchFamily="34" charset="-120"/>
              </a:rPr>
              <a:t>para amarrar una arquitectura a un proveedor.</a:t>
            </a:r>
            <a:endParaRPr lang="en-US" sz="1400" dirty="0"/>
          </a:p>
        </p:txBody>
      </p:sp>
      <p:sp>
        <p:nvSpPr>
          <p:cNvPr id="8" name="Shape 5"/>
          <p:cNvSpPr/>
          <p:nvPr/>
        </p:nvSpPr>
        <p:spPr>
          <a:xfrm>
            <a:off x="7146768" y="1874520"/>
            <a:ext cx="4203680" cy="640080"/>
          </a:xfrm>
          <a:prstGeom prst="rect">
            <a:avLst/>
          </a:prstGeom>
          <a:solidFill>
            <a:srgbClr val="07090D"/>
          </a:solidFill>
          <a:ln/>
        </p:spPr>
      </p:sp>
      <p:sp>
        <p:nvSpPr>
          <p:cNvPr id="9" name="Text 6"/>
          <p:cNvSpPr/>
          <p:nvPr/>
        </p:nvSpPr>
        <p:spPr>
          <a:xfrm>
            <a:off x="7146768" y="1874520"/>
            <a:ext cx="4203680" cy="640080"/>
          </a:xfrm>
          <a:prstGeom prst="rect">
            <a:avLst/>
          </a:prstGeom>
          <a:noFill/>
          <a:ln/>
        </p:spPr>
        <p:txBody>
          <a:bodyPr wrap="square" lIns="0" tIns="0" rIns="0" bIns="0" rtlCol="0" anchor="ctr"/>
          <a:lstStyle/>
          <a:p>
            <a:pPr algn="ctr" indent="0" marL="0">
              <a:buNone/>
            </a:pPr>
            <a:r>
              <a:rPr lang="en-US" sz="2200" b="1" spc="300" kern="0" dirty="0">
                <a:solidFill>
                  <a:srgbClr val="FF9F1C"/>
                </a:solidFill>
                <a:latin typeface="Courier New" pitchFamily="34" charset="0"/>
                <a:ea typeface="Courier New" pitchFamily="34" charset="-122"/>
                <a:cs typeface="Courier New" pitchFamily="34" charset="-120"/>
              </a:rPr>
              <a:t>ONNX</a:t>
            </a:r>
            <a:endParaRPr lang="en-US" sz="2200" dirty="0"/>
          </a:p>
        </p:txBody>
      </p:sp>
      <p:sp>
        <p:nvSpPr>
          <p:cNvPr id="10" name="Shape 7"/>
          <p:cNvSpPr/>
          <p:nvPr/>
        </p:nvSpPr>
        <p:spPr>
          <a:xfrm>
            <a:off x="7146768" y="2788920"/>
            <a:ext cx="4203680" cy="10973"/>
          </a:xfrm>
          <a:prstGeom prst="rect">
            <a:avLst/>
          </a:prstGeom>
          <a:solidFill>
            <a:srgbClr val="D8D3CC"/>
          </a:solidFill>
          <a:ln/>
        </p:spPr>
      </p:sp>
      <p:sp>
        <p:nvSpPr>
          <p:cNvPr id="11" name="Text 8"/>
          <p:cNvSpPr/>
          <p:nvPr/>
        </p:nvSpPr>
        <p:spPr>
          <a:xfrm>
            <a:off x="7321921" y="2880360"/>
            <a:ext cx="2276993" cy="411480"/>
          </a:xfrm>
          <a:prstGeom prst="rect">
            <a:avLst/>
          </a:prstGeom>
          <a:noFill/>
          <a:ln/>
        </p:spPr>
        <p:txBody>
          <a:bodyPr wrap="square" lIns="0" tIns="0" rIns="0" bIns="0" rtlCol="0" anchor="ctr"/>
          <a:lstStyle/>
          <a:p>
            <a:pPr indent="0" marL="0">
              <a:buNone/>
            </a:pPr>
            <a:r>
              <a:rPr lang="en-US" sz="1500" dirty="0">
                <a:solidFill>
                  <a:srgbClr val="07090D"/>
                </a:solidFill>
                <a:latin typeface="Courier New" pitchFamily="34" charset="0"/>
                <a:ea typeface="Courier New" pitchFamily="34" charset="-122"/>
                <a:cs typeface="Courier New" pitchFamily="34" charset="-120"/>
              </a:rPr>
              <a:t>TensorRT</a:t>
            </a:r>
            <a:endParaRPr lang="en-US" sz="1500" dirty="0"/>
          </a:p>
        </p:txBody>
      </p:sp>
      <p:sp>
        <p:nvSpPr>
          <p:cNvPr id="12" name="Text 9"/>
          <p:cNvSpPr/>
          <p:nvPr/>
        </p:nvSpPr>
        <p:spPr>
          <a:xfrm>
            <a:off x="9248607" y="2880360"/>
            <a:ext cx="2101840" cy="411480"/>
          </a:xfrm>
          <a:prstGeom prst="rect">
            <a:avLst/>
          </a:prstGeom>
          <a:noFill/>
          <a:ln/>
        </p:spPr>
        <p:txBody>
          <a:bodyPr wrap="square" lIns="0" tIns="0" rIns="0" bIns="0" rtlCol="0" anchor="ctr"/>
          <a:lstStyle/>
          <a:p>
            <a:pPr algn="r" indent="0" marL="0">
              <a:buNone/>
            </a:pPr>
            <a:r>
              <a:rPr lang="en-US" sz="1100" dirty="0">
                <a:solidFill>
                  <a:srgbClr val="8A8079"/>
                </a:solidFill>
                <a:latin typeface="Arial" pitchFamily="34" charset="0"/>
                <a:ea typeface="Arial" pitchFamily="34" charset="-122"/>
                <a:cs typeface="Arial" pitchFamily="34" charset="-120"/>
              </a:rPr>
              <a:t>NVIDIA</a:t>
            </a:r>
            <a:endParaRPr lang="en-US" sz="1100" dirty="0"/>
          </a:p>
        </p:txBody>
      </p:sp>
      <p:sp>
        <p:nvSpPr>
          <p:cNvPr id="13" name="Shape 10"/>
          <p:cNvSpPr/>
          <p:nvPr/>
        </p:nvSpPr>
        <p:spPr>
          <a:xfrm>
            <a:off x="7146768" y="3447288"/>
            <a:ext cx="4203680" cy="10973"/>
          </a:xfrm>
          <a:prstGeom prst="rect">
            <a:avLst/>
          </a:prstGeom>
          <a:solidFill>
            <a:srgbClr val="D8D3CC"/>
          </a:solidFill>
          <a:ln/>
        </p:spPr>
      </p:sp>
      <p:sp>
        <p:nvSpPr>
          <p:cNvPr id="14" name="Text 11"/>
          <p:cNvSpPr/>
          <p:nvPr/>
        </p:nvSpPr>
        <p:spPr>
          <a:xfrm>
            <a:off x="7321921" y="3538728"/>
            <a:ext cx="2276993" cy="411480"/>
          </a:xfrm>
          <a:prstGeom prst="rect">
            <a:avLst/>
          </a:prstGeom>
          <a:noFill/>
          <a:ln/>
        </p:spPr>
        <p:txBody>
          <a:bodyPr wrap="square" lIns="0" tIns="0" rIns="0" bIns="0" rtlCol="0" anchor="ctr"/>
          <a:lstStyle/>
          <a:p>
            <a:pPr indent="0" marL="0">
              <a:buNone/>
            </a:pPr>
            <a:r>
              <a:rPr lang="en-US" sz="1500" dirty="0">
                <a:solidFill>
                  <a:srgbClr val="07090D"/>
                </a:solidFill>
                <a:latin typeface="Courier New" pitchFamily="34" charset="0"/>
                <a:ea typeface="Courier New" pitchFamily="34" charset="-122"/>
                <a:cs typeface="Courier New" pitchFamily="34" charset="-120"/>
              </a:rPr>
              <a:t>OpenVINO</a:t>
            </a:r>
            <a:endParaRPr lang="en-US" sz="1500" dirty="0"/>
          </a:p>
        </p:txBody>
      </p:sp>
      <p:sp>
        <p:nvSpPr>
          <p:cNvPr id="15" name="Text 12"/>
          <p:cNvSpPr/>
          <p:nvPr/>
        </p:nvSpPr>
        <p:spPr>
          <a:xfrm>
            <a:off x="9248607" y="3538728"/>
            <a:ext cx="2101840" cy="411480"/>
          </a:xfrm>
          <a:prstGeom prst="rect">
            <a:avLst/>
          </a:prstGeom>
          <a:noFill/>
          <a:ln/>
        </p:spPr>
        <p:txBody>
          <a:bodyPr wrap="square" lIns="0" tIns="0" rIns="0" bIns="0" rtlCol="0" anchor="ctr"/>
          <a:lstStyle/>
          <a:p>
            <a:pPr algn="r" indent="0" marL="0">
              <a:buNone/>
            </a:pPr>
            <a:r>
              <a:rPr lang="en-US" sz="1100" dirty="0">
                <a:solidFill>
                  <a:srgbClr val="8A8079"/>
                </a:solidFill>
                <a:latin typeface="Arial" pitchFamily="34" charset="0"/>
                <a:ea typeface="Arial" pitchFamily="34" charset="-122"/>
                <a:cs typeface="Arial" pitchFamily="34" charset="-120"/>
              </a:rPr>
              <a:t>Intel · CPU</a:t>
            </a:r>
            <a:endParaRPr lang="en-US" sz="1100" dirty="0"/>
          </a:p>
        </p:txBody>
      </p:sp>
      <p:sp>
        <p:nvSpPr>
          <p:cNvPr id="16" name="Shape 13"/>
          <p:cNvSpPr/>
          <p:nvPr/>
        </p:nvSpPr>
        <p:spPr>
          <a:xfrm>
            <a:off x="7146768" y="4105656"/>
            <a:ext cx="4203680" cy="10973"/>
          </a:xfrm>
          <a:prstGeom prst="rect">
            <a:avLst/>
          </a:prstGeom>
          <a:solidFill>
            <a:srgbClr val="D8D3CC"/>
          </a:solidFill>
          <a:ln/>
        </p:spPr>
      </p:sp>
      <p:sp>
        <p:nvSpPr>
          <p:cNvPr id="17" name="Text 14"/>
          <p:cNvSpPr/>
          <p:nvPr/>
        </p:nvSpPr>
        <p:spPr>
          <a:xfrm>
            <a:off x="7321921" y="4197096"/>
            <a:ext cx="2276993" cy="411480"/>
          </a:xfrm>
          <a:prstGeom prst="rect">
            <a:avLst/>
          </a:prstGeom>
          <a:noFill/>
          <a:ln/>
        </p:spPr>
        <p:txBody>
          <a:bodyPr wrap="square" lIns="0" tIns="0" rIns="0" bIns="0" rtlCol="0" anchor="ctr"/>
          <a:lstStyle/>
          <a:p>
            <a:pPr indent="0" marL="0">
              <a:buNone/>
            </a:pPr>
            <a:r>
              <a:rPr lang="en-US" sz="1500" dirty="0">
                <a:solidFill>
                  <a:srgbClr val="07090D"/>
                </a:solidFill>
                <a:latin typeface="Courier New" pitchFamily="34" charset="0"/>
                <a:ea typeface="Courier New" pitchFamily="34" charset="-122"/>
                <a:cs typeface="Courier New" pitchFamily="34" charset="-120"/>
              </a:rPr>
              <a:t>Core ML</a:t>
            </a:r>
            <a:endParaRPr lang="en-US" sz="1500" dirty="0"/>
          </a:p>
        </p:txBody>
      </p:sp>
      <p:sp>
        <p:nvSpPr>
          <p:cNvPr id="18" name="Text 15"/>
          <p:cNvSpPr/>
          <p:nvPr/>
        </p:nvSpPr>
        <p:spPr>
          <a:xfrm>
            <a:off x="9248607" y="4197096"/>
            <a:ext cx="2101840" cy="411480"/>
          </a:xfrm>
          <a:prstGeom prst="rect">
            <a:avLst/>
          </a:prstGeom>
          <a:noFill/>
          <a:ln/>
        </p:spPr>
        <p:txBody>
          <a:bodyPr wrap="square" lIns="0" tIns="0" rIns="0" bIns="0" rtlCol="0" anchor="ctr"/>
          <a:lstStyle/>
          <a:p>
            <a:pPr algn="r" indent="0" marL="0">
              <a:buNone/>
            </a:pPr>
            <a:r>
              <a:rPr lang="en-US" sz="1100" dirty="0">
                <a:solidFill>
                  <a:srgbClr val="8A8079"/>
                </a:solidFill>
                <a:latin typeface="Arial" pitchFamily="34" charset="0"/>
                <a:ea typeface="Arial" pitchFamily="34" charset="-122"/>
                <a:cs typeface="Arial" pitchFamily="34" charset="-120"/>
              </a:rPr>
              <a:t>iOS</a:t>
            </a:r>
            <a:endParaRPr lang="en-US" sz="1100" dirty="0"/>
          </a:p>
        </p:txBody>
      </p:sp>
      <p:sp>
        <p:nvSpPr>
          <p:cNvPr id="19" name="Shape 16"/>
          <p:cNvSpPr/>
          <p:nvPr/>
        </p:nvSpPr>
        <p:spPr>
          <a:xfrm>
            <a:off x="7146768" y="4764024"/>
            <a:ext cx="4203680" cy="10973"/>
          </a:xfrm>
          <a:prstGeom prst="rect">
            <a:avLst/>
          </a:prstGeom>
          <a:solidFill>
            <a:srgbClr val="D8D3CC"/>
          </a:solidFill>
          <a:ln/>
        </p:spPr>
      </p:sp>
      <p:sp>
        <p:nvSpPr>
          <p:cNvPr id="20" name="Text 17"/>
          <p:cNvSpPr/>
          <p:nvPr/>
        </p:nvSpPr>
        <p:spPr>
          <a:xfrm>
            <a:off x="7321921" y="4855464"/>
            <a:ext cx="2276993" cy="411480"/>
          </a:xfrm>
          <a:prstGeom prst="rect">
            <a:avLst/>
          </a:prstGeom>
          <a:noFill/>
          <a:ln/>
        </p:spPr>
        <p:txBody>
          <a:bodyPr wrap="square" lIns="0" tIns="0" rIns="0" bIns="0" rtlCol="0" anchor="ctr"/>
          <a:lstStyle/>
          <a:p>
            <a:pPr indent="0" marL="0">
              <a:buNone/>
            </a:pPr>
            <a:r>
              <a:rPr lang="en-US" sz="1500" dirty="0">
                <a:solidFill>
                  <a:srgbClr val="07090D"/>
                </a:solidFill>
                <a:latin typeface="Courier New" pitchFamily="34" charset="0"/>
                <a:ea typeface="Courier New" pitchFamily="34" charset="-122"/>
                <a:cs typeface="Courier New" pitchFamily="34" charset="-120"/>
              </a:rPr>
              <a:t>NNAPI</a:t>
            </a:r>
            <a:endParaRPr lang="en-US" sz="1500" dirty="0"/>
          </a:p>
        </p:txBody>
      </p:sp>
      <p:sp>
        <p:nvSpPr>
          <p:cNvPr id="21" name="Text 18"/>
          <p:cNvSpPr/>
          <p:nvPr/>
        </p:nvSpPr>
        <p:spPr>
          <a:xfrm>
            <a:off x="9248607" y="4855464"/>
            <a:ext cx="2101840" cy="411480"/>
          </a:xfrm>
          <a:prstGeom prst="rect">
            <a:avLst/>
          </a:prstGeom>
          <a:noFill/>
          <a:ln/>
        </p:spPr>
        <p:txBody>
          <a:bodyPr wrap="square" lIns="0" tIns="0" rIns="0" bIns="0" rtlCol="0" anchor="ctr"/>
          <a:lstStyle/>
          <a:p>
            <a:pPr algn="r" indent="0" marL="0">
              <a:buNone/>
            </a:pPr>
            <a:r>
              <a:rPr lang="en-US" sz="1100" dirty="0">
                <a:solidFill>
                  <a:srgbClr val="8A8079"/>
                </a:solidFill>
                <a:latin typeface="Arial" pitchFamily="34" charset="0"/>
                <a:ea typeface="Arial" pitchFamily="34" charset="-122"/>
                <a:cs typeface="Arial" pitchFamily="34" charset="-120"/>
              </a:rPr>
              <a:t>Android</a:t>
            </a:r>
            <a:endParaRPr lang="en-US" sz="1100" dirty="0"/>
          </a:p>
        </p:txBody>
      </p:sp>
      <p:sp>
        <p:nvSpPr>
          <p:cNvPr id="22" name="Shape 19"/>
          <p:cNvSpPr/>
          <p:nvPr/>
        </p:nvSpPr>
        <p:spPr>
          <a:xfrm>
            <a:off x="7146768" y="5422392"/>
            <a:ext cx="4203680" cy="10973"/>
          </a:xfrm>
          <a:prstGeom prst="rect">
            <a:avLst/>
          </a:prstGeom>
          <a:solidFill>
            <a:srgbClr val="D8D3CC"/>
          </a:solidFill>
          <a:ln/>
        </p:spPr>
      </p:sp>
      <p:sp>
        <p:nvSpPr>
          <p:cNvPr id="23" name="Text 20"/>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A9A29A"/>
                </a:solidFill>
                <a:latin typeface="Courier New" pitchFamily="34" charset="0"/>
                <a:ea typeface="Courier New" pitchFamily="34" charset="-122"/>
                <a:cs typeface="Courier New" pitchFamily="34" charset="-120"/>
              </a:rPr>
              <a:t>08 / 18</a:t>
            </a:r>
            <a:endParaRPr lang="en-US" sz="850" dirty="0"/>
          </a:p>
        </p:txBody>
      </p:sp>
      <p:sp>
        <p:nvSpPr>
          <p:cNvPr id="24" name="Text 21"/>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A9A29A"/>
                </a:solidFill>
                <a:latin typeface="Courier New" pitchFamily="34" charset="0"/>
                <a:ea typeface="Courier New" pitchFamily="34" charset="-122"/>
                <a:cs typeface="Courier New" pitchFamily="34" charset="-120"/>
              </a:rPr>
              <a:t>ACTO 1 · DESPLEGAR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2377440"/>
            <a:ext cx="10509199" cy="914400"/>
          </a:xfrm>
          <a:prstGeom prst="rect">
            <a:avLst/>
          </a:prstGeom>
          <a:noFill/>
          <a:ln/>
        </p:spPr>
        <p:txBody>
          <a:bodyPr wrap="square" lIns="0" tIns="0" rIns="0" bIns="0" rtlCol="0" anchor="ctr"/>
          <a:lstStyle/>
          <a:p>
            <a:pPr indent="0" marL="0">
              <a:buNone/>
            </a:pPr>
            <a:r>
              <a:rPr lang="en-US" sz="5800" b="1" spc="-100" kern="0" dirty="0">
                <a:solidFill>
                  <a:srgbClr val="8A93A0"/>
                </a:solidFill>
                <a:latin typeface="Arial" pitchFamily="34" charset="0"/>
                <a:ea typeface="Arial" pitchFamily="34" charset="-122"/>
                <a:cs typeface="Arial" pitchFamily="34" charset="-120"/>
              </a:rPr>
              <a:t>Un modelo sin firmar</a:t>
            </a:r>
            <a:endParaRPr lang="en-US" sz="5800" dirty="0"/>
          </a:p>
        </p:txBody>
      </p:sp>
      <p:sp>
        <p:nvSpPr>
          <p:cNvPr id="4" name="Text 1"/>
          <p:cNvSpPr/>
          <p:nvPr/>
        </p:nvSpPr>
        <p:spPr>
          <a:xfrm>
            <a:off x="841248" y="3291840"/>
            <a:ext cx="10509199" cy="914400"/>
          </a:xfrm>
          <a:prstGeom prst="rect">
            <a:avLst/>
          </a:prstGeom>
          <a:noFill/>
          <a:ln/>
        </p:spPr>
        <p:txBody>
          <a:bodyPr wrap="square" lIns="0" tIns="0" rIns="0" bIns="0" rtlCol="0" anchor="ctr"/>
          <a:lstStyle/>
          <a:p>
            <a:pPr indent="0" marL="0">
              <a:buNone/>
            </a:pPr>
            <a:r>
              <a:rPr lang="en-US" sz="5800" b="1" spc="-100" kern="0" dirty="0">
                <a:solidFill>
                  <a:srgbClr val="FF5C4D"/>
                </a:solidFill>
                <a:latin typeface="Arial" pitchFamily="34" charset="0"/>
                <a:ea typeface="Arial" pitchFamily="34" charset="-122"/>
                <a:cs typeface="Arial" pitchFamily="34" charset="-120"/>
              </a:rPr>
              <a:t>es un binario sin firmar.</a:t>
            </a:r>
            <a:endParaRPr lang="en-US" sz="5800" dirty="0"/>
          </a:p>
        </p:txBody>
      </p:sp>
      <p:sp>
        <p:nvSpPr>
          <p:cNvPr id="5" name="Shape 2"/>
          <p:cNvSpPr/>
          <p:nvPr/>
        </p:nvSpPr>
        <p:spPr>
          <a:xfrm>
            <a:off x="0" y="4526280"/>
            <a:ext cx="12191695" cy="12802"/>
          </a:xfrm>
          <a:prstGeom prst="rect">
            <a:avLst/>
          </a:prstGeom>
          <a:solidFill>
            <a:srgbClr val="1C222C"/>
          </a:solidFill>
          <a:ln/>
        </p:spPr>
      </p:sp>
      <p:sp>
        <p:nvSpPr>
          <p:cNvPr id="6" name="Text 3"/>
          <p:cNvSpPr/>
          <p:nvPr/>
        </p:nvSpPr>
        <p:spPr>
          <a:xfrm>
            <a:off x="841248" y="4709160"/>
            <a:ext cx="7881899" cy="365760"/>
          </a:xfrm>
          <a:prstGeom prst="rect">
            <a:avLst/>
          </a:prstGeom>
          <a:noFill/>
          <a:ln/>
        </p:spPr>
        <p:txBody>
          <a:bodyPr wrap="square" lIns="0" tIns="0" rIns="0" bIns="0" rtlCol="0" anchor="ctr"/>
          <a:lstStyle/>
          <a:p>
            <a:pPr indent="0" marL="0">
              <a:buNone/>
            </a:pPr>
            <a:r>
              <a:rPr lang="en-US" sz="1300" dirty="0">
                <a:solidFill>
                  <a:srgbClr val="2DD4BF"/>
                </a:solidFill>
                <a:latin typeface="Courier New" pitchFamily="34" charset="0"/>
                <a:ea typeface="Courier New" pitchFamily="34" charset="-122"/>
                <a:cs typeface="Courier New" pitchFamily="34" charset="-120"/>
              </a:rPr>
              <a:t>sha256 + manifiesto firmado — una tarde de trabajo</a:t>
            </a:r>
            <a:endParaRPr lang="en-US" sz="1300" dirty="0"/>
          </a:p>
        </p:txBody>
      </p:sp>
      <p:sp>
        <p:nvSpPr>
          <p:cNvPr id="7" name="Text 4"/>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09 / 18</a:t>
            </a:r>
            <a:endParaRPr lang="en-US" sz="850" dirty="0"/>
          </a:p>
        </p:txBody>
      </p:sp>
      <p:sp>
        <p:nvSpPr>
          <p:cNvPr id="8" name="Text 5"/>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ACTO 1 · DESPLEGAR</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502920"/>
            <a:ext cx="1751533" cy="822960"/>
          </a:xfrm>
          <a:prstGeom prst="rect">
            <a:avLst/>
          </a:prstGeom>
          <a:noFill/>
          <a:ln/>
        </p:spPr>
        <p:txBody>
          <a:bodyPr wrap="square" lIns="0" tIns="0" rIns="0" bIns="0" rtlCol="0" anchor="ctr"/>
          <a:lstStyle/>
          <a:p>
            <a:pPr indent="0" marL="0">
              <a:buNone/>
            </a:pPr>
            <a:r>
              <a:rPr lang="en-US" sz="6200" b="1" dirty="0">
                <a:solidFill>
                  <a:srgbClr val="E0DAD2"/>
                </a:solidFill>
                <a:latin typeface="Arial" pitchFamily="34" charset="0"/>
                <a:ea typeface="Arial" pitchFamily="34" charset="-122"/>
                <a:cs typeface="Arial" pitchFamily="34" charset="-120"/>
              </a:rPr>
              <a:t>02</a:t>
            </a:r>
            <a:endParaRPr lang="en-US" sz="6200" dirty="0"/>
          </a:p>
        </p:txBody>
      </p:sp>
      <p:sp>
        <p:nvSpPr>
          <p:cNvPr id="4" name="Text 1"/>
          <p:cNvSpPr/>
          <p:nvPr/>
        </p:nvSpPr>
        <p:spPr>
          <a:xfrm>
            <a:off x="2154898" y="685800"/>
            <a:ext cx="5254600" cy="457200"/>
          </a:xfrm>
          <a:prstGeom prst="rect">
            <a:avLst/>
          </a:prstGeom>
          <a:noFill/>
          <a:ln/>
        </p:spPr>
        <p:txBody>
          <a:bodyPr wrap="square" lIns="0" tIns="0" rIns="0" bIns="0" rtlCol="0" anchor="ctr"/>
          <a:lstStyle/>
          <a:p>
            <a:pPr indent="0" marL="0">
              <a:buNone/>
            </a:pPr>
            <a:r>
              <a:rPr lang="en-US" sz="1300" spc="300" kern="0" dirty="0">
                <a:solidFill>
                  <a:srgbClr val="8A7A5E"/>
                </a:solidFill>
                <a:latin typeface="Courier New" pitchFamily="34" charset="0"/>
                <a:ea typeface="Courier New" pitchFamily="34" charset="-122"/>
                <a:cs typeface="Courier New" pitchFamily="34" charset="-120"/>
              </a:rPr>
              <a:t>OBSERVAR</a:t>
            </a:r>
            <a:endParaRPr lang="en-US" sz="1300" dirty="0"/>
          </a:p>
        </p:txBody>
      </p:sp>
      <p:sp>
        <p:nvSpPr>
          <p:cNvPr id="5" name="Shape 2"/>
          <p:cNvSpPr/>
          <p:nvPr/>
        </p:nvSpPr>
        <p:spPr>
          <a:xfrm>
            <a:off x="0" y="1481328"/>
            <a:ext cx="12191695" cy="12802"/>
          </a:xfrm>
          <a:prstGeom prst="rect">
            <a:avLst/>
          </a:prstGeom>
          <a:solidFill>
            <a:srgbClr val="D8D3CC"/>
          </a:solidFill>
          <a:ln/>
        </p:spPr>
      </p:sp>
      <p:sp>
        <p:nvSpPr>
          <p:cNvPr id="6" name="Text 3"/>
          <p:cNvSpPr/>
          <p:nvPr/>
        </p:nvSpPr>
        <p:spPr>
          <a:xfrm>
            <a:off x="841248" y="1783080"/>
            <a:ext cx="10509199" cy="777240"/>
          </a:xfrm>
          <a:prstGeom prst="rect">
            <a:avLst/>
          </a:prstGeom>
          <a:noFill/>
          <a:ln/>
        </p:spPr>
        <p:txBody>
          <a:bodyPr wrap="square" lIns="0" tIns="0" rIns="0" bIns="0" rtlCol="0" anchor="ctr"/>
          <a:lstStyle/>
          <a:p>
            <a:pPr indent="0" marL="0">
              <a:buNone/>
            </a:pPr>
            <a:r>
              <a:rPr lang="en-US" sz="4000" b="1" dirty="0">
                <a:solidFill>
                  <a:srgbClr val="07090D"/>
                </a:solidFill>
                <a:latin typeface="Arial" pitchFamily="34" charset="0"/>
                <a:ea typeface="Arial" pitchFamily="34" charset="-122"/>
                <a:cs typeface="Arial" pitchFamily="34" charset="-120"/>
              </a:rPr>
              <a:t>Hacé que el modelo declare.</a:t>
            </a:r>
            <a:endParaRPr lang="en-US" sz="4000" dirty="0"/>
          </a:p>
        </p:txBody>
      </p:sp>
      <p:sp>
        <p:nvSpPr>
          <p:cNvPr id="7" name="Shape 4"/>
          <p:cNvSpPr/>
          <p:nvPr/>
        </p:nvSpPr>
        <p:spPr>
          <a:xfrm>
            <a:off x="841248" y="2788920"/>
            <a:ext cx="4991870" cy="10973"/>
          </a:xfrm>
          <a:prstGeom prst="rect">
            <a:avLst/>
          </a:prstGeom>
          <a:solidFill>
            <a:srgbClr val="D8D3CC"/>
          </a:solidFill>
          <a:ln/>
        </p:spPr>
      </p:sp>
      <p:sp>
        <p:nvSpPr>
          <p:cNvPr id="8" name="Text 5"/>
          <p:cNvSpPr/>
          <p:nvPr/>
        </p:nvSpPr>
        <p:spPr>
          <a:xfrm>
            <a:off x="841248" y="2898648"/>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model_id</a:t>
            </a:r>
            <a:endParaRPr lang="en-US" sz="1700" dirty="0"/>
          </a:p>
        </p:txBody>
      </p:sp>
      <p:sp>
        <p:nvSpPr>
          <p:cNvPr id="9" name="Text 6"/>
          <p:cNvSpPr/>
          <p:nvPr/>
        </p:nvSpPr>
        <p:spPr>
          <a:xfrm>
            <a:off x="3818854" y="2898648"/>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qué modelo</a:t>
            </a:r>
            <a:endParaRPr lang="en-US" sz="1200" dirty="0"/>
          </a:p>
        </p:txBody>
      </p:sp>
      <p:sp>
        <p:nvSpPr>
          <p:cNvPr id="10" name="Shape 7"/>
          <p:cNvSpPr/>
          <p:nvPr/>
        </p:nvSpPr>
        <p:spPr>
          <a:xfrm>
            <a:off x="6095848" y="2788920"/>
            <a:ext cx="4991870" cy="10973"/>
          </a:xfrm>
          <a:prstGeom prst="rect">
            <a:avLst/>
          </a:prstGeom>
          <a:solidFill>
            <a:srgbClr val="D8D3CC"/>
          </a:solidFill>
          <a:ln/>
        </p:spPr>
      </p:sp>
      <p:sp>
        <p:nvSpPr>
          <p:cNvPr id="11" name="Text 8"/>
          <p:cNvSpPr/>
          <p:nvPr/>
        </p:nvSpPr>
        <p:spPr>
          <a:xfrm>
            <a:off x="6095848" y="2898648"/>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version + digest</a:t>
            </a:r>
            <a:endParaRPr lang="en-US" sz="1700" dirty="0"/>
          </a:p>
        </p:txBody>
      </p:sp>
      <p:sp>
        <p:nvSpPr>
          <p:cNvPr id="12" name="Text 9"/>
          <p:cNvSpPr/>
          <p:nvPr/>
        </p:nvSpPr>
        <p:spPr>
          <a:xfrm>
            <a:off x="9073454" y="2898648"/>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cuál exactamente</a:t>
            </a:r>
            <a:endParaRPr lang="en-US" sz="1200" dirty="0"/>
          </a:p>
        </p:txBody>
      </p:sp>
      <p:sp>
        <p:nvSpPr>
          <p:cNvPr id="13" name="Shape 10"/>
          <p:cNvSpPr/>
          <p:nvPr/>
        </p:nvSpPr>
        <p:spPr>
          <a:xfrm>
            <a:off x="841248" y="3538728"/>
            <a:ext cx="4991870" cy="10973"/>
          </a:xfrm>
          <a:prstGeom prst="rect">
            <a:avLst/>
          </a:prstGeom>
          <a:solidFill>
            <a:srgbClr val="D8D3CC"/>
          </a:solidFill>
          <a:ln/>
        </p:spPr>
      </p:sp>
      <p:sp>
        <p:nvSpPr>
          <p:cNvPr id="14" name="Text 11"/>
          <p:cNvSpPr/>
          <p:nvPr/>
        </p:nvSpPr>
        <p:spPr>
          <a:xfrm>
            <a:off x="841248" y="3648456"/>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label</a:t>
            </a:r>
            <a:endParaRPr lang="en-US" sz="1700" dirty="0"/>
          </a:p>
        </p:txBody>
      </p:sp>
      <p:sp>
        <p:nvSpPr>
          <p:cNvPr id="15" name="Text 12"/>
          <p:cNvSpPr/>
          <p:nvPr/>
        </p:nvSpPr>
        <p:spPr>
          <a:xfrm>
            <a:off x="3818854" y="3648456"/>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qué predijo</a:t>
            </a:r>
            <a:endParaRPr lang="en-US" sz="1200" dirty="0"/>
          </a:p>
        </p:txBody>
      </p:sp>
      <p:sp>
        <p:nvSpPr>
          <p:cNvPr id="16" name="Shape 13"/>
          <p:cNvSpPr/>
          <p:nvPr/>
        </p:nvSpPr>
        <p:spPr>
          <a:xfrm>
            <a:off x="6095848" y="3538728"/>
            <a:ext cx="4991870" cy="10973"/>
          </a:xfrm>
          <a:prstGeom prst="rect">
            <a:avLst/>
          </a:prstGeom>
          <a:solidFill>
            <a:srgbClr val="D8D3CC"/>
          </a:solidFill>
          <a:ln/>
        </p:spPr>
      </p:sp>
      <p:sp>
        <p:nvSpPr>
          <p:cNvPr id="17" name="Text 14"/>
          <p:cNvSpPr/>
          <p:nvPr/>
        </p:nvSpPr>
        <p:spPr>
          <a:xfrm>
            <a:off x="6095848" y="3648456"/>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confidence</a:t>
            </a:r>
            <a:endParaRPr lang="en-US" sz="1700" dirty="0"/>
          </a:p>
        </p:txBody>
      </p:sp>
      <p:sp>
        <p:nvSpPr>
          <p:cNvPr id="18" name="Text 15"/>
          <p:cNvSpPr/>
          <p:nvPr/>
        </p:nvSpPr>
        <p:spPr>
          <a:xfrm>
            <a:off x="9073454" y="3648456"/>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con qué certeza</a:t>
            </a:r>
            <a:endParaRPr lang="en-US" sz="1200" dirty="0"/>
          </a:p>
        </p:txBody>
      </p:sp>
      <p:sp>
        <p:nvSpPr>
          <p:cNvPr id="19" name="Shape 16"/>
          <p:cNvSpPr/>
          <p:nvPr/>
        </p:nvSpPr>
        <p:spPr>
          <a:xfrm>
            <a:off x="841248" y="4288536"/>
            <a:ext cx="4991870" cy="10973"/>
          </a:xfrm>
          <a:prstGeom prst="rect">
            <a:avLst/>
          </a:prstGeom>
          <a:solidFill>
            <a:srgbClr val="D8D3CC"/>
          </a:solidFill>
          <a:ln/>
        </p:spPr>
      </p:sp>
      <p:sp>
        <p:nvSpPr>
          <p:cNvPr id="20" name="Text 17"/>
          <p:cNvSpPr/>
          <p:nvPr/>
        </p:nvSpPr>
        <p:spPr>
          <a:xfrm>
            <a:off x="841248" y="4398264"/>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latency_ms</a:t>
            </a:r>
            <a:endParaRPr lang="en-US" sz="1700" dirty="0"/>
          </a:p>
        </p:txBody>
      </p:sp>
      <p:sp>
        <p:nvSpPr>
          <p:cNvPr id="21" name="Text 18"/>
          <p:cNvSpPr/>
          <p:nvPr/>
        </p:nvSpPr>
        <p:spPr>
          <a:xfrm>
            <a:off x="3818854" y="4398264"/>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en cuánto tiempo</a:t>
            </a:r>
            <a:endParaRPr lang="en-US" sz="1200" dirty="0"/>
          </a:p>
        </p:txBody>
      </p:sp>
      <p:sp>
        <p:nvSpPr>
          <p:cNvPr id="22" name="Shape 19"/>
          <p:cNvSpPr/>
          <p:nvPr/>
        </p:nvSpPr>
        <p:spPr>
          <a:xfrm>
            <a:off x="6095848" y="4288536"/>
            <a:ext cx="4991870" cy="10973"/>
          </a:xfrm>
          <a:prstGeom prst="rect">
            <a:avLst/>
          </a:prstGeom>
          <a:solidFill>
            <a:srgbClr val="D8D3CC"/>
          </a:solidFill>
          <a:ln/>
        </p:spPr>
      </p:sp>
      <p:sp>
        <p:nvSpPr>
          <p:cNvPr id="23" name="Text 20"/>
          <p:cNvSpPr/>
          <p:nvPr/>
        </p:nvSpPr>
        <p:spPr>
          <a:xfrm>
            <a:off x="6095848" y="4398264"/>
            <a:ext cx="2977606" cy="438912"/>
          </a:xfrm>
          <a:prstGeom prst="rect">
            <a:avLst/>
          </a:prstGeom>
          <a:noFill/>
          <a:ln/>
        </p:spPr>
        <p:txBody>
          <a:bodyPr wrap="square" lIns="0" tIns="0" rIns="0" bIns="0" rtlCol="0" anchor="ctr"/>
          <a:lstStyle/>
          <a:p>
            <a:pPr indent="0" marL="0">
              <a:buNone/>
            </a:pPr>
            <a:r>
              <a:rPr lang="en-US" sz="1700" dirty="0">
                <a:solidFill>
                  <a:srgbClr val="07090D"/>
                </a:solidFill>
                <a:latin typeface="Courier New" pitchFamily="34" charset="0"/>
                <a:ea typeface="Courier New" pitchFamily="34" charset="-122"/>
                <a:cs typeface="Courier New" pitchFamily="34" charset="-120"/>
              </a:rPr>
              <a:t>correlation_id</a:t>
            </a:r>
            <a:endParaRPr lang="en-US" sz="1700" dirty="0"/>
          </a:p>
        </p:txBody>
      </p:sp>
      <p:sp>
        <p:nvSpPr>
          <p:cNvPr id="24" name="Text 21"/>
          <p:cNvSpPr/>
          <p:nvPr/>
        </p:nvSpPr>
        <p:spPr>
          <a:xfrm>
            <a:off x="9073454" y="4398264"/>
            <a:ext cx="2014263" cy="438912"/>
          </a:xfrm>
          <a:prstGeom prst="rect">
            <a:avLst/>
          </a:prstGeom>
          <a:noFill/>
          <a:ln/>
        </p:spPr>
        <p:txBody>
          <a:bodyPr wrap="square" lIns="0" tIns="0" rIns="0" bIns="0" rtlCol="0" anchor="ctr"/>
          <a:lstStyle/>
          <a:p>
            <a:pPr algn="r" indent="0" marL="0">
              <a:buNone/>
            </a:pPr>
            <a:r>
              <a:rPr lang="en-US" sz="1200" dirty="0">
                <a:solidFill>
                  <a:srgbClr val="8A8079"/>
                </a:solidFill>
                <a:latin typeface="Arial" pitchFamily="34" charset="0"/>
                <a:ea typeface="Arial" pitchFamily="34" charset="-122"/>
                <a:cs typeface="Arial" pitchFamily="34" charset="-120"/>
              </a:rPr>
              <a:t>aparea versiones</a:t>
            </a:r>
            <a:endParaRPr lang="en-US" sz="1200" dirty="0"/>
          </a:p>
        </p:txBody>
      </p:sp>
      <p:sp>
        <p:nvSpPr>
          <p:cNvPr id="25" name="Shape 22"/>
          <p:cNvSpPr/>
          <p:nvPr/>
        </p:nvSpPr>
        <p:spPr>
          <a:xfrm>
            <a:off x="841248" y="5038344"/>
            <a:ext cx="4991870" cy="10973"/>
          </a:xfrm>
          <a:prstGeom prst="rect">
            <a:avLst/>
          </a:prstGeom>
          <a:solidFill>
            <a:srgbClr val="D8D3CC"/>
          </a:solidFill>
          <a:ln/>
        </p:spPr>
      </p:sp>
      <p:sp>
        <p:nvSpPr>
          <p:cNvPr id="26" name="Shape 23"/>
          <p:cNvSpPr/>
          <p:nvPr/>
        </p:nvSpPr>
        <p:spPr>
          <a:xfrm>
            <a:off x="6095848" y="5038344"/>
            <a:ext cx="4991870" cy="10973"/>
          </a:xfrm>
          <a:prstGeom prst="rect">
            <a:avLst/>
          </a:prstGeom>
          <a:solidFill>
            <a:srgbClr val="D8D3CC"/>
          </a:solidFill>
          <a:ln/>
        </p:spPr>
      </p:sp>
      <p:sp>
        <p:nvSpPr>
          <p:cNvPr id="27" name="Text 24"/>
          <p:cNvSpPr/>
          <p:nvPr/>
        </p:nvSpPr>
        <p:spPr>
          <a:xfrm>
            <a:off x="841248" y="5349240"/>
            <a:ext cx="10509199" cy="457200"/>
          </a:xfrm>
          <a:prstGeom prst="rect">
            <a:avLst/>
          </a:prstGeom>
          <a:noFill/>
          <a:ln/>
        </p:spPr>
        <p:txBody>
          <a:bodyPr wrap="square" lIns="0" tIns="0" rIns="0" bIns="0" rtlCol="0" anchor="ctr"/>
          <a:lstStyle/>
          <a:p>
            <a:pPr indent="0" marL="0">
              <a:buNone/>
            </a:pPr>
            <a:r>
              <a:rPr lang="en-US" sz="1700" b="1" dirty="0">
                <a:solidFill>
                  <a:srgbClr val="8A6A20"/>
                </a:solidFill>
                <a:latin typeface="Arial" pitchFamily="34" charset="0"/>
                <a:ea typeface="Arial" pitchFamily="34" charset="-122"/>
                <a:cs typeface="Arial" pitchFamily="34" charset="-120"/>
              </a:rPr>
              <a:t>Sparkplug B ya estandarizó el tag del sensor. Esto — todavía nadie.</a:t>
            </a:r>
            <a:endParaRPr lang="en-US" sz="1700" dirty="0"/>
          </a:p>
        </p:txBody>
      </p:sp>
      <p:sp>
        <p:nvSpPr>
          <p:cNvPr id="28" name="Text 25"/>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A9A29A"/>
                </a:solidFill>
                <a:latin typeface="Courier New" pitchFamily="34" charset="0"/>
                <a:ea typeface="Courier New" pitchFamily="34" charset="-122"/>
                <a:cs typeface="Courier New" pitchFamily="34" charset="-120"/>
              </a:rPr>
              <a:t>10 / 18</a:t>
            </a:r>
            <a:endParaRPr lang="en-US" sz="850" dirty="0"/>
          </a:p>
        </p:txBody>
      </p:sp>
      <p:sp>
        <p:nvSpPr>
          <p:cNvPr id="29" name="Text 26"/>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A9A29A"/>
                </a:solidFill>
                <a:latin typeface="Courier New" pitchFamily="34" charset="0"/>
                <a:ea typeface="Courier New" pitchFamily="34" charset="-122"/>
                <a:cs typeface="Courier New" pitchFamily="34" charset="-120"/>
              </a:rPr>
              <a:t>ACTO 2 · OBSERVAR</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5C4D"/>
                </a:solidFill>
                <a:latin typeface="Courier New" pitchFamily="34" charset="0"/>
                <a:ea typeface="Courier New" pitchFamily="34" charset="-122"/>
                <a:cs typeface="Courier New" pitchFamily="34" charset="-120"/>
              </a:rPr>
              <a:t>LO QUE APRENDÍ ROMPIÉNDOLO</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371600"/>
            <a:ext cx="10509199"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La confianza es una trampa.</a:t>
            </a:r>
            <a:endParaRPr lang="en-US" sz="4000" dirty="0"/>
          </a:p>
        </p:txBody>
      </p:sp>
      <p:sp>
        <p:nvSpPr>
          <p:cNvPr id="6" name="Shape 3"/>
          <p:cNvSpPr/>
          <p:nvPr/>
        </p:nvSpPr>
        <p:spPr>
          <a:xfrm>
            <a:off x="841248" y="4663440"/>
            <a:ext cx="6480673" cy="10973"/>
          </a:xfrm>
          <a:prstGeom prst="rect">
            <a:avLst/>
          </a:prstGeom>
          <a:solidFill>
            <a:srgbClr val="1C222C"/>
          </a:solidFill>
          <a:ln/>
        </p:spPr>
      </p:sp>
      <p:sp>
        <p:nvSpPr>
          <p:cNvPr id="7" name="Shape 4"/>
          <p:cNvSpPr/>
          <p:nvPr/>
        </p:nvSpPr>
        <p:spPr>
          <a:xfrm>
            <a:off x="841248" y="2377440"/>
            <a:ext cx="10973" cy="2286000"/>
          </a:xfrm>
          <a:prstGeom prst="rect">
            <a:avLst/>
          </a:prstGeom>
          <a:solidFill>
            <a:srgbClr val="1C222C"/>
          </a:solidFill>
          <a:ln/>
        </p:spPr>
      </p:sp>
      <p:sp>
        <p:nvSpPr>
          <p:cNvPr id="8" name="Shape 5"/>
          <p:cNvSpPr/>
          <p:nvPr/>
        </p:nvSpPr>
        <p:spPr>
          <a:xfrm>
            <a:off x="1069848" y="3051048"/>
            <a:ext cx="1003912" cy="70104"/>
          </a:xfrm>
          <a:prstGeom prst="line">
            <a:avLst/>
          </a:prstGeom>
          <a:noFill/>
          <a:ln w="44450">
            <a:solidFill>
              <a:srgbClr val="FF5C4D"/>
            </a:solidFill>
            <a:prstDash val="solid"/>
          </a:ln>
        </p:spPr>
      </p:sp>
      <p:sp>
        <p:nvSpPr>
          <p:cNvPr id="9" name="Shape 6"/>
          <p:cNvSpPr/>
          <p:nvPr/>
        </p:nvSpPr>
        <p:spPr>
          <a:xfrm>
            <a:off x="1069848" y="2980944"/>
            <a:ext cx="1003912" cy="-35052"/>
          </a:xfrm>
          <a:prstGeom prst="line">
            <a:avLst/>
          </a:prstGeom>
          <a:noFill/>
          <a:ln w="44450">
            <a:solidFill>
              <a:srgbClr val="2DD4BF"/>
            </a:solidFill>
            <a:prstDash val="dash"/>
          </a:ln>
        </p:spPr>
      </p:sp>
      <p:sp>
        <p:nvSpPr>
          <p:cNvPr id="10" name="Shape 7"/>
          <p:cNvSpPr/>
          <p:nvPr/>
        </p:nvSpPr>
        <p:spPr>
          <a:xfrm>
            <a:off x="2073760" y="3121152"/>
            <a:ext cx="1003912" cy="175260"/>
          </a:xfrm>
          <a:prstGeom prst="line">
            <a:avLst/>
          </a:prstGeom>
          <a:noFill/>
          <a:ln w="44450">
            <a:solidFill>
              <a:srgbClr val="FF5C4D"/>
            </a:solidFill>
            <a:prstDash val="solid"/>
          </a:ln>
        </p:spPr>
      </p:sp>
      <p:sp>
        <p:nvSpPr>
          <p:cNvPr id="11" name="Shape 8"/>
          <p:cNvSpPr/>
          <p:nvPr/>
        </p:nvSpPr>
        <p:spPr>
          <a:xfrm>
            <a:off x="2073760" y="2945892"/>
            <a:ext cx="1003912" cy="-70104"/>
          </a:xfrm>
          <a:prstGeom prst="line">
            <a:avLst/>
          </a:prstGeom>
          <a:noFill/>
          <a:ln w="44450">
            <a:solidFill>
              <a:srgbClr val="2DD4BF"/>
            </a:solidFill>
            <a:prstDash val="dash"/>
          </a:ln>
        </p:spPr>
      </p:sp>
      <p:sp>
        <p:nvSpPr>
          <p:cNvPr id="12" name="Shape 9"/>
          <p:cNvSpPr/>
          <p:nvPr/>
        </p:nvSpPr>
        <p:spPr>
          <a:xfrm>
            <a:off x="3077672" y="3296412"/>
            <a:ext cx="1003912" cy="280416"/>
          </a:xfrm>
          <a:prstGeom prst="line">
            <a:avLst/>
          </a:prstGeom>
          <a:noFill/>
          <a:ln w="44450">
            <a:solidFill>
              <a:srgbClr val="FF5C4D"/>
            </a:solidFill>
            <a:prstDash val="solid"/>
          </a:ln>
        </p:spPr>
      </p:sp>
      <p:sp>
        <p:nvSpPr>
          <p:cNvPr id="13" name="Shape 10"/>
          <p:cNvSpPr/>
          <p:nvPr/>
        </p:nvSpPr>
        <p:spPr>
          <a:xfrm>
            <a:off x="3077672" y="2875788"/>
            <a:ext cx="1003912" cy="-70104"/>
          </a:xfrm>
          <a:prstGeom prst="line">
            <a:avLst/>
          </a:prstGeom>
          <a:noFill/>
          <a:ln w="44450">
            <a:solidFill>
              <a:srgbClr val="2DD4BF"/>
            </a:solidFill>
            <a:prstDash val="dash"/>
          </a:ln>
        </p:spPr>
      </p:sp>
      <p:sp>
        <p:nvSpPr>
          <p:cNvPr id="14" name="Shape 11"/>
          <p:cNvSpPr/>
          <p:nvPr/>
        </p:nvSpPr>
        <p:spPr>
          <a:xfrm>
            <a:off x="4081584" y="3576828"/>
            <a:ext cx="1003912" cy="315468"/>
          </a:xfrm>
          <a:prstGeom prst="line">
            <a:avLst/>
          </a:prstGeom>
          <a:noFill/>
          <a:ln w="44450">
            <a:solidFill>
              <a:srgbClr val="FF5C4D"/>
            </a:solidFill>
            <a:prstDash val="solid"/>
          </a:ln>
        </p:spPr>
      </p:sp>
      <p:sp>
        <p:nvSpPr>
          <p:cNvPr id="15" name="Shape 12"/>
          <p:cNvSpPr/>
          <p:nvPr/>
        </p:nvSpPr>
        <p:spPr>
          <a:xfrm>
            <a:off x="4081584" y="2805684"/>
            <a:ext cx="1003912" cy="-35052"/>
          </a:xfrm>
          <a:prstGeom prst="line">
            <a:avLst/>
          </a:prstGeom>
          <a:noFill/>
          <a:ln w="44450">
            <a:solidFill>
              <a:srgbClr val="2DD4BF"/>
            </a:solidFill>
            <a:prstDash val="dash"/>
          </a:ln>
        </p:spPr>
      </p:sp>
      <p:sp>
        <p:nvSpPr>
          <p:cNvPr id="16" name="Shape 13"/>
          <p:cNvSpPr/>
          <p:nvPr/>
        </p:nvSpPr>
        <p:spPr>
          <a:xfrm>
            <a:off x="5085497" y="3892296"/>
            <a:ext cx="1003912" cy="280416"/>
          </a:xfrm>
          <a:prstGeom prst="line">
            <a:avLst/>
          </a:prstGeom>
          <a:noFill/>
          <a:ln w="44450">
            <a:solidFill>
              <a:srgbClr val="FF5C4D"/>
            </a:solidFill>
            <a:prstDash val="solid"/>
          </a:ln>
        </p:spPr>
      </p:sp>
      <p:sp>
        <p:nvSpPr>
          <p:cNvPr id="17" name="Shape 14"/>
          <p:cNvSpPr/>
          <p:nvPr/>
        </p:nvSpPr>
        <p:spPr>
          <a:xfrm>
            <a:off x="5085497" y="2770632"/>
            <a:ext cx="1003912" cy="-70104"/>
          </a:xfrm>
          <a:prstGeom prst="line">
            <a:avLst/>
          </a:prstGeom>
          <a:noFill/>
          <a:ln w="44450">
            <a:solidFill>
              <a:srgbClr val="2DD4BF"/>
            </a:solidFill>
            <a:prstDash val="dash"/>
          </a:ln>
        </p:spPr>
      </p:sp>
      <p:sp>
        <p:nvSpPr>
          <p:cNvPr id="18" name="Shape 15"/>
          <p:cNvSpPr/>
          <p:nvPr/>
        </p:nvSpPr>
        <p:spPr>
          <a:xfrm>
            <a:off x="6089409" y="4172712"/>
            <a:ext cx="1003912" cy="245364"/>
          </a:xfrm>
          <a:prstGeom prst="line">
            <a:avLst/>
          </a:prstGeom>
          <a:noFill/>
          <a:ln w="44450">
            <a:solidFill>
              <a:srgbClr val="FF5C4D"/>
            </a:solidFill>
            <a:prstDash val="solid"/>
          </a:ln>
        </p:spPr>
      </p:sp>
      <p:sp>
        <p:nvSpPr>
          <p:cNvPr id="19" name="Shape 16"/>
          <p:cNvSpPr/>
          <p:nvPr/>
        </p:nvSpPr>
        <p:spPr>
          <a:xfrm>
            <a:off x="6089409" y="2700528"/>
            <a:ext cx="1003912" cy="-35052"/>
          </a:xfrm>
          <a:prstGeom prst="line">
            <a:avLst/>
          </a:prstGeom>
          <a:noFill/>
          <a:ln w="44450">
            <a:solidFill>
              <a:srgbClr val="2DD4BF"/>
            </a:solidFill>
            <a:prstDash val="dash"/>
          </a:ln>
        </p:spPr>
      </p:sp>
      <p:sp>
        <p:nvSpPr>
          <p:cNvPr id="20" name="Text 17"/>
          <p:cNvSpPr/>
          <p:nvPr/>
        </p:nvSpPr>
        <p:spPr>
          <a:xfrm>
            <a:off x="5538841" y="4491228"/>
            <a:ext cx="1554480" cy="274320"/>
          </a:xfrm>
          <a:prstGeom prst="rect">
            <a:avLst/>
          </a:prstGeom>
          <a:noFill/>
          <a:ln/>
        </p:spPr>
        <p:txBody>
          <a:bodyPr wrap="square" lIns="0" tIns="0" rIns="0" bIns="0" rtlCol="0" anchor="ctr"/>
          <a:lstStyle/>
          <a:p>
            <a:pPr algn="r" indent="0" marL="0">
              <a:buNone/>
            </a:pPr>
            <a:r>
              <a:rPr lang="en-US" sz="1100" dirty="0">
                <a:solidFill>
                  <a:srgbClr val="FF5C4D"/>
                </a:solidFill>
                <a:latin typeface="Courier New" pitchFamily="34" charset="0"/>
                <a:ea typeface="Courier New" pitchFamily="34" charset="-122"/>
                <a:cs typeface="Courier New" pitchFamily="34" charset="-120"/>
              </a:rPr>
              <a:t>exactitud real</a:t>
            </a:r>
            <a:endParaRPr lang="en-US" sz="1100" dirty="0"/>
          </a:p>
        </p:txBody>
      </p:sp>
      <p:sp>
        <p:nvSpPr>
          <p:cNvPr id="21" name="Text 18"/>
          <p:cNvSpPr/>
          <p:nvPr/>
        </p:nvSpPr>
        <p:spPr>
          <a:xfrm>
            <a:off x="5173081" y="2318004"/>
            <a:ext cx="1920240" cy="274320"/>
          </a:xfrm>
          <a:prstGeom prst="rect">
            <a:avLst/>
          </a:prstGeom>
          <a:noFill/>
          <a:ln/>
        </p:spPr>
        <p:txBody>
          <a:bodyPr wrap="square" lIns="0" tIns="0" rIns="0" bIns="0" rtlCol="0" anchor="ctr"/>
          <a:lstStyle/>
          <a:p>
            <a:pPr algn="r" indent="0" marL="0">
              <a:buNone/>
            </a:pPr>
            <a:r>
              <a:rPr lang="en-US" sz="1100" dirty="0">
                <a:solidFill>
                  <a:srgbClr val="2DD4BF"/>
                </a:solidFill>
                <a:latin typeface="Courier New" pitchFamily="34" charset="0"/>
                <a:ea typeface="Courier New" pitchFamily="34" charset="-122"/>
                <a:cs typeface="Courier New" pitchFamily="34" charset="-120"/>
              </a:rPr>
              <a:t>confianza reportada</a:t>
            </a:r>
            <a:endParaRPr lang="en-US" sz="1100" dirty="0"/>
          </a:p>
        </p:txBody>
      </p:sp>
      <p:sp>
        <p:nvSpPr>
          <p:cNvPr id="22" name="Text 19"/>
          <p:cNvSpPr/>
          <p:nvPr/>
        </p:nvSpPr>
        <p:spPr>
          <a:xfrm>
            <a:off x="841248" y="4791456"/>
            <a:ext cx="6480673" cy="274320"/>
          </a:xfrm>
          <a:prstGeom prst="rect">
            <a:avLst/>
          </a:prstGeom>
          <a:noFill/>
          <a:ln/>
        </p:spPr>
        <p:txBody>
          <a:bodyPr wrap="square" lIns="0" tIns="0" rIns="0" bIns="0" rtlCol="0" anchor="ctr"/>
          <a:lstStyle/>
          <a:p>
            <a:pPr indent="0" marL="0">
              <a:buNone/>
            </a:pPr>
            <a:r>
              <a:rPr lang="en-US" sz="1000" dirty="0">
                <a:solidFill>
                  <a:srgbClr val="3A424E"/>
                </a:solidFill>
                <a:latin typeface="Courier New" pitchFamily="34" charset="0"/>
                <a:ea typeface="Courier New" pitchFamily="34" charset="-122"/>
                <a:cs typeface="Courier New" pitchFamily="34" charset="-120"/>
              </a:rPr>
              <a:t>→  deriva de la distribución de entrada</a:t>
            </a:r>
            <a:endParaRPr lang="en-US" sz="1000" dirty="0"/>
          </a:p>
        </p:txBody>
      </p:sp>
      <p:sp>
        <p:nvSpPr>
          <p:cNvPr id="23" name="Text 20"/>
          <p:cNvSpPr/>
          <p:nvPr/>
        </p:nvSpPr>
        <p:spPr>
          <a:xfrm>
            <a:off x="7847381" y="2514600"/>
            <a:ext cx="3503066" cy="914400"/>
          </a:xfrm>
          <a:prstGeom prst="rect">
            <a:avLst/>
          </a:prstGeom>
          <a:noFill/>
          <a:ln/>
        </p:spPr>
        <p:txBody>
          <a:bodyPr wrap="square" lIns="0" tIns="0" rIns="0" bIns="0" rtlCol="0" anchor="t"/>
          <a:lstStyle/>
          <a:p>
            <a:pPr indent="0" marL="0">
              <a:buNone/>
            </a:pPr>
            <a:r>
              <a:rPr lang="en-US" sz="1900" b="1" dirty="0">
                <a:solidFill>
                  <a:srgbClr val="FFFFFF"/>
                </a:solidFill>
                <a:latin typeface="Arial" pitchFamily="34" charset="0"/>
                <a:ea typeface="Arial" pitchFamily="34" charset="-122"/>
                <a:cs typeface="Arial" pitchFamily="34" charset="-120"/>
              </a:rPr>
              <a:t>Bajo drift, los modelos se vuelven MÁS sobreconfiados.</a:t>
            </a:r>
            <a:endParaRPr lang="en-US" sz="1900" dirty="0"/>
          </a:p>
        </p:txBody>
      </p:sp>
      <p:sp>
        <p:nvSpPr>
          <p:cNvPr id="24" name="Text 21"/>
          <p:cNvSpPr/>
          <p:nvPr/>
        </p:nvSpPr>
        <p:spPr>
          <a:xfrm>
            <a:off x="7847381" y="3611880"/>
            <a:ext cx="3503066" cy="914400"/>
          </a:xfrm>
          <a:prstGeom prst="rect">
            <a:avLst/>
          </a:prstGeom>
          <a:noFill/>
          <a:ln/>
        </p:spPr>
        <p:txBody>
          <a:bodyPr wrap="square" lIns="0" tIns="0" rIns="0" bIns="0" rtlCol="0" anchor="t"/>
          <a:lstStyle/>
          <a:p>
            <a:pPr indent="0" marL="0">
              <a:buNone/>
            </a:pPr>
            <a:r>
              <a:rPr lang="en-US" sz="1400" dirty="0">
                <a:solidFill>
                  <a:srgbClr val="8A93A0"/>
                </a:solidFill>
                <a:latin typeface="Arial" pitchFamily="34" charset="0"/>
                <a:ea typeface="Arial" pitchFamily="34" charset="-122"/>
                <a:cs typeface="Arial" pitchFamily="34" charset="-120"/>
              </a:rPr>
              <a:t>Mi trigger de reversa se apagaba justo cuando más lo necesitaba.</a:t>
            </a:r>
            <a:endParaRPr lang="en-US" sz="1400" dirty="0"/>
          </a:p>
        </p:txBody>
      </p:sp>
      <p:sp>
        <p:nvSpPr>
          <p:cNvPr id="25" name="Text 22"/>
          <p:cNvSpPr/>
          <p:nvPr/>
        </p:nvSpPr>
        <p:spPr>
          <a:xfrm>
            <a:off x="7847381" y="4617720"/>
            <a:ext cx="3503066" cy="548640"/>
          </a:xfrm>
          <a:prstGeom prst="rect">
            <a:avLst/>
          </a:prstGeom>
          <a:noFill/>
          <a:ln/>
        </p:spPr>
        <p:txBody>
          <a:bodyPr wrap="square" lIns="0" tIns="0" rIns="0" bIns="0" rtlCol="0" anchor="t"/>
          <a:lstStyle/>
          <a:p>
            <a:pPr indent="0" marL="0">
              <a:lnSpc>
                <a:spcPct val="140000"/>
              </a:lnSpc>
              <a:buNone/>
            </a:pPr>
            <a:r>
              <a:rPr lang="en-US" sz="900" dirty="0">
                <a:solidFill>
                  <a:srgbClr val="3A424E"/>
                </a:solidFill>
                <a:latin typeface="Courier New" pitchFamily="34" charset="0"/>
                <a:ea typeface="Courier New" pitchFamily="34" charset="-122"/>
                <a:cs typeface="Courier New" pitchFamily="34" charset="-120"/>
              </a:rPr>
              <a:t>Guo et al. 2017</a:t>
            </a:r>
            <a:endParaRPr lang="en-US" sz="900" dirty="0"/>
          </a:p>
          <a:p>
            <a:pPr indent="0" marL="0">
              <a:lnSpc>
                <a:spcPct val="140000"/>
              </a:lnSpc>
              <a:buNone/>
            </a:pPr>
            <a:r>
              <a:rPr lang="en-US" sz="900" dirty="0">
                <a:solidFill>
                  <a:srgbClr val="3A424E"/>
                </a:solidFill>
                <a:latin typeface="Courier New" pitchFamily="34" charset="0"/>
                <a:ea typeface="Courier New" pitchFamily="34" charset="-122"/>
                <a:cs typeface="Courier New" pitchFamily="34" charset="-120"/>
              </a:rPr>
              <a:t>+ literatura de shift</a:t>
            </a:r>
            <a:endParaRPr lang="en-US" sz="900" dirty="0"/>
          </a:p>
        </p:txBody>
      </p:sp>
      <p:sp>
        <p:nvSpPr>
          <p:cNvPr id="26" name="Text 23"/>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11 / 18</a:t>
            </a:r>
            <a:endParaRPr lang="en-US" sz="850" dirty="0"/>
          </a:p>
        </p:txBody>
      </p:sp>
      <p:sp>
        <p:nvSpPr>
          <p:cNvPr id="27" name="Text 24"/>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ACTO 2 · OBSERVAR</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2DD4BF"/>
                </a:solidFill>
                <a:latin typeface="Courier New" pitchFamily="34" charset="0"/>
                <a:ea typeface="Courier New" pitchFamily="34" charset="-122"/>
                <a:cs typeface="Courier New" pitchFamily="34" charset="-120"/>
              </a:rPr>
              <a:t>LA SEÑAL CORRECTA</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371600"/>
            <a:ext cx="10509199"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Desacuerdo, no confianza.</a:t>
            </a:r>
            <a:endParaRPr lang="en-US" sz="4000" dirty="0"/>
          </a:p>
        </p:txBody>
      </p:sp>
      <p:sp>
        <p:nvSpPr>
          <p:cNvPr id="6" name="Shape 3"/>
          <p:cNvSpPr/>
          <p:nvPr/>
        </p:nvSpPr>
        <p:spPr>
          <a:xfrm>
            <a:off x="841248" y="2286000"/>
            <a:ext cx="10509199" cy="2514600"/>
          </a:xfrm>
          <a:prstGeom prst="rect">
            <a:avLst/>
          </a:prstGeom>
          <a:solidFill>
            <a:srgbClr val="0D1218"/>
          </a:solidFill>
          <a:ln/>
        </p:spPr>
      </p:sp>
      <p:sp>
        <p:nvSpPr>
          <p:cNvPr id="7" name="Shape 4"/>
          <p:cNvSpPr/>
          <p:nvPr/>
        </p:nvSpPr>
        <p:spPr>
          <a:xfrm>
            <a:off x="841248" y="2286000"/>
            <a:ext cx="45720" cy="2514600"/>
          </a:xfrm>
          <a:prstGeom prst="rect">
            <a:avLst/>
          </a:prstGeom>
          <a:solidFill>
            <a:srgbClr val="2DD4BF"/>
          </a:solidFill>
          <a:ln/>
        </p:spPr>
      </p:sp>
      <p:sp>
        <p:nvSpPr>
          <p:cNvPr id="8" name="Text 5"/>
          <p:cNvSpPr/>
          <p:nvPr/>
        </p:nvSpPr>
        <p:spPr>
          <a:xfrm>
            <a:off x="1298448" y="2542032"/>
            <a:ext cx="9594799" cy="2011680"/>
          </a:xfrm>
          <a:prstGeom prst="rect">
            <a:avLst/>
          </a:prstGeom>
          <a:noFill/>
          <a:ln/>
        </p:spPr>
        <p:txBody>
          <a:bodyPr wrap="square" lIns="0" tIns="0" rIns="0" bIns="0" rtlCol="0" anchor="t"/>
          <a:lstStyle/>
          <a:p>
            <a:pPr indent="0" marL="0">
              <a:lnSpc>
                <a:spcPct val="130000"/>
              </a:lnSpc>
              <a:buNone/>
            </a:pPr>
            <a:r>
              <a:rPr lang="en-US" sz="1500" dirty="0">
                <a:solidFill>
                  <a:srgbClr val="2DD4BF"/>
                </a:solidFill>
                <a:latin typeface="Courier New" pitchFamily="34" charset="0"/>
                <a:ea typeface="Courier New" pitchFamily="34" charset="-122"/>
                <a:cs typeface="Courier New" pitchFamily="34" charset="-120"/>
              </a:rPr>
              <a:t>SELECT  SUM(CASE WHEN champ &lt;&gt; chall THEN 1 ELSE 0 END) * 1.0</a:t>
            </a:r>
            <a:endParaRPr lang="en-US" sz="1500" dirty="0"/>
          </a:p>
          <a:p>
            <a:pPr indent="0" marL="0">
              <a:lnSpc>
                <a:spcPct val="130000"/>
              </a:lnSpc>
              <a:buNone/>
            </a:pPr>
            <a:r>
              <a:rPr lang="en-US" sz="1500" dirty="0">
                <a:solidFill>
                  <a:srgbClr val="2DD4BF"/>
                </a:solidFill>
                <a:latin typeface="Courier New" pitchFamily="34" charset="0"/>
                <a:ea typeface="Courier New" pitchFamily="34" charset="-122"/>
                <a:cs typeface="Courier New" pitchFamily="34" charset="-120"/>
              </a:rPr>
              <a:t>          / COUNT(*)                    AS tasa_desacuerdo,</a:t>
            </a:r>
            <a:endParaRPr lang="en-US" sz="1500" dirty="0"/>
          </a:p>
          <a:p>
            <a:pPr indent="0" marL="0">
              <a:lnSpc>
                <a:spcPct val="130000"/>
              </a:lnSpc>
              <a:buNone/>
            </a:pPr>
            <a:r>
              <a:rPr lang="en-US" sz="1500" dirty="0">
                <a:solidFill>
                  <a:srgbClr val="2DD4BF"/>
                </a:solidFill>
                <a:latin typeface="Courier New" pitchFamily="34" charset="0"/>
                <a:ea typeface="Courier New" pitchFamily="34" charset="-122"/>
                <a:cs typeface="Courier New" pitchFamily="34" charset="-120"/>
              </a:rPr>
              <a:t>        COUNT(*)                        AS n</a:t>
            </a:r>
            <a:endParaRPr lang="en-US" sz="1500" dirty="0"/>
          </a:p>
          <a:p>
            <a:pPr indent="0" marL="0">
              <a:lnSpc>
                <a:spcPct val="130000"/>
              </a:lnSpc>
              <a:buNone/>
            </a:pPr>
            <a:r>
              <a:rPr lang="en-US" sz="1500" dirty="0">
                <a:solidFill>
                  <a:srgbClr val="2DD4BF"/>
                </a:solidFill>
                <a:latin typeface="Courier New" pitchFamily="34" charset="0"/>
                <a:ea typeface="Courier New" pitchFamily="34" charset="-122"/>
                <a:cs typeface="Courier New" pitchFamily="34" charset="-120"/>
              </a:rPr>
              <a:t>FROM    pares_por_correlation_id</a:t>
            </a:r>
            <a:endParaRPr lang="en-US" sz="1500" dirty="0"/>
          </a:p>
          <a:p>
            <a:pPr indent="0" marL="0">
              <a:lnSpc>
                <a:spcPct val="130000"/>
              </a:lnSpc>
              <a:buNone/>
            </a:pPr>
            <a:r>
              <a:rPr lang="en-US" sz="1500" dirty="0">
                <a:solidFill>
                  <a:srgbClr val="2DD4BF"/>
                </a:solidFill>
                <a:latin typeface="Courier New" pitchFamily="34" charset="0"/>
                <a:ea typeface="Courier New" pitchFamily="34" charset="-122"/>
                <a:cs typeface="Courier New" pitchFamily="34" charset="-120"/>
              </a:rPr>
              <a:t>WHERE   time &gt; ago(2m);</a:t>
            </a:r>
            <a:endParaRPr lang="en-US" sz="1500" dirty="0"/>
          </a:p>
        </p:txBody>
      </p:sp>
      <p:sp>
        <p:nvSpPr>
          <p:cNvPr id="9" name="Text 6"/>
          <p:cNvSpPr/>
          <p:nvPr/>
        </p:nvSpPr>
        <p:spPr>
          <a:xfrm>
            <a:off x="841248" y="5074920"/>
            <a:ext cx="10509199" cy="411480"/>
          </a:xfrm>
          <a:prstGeom prst="rect">
            <a:avLst/>
          </a:prstGeom>
          <a:noFill/>
          <a:ln/>
        </p:spPr>
        <p:txBody>
          <a:bodyPr wrap="square" lIns="0" tIns="0" rIns="0" bIns="0" rtlCol="0" anchor="ctr"/>
          <a:lstStyle/>
          <a:p>
            <a:pPr indent="0" marL="0">
              <a:buNone/>
            </a:pPr>
            <a:r>
              <a:rPr lang="en-US" sz="1600" dirty="0">
                <a:solidFill>
                  <a:srgbClr val="8A93A0"/>
                </a:solidFill>
                <a:latin typeface="Arial" pitchFamily="34" charset="0"/>
                <a:ea typeface="Arial" pitchFamily="34" charset="-122"/>
                <a:cs typeface="Arial" pitchFamily="34" charset="-120"/>
              </a:rPr>
              <a:t>Sin etiquetas.  Sin depender de calibración.  Sin sistema de monitoreo aparte.</a:t>
            </a:r>
            <a:endParaRPr lang="en-US" sz="1600" dirty="0"/>
          </a:p>
        </p:txBody>
      </p:sp>
      <p:sp>
        <p:nvSpPr>
          <p:cNvPr id="10" name="Text 7"/>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12 / 18</a:t>
            </a:r>
            <a:endParaRPr lang="en-US" sz="850" dirty="0"/>
          </a:p>
        </p:txBody>
      </p:sp>
      <p:sp>
        <p:nvSpPr>
          <p:cNvPr id="11" name="Text 8"/>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ACTO 2 · OBSERVAR</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502920"/>
            <a:ext cx="1751533" cy="822960"/>
          </a:xfrm>
          <a:prstGeom prst="rect">
            <a:avLst/>
          </a:prstGeom>
          <a:noFill/>
          <a:ln/>
        </p:spPr>
        <p:txBody>
          <a:bodyPr wrap="square" lIns="0" tIns="0" rIns="0" bIns="0" rtlCol="0" anchor="ctr"/>
          <a:lstStyle/>
          <a:p>
            <a:pPr indent="0" marL="0">
              <a:buNone/>
            </a:pPr>
            <a:r>
              <a:rPr lang="en-US" sz="6200" b="1" dirty="0">
                <a:solidFill>
                  <a:srgbClr val="E0DAD2"/>
                </a:solidFill>
                <a:latin typeface="Arial" pitchFamily="34" charset="0"/>
                <a:ea typeface="Arial" pitchFamily="34" charset="-122"/>
                <a:cs typeface="Arial" pitchFamily="34" charset="-120"/>
              </a:rPr>
              <a:t>03</a:t>
            </a:r>
            <a:endParaRPr lang="en-US" sz="6200" dirty="0"/>
          </a:p>
        </p:txBody>
      </p:sp>
      <p:sp>
        <p:nvSpPr>
          <p:cNvPr id="4" name="Text 1"/>
          <p:cNvSpPr/>
          <p:nvPr/>
        </p:nvSpPr>
        <p:spPr>
          <a:xfrm>
            <a:off x="2154898" y="685800"/>
            <a:ext cx="5254600" cy="457200"/>
          </a:xfrm>
          <a:prstGeom prst="rect">
            <a:avLst/>
          </a:prstGeom>
          <a:noFill/>
          <a:ln/>
        </p:spPr>
        <p:txBody>
          <a:bodyPr wrap="square" lIns="0" tIns="0" rIns="0" bIns="0" rtlCol="0" anchor="ctr"/>
          <a:lstStyle/>
          <a:p>
            <a:pPr indent="0" marL="0">
              <a:buNone/>
            </a:pPr>
            <a:r>
              <a:rPr lang="en-US" sz="1300" spc="300" kern="0" dirty="0">
                <a:solidFill>
                  <a:srgbClr val="8A7A5E"/>
                </a:solidFill>
                <a:latin typeface="Courier New" pitchFamily="34" charset="0"/>
                <a:ea typeface="Courier New" pitchFamily="34" charset="-122"/>
                <a:cs typeface="Courier New" pitchFamily="34" charset="-120"/>
              </a:rPr>
              <a:t>REVERTIR</a:t>
            </a:r>
            <a:endParaRPr lang="en-US" sz="1300" dirty="0"/>
          </a:p>
        </p:txBody>
      </p:sp>
      <p:sp>
        <p:nvSpPr>
          <p:cNvPr id="5" name="Shape 2"/>
          <p:cNvSpPr/>
          <p:nvPr/>
        </p:nvSpPr>
        <p:spPr>
          <a:xfrm>
            <a:off x="0" y="1481328"/>
            <a:ext cx="12191695" cy="12802"/>
          </a:xfrm>
          <a:prstGeom prst="rect">
            <a:avLst/>
          </a:prstGeom>
          <a:solidFill>
            <a:srgbClr val="D8D3CC"/>
          </a:solidFill>
          <a:ln/>
        </p:spPr>
      </p:sp>
      <p:sp>
        <p:nvSpPr>
          <p:cNvPr id="6" name="Text 3"/>
          <p:cNvSpPr/>
          <p:nvPr/>
        </p:nvSpPr>
        <p:spPr>
          <a:xfrm>
            <a:off x="841248" y="1920240"/>
            <a:ext cx="613037" cy="548640"/>
          </a:xfrm>
          <a:prstGeom prst="rect">
            <a:avLst/>
          </a:prstGeom>
          <a:noFill/>
          <a:ln/>
        </p:spPr>
        <p:txBody>
          <a:bodyPr wrap="square" lIns="0" tIns="0" rIns="0" bIns="0" rtlCol="0" anchor="ctr"/>
          <a:lstStyle/>
          <a:p>
            <a:pPr indent="0" marL="0">
              <a:buNone/>
            </a:pPr>
            <a:r>
              <a:rPr lang="en-US" sz="2000" dirty="0">
                <a:solidFill>
                  <a:srgbClr val="C4BDB4"/>
                </a:solidFill>
                <a:latin typeface="Courier New" pitchFamily="34" charset="0"/>
                <a:ea typeface="Courier New" pitchFamily="34" charset="-122"/>
                <a:cs typeface="Courier New" pitchFamily="34" charset="-120"/>
              </a:rPr>
              <a:t>1</a:t>
            </a:r>
            <a:endParaRPr lang="en-US" sz="2000" dirty="0"/>
          </a:p>
        </p:txBody>
      </p:sp>
      <p:sp>
        <p:nvSpPr>
          <p:cNvPr id="7" name="Text 4"/>
          <p:cNvSpPr/>
          <p:nvPr/>
        </p:nvSpPr>
        <p:spPr>
          <a:xfrm>
            <a:off x="1629438" y="1920240"/>
            <a:ext cx="2627300" cy="548640"/>
          </a:xfrm>
          <a:prstGeom prst="rect">
            <a:avLst/>
          </a:prstGeom>
          <a:noFill/>
          <a:ln/>
        </p:spPr>
        <p:txBody>
          <a:bodyPr wrap="square" lIns="0" tIns="0" rIns="0" bIns="0" rtlCol="0" anchor="ctr"/>
          <a:lstStyle/>
          <a:p>
            <a:pPr indent="0" marL="0">
              <a:buNone/>
            </a:pPr>
            <a:r>
              <a:rPr lang="en-US" sz="2100" b="1" dirty="0">
                <a:solidFill>
                  <a:srgbClr val="6B6560"/>
                </a:solidFill>
                <a:latin typeface="Arial" pitchFamily="34" charset="0"/>
                <a:ea typeface="Arial" pitchFamily="34" charset="-122"/>
                <a:cs typeface="Arial" pitchFamily="34" charset="-120"/>
              </a:rPr>
              <a:t>VALIDACIÓN</a:t>
            </a:r>
            <a:endParaRPr lang="en-US" sz="2100" dirty="0"/>
          </a:p>
        </p:txBody>
      </p:sp>
      <p:sp>
        <p:nvSpPr>
          <p:cNvPr id="8" name="Text 5"/>
          <p:cNvSpPr/>
          <p:nvPr/>
        </p:nvSpPr>
        <p:spPr>
          <a:xfrm>
            <a:off x="4519468" y="1920240"/>
            <a:ext cx="6830979" cy="548640"/>
          </a:xfrm>
          <a:prstGeom prst="rect">
            <a:avLst/>
          </a:prstGeom>
          <a:noFill/>
          <a:ln/>
        </p:spPr>
        <p:txBody>
          <a:bodyPr wrap="square" lIns="0" tIns="0" rIns="0" bIns="0" rtlCol="0" anchor="ctr"/>
          <a:lstStyle/>
          <a:p>
            <a:pPr algn="r" indent="0" marL="0">
              <a:buNone/>
            </a:pPr>
            <a:r>
              <a:rPr lang="en-US" sz="1400" dirty="0">
                <a:solidFill>
                  <a:srgbClr val="8A8079"/>
                </a:solidFill>
                <a:latin typeface="Arial" pitchFamily="34" charset="0"/>
                <a:ea typeface="Arial" pitchFamily="34" charset="-122"/>
                <a:cs typeface="Arial" pitchFamily="34" charset="-120"/>
              </a:rPr>
              <a:t>candidato vs campeón, datos del sitio</a:t>
            </a:r>
            <a:endParaRPr lang="en-US" sz="1400" dirty="0"/>
          </a:p>
        </p:txBody>
      </p:sp>
      <p:sp>
        <p:nvSpPr>
          <p:cNvPr id="9" name="Shape 6"/>
          <p:cNvSpPr/>
          <p:nvPr/>
        </p:nvSpPr>
        <p:spPr>
          <a:xfrm>
            <a:off x="841248" y="2523744"/>
            <a:ext cx="10509199" cy="10973"/>
          </a:xfrm>
          <a:prstGeom prst="rect">
            <a:avLst/>
          </a:prstGeom>
          <a:solidFill>
            <a:srgbClr val="D8D3CC"/>
          </a:solidFill>
          <a:ln/>
        </p:spPr>
      </p:sp>
      <p:sp>
        <p:nvSpPr>
          <p:cNvPr id="10" name="Text 7"/>
          <p:cNvSpPr/>
          <p:nvPr/>
        </p:nvSpPr>
        <p:spPr>
          <a:xfrm>
            <a:off x="841248" y="2761488"/>
            <a:ext cx="613037" cy="548640"/>
          </a:xfrm>
          <a:prstGeom prst="rect">
            <a:avLst/>
          </a:prstGeom>
          <a:noFill/>
          <a:ln/>
        </p:spPr>
        <p:txBody>
          <a:bodyPr wrap="square" lIns="0" tIns="0" rIns="0" bIns="0" rtlCol="0" anchor="ctr"/>
          <a:lstStyle/>
          <a:p>
            <a:pPr indent="0" marL="0">
              <a:buNone/>
            </a:pPr>
            <a:r>
              <a:rPr lang="en-US" sz="2000" dirty="0">
                <a:solidFill>
                  <a:srgbClr val="C4BDB4"/>
                </a:solidFill>
                <a:latin typeface="Courier New" pitchFamily="34" charset="0"/>
                <a:ea typeface="Courier New" pitchFamily="34" charset="-122"/>
                <a:cs typeface="Courier New" pitchFamily="34" charset="-120"/>
              </a:rPr>
              <a:t>2</a:t>
            </a:r>
            <a:endParaRPr lang="en-US" sz="2000" dirty="0"/>
          </a:p>
        </p:txBody>
      </p:sp>
      <p:sp>
        <p:nvSpPr>
          <p:cNvPr id="11" name="Text 8"/>
          <p:cNvSpPr/>
          <p:nvPr/>
        </p:nvSpPr>
        <p:spPr>
          <a:xfrm>
            <a:off x="1629438" y="2761488"/>
            <a:ext cx="2627300" cy="548640"/>
          </a:xfrm>
          <a:prstGeom prst="rect">
            <a:avLst/>
          </a:prstGeom>
          <a:noFill/>
          <a:ln/>
        </p:spPr>
        <p:txBody>
          <a:bodyPr wrap="square" lIns="0" tIns="0" rIns="0" bIns="0" rtlCol="0" anchor="ctr"/>
          <a:lstStyle/>
          <a:p>
            <a:pPr indent="0" marL="0">
              <a:buNone/>
            </a:pPr>
            <a:r>
              <a:rPr lang="en-US" sz="2100" b="1" dirty="0">
                <a:solidFill>
                  <a:srgbClr val="6B6560"/>
                </a:solidFill>
                <a:latin typeface="Arial" pitchFamily="34" charset="0"/>
                <a:ea typeface="Arial" pitchFamily="34" charset="-122"/>
                <a:cs typeface="Arial" pitchFamily="34" charset="-120"/>
              </a:rPr>
              <a:t>SOMBRA</a:t>
            </a:r>
            <a:endParaRPr lang="en-US" sz="2100" dirty="0"/>
          </a:p>
        </p:txBody>
      </p:sp>
      <p:sp>
        <p:nvSpPr>
          <p:cNvPr id="12" name="Text 9"/>
          <p:cNvSpPr/>
          <p:nvPr/>
        </p:nvSpPr>
        <p:spPr>
          <a:xfrm>
            <a:off x="4519468" y="2761488"/>
            <a:ext cx="6830979" cy="548640"/>
          </a:xfrm>
          <a:prstGeom prst="rect">
            <a:avLst/>
          </a:prstGeom>
          <a:noFill/>
          <a:ln/>
        </p:spPr>
        <p:txBody>
          <a:bodyPr wrap="square" lIns="0" tIns="0" rIns="0" bIns="0" rtlCol="0" anchor="ctr"/>
          <a:lstStyle/>
          <a:p>
            <a:pPr algn="r" indent="0" marL="0">
              <a:buNone/>
            </a:pPr>
            <a:r>
              <a:rPr lang="en-US" sz="1400" dirty="0">
                <a:solidFill>
                  <a:srgbClr val="8A8079"/>
                </a:solidFill>
                <a:latin typeface="Arial" pitchFamily="34" charset="0"/>
                <a:ea typeface="Arial" pitchFamily="34" charset="-122"/>
                <a:cs typeface="Arial" pitchFamily="34" charset="-120"/>
              </a:rPr>
              <a:t>ambos corren · solo el campeón actúa</a:t>
            </a:r>
            <a:endParaRPr lang="en-US" sz="1400" dirty="0"/>
          </a:p>
        </p:txBody>
      </p:sp>
      <p:sp>
        <p:nvSpPr>
          <p:cNvPr id="13" name="Shape 10"/>
          <p:cNvSpPr/>
          <p:nvPr/>
        </p:nvSpPr>
        <p:spPr>
          <a:xfrm>
            <a:off x="841248" y="3364992"/>
            <a:ext cx="10509199" cy="10973"/>
          </a:xfrm>
          <a:prstGeom prst="rect">
            <a:avLst/>
          </a:prstGeom>
          <a:solidFill>
            <a:srgbClr val="D8D3CC"/>
          </a:solidFill>
          <a:ln/>
        </p:spPr>
      </p:sp>
      <p:sp>
        <p:nvSpPr>
          <p:cNvPr id="14" name="Text 11"/>
          <p:cNvSpPr/>
          <p:nvPr/>
        </p:nvSpPr>
        <p:spPr>
          <a:xfrm>
            <a:off x="841248" y="3602736"/>
            <a:ext cx="613037" cy="548640"/>
          </a:xfrm>
          <a:prstGeom prst="rect">
            <a:avLst/>
          </a:prstGeom>
          <a:noFill/>
          <a:ln/>
        </p:spPr>
        <p:txBody>
          <a:bodyPr wrap="square" lIns="0" tIns="0" rIns="0" bIns="0" rtlCol="0" anchor="ctr"/>
          <a:lstStyle/>
          <a:p>
            <a:pPr indent="0" marL="0">
              <a:buNone/>
            </a:pPr>
            <a:r>
              <a:rPr lang="en-US" sz="2000" dirty="0">
                <a:solidFill>
                  <a:srgbClr val="C4BDB4"/>
                </a:solidFill>
                <a:latin typeface="Courier New" pitchFamily="34" charset="0"/>
                <a:ea typeface="Courier New" pitchFamily="34" charset="-122"/>
                <a:cs typeface="Courier New" pitchFamily="34" charset="-120"/>
              </a:rPr>
              <a:t>3</a:t>
            </a:r>
            <a:endParaRPr lang="en-US" sz="2000" dirty="0"/>
          </a:p>
        </p:txBody>
      </p:sp>
      <p:sp>
        <p:nvSpPr>
          <p:cNvPr id="15" name="Text 12"/>
          <p:cNvSpPr/>
          <p:nvPr/>
        </p:nvSpPr>
        <p:spPr>
          <a:xfrm>
            <a:off x="1629438" y="3602736"/>
            <a:ext cx="2627300" cy="548640"/>
          </a:xfrm>
          <a:prstGeom prst="rect">
            <a:avLst/>
          </a:prstGeom>
          <a:noFill/>
          <a:ln/>
        </p:spPr>
        <p:txBody>
          <a:bodyPr wrap="square" lIns="0" tIns="0" rIns="0" bIns="0" rtlCol="0" anchor="ctr"/>
          <a:lstStyle/>
          <a:p>
            <a:pPr indent="0" marL="0">
              <a:buNone/>
            </a:pPr>
            <a:r>
              <a:rPr lang="en-US" sz="2100" b="1" dirty="0">
                <a:solidFill>
                  <a:srgbClr val="6B6560"/>
                </a:solidFill>
                <a:latin typeface="Arial" pitchFamily="34" charset="0"/>
                <a:ea typeface="Arial" pitchFamily="34" charset="-122"/>
                <a:cs typeface="Arial" pitchFamily="34" charset="-120"/>
              </a:rPr>
              <a:t>CANARIO</a:t>
            </a:r>
            <a:endParaRPr lang="en-US" sz="2100" dirty="0"/>
          </a:p>
        </p:txBody>
      </p:sp>
      <p:sp>
        <p:nvSpPr>
          <p:cNvPr id="16" name="Text 13"/>
          <p:cNvSpPr/>
          <p:nvPr/>
        </p:nvSpPr>
        <p:spPr>
          <a:xfrm>
            <a:off x="4519468" y="3602736"/>
            <a:ext cx="6830979" cy="548640"/>
          </a:xfrm>
          <a:prstGeom prst="rect">
            <a:avLst/>
          </a:prstGeom>
          <a:noFill/>
          <a:ln/>
        </p:spPr>
        <p:txBody>
          <a:bodyPr wrap="square" lIns="0" tIns="0" rIns="0" bIns="0" rtlCol="0" anchor="ctr"/>
          <a:lstStyle/>
          <a:p>
            <a:pPr algn="r" indent="0" marL="0">
              <a:buNone/>
            </a:pPr>
            <a:r>
              <a:rPr lang="en-US" sz="1400" dirty="0">
                <a:solidFill>
                  <a:srgbClr val="8A8079"/>
                </a:solidFill>
                <a:latin typeface="Arial" pitchFamily="34" charset="0"/>
                <a:ea typeface="Arial" pitchFamily="34" charset="-122"/>
                <a:cs typeface="Arial" pitchFamily="34" charset="-120"/>
              </a:rPr>
              <a:t>un segmento, después la flota</a:t>
            </a:r>
            <a:endParaRPr lang="en-US" sz="1400" dirty="0"/>
          </a:p>
        </p:txBody>
      </p:sp>
      <p:sp>
        <p:nvSpPr>
          <p:cNvPr id="17" name="Shape 14"/>
          <p:cNvSpPr/>
          <p:nvPr/>
        </p:nvSpPr>
        <p:spPr>
          <a:xfrm>
            <a:off x="841248" y="4206240"/>
            <a:ext cx="10509199" cy="10973"/>
          </a:xfrm>
          <a:prstGeom prst="rect">
            <a:avLst/>
          </a:prstGeom>
          <a:solidFill>
            <a:srgbClr val="D8D3CC"/>
          </a:solidFill>
          <a:ln/>
        </p:spPr>
      </p:sp>
      <p:sp>
        <p:nvSpPr>
          <p:cNvPr id="18" name="Text 15"/>
          <p:cNvSpPr/>
          <p:nvPr/>
        </p:nvSpPr>
        <p:spPr>
          <a:xfrm>
            <a:off x="841248" y="4443984"/>
            <a:ext cx="613037" cy="548640"/>
          </a:xfrm>
          <a:prstGeom prst="rect">
            <a:avLst/>
          </a:prstGeom>
          <a:noFill/>
          <a:ln/>
        </p:spPr>
        <p:txBody>
          <a:bodyPr wrap="square" lIns="0" tIns="0" rIns="0" bIns="0" rtlCol="0" anchor="ctr"/>
          <a:lstStyle/>
          <a:p>
            <a:pPr indent="0" marL="0">
              <a:buNone/>
            </a:pPr>
            <a:r>
              <a:rPr lang="en-US" sz="2000" dirty="0">
                <a:solidFill>
                  <a:srgbClr val="FF9F1C"/>
                </a:solidFill>
                <a:latin typeface="Courier New" pitchFamily="34" charset="0"/>
                <a:ea typeface="Courier New" pitchFamily="34" charset="-122"/>
                <a:cs typeface="Courier New" pitchFamily="34" charset="-120"/>
              </a:rPr>
              <a:t>4</a:t>
            </a:r>
            <a:endParaRPr lang="en-US" sz="2000" dirty="0"/>
          </a:p>
        </p:txBody>
      </p:sp>
      <p:sp>
        <p:nvSpPr>
          <p:cNvPr id="19" name="Text 16"/>
          <p:cNvSpPr/>
          <p:nvPr/>
        </p:nvSpPr>
        <p:spPr>
          <a:xfrm>
            <a:off x="1629438" y="4443984"/>
            <a:ext cx="2627300" cy="548640"/>
          </a:xfrm>
          <a:prstGeom prst="rect">
            <a:avLst/>
          </a:prstGeom>
          <a:noFill/>
          <a:ln/>
        </p:spPr>
        <p:txBody>
          <a:bodyPr wrap="square" lIns="0" tIns="0" rIns="0" bIns="0" rtlCol="0" anchor="ctr"/>
          <a:lstStyle/>
          <a:p>
            <a:pPr indent="0" marL="0">
              <a:buNone/>
            </a:pPr>
            <a:r>
              <a:rPr lang="en-US" sz="2100" b="1" dirty="0">
                <a:solidFill>
                  <a:srgbClr val="07090D"/>
                </a:solidFill>
                <a:latin typeface="Arial" pitchFamily="34" charset="0"/>
                <a:ea typeface="Arial" pitchFamily="34" charset="-122"/>
                <a:cs typeface="Arial" pitchFamily="34" charset="-120"/>
              </a:rPr>
              <a:t>REVERSA</a:t>
            </a:r>
            <a:endParaRPr lang="en-US" sz="2100" dirty="0"/>
          </a:p>
        </p:txBody>
      </p:sp>
      <p:sp>
        <p:nvSpPr>
          <p:cNvPr id="20" name="Text 17"/>
          <p:cNvSpPr/>
          <p:nvPr/>
        </p:nvSpPr>
        <p:spPr>
          <a:xfrm>
            <a:off x="4519468" y="4443984"/>
            <a:ext cx="6830979" cy="548640"/>
          </a:xfrm>
          <a:prstGeom prst="rect">
            <a:avLst/>
          </a:prstGeom>
          <a:noFill/>
          <a:ln/>
        </p:spPr>
        <p:txBody>
          <a:bodyPr wrap="square" lIns="0" tIns="0" rIns="0" bIns="0" rtlCol="0" anchor="ctr"/>
          <a:lstStyle/>
          <a:p>
            <a:pPr algn="r" indent="0" marL="0">
              <a:buNone/>
            </a:pPr>
            <a:r>
              <a:rPr lang="en-US" sz="1400" dirty="0">
                <a:solidFill>
                  <a:srgbClr val="8A8079"/>
                </a:solidFill>
                <a:latin typeface="Arial" pitchFamily="34" charset="0"/>
                <a:ea typeface="Arial" pitchFamily="34" charset="-122"/>
                <a:cs typeface="Arial" pitchFamily="34" charset="-120"/>
              </a:rPr>
              <a:t>automática, disparada por desacuerdo</a:t>
            </a:r>
            <a:endParaRPr lang="en-US" sz="1400" dirty="0"/>
          </a:p>
        </p:txBody>
      </p:sp>
      <p:sp>
        <p:nvSpPr>
          <p:cNvPr id="21" name="Shape 18"/>
          <p:cNvSpPr/>
          <p:nvPr/>
        </p:nvSpPr>
        <p:spPr>
          <a:xfrm>
            <a:off x="841248" y="5047488"/>
            <a:ext cx="10509199" cy="10973"/>
          </a:xfrm>
          <a:prstGeom prst="rect">
            <a:avLst/>
          </a:prstGeom>
          <a:solidFill>
            <a:srgbClr val="FF9F1C"/>
          </a:solidFill>
          <a:ln/>
        </p:spPr>
      </p:sp>
      <p:sp>
        <p:nvSpPr>
          <p:cNvPr id="22" name="Text 19"/>
          <p:cNvSpPr/>
          <p:nvPr/>
        </p:nvSpPr>
        <p:spPr>
          <a:xfrm>
            <a:off x="841248" y="5486400"/>
            <a:ext cx="10509199" cy="54864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Sin tocar un solo dispositivo.</a:t>
            </a:r>
            <a:endParaRPr lang="en-US" sz="3000" dirty="0"/>
          </a:p>
        </p:txBody>
      </p:sp>
      <p:sp>
        <p:nvSpPr>
          <p:cNvPr id="23" name="Text 20"/>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A9A29A"/>
                </a:solidFill>
                <a:latin typeface="Courier New" pitchFamily="34" charset="0"/>
                <a:ea typeface="Courier New" pitchFamily="34" charset="-122"/>
                <a:cs typeface="Courier New" pitchFamily="34" charset="-120"/>
              </a:rPr>
              <a:t>13 / 18</a:t>
            </a:r>
            <a:endParaRPr lang="en-US" sz="850" dirty="0"/>
          </a:p>
        </p:txBody>
      </p:sp>
      <p:sp>
        <p:nvSpPr>
          <p:cNvPr id="24" name="Text 21"/>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A9A29A"/>
                </a:solidFill>
                <a:latin typeface="Courier New" pitchFamily="34" charset="0"/>
                <a:ea typeface="Courier New" pitchFamily="34" charset="-122"/>
                <a:cs typeface="Courier New" pitchFamily="34" charset="-120"/>
              </a:rPr>
              <a:t>ACTO 3 · REVERTIR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FF9F1C"/>
                </a:solidFill>
                <a:latin typeface="Courier New" pitchFamily="34" charset="0"/>
                <a:ea typeface="Courier New" pitchFamily="34" charset="-122"/>
                <a:cs typeface="Courier New" pitchFamily="34" charset="-120"/>
              </a:rPr>
              <a:t>LA PRUEBA</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417320"/>
            <a:ext cx="10509199" cy="1005840"/>
          </a:xfrm>
          <a:prstGeom prst="rect">
            <a:avLst/>
          </a:prstGeom>
          <a:noFill/>
          <a:ln/>
        </p:spPr>
        <p:txBody>
          <a:bodyPr wrap="square" lIns="0" tIns="0" rIns="0" bIns="0" rtlCol="0" anchor="t"/>
          <a:lstStyle/>
          <a:p>
            <a:pPr indent="0" marL="0">
              <a:lnSpc>
                <a:spcPct val="120000"/>
              </a:lnSpc>
              <a:buNone/>
            </a:pPr>
            <a:r>
              <a:rPr lang="en-US" sz="2800" dirty="0">
                <a:solidFill>
                  <a:srgbClr val="8A93A0"/>
                </a:solidFill>
                <a:latin typeface="Arial" pitchFamily="34" charset="0"/>
                <a:ea typeface="Arial" pitchFamily="34" charset="-122"/>
                <a:cs typeface="Arial" pitchFamily="34" charset="-120"/>
              </a:rPr>
              <a:t>PTQ a 4 bits para que entrara en la Pi.</a:t>
            </a:r>
            <a:endParaRPr lang="en-US" sz="2800" dirty="0"/>
          </a:p>
          <a:p>
            <a:pPr indent="0" marL="0">
              <a:lnSpc>
                <a:spcPct val="120000"/>
              </a:lnSpc>
              <a:buNone/>
            </a:pPr>
            <a:r>
              <a:rPr lang="en-US" sz="2800" dirty="0">
                <a:solidFill>
                  <a:srgbClr val="8A93A0"/>
                </a:solidFill>
                <a:latin typeface="Arial" pitchFamily="34" charset="0"/>
                <a:ea typeface="Arial" pitchFamily="34" charset="-122"/>
                <a:cs typeface="Arial" pitchFamily="34" charset="-120"/>
              </a:rPr>
              <a:t>Pasó todos los tests offline.</a:t>
            </a:r>
            <a:endParaRPr lang="en-US" sz="2800" dirty="0"/>
          </a:p>
        </p:txBody>
      </p:sp>
      <p:sp>
        <p:nvSpPr>
          <p:cNvPr id="6" name="Text 3"/>
          <p:cNvSpPr/>
          <p:nvPr/>
        </p:nvSpPr>
        <p:spPr>
          <a:xfrm>
            <a:off x="841248" y="2697480"/>
            <a:ext cx="5254600" cy="1920240"/>
          </a:xfrm>
          <a:prstGeom prst="rect">
            <a:avLst/>
          </a:prstGeom>
          <a:noFill/>
          <a:ln/>
        </p:spPr>
        <p:txBody>
          <a:bodyPr wrap="square" lIns="0" tIns="0" rIns="0" bIns="0" rtlCol="0" anchor="ctr"/>
          <a:lstStyle/>
          <a:p>
            <a:pPr indent="0" marL="0">
              <a:buNone/>
            </a:pPr>
            <a:r>
              <a:rPr lang="en-US" sz="17000" b="1" spc="-600" kern="0" dirty="0">
                <a:solidFill>
                  <a:srgbClr val="FF9F1C"/>
                </a:solidFill>
                <a:latin typeface="Arial" pitchFamily="34" charset="0"/>
                <a:ea typeface="Arial" pitchFamily="34" charset="-122"/>
                <a:cs typeface="Arial" pitchFamily="34" charset="-120"/>
              </a:rPr>
              <a:t>XX</a:t>
            </a:r>
            <a:endParaRPr lang="en-US" sz="17000" dirty="0"/>
          </a:p>
        </p:txBody>
      </p:sp>
      <p:sp>
        <p:nvSpPr>
          <p:cNvPr id="7" name="Text 4"/>
          <p:cNvSpPr/>
          <p:nvPr/>
        </p:nvSpPr>
        <p:spPr>
          <a:xfrm>
            <a:off x="5570388" y="3154680"/>
            <a:ext cx="5780060" cy="457200"/>
          </a:xfrm>
          <a:prstGeom prst="rect">
            <a:avLst/>
          </a:prstGeom>
          <a:noFill/>
          <a:ln/>
        </p:spPr>
        <p:txBody>
          <a:bodyPr wrap="square" lIns="0" tIns="0" rIns="0" bIns="0" rtlCol="0" anchor="ctr"/>
          <a:lstStyle/>
          <a:p>
            <a:pPr indent="0" marL="0">
              <a:buNone/>
            </a:pPr>
            <a:r>
              <a:rPr lang="en-US" sz="1800" spc="400" kern="0" dirty="0">
                <a:solidFill>
                  <a:srgbClr val="FFFFFF"/>
                </a:solidFill>
                <a:latin typeface="Courier New" pitchFamily="34" charset="0"/>
                <a:ea typeface="Courier New" pitchFamily="34" charset="-122"/>
                <a:cs typeface="Courier New" pitchFamily="34" charset="-120"/>
              </a:rPr>
              <a:t>SEGUNDOS</a:t>
            </a:r>
            <a:endParaRPr lang="en-US" sz="1800" dirty="0"/>
          </a:p>
        </p:txBody>
      </p:sp>
      <p:sp>
        <p:nvSpPr>
          <p:cNvPr id="8" name="Text 5"/>
          <p:cNvSpPr/>
          <p:nvPr/>
        </p:nvSpPr>
        <p:spPr>
          <a:xfrm>
            <a:off x="5570388" y="3657600"/>
            <a:ext cx="5780060" cy="731520"/>
          </a:xfrm>
          <a:prstGeom prst="rect">
            <a:avLst/>
          </a:prstGeom>
          <a:noFill/>
          <a:ln/>
        </p:spPr>
        <p:txBody>
          <a:bodyPr wrap="square" lIns="0" tIns="0" rIns="0" bIns="0" rtlCol="0" anchor="t"/>
          <a:lstStyle/>
          <a:p>
            <a:pPr indent="0" marL="0">
              <a:buNone/>
            </a:pPr>
            <a:r>
              <a:rPr lang="en-US" sz="1600" dirty="0">
                <a:solidFill>
                  <a:srgbClr val="8A93A0"/>
                </a:solidFill>
                <a:latin typeface="Arial" pitchFamily="34" charset="0"/>
                <a:ea typeface="Arial" pitchFamily="34" charset="-122"/>
                <a:cs typeface="Arial" pitchFamily="34" charset="-120"/>
              </a:rPr>
              <a:t>de la degradación a la reversa completa,</a:t>
            </a:r>
            <a:endParaRPr lang="en-US" sz="1600" dirty="0"/>
          </a:p>
          <a:p>
            <a:pPr indent="0" marL="0">
              <a:buNone/>
            </a:pPr>
            <a:r>
              <a:rPr lang="en-US" sz="1600" dirty="0">
                <a:solidFill>
                  <a:srgbClr val="8A93A0"/>
                </a:solidFill>
                <a:latin typeface="Arial" pitchFamily="34" charset="0"/>
                <a:ea typeface="Arial" pitchFamily="34" charset="-122"/>
                <a:cs typeface="Arial" pitchFamily="34" charset="-120"/>
              </a:rPr>
              <a:t>sin intervención humana</a:t>
            </a:r>
            <a:endParaRPr lang="en-US" sz="1600" dirty="0"/>
          </a:p>
        </p:txBody>
      </p:sp>
      <p:sp>
        <p:nvSpPr>
          <p:cNvPr id="9" name="Shape 6"/>
          <p:cNvSpPr/>
          <p:nvPr/>
        </p:nvSpPr>
        <p:spPr>
          <a:xfrm>
            <a:off x="0" y="5029200"/>
            <a:ext cx="12191695" cy="12802"/>
          </a:xfrm>
          <a:prstGeom prst="rect">
            <a:avLst/>
          </a:prstGeom>
          <a:solidFill>
            <a:srgbClr val="1C222C"/>
          </a:solidFill>
          <a:ln/>
        </p:spPr>
      </p:sp>
      <p:sp>
        <p:nvSpPr>
          <p:cNvPr id="10" name="Text 7"/>
          <p:cNvSpPr/>
          <p:nvPr/>
        </p:nvSpPr>
        <p:spPr>
          <a:xfrm>
            <a:off x="841248" y="5230368"/>
            <a:ext cx="10509199" cy="365760"/>
          </a:xfrm>
          <a:prstGeom prst="rect">
            <a:avLst/>
          </a:prstGeom>
          <a:noFill/>
          <a:ln/>
        </p:spPr>
        <p:txBody>
          <a:bodyPr wrap="square" lIns="0" tIns="0" rIns="0" bIns="0" rtlCol="0" anchor="ctr"/>
          <a:lstStyle/>
          <a:p>
            <a:pPr indent="0" marL="0">
              <a:buNone/>
            </a:pPr>
            <a:r>
              <a:rPr lang="en-US" sz="1000" spc="150" kern="0" dirty="0">
                <a:solidFill>
                  <a:srgbClr val="3A424E"/>
                </a:solidFill>
                <a:latin typeface="Courier New" pitchFamily="34" charset="0"/>
                <a:ea typeface="Courier New" pitchFamily="34" charset="-122"/>
                <a:cs typeface="Courier New" pitchFamily="34" charset="-120"/>
              </a:rPr>
              <a:t>RASPBERRY PI 5      ·      LAPTOP      ·      TELÉFONO      ·      EL MISMO ONNX</a:t>
            </a:r>
            <a:endParaRPr lang="en-US" sz="1000" dirty="0"/>
          </a:p>
        </p:txBody>
      </p:sp>
      <p:sp>
        <p:nvSpPr>
          <p:cNvPr id="11" name="Text 8"/>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14 / 18</a:t>
            </a:r>
            <a:endParaRPr lang="en-US" sz="850" dirty="0"/>
          </a:p>
        </p:txBody>
      </p:sp>
      <p:sp>
        <p:nvSpPr>
          <p:cNvPr id="12" name="Text 9"/>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ACTO 3 · REVERTIR</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8A7A5E"/>
                </a:solidFill>
                <a:latin typeface="Courier New" pitchFamily="34" charset="0"/>
                <a:ea typeface="Courier New" pitchFamily="34" charset="-122"/>
                <a:cs typeface="Courier New" pitchFamily="34" charset="-120"/>
              </a:rPr>
              <a:t>LO QUE NADIE MIDE</a:t>
            </a:r>
            <a:endParaRPr lang="en-US" sz="900" dirty="0"/>
          </a:p>
        </p:txBody>
      </p:sp>
      <p:sp>
        <p:nvSpPr>
          <p:cNvPr id="4" name="Shape 1"/>
          <p:cNvSpPr/>
          <p:nvPr/>
        </p:nvSpPr>
        <p:spPr>
          <a:xfrm>
            <a:off x="0" y="1051560"/>
            <a:ext cx="12191695" cy="12802"/>
          </a:xfrm>
          <a:prstGeom prst="rect">
            <a:avLst/>
          </a:prstGeom>
          <a:solidFill>
            <a:srgbClr val="D8D3CC"/>
          </a:solidFill>
          <a:ln/>
        </p:spPr>
      </p:sp>
      <p:sp>
        <p:nvSpPr>
          <p:cNvPr id="5" name="Text 2"/>
          <p:cNvSpPr/>
          <p:nvPr/>
        </p:nvSpPr>
        <p:spPr>
          <a:xfrm>
            <a:off x="841248" y="1371600"/>
            <a:ext cx="10509199" cy="1188720"/>
          </a:xfrm>
          <a:prstGeom prst="rect">
            <a:avLst/>
          </a:prstGeom>
          <a:noFill/>
          <a:ln/>
        </p:spPr>
        <p:txBody>
          <a:bodyPr wrap="square" lIns="0" tIns="0" rIns="0" bIns="0" rtlCol="0" anchor="t"/>
          <a:lstStyle/>
          <a:p>
            <a:pPr indent="0" marL="0">
              <a:lnSpc>
                <a:spcPct val="120000"/>
              </a:lnSpc>
              <a:buNone/>
            </a:pPr>
            <a:r>
              <a:rPr lang="en-US" sz="3200" b="1" dirty="0">
                <a:solidFill>
                  <a:srgbClr val="07090D"/>
                </a:solidFill>
                <a:latin typeface="Arial" pitchFamily="34" charset="0"/>
                <a:ea typeface="Arial" pitchFamily="34" charset="-122"/>
                <a:cs typeface="Arial" pitchFamily="34" charset="-120"/>
              </a:rPr>
              <a:t>MLPerf mide qué tan rápido infiere.</a:t>
            </a:r>
            <a:endParaRPr lang="en-US" sz="3200" dirty="0"/>
          </a:p>
          <a:p>
            <a:pPr indent="0" marL="0">
              <a:lnSpc>
                <a:spcPct val="120000"/>
              </a:lnSpc>
              <a:buNone/>
            </a:pPr>
            <a:r>
              <a:rPr lang="en-US" sz="3200" b="1" dirty="0">
                <a:solidFill>
                  <a:srgbClr val="07090D"/>
                </a:solidFill>
                <a:latin typeface="Arial" pitchFamily="34" charset="0"/>
                <a:ea typeface="Arial" pitchFamily="34" charset="-122"/>
                <a:cs typeface="Arial" pitchFamily="34" charset="-120"/>
              </a:rPr>
              <a:t>Nadie mide qué tan rápido se recupera.</a:t>
            </a:r>
            <a:endParaRPr lang="en-US" sz="3200" dirty="0"/>
          </a:p>
        </p:txBody>
      </p:sp>
      <p:sp>
        <p:nvSpPr>
          <p:cNvPr id="6" name="Shape 3"/>
          <p:cNvSpPr/>
          <p:nvPr/>
        </p:nvSpPr>
        <p:spPr>
          <a:xfrm>
            <a:off x="841248" y="2834640"/>
            <a:ext cx="10509199" cy="10973"/>
          </a:xfrm>
          <a:prstGeom prst="rect">
            <a:avLst/>
          </a:prstGeom>
          <a:solidFill>
            <a:srgbClr val="D8D3CC"/>
          </a:solidFill>
          <a:ln/>
        </p:spPr>
      </p:sp>
      <p:sp>
        <p:nvSpPr>
          <p:cNvPr id="7" name="Text 4"/>
          <p:cNvSpPr/>
          <p:nvPr/>
        </p:nvSpPr>
        <p:spPr>
          <a:xfrm>
            <a:off x="841248" y="2926080"/>
            <a:ext cx="2627300" cy="50292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XX s</a:t>
            </a:r>
            <a:endParaRPr lang="en-US" sz="3000" dirty="0"/>
          </a:p>
        </p:txBody>
      </p:sp>
      <p:sp>
        <p:nvSpPr>
          <p:cNvPr id="8" name="Text 5"/>
          <p:cNvSpPr/>
          <p:nvPr/>
        </p:nvSpPr>
        <p:spPr>
          <a:xfrm>
            <a:off x="3643701" y="2926080"/>
            <a:ext cx="7706746" cy="502920"/>
          </a:xfrm>
          <a:prstGeom prst="rect">
            <a:avLst/>
          </a:prstGeom>
          <a:noFill/>
          <a:ln/>
        </p:spPr>
        <p:txBody>
          <a:bodyPr wrap="square" lIns="0" tIns="0" rIns="0" bIns="0" rtlCol="0" anchor="ctr"/>
          <a:lstStyle/>
          <a:p>
            <a:pPr algn="r" indent="0" marL="0">
              <a:buNone/>
            </a:pPr>
            <a:r>
              <a:rPr lang="en-US" sz="1500" dirty="0">
                <a:solidFill>
                  <a:srgbClr val="6B6560"/>
                </a:solidFill>
                <a:latin typeface="Arial" pitchFamily="34" charset="0"/>
                <a:ea typeface="Arial" pitchFamily="34" charset="-122"/>
                <a:cs typeface="Arial" pitchFamily="34" charset="-120"/>
              </a:rPr>
              <a:t>reversa completa</a:t>
            </a:r>
            <a:endParaRPr lang="en-US" sz="1500" dirty="0"/>
          </a:p>
        </p:txBody>
      </p:sp>
      <p:sp>
        <p:nvSpPr>
          <p:cNvPr id="9" name="Shape 6"/>
          <p:cNvSpPr/>
          <p:nvPr/>
        </p:nvSpPr>
        <p:spPr>
          <a:xfrm>
            <a:off x="841248" y="3547872"/>
            <a:ext cx="10509199" cy="10973"/>
          </a:xfrm>
          <a:prstGeom prst="rect">
            <a:avLst/>
          </a:prstGeom>
          <a:solidFill>
            <a:srgbClr val="D8D3CC"/>
          </a:solidFill>
          <a:ln/>
        </p:spPr>
      </p:sp>
      <p:sp>
        <p:nvSpPr>
          <p:cNvPr id="10" name="Text 7"/>
          <p:cNvSpPr/>
          <p:nvPr/>
        </p:nvSpPr>
        <p:spPr>
          <a:xfrm>
            <a:off x="841248" y="3639312"/>
            <a:ext cx="2627300" cy="50292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XX ms</a:t>
            </a:r>
            <a:endParaRPr lang="en-US" sz="3000" dirty="0"/>
          </a:p>
        </p:txBody>
      </p:sp>
      <p:sp>
        <p:nvSpPr>
          <p:cNvPr id="11" name="Text 8"/>
          <p:cNvSpPr/>
          <p:nvPr/>
        </p:nvSpPr>
        <p:spPr>
          <a:xfrm>
            <a:off x="3643701" y="3639312"/>
            <a:ext cx="7706746" cy="502920"/>
          </a:xfrm>
          <a:prstGeom prst="rect">
            <a:avLst/>
          </a:prstGeom>
          <a:noFill/>
          <a:ln/>
        </p:spPr>
        <p:txBody>
          <a:bodyPr wrap="square" lIns="0" tIns="0" rIns="0" bIns="0" rtlCol="0" anchor="ctr"/>
          <a:lstStyle/>
          <a:p>
            <a:pPr algn="r" indent="0" marL="0">
              <a:buNone/>
            </a:pPr>
            <a:r>
              <a:rPr lang="en-US" sz="1500" dirty="0">
                <a:solidFill>
                  <a:srgbClr val="6B6560"/>
                </a:solidFill>
                <a:latin typeface="Arial" pitchFamily="34" charset="0"/>
                <a:ea typeface="Arial" pitchFamily="34" charset="-122"/>
                <a:cs typeface="Arial" pitchFamily="34" charset="-120"/>
              </a:rPr>
              <a:t>latencia p99 · 3 aceleradores</a:t>
            </a:r>
            <a:endParaRPr lang="en-US" sz="1500" dirty="0"/>
          </a:p>
        </p:txBody>
      </p:sp>
      <p:sp>
        <p:nvSpPr>
          <p:cNvPr id="12" name="Shape 9"/>
          <p:cNvSpPr/>
          <p:nvPr/>
        </p:nvSpPr>
        <p:spPr>
          <a:xfrm>
            <a:off x="841248" y="4261104"/>
            <a:ext cx="10509199" cy="10973"/>
          </a:xfrm>
          <a:prstGeom prst="rect">
            <a:avLst/>
          </a:prstGeom>
          <a:solidFill>
            <a:srgbClr val="D8D3CC"/>
          </a:solidFill>
          <a:ln/>
        </p:spPr>
      </p:sp>
      <p:sp>
        <p:nvSpPr>
          <p:cNvPr id="13" name="Text 10"/>
          <p:cNvSpPr/>
          <p:nvPr/>
        </p:nvSpPr>
        <p:spPr>
          <a:xfrm>
            <a:off x="841248" y="4352544"/>
            <a:ext cx="2627300" cy="50292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XX B</a:t>
            </a:r>
            <a:endParaRPr lang="en-US" sz="3000" dirty="0"/>
          </a:p>
        </p:txBody>
      </p:sp>
      <p:sp>
        <p:nvSpPr>
          <p:cNvPr id="14" name="Text 11"/>
          <p:cNvSpPr/>
          <p:nvPr/>
        </p:nvSpPr>
        <p:spPr>
          <a:xfrm>
            <a:off x="3643701" y="4352544"/>
            <a:ext cx="7706746" cy="502920"/>
          </a:xfrm>
          <a:prstGeom prst="rect">
            <a:avLst/>
          </a:prstGeom>
          <a:noFill/>
          <a:ln/>
        </p:spPr>
        <p:txBody>
          <a:bodyPr wrap="square" lIns="0" tIns="0" rIns="0" bIns="0" rtlCol="0" anchor="ctr"/>
          <a:lstStyle/>
          <a:p>
            <a:pPr algn="r" indent="0" marL="0">
              <a:buNone/>
            </a:pPr>
            <a:r>
              <a:rPr lang="en-US" sz="1500" dirty="0">
                <a:solidFill>
                  <a:srgbClr val="6B6560"/>
                </a:solidFill>
                <a:latin typeface="Arial" pitchFamily="34" charset="0"/>
                <a:ea typeface="Arial" pitchFamily="34" charset="-122"/>
                <a:cs typeface="Arial" pitchFamily="34" charset="-120"/>
              </a:rPr>
              <a:t>peso del evento</a:t>
            </a:r>
            <a:endParaRPr lang="en-US" sz="1500" dirty="0"/>
          </a:p>
        </p:txBody>
      </p:sp>
      <p:sp>
        <p:nvSpPr>
          <p:cNvPr id="15" name="Shape 12"/>
          <p:cNvSpPr/>
          <p:nvPr/>
        </p:nvSpPr>
        <p:spPr>
          <a:xfrm>
            <a:off x="841248" y="4974336"/>
            <a:ext cx="10509199" cy="10973"/>
          </a:xfrm>
          <a:prstGeom prst="rect">
            <a:avLst/>
          </a:prstGeom>
          <a:solidFill>
            <a:srgbClr val="D8D3CC"/>
          </a:solidFill>
          <a:ln/>
        </p:spPr>
      </p:sp>
      <p:sp>
        <p:nvSpPr>
          <p:cNvPr id="16" name="Text 13"/>
          <p:cNvSpPr/>
          <p:nvPr/>
        </p:nvSpPr>
        <p:spPr>
          <a:xfrm>
            <a:off x="841248" y="5065776"/>
            <a:ext cx="2627300" cy="502920"/>
          </a:xfrm>
          <a:prstGeom prst="rect">
            <a:avLst/>
          </a:prstGeom>
          <a:noFill/>
          <a:ln/>
        </p:spPr>
        <p:txBody>
          <a:bodyPr wrap="square" lIns="0" tIns="0" rIns="0" bIns="0" rtlCol="0" anchor="ctr"/>
          <a:lstStyle/>
          <a:p>
            <a:pPr indent="0" marL="0">
              <a:buNone/>
            </a:pPr>
            <a:r>
              <a:rPr lang="en-US" sz="3000" b="1" dirty="0">
                <a:solidFill>
                  <a:srgbClr val="07090D"/>
                </a:solidFill>
                <a:latin typeface="Arial" pitchFamily="34" charset="0"/>
                <a:ea typeface="Arial" pitchFamily="34" charset="-122"/>
                <a:cs typeface="Arial" pitchFamily="34" charset="-120"/>
              </a:rPr>
              <a:t>XX s</a:t>
            </a:r>
            <a:endParaRPr lang="en-US" sz="3000" dirty="0"/>
          </a:p>
        </p:txBody>
      </p:sp>
      <p:sp>
        <p:nvSpPr>
          <p:cNvPr id="17" name="Text 14"/>
          <p:cNvSpPr/>
          <p:nvPr/>
        </p:nvSpPr>
        <p:spPr>
          <a:xfrm>
            <a:off x="3643701" y="5065776"/>
            <a:ext cx="7706746" cy="502920"/>
          </a:xfrm>
          <a:prstGeom prst="rect">
            <a:avLst/>
          </a:prstGeom>
          <a:noFill/>
          <a:ln/>
        </p:spPr>
        <p:txBody>
          <a:bodyPr wrap="square" lIns="0" tIns="0" rIns="0" bIns="0" rtlCol="0" anchor="ctr"/>
          <a:lstStyle/>
          <a:p>
            <a:pPr algn="r" indent="0" marL="0">
              <a:buNone/>
            </a:pPr>
            <a:r>
              <a:rPr lang="en-US" sz="1500" dirty="0">
                <a:solidFill>
                  <a:srgbClr val="6B6560"/>
                </a:solidFill>
                <a:latin typeface="Arial" pitchFamily="34" charset="0"/>
                <a:ea typeface="Arial" pitchFamily="34" charset="-122"/>
                <a:cs typeface="Arial" pitchFamily="34" charset="-120"/>
              </a:rPr>
              <a:t>convergencia tras reconexión</a:t>
            </a:r>
            <a:endParaRPr lang="en-US" sz="1500" dirty="0"/>
          </a:p>
        </p:txBody>
      </p:sp>
      <p:sp>
        <p:nvSpPr>
          <p:cNvPr id="18" name="Shape 15"/>
          <p:cNvSpPr/>
          <p:nvPr/>
        </p:nvSpPr>
        <p:spPr>
          <a:xfrm>
            <a:off x="841248" y="5687568"/>
            <a:ext cx="10509199" cy="10973"/>
          </a:xfrm>
          <a:prstGeom prst="rect">
            <a:avLst/>
          </a:prstGeom>
          <a:solidFill>
            <a:srgbClr val="D8D3CC"/>
          </a:solidFill>
          <a:ln/>
        </p:spPr>
      </p:sp>
      <p:sp>
        <p:nvSpPr>
          <p:cNvPr id="19" name="Text 16"/>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A9A29A"/>
                </a:solidFill>
                <a:latin typeface="Courier New" pitchFamily="34" charset="0"/>
                <a:ea typeface="Courier New" pitchFamily="34" charset="-122"/>
                <a:cs typeface="Courier New" pitchFamily="34" charset="-120"/>
              </a:rPr>
              <a:t>15 / 18</a:t>
            </a:r>
            <a:endParaRPr lang="en-US" sz="850" dirty="0"/>
          </a:p>
        </p:txBody>
      </p:sp>
      <p:sp>
        <p:nvSpPr>
          <p:cNvPr id="20" name="Text 17"/>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A9A29A"/>
                </a:solidFill>
                <a:latin typeface="Courier New" pitchFamily="34" charset="0"/>
                <a:ea typeface="Courier New" pitchFamily="34" charset="-122"/>
                <a:cs typeface="Courier New" pitchFamily="34" charset="-120"/>
              </a:rPr>
              <a:t>MEDICIÓN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566928"/>
            <a:ext cx="7006133" cy="237744"/>
          </a:xfrm>
          <a:prstGeom prst="rect">
            <a:avLst/>
          </a:prstGeom>
          <a:noFill/>
          <a:ln/>
        </p:spPr>
        <p:txBody>
          <a:bodyPr wrap="square" lIns="0" tIns="0" rIns="0" bIns="0" rtlCol="0" anchor="ctr"/>
          <a:lstStyle/>
          <a:p>
            <a:pPr indent="0" marL="0">
              <a:buNone/>
            </a:pPr>
            <a:r>
              <a:rPr lang="en-US" sz="900" spc="250" kern="0" dirty="0">
                <a:solidFill>
                  <a:srgbClr val="2DD4BF"/>
                </a:solidFill>
                <a:latin typeface="Courier New" pitchFamily="34" charset="0"/>
                <a:ea typeface="Courier New" pitchFamily="34" charset="-122"/>
                <a:cs typeface="Courier New" pitchFamily="34" charset="-120"/>
              </a:rPr>
              <a:t>LO QUE NO INVENTÉ</a:t>
            </a:r>
            <a:endParaRPr lang="en-US" sz="900" dirty="0"/>
          </a:p>
        </p:txBody>
      </p:sp>
      <p:sp>
        <p:nvSpPr>
          <p:cNvPr id="4" name="Shape 1"/>
          <p:cNvSpPr/>
          <p:nvPr/>
        </p:nvSpPr>
        <p:spPr>
          <a:xfrm>
            <a:off x="0" y="1051560"/>
            <a:ext cx="12191695" cy="12802"/>
          </a:xfrm>
          <a:prstGeom prst="rect">
            <a:avLst/>
          </a:prstGeom>
          <a:solidFill>
            <a:srgbClr val="1C222C"/>
          </a:solidFill>
          <a:ln/>
        </p:spPr>
      </p:sp>
      <p:sp>
        <p:nvSpPr>
          <p:cNvPr id="5" name="Text 2"/>
          <p:cNvSpPr/>
          <p:nvPr/>
        </p:nvSpPr>
        <p:spPr>
          <a:xfrm>
            <a:off x="841248" y="1572768"/>
            <a:ext cx="5254600" cy="566928"/>
          </a:xfrm>
          <a:prstGeom prst="rect">
            <a:avLst/>
          </a:prstGeom>
          <a:noFill/>
          <a:ln/>
        </p:spPr>
        <p:txBody>
          <a:bodyPr wrap="square" lIns="0" tIns="0" rIns="0" bIns="0" rtlCol="0" anchor="ctr"/>
          <a:lstStyle/>
          <a:p>
            <a:pPr indent="0" marL="0">
              <a:buNone/>
            </a:pPr>
            <a:r>
              <a:rPr lang="en-US" sz="2100" dirty="0">
                <a:solidFill>
                  <a:srgbClr val="3A424E"/>
                </a:solidFill>
                <a:latin typeface="Arial" pitchFamily="34" charset="0"/>
                <a:ea typeface="Arial" pitchFamily="34" charset="-122"/>
                <a:cs typeface="Arial" pitchFamily="34" charset="-120"/>
              </a:rPr>
              <a:t>Ingesta multiprotocolo</a:t>
            </a:r>
            <a:endParaRPr lang="en-US" sz="2100" dirty="0"/>
          </a:p>
        </p:txBody>
      </p:sp>
      <p:sp>
        <p:nvSpPr>
          <p:cNvPr id="6" name="Text 3"/>
          <p:cNvSpPr/>
          <p:nvPr/>
        </p:nvSpPr>
        <p:spPr>
          <a:xfrm>
            <a:off x="6095848" y="1572768"/>
            <a:ext cx="5254600" cy="566928"/>
          </a:xfrm>
          <a:prstGeom prst="rect">
            <a:avLst/>
          </a:prstGeom>
          <a:noFill/>
          <a:ln/>
        </p:spPr>
        <p:txBody>
          <a:bodyPr wrap="square" lIns="0" tIns="0" rIns="0" bIns="0" rtlCol="0" anchor="ctr"/>
          <a:lstStyle/>
          <a:p>
            <a:pPr algn="r" indent="0" marL="0">
              <a:buNone/>
            </a:pPr>
            <a:r>
              <a:rPr lang="en-US" sz="1300" dirty="0">
                <a:solidFill>
                  <a:srgbClr val="3A424E"/>
                </a:solidFill>
                <a:latin typeface="Courier New" pitchFamily="34" charset="0"/>
                <a:ea typeface="Courier New" pitchFamily="34" charset="-122"/>
                <a:cs typeface="Courier New" pitchFamily="34" charset="-120"/>
              </a:rPr>
              <a:t>Litmus · HighByte</a:t>
            </a:r>
            <a:endParaRPr lang="en-US" sz="1300" dirty="0"/>
          </a:p>
        </p:txBody>
      </p:sp>
      <p:sp>
        <p:nvSpPr>
          <p:cNvPr id="7" name="Shape 4"/>
          <p:cNvSpPr/>
          <p:nvPr/>
        </p:nvSpPr>
        <p:spPr>
          <a:xfrm>
            <a:off x="841248" y="2194560"/>
            <a:ext cx="10509199" cy="10973"/>
          </a:xfrm>
          <a:prstGeom prst="rect">
            <a:avLst/>
          </a:prstGeom>
          <a:solidFill>
            <a:srgbClr val="1C222C"/>
          </a:solidFill>
          <a:ln/>
        </p:spPr>
      </p:sp>
      <p:sp>
        <p:nvSpPr>
          <p:cNvPr id="8" name="Text 5"/>
          <p:cNvSpPr/>
          <p:nvPr/>
        </p:nvSpPr>
        <p:spPr>
          <a:xfrm>
            <a:off x="841248" y="2359152"/>
            <a:ext cx="5254600" cy="566928"/>
          </a:xfrm>
          <a:prstGeom prst="rect">
            <a:avLst/>
          </a:prstGeom>
          <a:noFill/>
          <a:ln/>
        </p:spPr>
        <p:txBody>
          <a:bodyPr wrap="square" lIns="0" tIns="0" rIns="0" bIns="0" rtlCol="0" anchor="ctr"/>
          <a:lstStyle/>
          <a:p>
            <a:pPr indent="0" marL="0">
              <a:buNone/>
            </a:pPr>
            <a:r>
              <a:rPr lang="en-US" sz="2100" dirty="0">
                <a:solidFill>
                  <a:srgbClr val="3A424E"/>
                </a:solidFill>
                <a:latin typeface="Arial" pitchFamily="34" charset="0"/>
                <a:ea typeface="Arial" pitchFamily="34" charset="-122"/>
                <a:cs typeface="Arial" pitchFamily="34" charset="-120"/>
              </a:rPr>
              <a:t>Telemetría estándar</a:t>
            </a:r>
            <a:endParaRPr lang="en-US" sz="2100" dirty="0"/>
          </a:p>
        </p:txBody>
      </p:sp>
      <p:sp>
        <p:nvSpPr>
          <p:cNvPr id="9" name="Text 6"/>
          <p:cNvSpPr/>
          <p:nvPr/>
        </p:nvSpPr>
        <p:spPr>
          <a:xfrm>
            <a:off x="6095848" y="2359152"/>
            <a:ext cx="5254600" cy="566928"/>
          </a:xfrm>
          <a:prstGeom prst="rect">
            <a:avLst/>
          </a:prstGeom>
          <a:noFill/>
          <a:ln/>
        </p:spPr>
        <p:txBody>
          <a:bodyPr wrap="square" lIns="0" tIns="0" rIns="0" bIns="0" rtlCol="0" anchor="ctr"/>
          <a:lstStyle/>
          <a:p>
            <a:pPr algn="r" indent="0" marL="0">
              <a:buNone/>
            </a:pPr>
            <a:r>
              <a:rPr lang="en-US" sz="1300" dirty="0">
                <a:solidFill>
                  <a:srgbClr val="3A424E"/>
                </a:solidFill>
                <a:latin typeface="Courier New" pitchFamily="34" charset="0"/>
                <a:ea typeface="Courier New" pitchFamily="34" charset="-122"/>
                <a:cs typeface="Courier New" pitchFamily="34" charset="-120"/>
              </a:rPr>
              <a:t>Sparkplug B · Eclipse</a:t>
            </a:r>
            <a:endParaRPr lang="en-US" sz="1300" dirty="0"/>
          </a:p>
        </p:txBody>
      </p:sp>
      <p:sp>
        <p:nvSpPr>
          <p:cNvPr id="10" name="Shape 7"/>
          <p:cNvSpPr/>
          <p:nvPr/>
        </p:nvSpPr>
        <p:spPr>
          <a:xfrm>
            <a:off x="841248" y="2980944"/>
            <a:ext cx="10509199" cy="10973"/>
          </a:xfrm>
          <a:prstGeom prst="rect">
            <a:avLst/>
          </a:prstGeom>
          <a:solidFill>
            <a:srgbClr val="1C222C"/>
          </a:solidFill>
          <a:ln/>
        </p:spPr>
      </p:sp>
      <p:sp>
        <p:nvSpPr>
          <p:cNvPr id="11" name="Text 8"/>
          <p:cNvSpPr/>
          <p:nvPr/>
        </p:nvSpPr>
        <p:spPr>
          <a:xfrm>
            <a:off x="841248" y="3145536"/>
            <a:ext cx="5254600" cy="566928"/>
          </a:xfrm>
          <a:prstGeom prst="rect">
            <a:avLst/>
          </a:prstGeom>
          <a:noFill/>
          <a:ln/>
        </p:spPr>
        <p:txBody>
          <a:bodyPr wrap="square" lIns="0" tIns="0" rIns="0" bIns="0" rtlCol="0" anchor="ctr"/>
          <a:lstStyle/>
          <a:p>
            <a:pPr indent="0" marL="0">
              <a:buNone/>
            </a:pPr>
            <a:r>
              <a:rPr lang="en-US" sz="2100" dirty="0">
                <a:solidFill>
                  <a:srgbClr val="3A424E"/>
                </a:solidFill>
                <a:latin typeface="Arial" pitchFamily="34" charset="0"/>
                <a:ea typeface="Arial" pitchFamily="34" charset="-122"/>
                <a:cs typeface="Arial" pitchFamily="34" charset="-120"/>
              </a:rPr>
              <a:t>Gestión de flota</a:t>
            </a:r>
            <a:endParaRPr lang="en-US" sz="2100" dirty="0"/>
          </a:p>
        </p:txBody>
      </p:sp>
      <p:sp>
        <p:nvSpPr>
          <p:cNvPr id="12" name="Text 9"/>
          <p:cNvSpPr/>
          <p:nvPr/>
        </p:nvSpPr>
        <p:spPr>
          <a:xfrm>
            <a:off x="6095848" y="3145536"/>
            <a:ext cx="5254600" cy="566928"/>
          </a:xfrm>
          <a:prstGeom prst="rect">
            <a:avLst/>
          </a:prstGeom>
          <a:noFill/>
          <a:ln/>
        </p:spPr>
        <p:txBody>
          <a:bodyPr wrap="square" lIns="0" tIns="0" rIns="0" bIns="0" rtlCol="0" anchor="ctr"/>
          <a:lstStyle/>
          <a:p>
            <a:pPr algn="r" indent="0" marL="0">
              <a:buNone/>
            </a:pPr>
            <a:r>
              <a:rPr lang="en-US" sz="1300" dirty="0">
                <a:solidFill>
                  <a:srgbClr val="3A424E"/>
                </a:solidFill>
                <a:latin typeface="Courier New" pitchFamily="34" charset="0"/>
                <a:ea typeface="Courier New" pitchFamily="34" charset="-122"/>
                <a:cs typeface="Courier New" pitchFamily="34" charset="-120"/>
              </a:rPr>
              <a:t>ZEDEDA · Balena · FlightCtl</a:t>
            </a:r>
            <a:endParaRPr lang="en-US" sz="1300" dirty="0"/>
          </a:p>
        </p:txBody>
      </p:sp>
      <p:sp>
        <p:nvSpPr>
          <p:cNvPr id="13" name="Shape 10"/>
          <p:cNvSpPr/>
          <p:nvPr/>
        </p:nvSpPr>
        <p:spPr>
          <a:xfrm>
            <a:off x="841248" y="3767328"/>
            <a:ext cx="10509199" cy="10973"/>
          </a:xfrm>
          <a:prstGeom prst="rect">
            <a:avLst/>
          </a:prstGeom>
          <a:solidFill>
            <a:srgbClr val="1C222C"/>
          </a:solidFill>
          <a:ln/>
        </p:spPr>
      </p:sp>
      <p:sp>
        <p:nvSpPr>
          <p:cNvPr id="14" name="Text 11"/>
          <p:cNvSpPr/>
          <p:nvPr/>
        </p:nvSpPr>
        <p:spPr>
          <a:xfrm>
            <a:off x="841248" y="3931920"/>
            <a:ext cx="5254600" cy="566928"/>
          </a:xfrm>
          <a:prstGeom prst="rect">
            <a:avLst/>
          </a:prstGeom>
          <a:noFill/>
          <a:ln/>
        </p:spPr>
        <p:txBody>
          <a:bodyPr wrap="square" lIns="0" tIns="0" rIns="0" bIns="0" rtlCol="0" anchor="ctr"/>
          <a:lstStyle/>
          <a:p>
            <a:pPr indent="0" marL="0">
              <a:buNone/>
            </a:pPr>
            <a:r>
              <a:rPr lang="en-US" sz="2100" dirty="0">
                <a:solidFill>
                  <a:srgbClr val="3A424E"/>
                </a:solidFill>
                <a:latin typeface="Arial" pitchFamily="34" charset="0"/>
                <a:ea typeface="Arial" pitchFamily="34" charset="-122"/>
                <a:cs typeface="Arial" pitchFamily="34" charset="-120"/>
              </a:rPr>
              <a:t>Monitoreo de ML</a:t>
            </a:r>
            <a:endParaRPr lang="en-US" sz="2100" dirty="0"/>
          </a:p>
        </p:txBody>
      </p:sp>
      <p:sp>
        <p:nvSpPr>
          <p:cNvPr id="15" name="Text 12"/>
          <p:cNvSpPr/>
          <p:nvPr/>
        </p:nvSpPr>
        <p:spPr>
          <a:xfrm>
            <a:off x="6095848" y="3931920"/>
            <a:ext cx="5254600" cy="566928"/>
          </a:xfrm>
          <a:prstGeom prst="rect">
            <a:avLst/>
          </a:prstGeom>
          <a:noFill/>
          <a:ln/>
        </p:spPr>
        <p:txBody>
          <a:bodyPr wrap="square" lIns="0" tIns="0" rIns="0" bIns="0" rtlCol="0" anchor="ctr"/>
          <a:lstStyle/>
          <a:p>
            <a:pPr algn="r" indent="0" marL="0">
              <a:buNone/>
            </a:pPr>
            <a:r>
              <a:rPr lang="en-US" sz="1300" dirty="0">
                <a:solidFill>
                  <a:srgbClr val="3A424E"/>
                </a:solidFill>
                <a:latin typeface="Courier New" pitchFamily="34" charset="0"/>
                <a:ea typeface="Courier New" pitchFamily="34" charset="-122"/>
                <a:cs typeface="Courier New" pitchFamily="34" charset="-120"/>
              </a:rPr>
              <a:t>136 estudios · surveys 25-26</a:t>
            </a:r>
            <a:endParaRPr lang="en-US" sz="1300" dirty="0"/>
          </a:p>
        </p:txBody>
      </p:sp>
      <p:sp>
        <p:nvSpPr>
          <p:cNvPr id="16" name="Shape 13"/>
          <p:cNvSpPr/>
          <p:nvPr/>
        </p:nvSpPr>
        <p:spPr>
          <a:xfrm>
            <a:off x="841248" y="4553712"/>
            <a:ext cx="10509199" cy="10973"/>
          </a:xfrm>
          <a:prstGeom prst="rect">
            <a:avLst/>
          </a:prstGeom>
          <a:solidFill>
            <a:srgbClr val="1C222C"/>
          </a:solidFill>
          <a:ln/>
        </p:spPr>
      </p:sp>
      <p:sp>
        <p:nvSpPr>
          <p:cNvPr id="17" name="Text 14"/>
          <p:cNvSpPr/>
          <p:nvPr/>
        </p:nvSpPr>
        <p:spPr>
          <a:xfrm>
            <a:off x="841248" y="4718304"/>
            <a:ext cx="5254600" cy="566928"/>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El evento de inferencia</a:t>
            </a:r>
            <a:endParaRPr lang="en-US" sz="2100" dirty="0"/>
          </a:p>
        </p:txBody>
      </p:sp>
      <p:sp>
        <p:nvSpPr>
          <p:cNvPr id="18" name="Text 15"/>
          <p:cNvSpPr/>
          <p:nvPr/>
        </p:nvSpPr>
        <p:spPr>
          <a:xfrm>
            <a:off x="6095848" y="4718304"/>
            <a:ext cx="5254600" cy="566928"/>
          </a:xfrm>
          <a:prstGeom prst="rect">
            <a:avLst/>
          </a:prstGeom>
          <a:noFill/>
          <a:ln/>
        </p:spPr>
        <p:txBody>
          <a:bodyPr wrap="square" lIns="0" tIns="0" rIns="0" bIns="0" rtlCol="0" anchor="ctr"/>
          <a:lstStyle/>
          <a:p>
            <a:pPr algn="r" indent="0" marL="0">
              <a:buNone/>
            </a:pPr>
            <a:r>
              <a:rPr lang="en-US" sz="1300" dirty="0">
                <a:solidFill>
                  <a:srgbClr val="FF9F1C"/>
                </a:solidFill>
                <a:latin typeface="Courier New" pitchFamily="34" charset="0"/>
                <a:ea typeface="Courier New" pitchFamily="34" charset="-122"/>
                <a:cs typeface="Courier New" pitchFamily="34" charset="-120"/>
              </a:rPr>
              <a:t>nadie</a:t>
            </a:r>
            <a:endParaRPr lang="en-US" sz="1300" dirty="0"/>
          </a:p>
        </p:txBody>
      </p:sp>
      <p:sp>
        <p:nvSpPr>
          <p:cNvPr id="19" name="Shape 16"/>
          <p:cNvSpPr/>
          <p:nvPr/>
        </p:nvSpPr>
        <p:spPr>
          <a:xfrm>
            <a:off x="841248" y="5340096"/>
            <a:ext cx="10509199" cy="10973"/>
          </a:xfrm>
          <a:prstGeom prst="rect">
            <a:avLst/>
          </a:prstGeom>
          <a:solidFill>
            <a:srgbClr val="FF9F1C"/>
          </a:solidFill>
          <a:ln/>
        </p:spPr>
      </p:sp>
      <p:sp>
        <p:nvSpPr>
          <p:cNvPr id="20" name="Text 17"/>
          <p:cNvSpPr/>
          <p:nvPr/>
        </p:nvSpPr>
        <p:spPr>
          <a:xfrm>
            <a:off x="841248" y="5715000"/>
            <a:ext cx="10509199"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Reutilizá lo resuelto. Construí solo el hueco.</a:t>
            </a:r>
            <a:endParaRPr lang="en-US" sz="2000" dirty="0"/>
          </a:p>
        </p:txBody>
      </p:sp>
      <p:sp>
        <p:nvSpPr>
          <p:cNvPr id="21" name="Text 18"/>
          <p:cNvSpPr/>
          <p:nvPr/>
        </p:nvSpPr>
        <p:spPr>
          <a:xfrm>
            <a:off x="841248" y="6291072"/>
            <a:ext cx="1828800" cy="219456"/>
          </a:xfrm>
          <a:prstGeom prst="rect">
            <a:avLst/>
          </a:prstGeom>
          <a:noFill/>
          <a:ln/>
        </p:spPr>
        <p:txBody>
          <a:bodyPr wrap="square" lIns="0" tIns="0" rIns="0" bIns="0" rtlCol="0" anchor="ctr"/>
          <a:lstStyle/>
          <a:p>
            <a:pPr indent="0" marL="0">
              <a:buNone/>
            </a:pPr>
            <a:r>
              <a:rPr lang="en-US" sz="850" dirty="0">
                <a:solidFill>
                  <a:srgbClr val="3A424E"/>
                </a:solidFill>
                <a:latin typeface="Courier New" pitchFamily="34" charset="0"/>
                <a:ea typeface="Courier New" pitchFamily="34" charset="-122"/>
                <a:cs typeface="Courier New" pitchFamily="34" charset="-120"/>
              </a:rPr>
              <a:t>16 / 18</a:t>
            </a:r>
            <a:endParaRPr lang="en-US" sz="850" dirty="0"/>
          </a:p>
        </p:txBody>
      </p:sp>
      <p:sp>
        <p:nvSpPr>
          <p:cNvPr id="22" name="Text 19"/>
          <p:cNvSpPr/>
          <p:nvPr/>
        </p:nvSpPr>
        <p:spPr>
          <a:xfrm>
            <a:off x="7692847" y="6291072"/>
            <a:ext cx="3657600" cy="219456"/>
          </a:xfrm>
          <a:prstGeom prst="rect">
            <a:avLst/>
          </a:prstGeom>
          <a:noFill/>
          <a:ln/>
        </p:spPr>
        <p:txBody>
          <a:bodyPr wrap="square" lIns="0" tIns="0" rIns="0" bIns="0" rtlCol="0" anchor="ctr"/>
          <a:lstStyle/>
          <a:p>
            <a:pPr algn="r" indent="0" marL="0">
              <a:buNone/>
            </a:pPr>
            <a:r>
              <a:rPr lang="en-US" sz="850" spc="100" kern="0" dirty="0">
                <a:solidFill>
                  <a:srgbClr val="3A424E"/>
                </a:solidFill>
                <a:latin typeface="Courier New" pitchFamily="34" charset="0"/>
                <a:ea typeface="Courier New" pitchFamily="34" charset="-122"/>
                <a:cs typeface="Courier New" pitchFamily="34" charset="-120"/>
              </a:rPr>
              <a:t>HONESTIDAD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90D"/>
        </a:solidFill>
      </p:bgPr>
    </p:bg>
    <p:spTree>
      <p:nvGrpSpPr>
        <p:cNvPr id="1" name=""/>
        <p:cNvGrpSpPr/>
        <p:nvPr/>
      </p:nvGrpSpPr>
      <p:grpSpPr>
        <a:xfrm>
          <a:off x="0" y="0"/>
          <a:ext cx="0" cy="0"/>
          <a:chOff x="0" y="0"/>
          <a:chExt cx="0" cy="0"/>
        </a:xfrm>
      </p:grpSpPr>
      <p:sp>
        <p:nvSpPr>
          <p:cNvPr id="3" name="Text 0"/>
          <p:cNvSpPr/>
          <p:nvPr/>
        </p:nvSpPr>
        <p:spPr>
          <a:xfrm>
            <a:off x="841248" y="2286000"/>
            <a:ext cx="10509199" cy="914400"/>
          </a:xfrm>
          <a:prstGeom prst="rect">
            <a:avLst/>
          </a:prstGeom>
          <a:noFill/>
          <a:ln/>
        </p:spPr>
        <p:txBody>
          <a:bodyPr wrap="square" lIns="0" tIns="0" rIns="0" bIns="0" rtlCol="0" anchor="ctr"/>
          <a:lstStyle/>
          <a:p>
            <a:pPr indent="0" marL="0">
              <a:buNone/>
            </a:pPr>
            <a:r>
              <a:rPr lang="en-US" sz="4800" b="1" spc="-100" kern="0" dirty="0">
                <a:solidFill>
                  <a:srgbClr val="3A424E"/>
                </a:solidFill>
                <a:latin typeface="Arial" pitchFamily="34" charset="0"/>
                <a:ea typeface="Arial" pitchFamily="34" charset="-122"/>
                <a:cs typeface="Arial" pitchFamily="34" charset="-120"/>
              </a:rPr>
              <a:t>Los servicios caídos gritan.</a:t>
            </a:r>
            <a:endParaRPr lang="en-US" sz="4800" dirty="0"/>
          </a:p>
        </p:txBody>
      </p:sp>
      <p:sp>
        <p:nvSpPr>
          <p:cNvPr id="4" name="Text 1"/>
          <p:cNvSpPr/>
          <p:nvPr/>
        </p:nvSpPr>
        <p:spPr>
          <a:xfrm>
            <a:off x="841248" y="3200400"/>
            <a:ext cx="10509199" cy="914400"/>
          </a:xfrm>
          <a:prstGeom prst="rect">
            <a:avLst/>
          </a:prstGeom>
          <a:noFill/>
          <a:ln/>
        </p:spPr>
        <p:txBody>
          <a:bodyPr wrap="square" lIns="0" tIns="0" rIns="0" bIns="0" rtlCol="0" anchor="ctr"/>
          <a:lstStyle/>
          <a:p>
            <a:pPr indent="0" marL="0">
              <a:buNone/>
            </a:pPr>
            <a:r>
              <a:rPr lang="en-US" sz="5800" b="1" spc="-150" kern="0" dirty="0">
                <a:solidFill>
                  <a:srgbClr val="FFFFFF"/>
                </a:solidFill>
                <a:latin typeface="Arial" pitchFamily="34" charset="0"/>
                <a:ea typeface="Arial" pitchFamily="34" charset="-122"/>
                <a:cs typeface="Arial" pitchFamily="34" charset="-120"/>
              </a:rPr>
              <a:t>Los modelos rotos susurran.</a:t>
            </a:r>
            <a:endParaRPr lang="en-US" sz="5800" dirty="0"/>
          </a:p>
        </p:txBody>
      </p:sp>
      <p:sp>
        <p:nvSpPr>
          <p:cNvPr id="5" name="Shape 2"/>
          <p:cNvSpPr/>
          <p:nvPr/>
        </p:nvSpPr>
        <p:spPr>
          <a:xfrm>
            <a:off x="0" y="4434840"/>
            <a:ext cx="12191695" cy="12802"/>
          </a:xfrm>
          <a:prstGeom prst="rect">
            <a:avLst/>
          </a:prstGeom>
          <a:solidFill>
            <a:srgbClr val="FF9F1C"/>
          </a:solidFill>
          <a:ln/>
        </p:spPr>
      </p:sp>
      <p:sp>
        <p:nvSpPr>
          <p:cNvPr id="6" name="Text 3"/>
          <p:cNvSpPr/>
          <p:nvPr/>
        </p:nvSpPr>
        <p:spPr>
          <a:xfrm>
            <a:off x="841248" y="4663440"/>
            <a:ext cx="10509199" cy="548640"/>
          </a:xfrm>
          <a:prstGeom prst="rect">
            <a:avLst/>
          </a:prstGeom>
          <a:noFill/>
          <a:ln/>
        </p:spPr>
        <p:txBody>
          <a:bodyPr wrap="square" lIns="0" tIns="0" rIns="0" bIns="0" rtlCol="0" anchor="ctr"/>
          <a:lstStyle/>
          <a:p>
            <a:pPr indent="0" marL="0">
              <a:buNone/>
            </a:pPr>
            <a:r>
              <a:rPr lang="en-US" sz="2600" b="1" dirty="0">
                <a:solidFill>
                  <a:srgbClr val="FF9F1C"/>
                </a:solidFill>
                <a:latin typeface="Arial" pitchFamily="34" charset="0"/>
                <a:ea typeface="Arial" pitchFamily="34" charset="-122"/>
                <a:cs typeface="Arial" pitchFamily="34" charset="-120"/>
              </a:rPr>
              <a:t>Dales un idioma.</a:t>
            </a:r>
            <a:endParaRPr lang="en-US" sz="2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2"/>
        </a:solidFill>
      </p:bgPr>
    </p:bg>
    <p:spTree>
      <p:nvGrpSpPr>
        <p:cNvPr id="1" name=""/>
        <p:cNvGrpSpPr/>
        <p:nvPr/>
      </p:nvGrpSpPr>
      <p:grpSpPr>
        <a:xfrm>
          <a:off x="0" y="0"/>
          <a:ext cx="0" cy="0"/>
          <a:chOff x="0" y="0"/>
          <a:chExt cx="0" cy="0"/>
        </a:xfrm>
      </p:grpSpPr>
      <p:sp>
        <p:nvSpPr>
          <p:cNvPr id="3" name="Text 0"/>
          <p:cNvSpPr/>
          <p:nvPr/>
        </p:nvSpPr>
        <p:spPr>
          <a:xfrm>
            <a:off x="841248" y="1737360"/>
            <a:ext cx="5692483" cy="1463040"/>
          </a:xfrm>
          <a:prstGeom prst="rect">
            <a:avLst/>
          </a:prstGeom>
          <a:noFill/>
          <a:ln/>
        </p:spPr>
        <p:txBody>
          <a:bodyPr wrap="square" lIns="0" tIns="0" rIns="0" bIns="0" rtlCol="0" anchor="t"/>
          <a:lstStyle/>
          <a:p>
            <a:pPr indent="0" marL="0">
              <a:lnSpc>
                <a:spcPct val="115000"/>
              </a:lnSpc>
              <a:buNone/>
            </a:pPr>
            <a:r>
              <a:rPr lang="en-US" sz="4000" b="1" dirty="0">
                <a:solidFill>
                  <a:srgbClr val="07090D"/>
                </a:solidFill>
                <a:latin typeface="Arial" pitchFamily="34" charset="0"/>
                <a:ea typeface="Arial" pitchFamily="34" charset="-122"/>
                <a:cs typeface="Arial" pitchFamily="34" charset="-120"/>
              </a:rPr>
              <a:t>El esquema, el patrón</a:t>
            </a:r>
            <a:endParaRPr lang="en-US" sz="4000" dirty="0"/>
          </a:p>
          <a:p>
            <a:pPr indent="0" marL="0">
              <a:lnSpc>
                <a:spcPct val="115000"/>
              </a:lnSpc>
              <a:buNone/>
            </a:pPr>
            <a:r>
              <a:rPr lang="en-US" sz="4000" b="1" dirty="0">
                <a:solidFill>
                  <a:srgbClr val="07090D"/>
                </a:solidFill>
                <a:latin typeface="Arial" pitchFamily="34" charset="0"/>
                <a:ea typeface="Arial" pitchFamily="34" charset="-122"/>
                <a:cs typeface="Arial" pitchFamily="34" charset="-120"/>
              </a:rPr>
              <a:t>y el código</a:t>
            </a:r>
            <a:endParaRPr lang="en-US" sz="4000" dirty="0"/>
          </a:p>
        </p:txBody>
      </p:sp>
      <p:sp>
        <p:nvSpPr>
          <p:cNvPr id="4" name="Shape 1"/>
          <p:cNvSpPr/>
          <p:nvPr/>
        </p:nvSpPr>
        <p:spPr>
          <a:xfrm>
            <a:off x="841248" y="3429000"/>
            <a:ext cx="5254600" cy="12802"/>
          </a:xfrm>
          <a:prstGeom prst="rect">
            <a:avLst/>
          </a:prstGeom>
          <a:solidFill>
            <a:srgbClr val="07090D"/>
          </a:solidFill>
          <a:ln/>
        </p:spPr>
      </p:sp>
      <p:sp>
        <p:nvSpPr>
          <p:cNvPr id="5" name="Text 2"/>
          <p:cNvSpPr/>
          <p:nvPr/>
        </p:nvSpPr>
        <p:spPr>
          <a:xfrm>
            <a:off x="841248" y="3611880"/>
            <a:ext cx="5692483" cy="365760"/>
          </a:xfrm>
          <a:prstGeom prst="rect">
            <a:avLst/>
          </a:prstGeom>
          <a:noFill/>
          <a:ln/>
        </p:spPr>
        <p:txBody>
          <a:bodyPr wrap="square" lIns="0" tIns="0" rIns="0" bIns="0" rtlCol="0" anchor="ctr"/>
          <a:lstStyle/>
          <a:p>
            <a:pPr indent="0" marL="0">
              <a:buNone/>
            </a:pPr>
            <a:r>
              <a:rPr lang="en-US" sz="1400" dirty="0">
                <a:solidFill>
                  <a:srgbClr val="6B6560"/>
                </a:solidFill>
                <a:latin typeface="Courier New" pitchFamily="34" charset="0"/>
                <a:ea typeface="Courier New" pitchFamily="34" charset="-122"/>
                <a:cs typeface="Courier New" pitchFamily="34" charset="-120"/>
              </a:rPr>
              <a:t>github.com/[usuario]/mlops-a-ciegas</a:t>
            </a:r>
            <a:endParaRPr lang="en-US" sz="1400" dirty="0"/>
          </a:p>
        </p:txBody>
      </p:sp>
      <p:sp>
        <p:nvSpPr>
          <p:cNvPr id="6" name="Shape 3"/>
          <p:cNvSpPr/>
          <p:nvPr/>
        </p:nvSpPr>
        <p:spPr>
          <a:xfrm>
            <a:off x="7847381" y="1920240"/>
            <a:ext cx="2377440" cy="2377440"/>
          </a:xfrm>
          <a:prstGeom prst="rect">
            <a:avLst/>
          </a:prstGeom>
          <a:solidFill>
            <a:srgbClr val="07090D"/>
          </a:solidFill>
          <a:ln/>
        </p:spPr>
      </p:sp>
      <p:sp>
        <p:nvSpPr>
          <p:cNvPr id="7" name="Text 4"/>
          <p:cNvSpPr/>
          <p:nvPr/>
        </p:nvSpPr>
        <p:spPr>
          <a:xfrm>
            <a:off x="7847381" y="1920240"/>
            <a:ext cx="2377440" cy="2377440"/>
          </a:xfrm>
          <a:prstGeom prst="rect">
            <a:avLst/>
          </a:prstGeom>
          <a:noFill/>
          <a:ln/>
        </p:spPr>
        <p:txBody>
          <a:bodyPr wrap="square" lIns="0" tIns="0" rIns="0" bIns="0" rtlCol="0" anchor="ctr"/>
          <a:lstStyle/>
          <a:p>
            <a:pPr algn="ctr" indent="0" marL="0">
              <a:buNone/>
            </a:pPr>
            <a:r>
              <a:rPr lang="en-US" sz="2200" b="1" spc="300" kern="0" dirty="0">
                <a:solidFill>
                  <a:srgbClr val="F7F5F2"/>
                </a:solidFill>
                <a:latin typeface="Courier New" pitchFamily="34" charset="0"/>
                <a:ea typeface="Courier New" pitchFamily="34" charset="-122"/>
                <a:cs typeface="Courier New" pitchFamily="34" charset="-120"/>
              </a:rPr>
              <a:t>QR</a:t>
            </a:r>
            <a:endParaRPr lang="en-US" sz="2200" dirty="0"/>
          </a:p>
        </p:txBody>
      </p:sp>
      <p:sp>
        <p:nvSpPr>
          <p:cNvPr id="8" name="Text 5"/>
          <p:cNvSpPr/>
          <p:nvPr/>
        </p:nvSpPr>
        <p:spPr>
          <a:xfrm>
            <a:off x="841248" y="5760720"/>
            <a:ext cx="10509199" cy="365760"/>
          </a:xfrm>
          <a:prstGeom prst="rect">
            <a:avLst/>
          </a:prstGeom>
          <a:noFill/>
          <a:ln/>
        </p:spPr>
        <p:txBody>
          <a:bodyPr wrap="square" lIns="0" tIns="0" rIns="0" bIns="0" rtlCol="0" anchor="ctr"/>
          <a:lstStyle/>
          <a:p>
            <a:pPr indent="0" marL="0">
              <a:buNone/>
            </a:pPr>
            <a:r>
              <a:rPr lang="en-US" sz="1000" spc="200" kern="0" dirty="0">
                <a:solidFill>
                  <a:srgbClr val="8A8079"/>
                </a:solidFill>
                <a:latin typeface="Courier New" pitchFamily="34" charset="0"/>
                <a:ea typeface="Courier New" pitchFamily="34" charset="-122"/>
                <a:cs typeface="Courier New" pitchFamily="34" charset="-120"/>
              </a:rPr>
              <a:t>ALEJANDRO VARELA   ·   @[handle]   ·   GRACIAS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a ciegas</dc:title>
  <dc:subject>PptxGenJS Presentation</dc:subject>
  <dc:creator>Alejandro Varela</dc:creator>
  <cp:lastModifiedBy>Alejandro Varela</cp:lastModifiedBy>
  <cp:revision>1</cp:revision>
  <dcterms:created xsi:type="dcterms:W3CDTF">2026-08-19T16:24:15Z</dcterms:created>
  <dcterms:modified xsi:type="dcterms:W3CDTF">2026-08-19T16:24:15Z</dcterms:modified>
</cp:coreProperties>
</file>