
<file path=[Content_Types].xml><?xml version="1.0" encoding="utf-8"?>
<Types xmlns="http://schemas.openxmlformats.org/package/2006/content-types">
  <Default Extension="gif" ContentType="image/gif"/>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99067F7-5A94-40B0-9152-4378B383F2DC}">
          <p14:sldIdLst>
            <p14:sldId id="256"/>
            <p14:sldId id="257"/>
            <p14:sldId id="258"/>
            <p14:sldId id="259"/>
            <p14:sldId id="260"/>
            <p14:sldId id="261"/>
          </p14:sldIdLst>
        </p14:section>
        <p14:section name="01 · El problema" id="{13980748-0CAC-4AB8-96D8-FAC85712ED79}">
          <p14:sldIdLst>
            <p14:sldId id="262"/>
            <p14:sldId id="263"/>
            <p14:sldId id="264"/>
            <p14:sldId id="265"/>
            <p14:sldId id="266"/>
            <p14:sldId id="267"/>
          </p14:sldIdLst>
        </p14:section>
        <p14:section name="02 · El patrón" id="{3F8C387F-21FC-48B0-878A-CF844A369D7D}">
          <p14:sldIdLst>
            <p14:sldId id="268"/>
            <p14:sldId id="269"/>
            <p14:sldId id="270"/>
            <p14:sldId id="271"/>
          </p14:sldIdLst>
        </p14:section>
        <p14:section name="03 · Los seis pasos" id="{24994C63-B2F6-49AE-98DD-7B675DB42038}">
          <p14:sldIdLst>
            <p14:sldId id="272"/>
            <p14:sldId id="273"/>
            <p14:sldId id="274"/>
            <p14:sldId id="275"/>
            <p14:sldId id="276"/>
            <p14:sldId id="277"/>
            <p14:sldId id="278"/>
            <p14:sldId id="279"/>
          </p14:sldIdLst>
        </p14:section>
        <p14:section name="04 · Demostración" id="{A635A8D5-C9C3-4FBC-BDB0-9639BC4DAD85}">
          <p14:sldIdLst>
            <p14:sldId id="280"/>
            <p14:sldId id="281"/>
            <p14:sldId id="282"/>
          </p14:sldIdLst>
        </p14:section>
        <p14:section name="Cierre" id="{AFB88F07-10EE-4833-90B1-FF48C74882B9}">
          <p14:sldIdLst>
            <p14:sldId id="283"/>
            <p14:sldId id="284"/>
            <p14:sldId id="285"/>
            <p14:sldId id="286"/>
          </p14:sldIdLst>
        </p14:section>
        <p14:section name="Anexos" id="{FA9FD716-F125-4758-9627-3DCEFA166803}">
          <p14:sldIdLst>
            <p14:sldId id="287"/>
            <p14:sldId id="288"/>
            <p14:sldId id="289"/>
            <p14:sldId id="290"/>
            <p14:sldId id="291"/>
            <p14:sldId id="292"/>
            <p14:sldId id="293"/>
            <p14:sldId id="294"/>
            <p14:sldId id="295"/>
            <p14:sldId id="29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'¿Por qué debería importarles un modelo en una estación de bombeo? Porque la inferencia se está moviendo de la nube al dispositivo. Un ejemplo con números de Gartner: los PC.'</a:t>
            </a:r>
          </a:p>
          <a:p/>
          <a:p>
            <a:r>
              <a:t>'De cada cien PC nuevos que se vendieron en 2024, dieciséis traían un chip para correr IA.'</a:t>
            </a:r>
          </a:p>
          <a:p/>
          <a:p>
            <a:r>
              <a:t>▶ CLIC 'En 2025, treinta y uno.'</a:t>
            </a:r>
          </a:p>
          <a:p/>
          <a:p>
            <a:r>
              <a:t>▶ CLIC 'Para este año, Gartner proyectaba cincuenta y cinco. Y no son solo los PC: los teléfonos, los carros, las cámaras y los equipos industriales ya traen hardware para correr modelos ahí mismo.'</a:t>
            </a:r>
          </a:p>
          <a:p/>
          <a:p>
            <a:r>
              <a:t>*Fuente: Gartner, 28 de agosto de 2025, «AI PCs»: 15,6 % (2024), 31 % (2025), 54,7 % (2026, proyección). La cifra es solo de PC; lo de teléfonos, carros y equipos industriales dilo sin números.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la sala se ría antes de hablar. En cada meme, a la izquierda el modelo corre en la nube y a la derecha en el equipo: esa es la única diferencia*</a:t>
            </a:r>
          </a:p>
          <a:p/>
          <a:p>
            <a:r>
              <a:t>'¿Y por qué el modelo baja al dispositivo? Se los explico en el idioma universal: memes.'</a:t>
            </a:r>
          </a:p>
          <a:p/>
          <a:p>
            <a:r>
              <a:t>*Meme 1 · latencia.* 'El carro autónomo: 'dame un segundo, le pregunto al modelo en la nube'.' *(pausa corta)* 'Cuando la decisión es de milisegundos, la ida y vuelta no alcanza.'</a:t>
            </a:r>
          </a:p>
          <a:p/>
          <a:p>
            <a:r>
              <a:t>▶ CLIC *Meme 2 · sin conexión.* 'Técnico, tres de la mañana, en la planta. El asistente tiene el modelo en la nube: 'Sin conexión. Intente más tarde'.' *(pausa)* 'Con el modelo en el equipo, responde igual. En una vereda pasa lo mismo.'</a:t>
            </a:r>
          </a:p>
          <a:p/>
          <a:p>
            <a:r>
              <a:t>▶ CLIC *Meme 3 · privacidad.* 'Y tu reloj, cada segundo, mandándole tus latidos al modelo en la nube. Si el modelo corre en el reloj, lo sensible no sale del equipo: solo sale la alerta.'</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0:30 · sin clics</a:t>
            </a:r>
          </a:p>
          <a:p/>
          <a:p>
            <a:r>
              <a:t>'Soy Alejandro Varela, Cloud Engineer en EPAM. Trabajo con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*La foto sale de talk/assets/photo.jpg; si no está, la lámina deja el recuadro.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LAZO CERRADO</a:t>
            </a:r>
          </a:p>
          <a:p/>
          <a:p>
            <a:r>
              <a:t>0:25 · sin clics · *los puntos recorren el lazo*</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lazo…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lazo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0:35 · sin clics · *léelo por filas: la columna de la izquierda es lo que ya tienen; la del centro, lo que falta*</a:t>
            </a:r>
          </a:p>
          <a:p/>
          <a:p>
            <a:r>
              <a:t>'Las preguntas de siempre siguen valiendo: ¿el servicio está arriba?, ¿cuánta CPU usa?, ¿hay errores?, ¿responde a tiempo? Pero ninguna dice nada del modelo.'</a:t>
            </a:r>
          </a:p>
          <a:p/>
          <a:p>
            <a:r>
              <a:t>'Al modelo hay que preguntarle otras cuatro cosas. ¿Sigue distinguiendo correctamente? ¿Cambió la distribución de los datos? ¿Aumentaron los falsos positivos o negativos? ¿Y sus predicciones siguen siendo útiles?'</a:t>
            </a:r>
          </a:p>
          <a:p/>
          <a:p>
            <a:r>
              <a:t>'La columna de la derecha es cómo responde cada pregunta la demo que van a ver. La última es la más difícil: solo la contesta el negocio, cuando la orden de mantenimiento dice si la alerta era real.'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 MANO ALZADA 1</a:t>
            </a:r>
          </a:p>
          <a:p/>
          <a:p>
            <a:r>
              <a:t>0:25 · sin clics · *la barra de abajo cuenta cinco segundos*</a:t>
            </a:r>
          </a:p>
          <a:p/>
          <a:p>
            <a:r>
              <a:t>'Pregunta a mano alzada. ¿A quién le ha sonado el pager por un modelo?' *(espera las manos)*</a:t>
            </a:r>
          </a:p>
          <a:p/>
          <a:p>
            <a:r>
              <a:t>*Si hay pocas:* 'Pocas manos. ¿Y por un disco lleno?' *(risas)* 'Exacto. El pager suena por el proceso. Por el modelo, casi nunca.'</a:t>
            </a:r>
          </a:p>
          <a:p/>
          <a:p>
            <a:r>
              <a:t>*Si hay muchas:* 'Bienvenidos al club. ¿Y cuántos se enteraron por el cliente antes que por el pager?'</a:t>
            </a:r>
          </a:p>
          <a:p/>
          <a:p>
            <a:r>
              <a:t>'Hoy vamos a hacer que el modelo también pueda despertar a alguien.'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02 · EL PATRÓN</a:t>
            </a:r>
          </a:p>
          <a:p/>
          <a:p>
            <a:r>
              <a:t>0:05 · *divisor* · *reloj: 7:05*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estado deseado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CINCO PIEZAS PARA GOBERNAR EL MODELO</a:t>
            </a:r>
          </a:p>
          <a:p/>
          <a:p>
            <a:r>
              <a:t>1:10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estado deseado. La central declara qué debería tener cada equipo, y el equipo lo trae cuando puede.'</a:t>
            </a:r>
          </a:p>
          <a:p/>
          <a:p>
            <a:r>
              <a:t>▶ CLIC 'Cuatro: evento de inferencia. El modelo deja constancia de lo que decide. Si no hay red, se encola.'</a:t>
            </a:r>
          </a:p>
          <a:p/>
          <a:p>
            <a:r>
              <a:t>▶ CLIC 'Cinco: la compuerta. Una condición que mira esos eventos y decide sola si sigue o vuelve atrás. Es el lazo rápido: minutos.'</a:t>
            </a:r>
          </a:p>
          <a:p/>
          <a:p>
            <a:r>
              <a:t>▶ CLIC 'Y con esos mismos eventos se reentrena: el lazo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estado deseado es un despliegue de Greengrass, que llega por IoT Core con un certificado por equipo.'</a:t>
            </a:r>
          </a:p>
          <a:p/>
          <a:p>
            <a:r>
              <a:t>▶ CLIC 'Cada decisión entra por IoT Core y una regla la deja en CloudWatch Logs.' ▶ CLIC 'La compuerta: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03 · LOS SEIS PASOS</a:t>
            </a:r>
          </a:p>
          <a:p/>
          <a:p>
            <a:r>
              <a:t>0:10 · *divisor con la espina* · *reloj: 9:55*</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4 · DESPLEGAR POR ANILLOS</a:t>
            </a:r>
          </a:p>
          <a:p/>
          <a:p>
            <a:r>
              <a:t>1:05 · 3 clics</a:t>
            </a:r>
          </a:p>
          <a:p/>
          <a:p>
            <a:r>
              <a:t>'Paso cuatro. ¿Cómo llega a mil equipos sin romperlos todos un martes? Con despliegues de IoT Greengrass, un thing group por anillo.'</a:t>
            </a:r>
          </a:p>
          <a:p/>
          <a:p>
            <a:r>
              <a:t>'Anillo cero: una estación, el canario. Recibe la versión nueva primero.'</a:t>
            </a:r>
          </a:p>
          <a:p/>
          <a:p>
            <a:r>
              <a:t>▶ CLIC 'Si pasa la compuerta, anillo uno: el resto de la flota, en olas que crecen.'</a:t>
            </a:r>
          </a:p>
          <a:p/>
          <a:p>
            <a:r>
              <a:t>▶ CLIC 'El despliegue trae dos protecciones: si fallan demasiados equipos, se cancela; y si un equipo no arranca la versión nueva, vuelve a la que tenía.'</a:t>
            </a:r>
          </a:p>
          <a:p/>
          <a:p>
            <a:r>
              <a:t>▶ CLIC 'Y la vuelta: la alarma ve fallas que nadie oyó y despliega la última versión buena. El anillo 1 nunca recibe la versión mala.'</a:t>
            </a:r>
          </a:p>
          <a:p/>
          <a:p>
            <a:r>
              <a:t>'Seguro alguien está pensando: 'Greengrass ya hace rollback'. Sí, de despliegues que fallan. Para Greengrass, un modelo que se instala bien y no oye es un despliegue exitoso.'</a:t>
            </a:r>
          </a:p>
          <a:p/>
          <a:p>
            <a:r>
              <a:t>*La bomba:* 'Una estación como canario.'</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PASO 6 · MONITOREAR LO QUE DECIDE EL MODELO</a:t>
            </a:r>
          </a:p>
          <a:p/>
          <a:p>
            <a:r>
              <a:t>1:05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anillo 0.'</a:t>
            </a:r>
          </a:p>
          <a:p/>
          <a:p>
            <a:r>
              <a:t>'El error típico: poner la alarma sobre CPU y errores. Ya vimos que eso se queda en verde. La compuerta mira al modelo.'</a:t>
            </a:r>
          </a:p>
          <a:p/>
          <a:p>
            <a:r>
              <a:t>'En producción no sabes en el momento si la bomba fallaba: esa verdad solo existe en la demo. La etiqueta llega tarde, con la orden de mantenimiento, y mientras tanto comparas el canario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A MANO ALZADA 2</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04 · DEMOSTRACIÓN</a:t>
            </a:r>
          </a:p>
          <a:p/>
          <a:p>
            <a:r>
              <a:t>0:05 · *divisor* · *reloj: 16:50*</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ARQUITECTURA DE LA DEMOSTRACIÓN</a:t>
            </a:r>
          </a:p>
          <a:p/>
          <a:p>
            <a:r>
              <a:t>0:40 · sin clics</a:t>
            </a:r>
          </a:p>
          <a:p/>
          <a:p>
            <a:r>
              <a:t>'Esto es lo que monté. No traje bombas al escenario: cada bomba es un contenedor en una EC2, con el nucleus real de IoT Greengrass adentro. Cinco bombas: la 1 es el anillo 0, el canario; de la 2 a la 5, el anillo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desplegar por anillos y volver.'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señales doradas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Desplegar por anillos y volver (3:05)</a:t>
            </a:r>
          </a:p>
          <a:p/>
          <a:p>
            <a:r>
              <a:t>*Señala la bomba 1, que ya corre v2.0.0 (en el ensayo llegó en 13 a 15 s); de la 2 a la 5 siguen en v1.0.0.* 'La versión nueva se reentrenó con más audio. Más datos, mejor modelo… ¿cierto? Y da menos alertas: en operación están felices. Va solo al anillo 0, el canario.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La compuerta trabaja sola.' *Salta al anexo A2: escribe 33 y Enter. Cuenta la secuencia con la nota de A2 (un minuto). Para volver aquí, escribe 27 y Enter.*</a:t>
            </a:r>
          </a:p>
          <a:p/>
          <a:p>
            <a:r>
              <a:t>*Vuelve a watch.sh. Cuando la 1 salga en v1.0.0 con ALERT:* 'Volvió. v1.0.0, ALERT otra vez: la falla se oye. Nadie entró al equipo. Y el anillo 1 nunca recibió la v2.'</a:t>
            </a:r>
          </a:p>
          <a:p/>
          <a:p>
            <a:r>
              <a:t>*Escribe* ./demo/fault.sh pump-01 off</a:t>
            </a:r>
          </a:p>
          <a:p/>
          <a:p>
            <a:r>
              <a:t>*Vuelve a esta lámina y dilo mirando a la sala:* 'Greengrass revierte despliegues fallidos, no modelos equivocados. Esa compuerta la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la vuelta.*</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CINCO RECOMENDACIONES</a:t>
            </a:r>
          </a:p>
          <a:p/>
          <a:p>
            <a:r>
              <a:t>1:05 · 4 clics · *reloj: 23:35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anillos, con una compuerta que mire al modelo y no solo al proceso.'</a:t>
            </a:r>
          </a:p>
          <a:p/>
          <a:p>
            <a:r>
              <a:t>▶ CLIC 'Cuatro: diseña para estar sin red: cola local y decisiones locales.'</a:t>
            </a:r>
          </a:p>
          <a:p/>
          <a:p>
            <a:r>
              <a:t>▶ CLIC 'Y cinco: que el modelo cuente qué decide; el dato crudo se queda en el equipo.'</a:t>
            </a:r>
          </a:p>
          <a:p/>
          <a:p>
            <a:r>
              <a:t>*Si el reloj marca 23:40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RECURSOS Y CONTACTO</a:t>
            </a:r>
          </a:p>
          <a:p/>
          <a:p>
            <a:r>
              <a:t>0:15 · sin clics</a:t>
            </a:r>
          </a:p>
          <a:p/>
          <a:p>
            <a:r>
              <a:t>'Todo está en el repo de ese QR: la demo con el paso a paso, las láminas y el guion. Y si van a leer una sola cosa: The ML Test Score, de Google.'</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GRACIAS</a:t>
            </a:r>
          </a:p>
          <a:p/>
          <a:p>
            <a:r>
              <a:t>0:15 · sin clics</a:t>
            </a:r>
          </a:p>
          <a:p/>
          <a:p>
            <a:r>
              <a:t>'Muchas gracias.' *(espera el aplauso)* 'Con gusto respondo sus preguntas.'</a:t>
            </a:r>
          </a:p>
          <a:p/>
          <a:p>
            <a:r>
              <a:t>*Anexos: en PowerPoint escribe el número de la lámina y Enter (A1 = 32 … A8 = 39); para volver, el de la lámina donde estabas. A1 el evento, A2 la vuelta paso a paso, A3 qué revierte Greengrass solo, A4 permisos y costo, A5 de la demo a producción, A6 qué método de drift, A7 regulación, A8 fuentes, A9 señales doradas,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LA VUELTA AUTOMÁTICA,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estado deseado,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anillo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la compuerta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anillo,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anillo de una estación pasa a una compuerta que compara el canario contra el anillo.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SEÑALES DORADAS DE UN MODELO</a:t>
            </a:r>
          </a:p>
          <a:p/>
          <a:p>
            <a:r>
              <a:t>*Si preguntan qué mirar en el dashboard. En la demo las nombras sobre las columnas de watch.sh.*</a:t>
            </a:r>
          </a:p>
          <a:p/>
          <a:p>
            <a:r>
              <a:t>'Los que venimos de SRE conocemos las señales doradas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Marco foto"/>
          <p:cNvSpPr/>
          <p:nvPr/>
        </p:nvSpPr>
        <p:spPr>
          <a:xfrm>
            <a:off x="640080" y="1874520"/>
            <a:ext cx="3200400" cy="3200400"/>
          </a:xfrm>
          <a:prstGeom prst="rect">
            <a:avLst/>
          </a:prstGeom>
          <a:solidFill>
            <a:srgbClr val="F4F7FC"/>
          </a:solidFill>
          <a:ln w="11430">
            <a:solidFill>
              <a:srgbClr val="5C7290"/>
            </a:solidFill>
            <a:prstDash val="dash"/>
          </a:ln>
        </p:spPr>
        <p:txBody>
          <a:bodyPr rtlCol="0" anchor="ctr"/>
          <a:lstStyle/>
          <a:p>
            <a:pPr algn="ctr"/>
          </a:p>
        </p:txBody>
      </p:sp>
      <p:sp>
        <p:nvSpPr>
          <p:cNvPr id="55" name="Texto foto"/>
          <p:cNvSpPr txBox="1"/>
          <p:nvPr/>
        </p:nvSpPr>
        <p:spPr>
          <a:xfrm>
            <a:off x="640080" y="3200400"/>
            <a:ext cx="3200400" cy="609600"/>
          </a:xfrm>
          <a:prstGeom prst="rect">
            <a:avLst/>
          </a:prstGeom>
          <a:noFill/>
        </p:spPr>
        <p:txBody>
          <a:bodyPr wrap="square" lIns="0" tIns="0" rIns="0" bIns="0" anchor="t">
            <a:noAutofit/>
          </a:bodyPr>
          <a:lstStyle/>
          <a:p>
            <a:pPr algn="ctr"/>
            <a:r>
              <a:rPr sz="1320" b="1" lang="es-CO">
                <a:solidFill>
                  <a:srgbClr val="5C7290"/>
                </a:solidFill>
                <a:latin typeface="Calibri"/>
              </a:rPr>
              <a:t>TU FOTO</a:t>
            </a:r>
          </a:p>
          <a:p>
            <a:pPr algn="ctr"/>
            <a:r>
              <a:rPr sz="1019" b="0" lang="es-CO">
                <a:solidFill>
                  <a:srgbClr val="475569"/>
                </a:solidFill>
                <a:latin typeface="Courier New"/>
              </a:rPr>
              <a:t>talk/assets/photo.jpg</a:t>
            </a:r>
          </a:p>
        </p:txBody>
      </p:sp>
      <p:sp>
        <p:nvSpPr>
          <p:cNvPr id="56" name="TextBox 55"/>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7" name="TextBox 56"/>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Cloud Engineer</a:t>
            </a:r>
          </a:p>
        </p:txBody>
      </p:sp>
      <p:pic>
        <p:nvPicPr>
          <p:cNvPr id="58" name="Logo empresa" descr="epam.png"/>
          <p:cNvPicPr>
            <a:picLocks noChangeAspect="1"/>
          </p:cNvPicPr>
          <p:nvPr/>
        </p:nvPicPr>
        <p:blipFill>
          <a:blip r:embed="rId2"/>
          <a:stretch>
            <a:fillRect/>
          </a:stretch>
        </p:blipFill>
        <p:spPr>
          <a:xfrm>
            <a:off x="5515094" y="2301240"/>
            <a:ext cx="495300" cy="259080"/>
          </a:xfrm>
          <a:prstGeom prst="rect">
            <a:avLst/>
          </a:prstGeom>
        </p:spPr>
      </p:pic>
      <p:sp>
        <p:nvSpPr>
          <p:cNvPr id="59" name="TextBox 58"/>
          <p:cNvSpPr txBox="1"/>
          <p:nvPr/>
        </p:nvSpPr>
        <p:spPr>
          <a:xfrm>
            <a:off x="4206240" y="2712720"/>
            <a:ext cx="6858000" cy="304800"/>
          </a:xfrm>
          <a:prstGeom prst="rect">
            <a:avLst/>
          </a:prstGeom>
          <a:noFill/>
        </p:spPr>
        <p:txBody>
          <a:bodyPr wrap="square" lIns="0" tIns="0" rIns="0" bIns="0" anchor="t">
            <a:noAutofit/>
          </a:bodyPr>
          <a:lstStyle/>
          <a:p>
            <a:r>
              <a:rPr sz="1500" b="0" lang="es-CO">
                <a:solidFill>
                  <a:srgbClr val="475569"/>
                </a:solidFill>
                <a:latin typeface="Calibri"/>
              </a:rPr>
              <a:t>Trabajo con inferencia en el edge e IoT industrial sobre AWS, Azure y GCP.</a:t>
            </a:r>
          </a:p>
        </p:txBody>
      </p:sp>
      <p:sp>
        <p:nvSpPr>
          <p:cNvPr id="60" name="Certificaciones"/>
          <p:cNvSpPr txBox="1"/>
          <p:nvPr/>
        </p:nvSpPr>
        <p:spPr>
          <a:xfrm>
            <a:off x="420624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1" name="AWS Certified Solutions Architect – Professional" descr="aws-sap-solutions-architect-professional.png"/>
          <p:cNvPicPr>
            <a:picLocks noChangeAspect="1"/>
          </p:cNvPicPr>
          <p:nvPr/>
        </p:nvPicPr>
        <p:blipFill>
          <a:blip r:embed="rId3"/>
          <a:stretch>
            <a:fillRect/>
          </a:stretch>
        </p:blipFill>
        <p:spPr>
          <a:xfrm>
            <a:off x="4206240" y="3505200"/>
            <a:ext cx="701040" cy="701040"/>
          </a:xfrm>
          <a:prstGeom prst="rect">
            <a:avLst/>
          </a:prstGeom>
        </p:spPr>
      </p:pic>
      <p:pic>
        <p:nvPicPr>
          <p:cNvPr id="62" name="AWS Certified DevOps Engineer – Professional" descr="aws-dop-devops-engineer-professional.png"/>
          <p:cNvPicPr>
            <a:picLocks noChangeAspect="1"/>
          </p:cNvPicPr>
          <p:nvPr/>
        </p:nvPicPr>
        <p:blipFill>
          <a:blip r:embed="rId4"/>
          <a:stretch>
            <a:fillRect/>
          </a:stretch>
        </p:blipFill>
        <p:spPr>
          <a:xfrm>
            <a:off x="4983480" y="3505200"/>
            <a:ext cx="701040" cy="701040"/>
          </a:xfrm>
          <a:prstGeom prst="rect">
            <a:avLst/>
          </a:prstGeom>
        </p:spPr>
      </p:pic>
      <p:pic>
        <p:nvPicPr>
          <p:cNvPr id="63" name="AWS Certified Advanced Networking – Specialty" descr="aws-ans-advanced-networking-specialty.png"/>
          <p:cNvPicPr>
            <a:picLocks noChangeAspect="1"/>
          </p:cNvPicPr>
          <p:nvPr/>
        </p:nvPicPr>
        <p:blipFill>
          <a:blip r:embed="rId5"/>
          <a:stretch>
            <a:fillRect/>
          </a:stretch>
        </p:blipFill>
        <p:spPr>
          <a:xfrm>
            <a:off x="5760720" y="3505200"/>
            <a:ext cx="701040" cy="701040"/>
          </a:xfrm>
          <a:prstGeom prst="rect">
            <a:avLst/>
          </a:prstGeom>
        </p:spPr>
      </p:pic>
      <p:pic>
        <p:nvPicPr>
          <p:cNvPr id="64" name="AWS Certified Security – Specialty" descr="aws-scs-security-specialty.png"/>
          <p:cNvPicPr>
            <a:picLocks noChangeAspect="1"/>
          </p:cNvPicPr>
          <p:nvPr/>
        </p:nvPicPr>
        <p:blipFill>
          <a:blip r:embed="rId6"/>
          <a:stretch>
            <a:fillRect/>
          </a:stretch>
        </p:blipFill>
        <p:spPr>
          <a:xfrm>
            <a:off x="6537960" y="3505200"/>
            <a:ext cx="701040" cy="701040"/>
          </a:xfrm>
          <a:prstGeom prst="rect">
            <a:avLst/>
          </a:prstGeom>
        </p:spPr>
      </p:pic>
      <p:pic>
        <p:nvPicPr>
          <p:cNvPr id="65" name="AWS Certified Solutions Architect – Associate" descr="aws-saa-solutions-architect-associate.png"/>
          <p:cNvPicPr>
            <a:picLocks noChangeAspect="1"/>
          </p:cNvPicPr>
          <p:nvPr/>
        </p:nvPicPr>
        <p:blipFill>
          <a:blip r:embed="rId7"/>
          <a:stretch>
            <a:fillRect/>
          </a:stretch>
        </p:blipFill>
        <p:spPr>
          <a:xfrm>
            <a:off x="7315200" y="3505200"/>
            <a:ext cx="701040" cy="701040"/>
          </a:xfrm>
          <a:prstGeom prst="rect">
            <a:avLst/>
          </a:prstGeom>
        </p:spPr>
      </p:pic>
      <p:sp>
        <p:nvSpPr>
          <p:cNvPr id="66" name="Certificaciones"/>
          <p:cNvSpPr txBox="1"/>
          <p:nvPr/>
        </p:nvSpPr>
        <p:spPr>
          <a:xfrm>
            <a:off x="827532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7" name="Certified Kubernetes Administrator" descr="k8s-cka-administrator.png"/>
          <p:cNvPicPr>
            <a:picLocks noChangeAspect="1"/>
          </p:cNvPicPr>
          <p:nvPr/>
        </p:nvPicPr>
        <p:blipFill>
          <a:blip r:embed="rId8"/>
          <a:stretch>
            <a:fillRect/>
          </a:stretch>
        </p:blipFill>
        <p:spPr>
          <a:xfrm>
            <a:off x="8275320" y="3505200"/>
            <a:ext cx="701040" cy="701040"/>
          </a:xfrm>
          <a:prstGeom prst="rect">
            <a:avLst/>
          </a:prstGeom>
        </p:spPr>
      </p:pic>
      <p:pic>
        <p:nvPicPr>
          <p:cNvPr id="68" name="Certified Kubernetes Application Developer" descr="k8s-ckad-application-developer.png"/>
          <p:cNvPicPr>
            <a:picLocks noChangeAspect="1"/>
          </p:cNvPicPr>
          <p:nvPr/>
        </p:nvPicPr>
        <p:blipFill>
          <a:blip r:embed="rId9"/>
          <a:stretch>
            <a:fillRect/>
          </a:stretch>
        </p:blipFill>
        <p:spPr>
          <a:xfrm>
            <a:off x="9052560" y="3505200"/>
            <a:ext cx="701040" cy="701040"/>
          </a:xfrm>
          <a:prstGeom prst="rect">
            <a:avLst/>
          </a:prstGeom>
        </p:spPr>
      </p:pic>
      <p:pic>
        <p:nvPicPr>
          <p:cNvPr id="69" name="Certified Kubernetes Security Specialist" descr="k8s-cks-security-specialist.png"/>
          <p:cNvPicPr>
            <a:picLocks noChangeAspect="1"/>
          </p:cNvPicPr>
          <p:nvPr/>
        </p:nvPicPr>
        <p:blipFill>
          <a:blip r:embed="rId10"/>
          <a:stretch>
            <a:fillRect/>
          </a:stretch>
        </p:blipFill>
        <p:spPr>
          <a:xfrm>
            <a:off x="9829800" y="3505200"/>
            <a:ext cx="701040" cy="701040"/>
          </a:xfrm>
          <a:prstGeom prst="rect">
            <a:avLst/>
          </a:prstGeom>
        </p:spPr>
      </p:pic>
      <p:sp>
        <p:nvSpPr>
          <p:cNvPr id="70" name="TextBox 69"/>
          <p:cNvSpPr txBox="1"/>
          <p:nvPr/>
        </p:nvSpPr>
        <p:spPr>
          <a:xfrm>
            <a:off x="4206240" y="449580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lazo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MONITOREO TRADICIONAL</a:t>
            </a:r>
          </a:p>
        </p:txBody>
      </p:sp>
      <p:sp>
        <p:nvSpPr>
          <p:cNvPr id="55" name="TextBox 54"/>
          <p:cNvSpPr txBox="1"/>
          <p:nvPr/>
        </p:nvSpPr>
        <p:spPr>
          <a:xfrm>
            <a:off x="3586277"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sp>
        <p:nvSpPr>
          <p:cNvPr id="56" name="TextBox 55"/>
          <p:cNvSpPr txBox="1"/>
          <p:nvPr/>
        </p:nvSpPr>
        <p:spPr>
          <a:xfrm>
            <a:off x="7732776" y="1798320"/>
            <a:ext cx="3666744"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793797"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servicio está arriba?</a:t>
            </a:r>
          </a:p>
        </p:txBody>
      </p:sp>
      <p:sp>
        <p:nvSpPr>
          <p:cNvPr id="59" name="TextBox 58"/>
          <p:cNvSpPr txBox="1"/>
          <p:nvPr/>
        </p:nvSpPr>
        <p:spPr>
          <a:xfrm>
            <a:off x="3586277" y="2179320"/>
            <a:ext cx="399409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sp>
        <p:nvSpPr>
          <p:cNvPr id="60" name="TextBox 59"/>
          <p:cNvSpPr txBox="1"/>
          <p:nvPr/>
        </p:nvSpPr>
        <p:spPr>
          <a:xfrm>
            <a:off x="7732776" y="2179320"/>
            <a:ext cx="3666744"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AUC: 0,69 → 0,57 con la otra velocidad</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2793797"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¿Cuánta CPU y memoria usa?</a:t>
            </a:r>
          </a:p>
        </p:txBody>
      </p:sp>
      <p:sp>
        <p:nvSpPr>
          <p:cNvPr id="63" name="TextBox 62"/>
          <p:cNvSpPr txBox="1"/>
          <p:nvPr/>
        </p:nvSpPr>
        <p:spPr>
          <a:xfrm>
            <a:off x="3586277" y="2644445"/>
            <a:ext cx="3994099"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sp>
        <p:nvSpPr>
          <p:cNvPr id="64" name="TextBox 63"/>
          <p:cNvSpPr txBox="1"/>
          <p:nvPr/>
        </p:nvSpPr>
        <p:spPr>
          <a:xfrm>
            <a:off x="7732776" y="2644445"/>
            <a:ext cx="3666744" cy="442570"/>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InputZ</a:t>
            </a:r>
            <a:r>
              <a:rPr sz="1320" b="0" lang="es-CO">
                <a:solidFill>
                  <a:srgbClr val="071329"/>
                </a:solidFill>
                <a:latin typeface="Calibri"/>
              </a:rPr>
              <a:t>: qué tan lejos está la entrada de lo que aprendió</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793797"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¿Hay errores o excepciones?</a:t>
            </a:r>
          </a:p>
        </p:txBody>
      </p:sp>
      <p:sp>
        <p:nvSpPr>
          <p:cNvPr id="67" name="TextBox 66"/>
          <p:cNvSpPr txBox="1"/>
          <p:nvPr/>
        </p:nvSpPr>
        <p:spPr>
          <a:xfrm>
            <a:off x="3586277" y="3330854"/>
            <a:ext cx="399409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sp>
        <p:nvSpPr>
          <p:cNvPr id="68" name="TextBox 67"/>
          <p:cNvSpPr txBox="1"/>
          <p:nvPr/>
        </p:nvSpPr>
        <p:spPr>
          <a:xfrm>
            <a:off x="7732776" y="3330854"/>
            <a:ext cx="3666744"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Alerts</a:t>
            </a:r>
            <a:r>
              <a:rPr sz="1320" b="0" lang="es-CO">
                <a:solidFill>
                  <a:srgbClr val="071329"/>
                </a:solidFill>
                <a:latin typeface="Calibri"/>
              </a:rPr>
              <a:t> y </a:t>
            </a:r>
            <a:r>
              <a:rPr sz="1080" b="0" lang="es-CO">
                <a:solidFill>
                  <a:srgbClr val="071329"/>
                </a:solidFill>
                <a:latin typeface="Courier New"/>
              </a:rPr>
              <a:t>MissedFaults</a:t>
            </a:r>
            <a:r>
              <a:rPr sz="1320" b="0" lang="es-CO">
                <a:solidFill>
                  <a:srgbClr val="071329"/>
                </a:solidFill>
                <a:latin typeface="Calibri"/>
              </a:rPr>
              <a:t>: falsas alarmas 6 % → 18 %</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793797"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¿Responde a tiempo?</a:t>
            </a:r>
          </a:p>
        </p:txBody>
      </p:sp>
      <p:sp>
        <p:nvSpPr>
          <p:cNvPr id="71" name="TextBox 70"/>
          <p:cNvSpPr txBox="1"/>
          <p:nvPr/>
        </p:nvSpPr>
        <p:spPr>
          <a:xfrm>
            <a:off x="3586277" y="3795979"/>
            <a:ext cx="3994099" cy="442570"/>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sp>
        <p:nvSpPr>
          <p:cNvPr id="72" name="TextBox 71"/>
          <p:cNvSpPr txBox="1"/>
          <p:nvPr/>
        </p:nvSpPr>
        <p:spPr>
          <a:xfrm>
            <a:off x="7732776" y="3795979"/>
            <a:ext cx="3666744"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La orden de mantenimiento confirma si la alerta era real (en la demo, el campo </a:t>
            </a:r>
            <a:r>
              <a:rPr sz="1080" b="0" lang="es-CO">
                <a:solidFill>
                  <a:srgbClr val="071329"/>
                </a:solidFill>
                <a:latin typeface="Courier New"/>
              </a:rPr>
              <a:t>truth</a:t>
            </a:r>
            <a:r>
              <a:rPr sz="1320" b="0" lang="es-CO">
                <a:solidFill>
                  <a:srgbClr val="071329"/>
                </a:solidFill>
                <a:latin typeface="Calibri"/>
              </a:rPr>
              <a:t>)</a:t>
            </a:r>
          </a:p>
        </p:txBody>
      </p:sp>
      <p:cxnSp>
        <p:nvCxnSpPr>
          <p:cNvPr id="73" name="Connector 72"/>
          <p:cNvCxnSpPr/>
          <p:nvPr/>
        </p:nvCxnSpPr>
        <p:spPr>
          <a:xfrm>
            <a:off x="640080" y="436046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1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TextBox 54"/>
          <p:cNvSpPr txBox="1"/>
          <p:nvPr/>
        </p:nvSpPr>
        <p:spPr>
          <a:xfrm>
            <a:off x="1249680" y="1219200"/>
            <a:ext cx="9692640" cy="3581400"/>
          </a:xfrm>
          <a:prstGeom prst="rect">
            <a:avLst/>
          </a:prstGeom>
          <a:noFill/>
        </p:spPr>
        <p:txBody>
          <a:bodyPr wrap="square" lIns="0" tIns="0" rIns="0" bIns="0" anchor="ctr">
            <a:noAutofit/>
          </a:bodyPr>
          <a:lstStyle/>
          <a:p>
            <a:pPr>
              <a:lnSpc>
                <a:spcPct val="105000"/>
              </a:lnSpc>
            </a:pPr>
            <a:r>
              <a:rPr sz="3960" b="1" lang="es-CO">
                <a:solidFill>
                  <a:srgbClr val="071329"/>
                </a:solidFill>
                <a:latin typeface="Calibri"/>
              </a:rPr>
              <a:t>¿A quién le ha sonado el pager</a:t>
            </a:r>
            <a:br/>
            <a:r>
              <a:rPr sz="3960" b="1" lang="es-CO">
                <a:solidFill>
                  <a:srgbClr val="6D28D9"/>
                </a:solidFill>
                <a:latin typeface="Calibri"/>
              </a:rPr>
              <a:t>por un modelo</a:t>
            </a:r>
            <a:r>
              <a:rPr sz="3960" b="1" lang="es-CO">
                <a:solidFill>
                  <a:srgbClr val="071329"/>
                </a:solidFill>
                <a:latin typeface="Calibri"/>
              </a:rPr>
              <a:t>?</a:t>
            </a:r>
          </a:p>
          <a:p>
            <a:pPr>
              <a:lnSpc>
                <a:spcPct val="105000"/>
              </a:lnSpc>
              <a:spcBef>
                <a:spcPts val="1800"/>
              </a:spcBef>
            </a:pPr>
            <a:r>
              <a:rPr sz="1920" b="0" lang="es-CO">
                <a:solidFill>
                  <a:srgbClr val="475569"/>
                </a:solidFill>
                <a:latin typeface="Calibri"/>
              </a:rPr>
              <a:t>Levanten la mano.</a:t>
            </a:r>
          </a:p>
        </p:txBody>
      </p:sp>
      <p:sp>
        <p:nvSpPr>
          <p:cNvPr id="56"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57"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58" name="TextBox 57"/>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5547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para </a:t>
            </a:r>
            <a:r>
              <a:rPr b="1" lang="es-CO">
                <a:solidFill>
                  <a:srgbClr val="6D28D9"/>
                </a:solidFill>
              </a:rPr>
              <a:t>gobernar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anillos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77749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anillos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2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Desplegar por anillos y volver</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anillo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esa compuerta la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anillos, con una compuerta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Lectura recomendada</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The ML Test Score · Breck et al., Google, 2017</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TextBox 62"/>
          <p:cNvSpPr txBox="1"/>
          <p:nvPr/>
        </p:nvSpPr>
        <p:spPr>
          <a:xfrm>
            <a:off x="640080" y="457200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4" name="TextBox 63"/>
          <p:cNvSpPr txBox="1"/>
          <p:nvPr/>
        </p:nvSpPr>
        <p:spPr>
          <a:xfrm>
            <a:off x="3840480" y="457200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sp>
        <p:nvSpPr>
          <p:cNvPr id="65"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6"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7" name="TextBox 66"/>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 vuelta automática,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anillo</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anillo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Compuerta canario contra anillo: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Breck et al. · The ML Test Score (2017)</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research.google/pubs/pub46555</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4" name="Connector 73"/>
          <p:cNvCxnSpPr/>
          <p:nvPr/>
        </p:nvCxnSpPr>
        <p:spPr>
          <a:xfrm>
            <a:off x="640080" y="4254398"/>
            <a:ext cx="10911840" cy="0"/>
          </a:xfrm>
          <a:prstGeom prst="line">
            <a:avLst/>
          </a:prstGeom>
          <a:ln w="11430">
            <a:solidFill>
              <a:srgbClr val="D5DEEA"/>
            </a:solidFill>
          </a:ln>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señales doradas </a:t>
            </a:r>
            <a:r>
              <a:rPr b="1" lang="es-CO">
                <a:solidFill>
                  <a:srgbClr val="6D28D9"/>
                </a:solidFill>
              </a:rPr>
              <a:t>de un modelo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