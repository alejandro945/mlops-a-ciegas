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5B7E98E-9B5B-4E22-A64C-F67673FCB3E6}">
          <p14:sldIdLst>
            <p14:sldId id="256"/>
            <p14:sldId id="257"/>
            <p14:sldId id="258"/>
            <p14:sldId id="259"/>
            <p14:sldId id="260"/>
            <p14:sldId id="261"/>
            <p14:sldId id="262"/>
          </p14:sldIdLst>
        </p14:section>
        <p14:section name="01 · El problema" id="{F8BD0224-A5C2-42E5-B729-C22533CDDAA7}">
          <p14:sldIdLst>
            <p14:sldId id="263"/>
            <p14:sldId id="264"/>
            <p14:sldId id="265"/>
            <p14:sldId id="266"/>
          </p14:sldIdLst>
        </p14:section>
        <p14:section name="02 · El patrón" id="{8BAA1000-8B16-4E0B-9493-1B499FBFC6EE}">
          <p14:sldIdLst>
            <p14:sldId id="267"/>
            <p14:sldId id="268"/>
            <p14:sldId id="269"/>
            <p14:sldId id="270"/>
          </p14:sldIdLst>
        </p14:section>
        <p14:section name="03 · Los seis pasos" id="{B42C5EF4-C7D3-4A56-B0C5-3548FDE76E57}">
          <p14:sldIdLst>
            <p14:sldId id="271"/>
            <p14:sldId id="272"/>
            <p14:sldId id="273"/>
            <p14:sldId id="274"/>
            <p14:sldId id="275"/>
            <p14:sldId id="276"/>
            <p14:sldId id="277"/>
          </p14:sldIdLst>
        </p14:section>
        <p14:section name="04 · La evidencia en AWS" id="{08AA8BDC-5275-42D8-A5C9-C12B0523CF8D}">
          <p14:sldIdLst>
            <p14:sldId id="278"/>
            <p14:sldId id="279"/>
            <p14:sldId id="280"/>
            <p14:sldId id="281"/>
            <p14:sldId id="282"/>
            <p14:sldId id="283"/>
            <p14:sldId id="284"/>
            <p14:sldId id="285"/>
          </p14:sldIdLst>
        </p14:section>
        <p14:section name="Cierre" id="{F158C5C0-B0FA-4CCF-8CB2-069F93F5773B}">
          <p14:sldIdLst>
            <p14:sldId id="286"/>
            <p14:sldId id="287"/>
            <p14:sldId id="288"/>
            <p14:sldId id="289"/>
          </p14:sldIdLst>
        </p14:section>
        <p14:section name="Anexos" id="{034D66F9-056B-428B-8D12-0F7D5BCB2783}">
          <p14:sldIdLst>
            <p14:sldId id="290"/>
            <p14:sldId id="291"/>
            <p14:sldId id="292"/>
            <p14:sldId id="293"/>
            <p14:sldId id="294"/>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0:40 · 2 clics · *antes de presentarte; sin saludar todavía*</a:t>
            </a:r>
          </a:p>
          <a:p/>
          <a:p>
            <a:r>
              <a:t>'Hace un año, casi exacto, se cayó us-east-1. Muchos de ustedes lo vivieron desde operaciones: horas de servicios detenidos.' *(señala el meme)* 'Y nos recordó algo que ya sabíamos: buena parte de internet se apoya en una sola región.' *(pausa)*</a:t>
            </a:r>
          </a:p>
          <a:p/>
          <a:p>
            <a:r>
              <a:t>▶ CLIC 'Pero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'Su solución de emergencia fue un modo sin conexión: control manual por Bluetooth, sin la inteligencia.' *(pausa)* 'La cama sabía detectar en qué etapa del sueño estabas, pero esa decisión vivía en la nube. Cuando la nube cayó, la cama dejó de pensar. Llevar esa decisión al dispositivo: eso es 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eso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4:00*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6:40*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eventos dicen cuándo reentrenar y en qué estación, y el mantenimiento pone las etiquetas. El audio para reentrenar se recolecta de forma selectiva: alertas, casos dudosos y una muestra de lo normal. Ese es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*reloj: 9:05*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0:45 · 2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 Cada versión, en su propio prefijo: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una estación de desarrollo,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0:55 · 4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0:55 · 3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0:30 · sin clics</a:t>
            </a:r>
          </a:p>
          <a:p/>
          <a:p>
            <a:r>
              <a:t>'Paso cinco: operación desconectada. Greengrass encola los eventos localmente hasta que vuelve la conectividad. Para equipos con muy poca memoria existe una versión ligera del agente, escrita en C.'</a:t>
            </a:r>
          </a:p>
          <a:p/>
          <a:p>
            <a:r>
              <a:t>'La estación sigue decidiendo y alertando sin red, porque todo lo necesario está en el equipo. Un detalle de diseño: la cola por defecto vive en memoria y descarta mensajes al llenarse. Para desconexiones largas, debe ir a disco.'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1:15 · 3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necesita arranque seguro y su llave en un TPM.'</a:t>
            </a:r>
          </a:p>
          <a:p/>
          <a:p>
            <a:r>
              <a:t>'En la PoC, el gate usa la verdad de cada clip, porque sé qué audio está sonando. En producción esa etiqueta llega tarde, con la orden de mantenimiento. Las tres señales no la necesitan: funcionan desde el primer día.'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LA EVIDENCIA EN AWS</a:t>
            </a:r>
          </a:p>
          <a:p/>
          <a:p>
            <a:r>
              <a:t>0:05 · *reloj: 14:35*</a:t>
            </a:r>
          </a:p>
          <a:p/>
          <a:p>
            <a:r>
              <a:t>'Ahora, la evidencia: la misma arquitectura, ejecutada en AWS.'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DEMO</a:t>
            </a:r>
          </a:p>
          <a:p/>
          <a:p>
            <a:r>
              <a:t>0:25 · sin clics</a:t>
            </a:r>
          </a:p>
          <a:p/>
          <a:p>
            <a:r>
              <a:t>'Lo único simulado son las bombas: cinco contenedores, cada uno con el agente real de Greengrass. La bomba 1 es el canary; las otras cuatro, el ring 1. Todo lo demás es AWS real, con audio real e infraestructura en Terraform. Lo que sigue es la consola y los eventos de esa ejecución,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EL MODELO, VERSIONADO</a:t>
            </a:r>
          </a:p>
          <a:p/>
          <a:p>
            <a:r>
              <a:t>0:25 · sin clics</a:t>
            </a:r>
          </a:p>
          <a:p/>
          <a:p>
            <a:r>
              <a:t>'Primero, el artefacto. En S3, cada versión en su propia carpeta. En Greengrass, el componente con sus dos versiones: 1.0.0 y 2.0.0. Nada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LA FLOTA, EN LÍNEA</a:t>
            </a:r>
          </a:p>
          <a:p/>
          <a:p>
            <a:r>
              <a:t>0:20 · sin clics</a:t>
            </a:r>
          </a:p>
          <a:p/>
          <a:p>
            <a:r>
              <a:t>'La flota: cada bomba es una thing de AWS IoT, con su propio certificado. Cinco equipos en dos rings, todos sanos.'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LO QUE REPORTA</a:t>
            </a:r>
          </a:p>
          <a:p/>
          <a:p>
            <a:r>
              <a:t>0:20 · sin clics</a:t>
            </a:r>
          </a:p>
          <a:p/>
          <a:p>
            <a:r>
              <a:t>'Y esto es lo que reportan: el dashboard, organizado por las tres señales: entrada, salida y autenticidad. Con esto en marcha, tres pruebas.'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ACTO 3 · RING DEPLOYMENT Y ROLLBACK</a:t>
            </a:r>
          </a:p>
          <a:p/>
          <a:p>
            <a:r>
              <a:t>1:30 · 3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*(pausa)*</a:t>
            </a:r>
          </a:p>
          <a:p/>
          <a:p>
            <a:r>
              <a:t>▶ CLIC 'La alarma en CloudWatch: las fallas no detectadas superan el umbral de 8 por minuto, y la franja roja marca el periodo en ALARM.'</a:t>
            </a:r>
          </a:p>
          <a:p/>
          <a:p>
            <a:r>
              <a:t>▶ CLIC 'Y en los despliegues: el ring 0 corre «rollback-to-1.0.0», creado por la Lambda, no por mí. El ring 1 nunca recibió la 2.0.0.'</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CINCO RECOMENDACIONES</a:t>
            </a:r>
          </a:p>
          <a:p/>
          <a:p>
            <a:r>
              <a:t>1:05 · 4 clics · *reloj: 19:30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a:t>
            </a:r>
          </a:p>
          <a:p/>
          <a:p>
            <a:r>
              <a:t>*(Si el reloj marca 19:50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GRACIAS</a:t>
            </a:r>
          </a:p>
          <a:p/>
          <a:p>
            <a:r>
              <a:t>0:15 · sin clics</a:t>
            </a:r>
          </a:p>
          <a:p/>
          <a:p>
            <a:r>
              <a:t>'Muchas gracias. Con gusto respondo sus preguntas.'</a:t>
            </a:r>
          </a:p>
          <a:p/>
          <a:p>
            <a:r>
              <a:t>*Anexos: en PowerPoint escribe el número de la lámina y Enter (A1 = 35 … A8 = 42); para volver, el de la lámina donde estabas. A1 evento · A2 rollback · A3 qué revierte Greengrass · A4 permisos y costo · A5 a producción · A6 drift · A7 regulación · A8 fuentes · A9 golden signals · A10 audio contra eventos · A11 seguridad del equipo.*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 ANTES DE PROTEGER EL MODELO, PROTEGE EL EQUIPO</a:t>
            </a:r>
          </a:p>
          <a:p/>
          <a:p>
            <a:r>
              <a:t>4 clics · *si preguntan por la seguridad del equipo*</a:t>
            </a:r>
          </a:p>
          <a:p/>
          <a:p>
            <a:r>
              <a:t>'Estos equipos están físicamente expuestos: cualquiera puede abrir el gabinete de una estación rural. 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3.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gif"/><Relationship Id="rId3" Type="http://schemas.openxmlformats.org/officeDocument/2006/relationships/image" Target="../media/image19.gif"/><Relationship Id="rId4" Type="http://schemas.openxmlformats.org/officeDocument/2006/relationships/image" Target="../media/image20.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jpg"/><Relationship Id="rId3" Type="http://schemas.openxmlformats.org/officeDocument/2006/relationships/image" Target="../media/image80.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image" Target="../media/image86.jpg"/><Relationship Id="rId4" Type="http://schemas.openxmlformats.org/officeDocument/2006/relationships/image" Target="../media/image87.jp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8.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Imagen del gancho"/>
          <p:cNvGrpSpPr/>
          <p:nvPr/>
        </p:nvGrpSpPr>
        <p:grpSpPr>
          <a:xfrm>
            <a:off x="1833978" y="1569720"/>
            <a:ext cx="2861104" cy="3794760"/>
            <a:chOff x="1833978" y="1569720"/>
            <a:chExt cx="2861104" cy="3794760"/>
          </a:xfrm>
        </p:grpSpPr>
        <p:pic>
          <p:nvPicPr>
            <p:cNvPr id="54" name="Imagen" descr="hook_0.jpg"/>
            <p:cNvPicPr>
              <a:picLocks noChangeAspect="1"/>
            </p:cNvPicPr>
            <p:nvPr/>
          </p:nvPicPr>
          <p:blipFill>
            <a:blip r:embed="rId2"/>
            <a:stretch>
              <a:fillRect/>
            </a:stretch>
          </p:blipFill>
          <p:spPr>
            <a:xfrm>
              <a:off x="1833978" y="1569720"/>
              <a:ext cx="2861104" cy="3581400"/>
            </a:xfrm>
            <a:prstGeom prst="rect">
              <a:avLst/>
            </a:prstGeom>
          </p:spPr>
        </p:pic>
        <p:sp>
          <p:nvSpPr>
            <p:cNvPr id="55" name="Crédito"/>
            <p:cNvSpPr txBox="1"/>
            <p:nvPr/>
          </p:nvSpPr>
          <p:spPr>
            <a:xfrm>
              <a:off x="1833978" y="5212080"/>
              <a:ext cx="2861104" cy="152400"/>
            </a:xfrm>
            <a:prstGeom prst="rect">
              <a:avLst/>
            </a:prstGeom>
            <a:noFill/>
          </p:spPr>
          <p:txBody>
            <a:bodyPr wrap="square" lIns="0" tIns="0" rIns="0" bIns="0" anchor="t">
              <a:noAutofit/>
            </a:bodyPr>
            <a:lstStyle/>
            <a:p>
              <a:pPr algn="ctr"/>
              <a:r>
                <a:rPr sz="900" b="0" lang="es-CO">
                  <a:solidFill>
                    <a:srgbClr val="5C7290"/>
                  </a:solidFill>
                  <a:latin typeface="Calibri"/>
                </a:rPr>
                <a:t>Basado en xkcd 2347 · CC BY-NC 2.5</a:t>
              </a:r>
            </a:p>
          </p:txBody>
        </p:sp>
      </p:grpSp>
      <p:grpSp>
        <p:nvGrpSpPr>
          <p:cNvPr id="5" name="Imagen del gancho"/>
          <p:cNvGrpSpPr/>
          <p:nvPr/>
        </p:nvGrpSpPr>
        <p:grpSpPr>
          <a:xfrm>
            <a:off x="5030362" y="1569720"/>
            <a:ext cx="5327661" cy="3566160"/>
            <a:chOff x="5030362" y="1569720"/>
            <a:chExt cx="5327661" cy="3566160"/>
          </a:xfrm>
        </p:grpSpPr>
        <p:pic>
          <p:nvPicPr>
            <p:cNvPr id="56" name="Imagen" descr="hook_1.jpg"/>
            <p:cNvPicPr>
              <a:picLocks noChangeAspect="1"/>
            </p:cNvPicPr>
            <p:nvPr/>
          </p:nvPicPr>
          <p:blipFill>
            <a:blip r:embed="rId3"/>
            <a:stretch>
              <a:fillRect/>
            </a:stretch>
          </p:blipFill>
          <p:spPr>
            <a:xfrm>
              <a:off x="5030362" y="1569720"/>
              <a:ext cx="5327661" cy="3352800"/>
            </a:xfrm>
            <a:prstGeom prst="rect">
              <a:avLst/>
            </a:prstGeom>
          </p:spPr>
        </p:pic>
        <p:sp>
          <p:nvSpPr>
            <p:cNvPr id="57" name="Crédito"/>
            <p:cNvSpPr txBox="1"/>
            <p:nvPr/>
          </p:nvSpPr>
          <p:spPr>
            <a:xfrm>
              <a:off x="5030362" y="4983480"/>
              <a:ext cx="5327661" cy="152400"/>
            </a:xfrm>
            <a:prstGeom prst="rect">
              <a:avLst/>
            </a:prstGeom>
            <a:noFill/>
          </p:spPr>
          <p:txBody>
            <a:bodyPr wrap="square" lIns="0" tIns="0" rIns="0" bIns="0" anchor="t">
              <a:noAutofit/>
            </a:bodyPr>
            <a:lstStyle/>
            <a:p>
              <a:pPr algn="ctr"/>
              <a:r>
                <a:rPr sz="900" b="0" lang="es-CO">
                  <a:solidFill>
                    <a:srgbClr val="5C7290"/>
                  </a:solidFill>
                  <a:latin typeface="Calibri"/>
                </a:rPr>
                <a:t>Prensa, octubre de 2025 · imagen: Eight Sleep</a:t>
              </a:r>
            </a:p>
          </p:txBody>
        </p:sp>
      </p:grpSp>
      <p:sp>
        <p:nvSpPr>
          <p:cNvPr id="58" name="Remate"/>
          <p:cNvSpPr txBox="1"/>
          <p:nvPr/>
        </p:nvSpPr>
        <p:spPr>
          <a:xfrm>
            <a:off x="640080" y="5501640"/>
            <a:ext cx="10911840" cy="309372"/>
          </a:xfrm>
          <a:prstGeom prst="rect">
            <a:avLst/>
          </a:prstGeom>
          <a:noFill/>
        </p:spPr>
        <p:txBody>
          <a:bodyPr wrap="square" lIns="0" tIns="0" rIns="0" bIns="0" anchor="t">
            <a:noAutofit/>
          </a:bodyPr>
          <a:lstStyle/>
          <a:p>
            <a:r>
              <a:rPr sz="1800" b="0" lang="es-CO">
                <a:solidFill>
                  <a:srgbClr val="071329"/>
                </a:solidFill>
                <a:latin typeface="Calibri"/>
              </a:rPr>
              <a:t>La decisión vivía en la nube. </a:t>
            </a:r>
            <a:r>
              <a:rPr sz="1800" b="1" lang="es-CO">
                <a:solidFill>
                  <a:srgbClr val="6D28D9"/>
                </a:solidFill>
                <a:latin typeface="Calibri"/>
              </a:rPr>
              <a:t>Llevarla al dispositivo: 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b="1" lang="es-CO">
                <a:solidFill>
                  <a:srgbClr val="6D28D9"/>
                </a:solidFill>
              </a:rPr>
              <a:t>Demo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El modelo, </a:t>
            </a:r>
            <a:r>
              <a:rPr b="1" lang="es-CO">
                <a:solidFill>
                  <a:srgbClr val="6D28D9"/>
                </a:solidFill>
              </a:rPr>
              <a:t>versionado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tura" descr="pair_artefacto_0.jpg"/>
          <p:cNvPicPr>
            <a:picLocks noChangeAspect="1"/>
          </p:cNvPicPr>
          <p:nvPr/>
        </p:nvPicPr>
        <p:blipFill>
          <a:blip r:embed="rId2"/>
          <a:stretch>
            <a:fillRect/>
          </a:stretch>
        </p:blipFill>
        <p:spPr>
          <a:xfrm>
            <a:off x="716280" y="2055063"/>
            <a:ext cx="5227320" cy="2824074"/>
          </a:xfrm>
          <a:prstGeom prst="rect">
            <a:avLst/>
          </a:prstGeom>
        </p:spPr>
      </p:pic>
      <p:sp>
        <p:nvSpPr>
          <p:cNvPr id="55" name="Pie"/>
          <p:cNvSpPr txBox="1"/>
          <p:nvPr/>
        </p:nvSpPr>
        <p:spPr>
          <a:xfrm>
            <a:off x="716280" y="4955337"/>
            <a:ext cx="5227320" cy="182880"/>
          </a:xfrm>
          <a:prstGeom prst="rect">
            <a:avLst/>
          </a:prstGeom>
          <a:noFill/>
        </p:spPr>
        <p:txBody>
          <a:bodyPr wrap="square" lIns="0" tIns="0" rIns="0" bIns="0" anchor="t">
            <a:noAutofit/>
          </a:bodyPr>
          <a:lstStyle/>
          <a:p>
            <a:pPr algn="ctr"/>
            <a:r>
              <a:rPr sz="1019" b="0" lang="es-CO">
                <a:solidFill>
                  <a:srgbClr val="475569"/>
                </a:solidFill>
                <a:latin typeface="Calibri"/>
              </a:rPr>
              <a:t>S3 · una carpeta por versión</a:t>
            </a:r>
          </a:p>
        </p:txBody>
      </p:sp>
      <p:pic>
        <p:nvPicPr>
          <p:cNvPr id="56" name="Captura" descr="pair_artefacto_1.jpg"/>
          <p:cNvPicPr>
            <a:picLocks noChangeAspect="1"/>
          </p:cNvPicPr>
          <p:nvPr/>
        </p:nvPicPr>
        <p:blipFill>
          <a:blip r:embed="rId3"/>
          <a:stretch>
            <a:fillRect/>
          </a:stretch>
        </p:blipFill>
        <p:spPr>
          <a:xfrm>
            <a:off x="6248400" y="1893303"/>
            <a:ext cx="5227320" cy="3147593"/>
          </a:xfrm>
          <a:prstGeom prst="rect">
            <a:avLst/>
          </a:prstGeom>
        </p:spPr>
      </p:pic>
      <p:sp>
        <p:nvSpPr>
          <p:cNvPr id="57" name="Pie"/>
          <p:cNvSpPr txBox="1"/>
          <p:nvPr/>
        </p:nvSpPr>
        <p:spPr>
          <a:xfrm>
            <a:off x="6248400" y="5117097"/>
            <a:ext cx="5227320" cy="182880"/>
          </a:xfrm>
          <a:prstGeom prst="rect">
            <a:avLst/>
          </a:prstGeom>
          <a:noFill/>
        </p:spPr>
        <p:txBody>
          <a:bodyPr wrap="square" lIns="0" tIns="0" rIns="0" bIns="0" anchor="t">
            <a:noAutofit/>
          </a:bodyPr>
          <a:lstStyle/>
          <a:p>
            <a:pPr algn="ctr"/>
            <a:r>
              <a:rPr sz="1019" b="0" lang="es-CO">
                <a:solidFill>
                  <a:srgbClr val="475569"/>
                </a:solidFill>
                <a:latin typeface="Calibri"/>
              </a:rPr>
              <a:t>IoT Greengrass · el componente y sus versiones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La flota, </a:t>
            </a:r>
            <a:r>
              <a:rPr b="1" lang="es-CO">
                <a:solidFill>
                  <a:srgbClr val="6D28D9"/>
                </a:solidFill>
              </a:rPr>
              <a:t>en línea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tura" descr="pair_flota_0.jpg"/>
          <p:cNvPicPr>
            <a:picLocks noChangeAspect="1"/>
          </p:cNvPicPr>
          <p:nvPr/>
        </p:nvPicPr>
        <p:blipFill>
          <a:blip r:embed="rId2"/>
          <a:stretch>
            <a:fillRect/>
          </a:stretch>
        </p:blipFill>
        <p:spPr>
          <a:xfrm>
            <a:off x="2576270" y="1676400"/>
            <a:ext cx="7039461" cy="3581400"/>
          </a:xfrm>
          <a:prstGeom prst="rect">
            <a:avLst/>
          </a:prstGeom>
        </p:spPr>
      </p:pic>
      <p:sp>
        <p:nvSpPr>
          <p:cNvPr id="55" name="Pie"/>
          <p:cNvSpPr txBox="1"/>
          <p:nvPr/>
        </p:nvSpPr>
        <p:spPr>
          <a:xfrm>
            <a:off x="2576270" y="5334000"/>
            <a:ext cx="7039461" cy="182880"/>
          </a:xfrm>
          <a:prstGeom prst="rect">
            <a:avLst/>
          </a:prstGeom>
          <a:noFill/>
        </p:spPr>
        <p:txBody>
          <a:bodyPr wrap="square" lIns="0" tIns="0" rIns="0" bIns="0" anchor="t">
            <a:noAutofit/>
          </a:bodyPr>
          <a:lstStyle/>
          <a:p>
            <a:pPr algn="ctr"/>
            <a:r>
              <a:rPr sz="1019" b="0" lang="es-CO">
                <a:solidFill>
                  <a:srgbClr val="475569"/>
                </a:solidFill>
                <a:latin typeface="Calibri"/>
              </a:rPr>
              <a:t>IoT Greengrass · cinco things, uno por bomba, en dos rings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reporta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tura" descr="pair_reporte_0.jpg"/>
          <p:cNvPicPr>
            <a:picLocks noChangeAspect="1"/>
          </p:cNvPicPr>
          <p:nvPr/>
        </p:nvPicPr>
        <p:blipFill>
          <a:blip r:embed="rId2"/>
          <a:stretch>
            <a:fillRect/>
          </a:stretch>
        </p:blipFill>
        <p:spPr>
          <a:xfrm>
            <a:off x="867289" y="1676400"/>
            <a:ext cx="10457421" cy="3581400"/>
          </a:xfrm>
          <a:prstGeom prst="rect">
            <a:avLst/>
          </a:prstGeom>
        </p:spPr>
      </p:pic>
      <p:sp>
        <p:nvSpPr>
          <p:cNvPr id="55" name="Pie"/>
          <p:cNvSpPr txBox="1"/>
          <p:nvPr/>
        </p:nvSpPr>
        <p:spPr>
          <a:xfrm>
            <a:off x="867289" y="5334000"/>
            <a:ext cx="10457421" cy="182880"/>
          </a:xfrm>
          <a:prstGeom prst="rect">
            <a:avLst/>
          </a:prstGeom>
          <a:noFill/>
        </p:spPr>
        <p:txBody>
          <a:bodyPr wrap="square" lIns="0" tIns="0" rIns="0" bIns="0" anchor="t">
            <a:noAutofit/>
          </a:bodyPr>
          <a:lstStyle/>
          <a:p>
            <a:pPr algn="ctr"/>
            <a:r>
              <a:rPr sz="1019" b="0" lang="es-CO">
                <a:solidFill>
                  <a:srgbClr val="475569"/>
                </a:solidFill>
                <a:latin typeface="Calibri"/>
              </a:rPr>
              <a:t>CloudWatch · lo que decide el modelo, por señal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Captura de AWS"/>
          <p:cNvGrpSpPr/>
          <p:nvPr/>
        </p:nvGrpSpPr>
        <p:grpSpPr>
          <a:xfrm>
            <a:off x="1600200" y="2194560"/>
            <a:ext cx="8991600" cy="2941320"/>
            <a:chOff x="1600200" y="2194560"/>
            <a:chExt cx="8991600" cy="2941320"/>
          </a:xfrm>
        </p:grpSpPr>
        <p:sp>
          <p:nvSpPr>
            <p:cNvPr id="54" name="Ventana"/>
            <p:cNvSpPr/>
            <p:nvPr/>
          </p:nvSpPr>
          <p:spPr>
            <a:xfrm>
              <a:off x="1600200" y="2194560"/>
              <a:ext cx="8991600" cy="2941320"/>
            </a:xfrm>
            <a:prstGeom prst="roundRect">
              <a:avLst>
                <a:gd name="adj" fmla="val 3108"/>
              </a:avLst>
            </a:prstGeom>
            <a:solidFill>
              <a:srgbClr val="FFFFFF"/>
            </a:solidFill>
            <a:ln w="11430">
              <a:solidFill>
                <a:srgbClr val="D5DEEA"/>
              </a:solidFill>
            </a:ln>
          </p:spPr>
          <p:txBody>
            <a:bodyPr rtlCol="0" anchor="ctr"/>
            <a:lstStyle/>
            <a:p>
              <a:pPr algn="ctr"/>
            </a:p>
          </p:txBody>
        </p:sp>
        <p:sp>
          <p:nvSpPr>
            <p:cNvPr id="55" name="Barra"/>
            <p:cNvSpPr/>
            <p:nvPr/>
          </p:nvSpPr>
          <p:spPr>
            <a:xfrm>
              <a:off x="1607820" y="2202180"/>
              <a:ext cx="8976360" cy="281940"/>
            </a:xfrm>
            <a:prstGeom prst="rect">
              <a:avLst/>
            </a:prstGeom>
            <a:solidFill>
              <a:srgbClr val="F4F7FC"/>
            </a:solidFill>
            <a:ln>
              <a:noFill/>
            </a:ln>
          </p:spPr>
          <p:txBody>
            <a:bodyPr rtlCol="0" anchor="ctr"/>
            <a:lstStyle/>
            <a:p>
              <a:pPr algn="ctr"/>
            </a:p>
          </p:txBody>
        </p:sp>
        <p:sp>
          <p:nvSpPr>
            <p:cNvPr id="56" name="Punto"/>
            <p:cNvSpPr/>
            <p:nvPr/>
          </p:nvSpPr>
          <p:spPr>
            <a:xfrm>
              <a:off x="1722120" y="2297430"/>
              <a:ext cx="83820" cy="83820"/>
            </a:xfrm>
            <a:prstGeom prst="roundRect">
              <a:avLst>
                <a:gd name="adj" fmla="val 50000"/>
              </a:avLst>
            </a:prstGeom>
            <a:solidFill>
              <a:srgbClr val="D5DEEA"/>
            </a:solidFill>
            <a:ln>
              <a:noFill/>
            </a:ln>
          </p:spPr>
          <p:txBody>
            <a:bodyPr rtlCol="0" anchor="ctr"/>
            <a:lstStyle/>
            <a:p>
              <a:pPr algn="ctr"/>
            </a:p>
          </p:txBody>
        </p:sp>
        <p:sp>
          <p:nvSpPr>
            <p:cNvPr id="57" name="Punto"/>
            <p:cNvSpPr/>
            <p:nvPr/>
          </p:nvSpPr>
          <p:spPr>
            <a:xfrm>
              <a:off x="1866900" y="229743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2011680" y="2297430"/>
              <a:ext cx="83820" cy="83820"/>
            </a:xfrm>
            <a:prstGeom prst="roundRect">
              <a:avLst>
                <a:gd name="adj" fmla="val 50000"/>
              </a:avLst>
            </a:prstGeom>
            <a:solidFill>
              <a:srgbClr val="D5DEEA"/>
            </a:solidFill>
            <a:ln>
              <a:noFill/>
            </a:ln>
          </p:spPr>
          <p:txBody>
            <a:bodyPr rtlCol="0" anchor="ctr"/>
            <a:lstStyle/>
            <a:p>
              <a:pPr algn="ctr"/>
            </a:p>
          </p:txBody>
        </p:sp>
        <p:sp>
          <p:nvSpPr>
            <p:cNvPr id="59" name="Ruta"/>
            <p:cNvSpPr txBox="1"/>
            <p:nvPr/>
          </p:nvSpPr>
          <p:spPr>
            <a:xfrm>
              <a:off x="2255520" y="219456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p>
          </p:txBody>
        </p:sp>
        <p:pic>
          <p:nvPicPr>
            <p:cNvPr id="60" name="Captura" descr="shot_acto1_0.jpg"/>
            <p:cNvPicPr>
              <a:picLocks noChangeAspect="1"/>
            </p:cNvPicPr>
            <p:nvPr/>
          </p:nvPicPr>
          <p:blipFill>
            <a:blip r:embed="rId2"/>
            <a:stretch>
              <a:fillRect/>
            </a:stretch>
          </p:blipFill>
          <p:spPr>
            <a:xfrm>
              <a:off x="1600200" y="2484120"/>
              <a:ext cx="8991600" cy="2651760"/>
            </a:xfrm>
            <a:prstGeom prst="rect">
              <a:avLst/>
            </a:prstGeom>
          </p:spPr>
        </p:pic>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Captura de AWS"/>
          <p:cNvGrpSpPr/>
          <p:nvPr/>
        </p:nvGrpSpPr>
        <p:grpSpPr>
          <a:xfrm>
            <a:off x="685800" y="1946910"/>
            <a:ext cx="10820400" cy="3436620"/>
            <a:chOff x="685800" y="1946910"/>
            <a:chExt cx="10820400" cy="3436620"/>
          </a:xfrm>
        </p:grpSpPr>
        <p:sp>
          <p:nvSpPr>
            <p:cNvPr id="54"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5"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6"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7"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59"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p>
          </p:txBody>
        </p:sp>
        <p:pic>
          <p:nvPicPr>
            <p:cNvPr id="60"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Captura de AWS"/>
          <p:cNvGrpSpPr/>
          <p:nvPr/>
        </p:nvGrpSpPr>
        <p:grpSpPr>
          <a:xfrm>
            <a:off x="1371600" y="2472690"/>
            <a:ext cx="9448800" cy="2385060"/>
            <a:chOff x="1371600" y="2472690"/>
            <a:chExt cx="9448800" cy="2385060"/>
          </a:xfrm>
        </p:grpSpPr>
        <p:sp>
          <p:nvSpPr>
            <p:cNvPr id="54" name="Ventana"/>
            <p:cNvSpPr/>
            <p:nvPr/>
          </p:nvSpPr>
          <p:spPr>
            <a:xfrm>
              <a:off x="1371600" y="2472690"/>
              <a:ext cx="9448800" cy="2385060"/>
            </a:xfrm>
            <a:prstGeom prst="roundRect">
              <a:avLst>
                <a:gd name="adj" fmla="val 3833"/>
              </a:avLst>
            </a:prstGeom>
            <a:solidFill>
              <a:srgbClr val="FFFFFF"/>
            </a:solidFill>
            <a:ln w="11430">
              <a:solidFill>
                <a:srgbClr val="D5DEEA"/>
              </a:solidFill>
            </a:ln>
          </p:spPr>
          <p:txBody>
            <a:bodyPr rtlCol="0" anchor="ctr"/>
            <a:lstStyle/>
            <a:p>
              <a:pPr algn="ctr"/>
            </a:p>
          </p:txBody>
        </p:sp>
        <p:sp>
          <p:nvSpPr>
            <p:cNvPr id="55" name="Barra"/>
            <p:cNvSpPr/>
            <p:nvPr/>
          </p:nvSpPr>
          <p:spPr>
            <a:xfrm>
              <a:off x="1379220" y="2480310"/>
              <a:ext cx="9433560" cy="281940"/>
            </a:xfrm>
            <a:prstGeom prst="rect">
              <a:avLst/>
            </a:prstGeom>
            <a:solidFill>
              <a:srgbClr val="F4F7FC"/>
            </a:solidFill>
            <a:ln>
              <a:noFill/>
            </a:ln>
          </p:spPr>
          <p:txBody>
            <a:bodyPr rtlCol="0" anchor="ctr"/>
            <a:lstStyle/>
            <a:p>
              <a:pPr algn="ctr"/>
            </a:p>
          </p:txBody>
        </p:sp>
        <p:sp>
          <p:nvSpPr>
            <p:cNvPr id="56" name="Punto"/>
            <p:cNvSpPr/>
            <p:nvPr/>
          </p:nvSpPr>
          <p:spPr>
            <a:xfrm>
              <a:off x="1493520" y="2575560"/>
              <a:ext cx="83820" cy="83820"/>
            </a:xfrm>
            <a:prstGeom prst="roundRect">
              <a:avLst>
                <a:gd name="adj" fmla="val 50000"/>
              </a:avLst>
            </a:prstGeom>
            <a:solidFill>
              <a:srgbClr val="D5DEEA"/>
            </a:solidFill>
            <a:ln>
              <a:noFill/>
            </a:ln>
          </p:spPr>
          <p:txBody>
            <a:bodyPr rtlCol="0" anchor="ctr"/>
            <a:lstStyle/>
            <a:p>
              <a:pPr algn="ctr"/>
            </a:p>
          </p:txBody>
        </p:sp>
        <p:sp>
          <p:nvSpPr>
            <p:cNvPr id="57" name="Punto"/>
            <p:cNvSpPr/>
            <p:nvPr/>
          </p:nvSpPr>
          <p:spPr>
            <a:xfrm>
              <a:off x="1638300" y="257556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783080" y="2575560"/>
              <a:ext cx="83820" cy="83820"/>
            </a:xfrm>
            <a:prstGeom prst="roundRect">
              <a:avLst>
                <a:gd name="adj" fmla="val 50000"/>
              </a:avLst>
            </a:prstGeom>
            <a:solidFill>
              <a:srgbClr val="D5DEEA"/>
            </a:solidFill>
            <a:ln>
              <a:noFill/>
            </a:ln>
          </p:spPr>
          <p:txBody>
            <a:bodyPr rtlCol="0" anchor="ctr"/>
            <a:lstStyle/>
            <a:p>
              <a:pPr algn="ctr"/>
            </a:p>
          </p:txBody>
        </p:sp>
        <p:sp>
          <p:nvSpPr>
            <p:cNvPr id="59" name="Ruta"/>
            <p:cNvSpPr txBox="1"/>
            <p:nvPr/>
          </p:nvSpPr>
          <p:spPr>
            <a:xfrm>
              <a:off x="2026920" y="247269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p>
          </p:txBody>
        </p:sp>
        <p:pic>
          <p:nvPicPr>
            <p:cNvPr id="60" name="Captura" descr="shot_acto3_0.jpg"/>
            <p:cNvPicPr>
              <a:picLocks noChangeAspect="1"/>
            </p:cNvPicPr>
            <p:nvPr/>
          </p:nvPicPr>
          <p:blipFill>
            <a:blip r:embed="rId2"/>
            <a:stretch>
              <a:fillRect/>
            </a:stretch>
          </p:blipFill>
          <p:spPr>
            <a:xfrm>
              <a:off x="1371600" y="2762250"/>
              <a:ext cx="9448800" cy="209550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1"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2"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3"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4"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7"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p>
          </p:txBody>
        </p:sp>
        <p:pic>
          <p:nvPicPr>
            <p:cNvPr id="68"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grpSp>
        <p:nvGrpSpPr>
          <p:cNvPr id="6" name="Captura de AWS"/>
          <p:cNvGrpSpPr/>
          <p:nvPr/>
        </p:nvGrpSpPr>
        <p:grpSpPr>
          <a:xfrm>
            <a:off x="0" y="1447800"/>
            <a:ext cx="12192000" cy="4053840"/>
            <a:chOff x="0" y="1447800"/>
            <a:chExt cx="12192000" cy="4053840"/>
          </a:xfrm>
        </p:grpSpPr>
        <p:sp>
          <p:nvSpPr>
            <p:cNvPr id="6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7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7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7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7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7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7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en rollback</a:t>
              </a:r>
            </a:p>
          </p:txBody>
        </p:sp>
        <p:pic>
          <p:nvPicPr>
            <p:cNvPr id="76" name="Captura" descr="shot_acto3_2.jpg"/>
            <p:cNvPicPr>
              <a:picLocks noChangeAspect="1"/>
            </p:cNvPicPr>
            <p:nvPr/>
          </p:nvPicPr>
          <p:blipFill>
            <a:blip r:embed="rId4"/>
            <a:stretch>
              <a:fillRect/>
            </a:stretch>
          </p:blipFill>
          <p:spPr>
            <a:xfrm>
              <a:off x="3108960" y="2274570"/>
              <a:ext cx="5974080" cy="2689860"/>
            </a:xfrm>
            <a:prstGeom prst="rect">
              <a:avLst/>
            </a:prstGeom>
          </p:spPr>
        </p:pic>
      </p:grpSp>
      <p:sp>
        <p:nvSpPr>
          <p:cNvPr id="77"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7"/>
                                        </p:tgtEl>
                                        <p:attrNameLst>
                                          <p:attrName>style.visibility</p:attrName>
                                        </p:attrNameLst>
                                      </p:cBhvr>
                                      <p:to>
                                        <p:strVal val="visible"/>
                                      </p:to>
                                    </p:set>
                                    <p:animEffect transition="in" filter="fade">
                                      <p:cBhvr>
                                        <p:cTn id="17"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