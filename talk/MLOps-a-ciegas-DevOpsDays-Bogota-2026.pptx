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5CE2F00-C278-423F-8FAF-9064ED628B44}">
          <p14:sldIdLst>
            <p14:sldId id="256"/>
            <p14:sldId id="257"/>
            <p14:sldId id="258"/>
            <p14:sldId id="259"/>
            <p14:sldId id="260"/>
            <p14:sldId id="261"/>
          </p14:sldIdLst>
        </p14:section>
        <p14:section name="01 · El problema" id="{0C03D55A-2FE7-452C-88F8-E02C1ABAC237}">
          <p14:sldIdLst>
            <p14:sldId id="262"/>
            <p14:sldId id="263"/>
            <p14:sldId id="264"/>
            <p14:sldId id="265"/>
            <p14:sldId id="266"/>
          </p14:sldIdLst>
        </p14:section>
        <p14:section name="02 · El patrón" id="{1AE8DF10-19E9-446B-A89A-846213CD822E}">
          <p14:sldIdLst>
            <p14:sldId id="267"/>
            <p14:sldId id="268"/>
            <p14:sldId id="269"/>
            <p14:sldId id="270"/>
          </p14:sldIdLst>
        </p14:section>
        <p14:section name="03 · Los seis pasos" id="{12BF4A85-4061-4628-8238-12C7042E7515}">
          <p14:sldIdLst>
            <p14:sldId id="271"/>
            <p14:sldId id="272"/>
            <p14:sldId id="273"/>
            <p14:sldId id="274"/>
            <p14:sldId id="275"/>
            <p14:sldId id="276"/>
            <p14:sldId id="277"/>
            <p14:sldId id="278"/>
          </p14:sldIdLst>
        </p14:section>
        <p14:section name="04 · Demostración" id="{E5CF25A3-8D7C-473A-B442-7755A97A05D4}">
          <p14:sldIdLst>
            <p14:sldId id="279"/>
            <p14:sldId id="280"/>
            <p14:sldId id="281"/>
          </p14:sldIdLst>
        </p14:section>
        <p14:section name="Cierre" id="{8D58850B-8E16-4656-915A-8A21766471CC}">
          <p14:sldIdLst>
            <p14:sldId id="282"/>
            <p14:sldId id="283"/>
            <p14:sldId id="284"/>
            <p14:sldId id="285"/>
          </p14:sldIdLst>
        </p14:section>
        <p14:section name="Anexos" id="{63FEBE94-EDC8-4596-B7C4-CC391E4818DD}">
          <p14:sldIdLst>
            <p14:sldId id="286"/>
            <p14:sldId id="287"/>
            <p14:sldId id="288"/>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'¿Por qué debería importarles un modelo en una estación de bombeo? Porque la inferencia se está moviendo de la nube al dispositivo. Un ejemplo con números de Gartner: los PC.'</a:t>
            </a:r>
          </a:p>
          <a:p/>
          <a:p>
            <a:r>
              <a:t>'De cada cien PC nuevos que se vendieron en 2024, dieciséis traían un chip para correr IA.'</a:t>
            </a:r>
          </a:p>
          <a:p/>
          <a:p>
            <a:r>
              <a:t>▶ CLIC 'En 2025, treinta y uno.'</a:t>
            </a:r>
          </a:p>
          <a:p/>
          <a:p>
            <a:r>
              <a:t>▶ CLIC 'Para este año, Gartner proyectaba cincuenta y cinco. Y no son solo los PC: los teléfonos, los carros, las cámaras y los equipos industriales ya traen hardware para correr modelos ahí mismo.'</a:t>
            </a:r>
          </a:p>
          <a:p/>
          <a:p>
            <a:r>
              <a:t>*Fuente: Gartner, 28 de agosto de 2025, «AI PCs»: 15,6 % (2024), 31 % (2025), 54,7 % (2026, proyección). La cifra es solo de PC; lo de teléfonos, carros y equipos industriales dilo sin números.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la sala se ría antes de hablar. En cada meme, a la izquierda el modelo corre en la nube y a la derecha en el equipo: esa es la única diferencia*</a:t>
            </a:r>
          </a:p>
          <a:p/>
          <a:p>
            <a:r>
              <a:t>'¿Y por qué el modelo baja al dispositivo? Se los explico en el idioma universal: memes.'</a:t>
            </a:r>
          </a:p>
          <a:p/>
          <a:p>
            <a:r>
              <a:t>*Meme 1 · latencia.* 'El carro autónomo: 'dame un segundo, le pregunto al modelo en la nube'.' *(pausa corta)* 'Cuando la decisión es de milisegundos, la ida y vuelta no alcanza.'</a:t>
            </a:r>
          </a:p>
          <a:p/>
          <a:p>
            <a:r>
              <a:t>▶ CLIC *Meme 2 · sin conexión.* 'Técnico, tres de la mañana, en la planta. El asistente tiene el modelo en la nube: 'Sin conexión. Intente más tarde'.' *(pausa)* 'Con el modelo en el equipo, responde igual. En una vereda pasa lo mismo.'</a:t>
            </a:r>
          </a:p>
          <a:p/>
          <a:p>
            <a:r>
              <a:t>▶ CLIC *Meme 3 · privacidad.* 'Y tu reloj, cada segundo, mandándole tus latidos al modelo en la nube. Si el modelo corre en el reloj, lo sensible no sale del equipo: solo sale la alerta.'</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0:30 · sin clics</a:t>
            </a:r>
          </a:p>
          <a:p/>
          <a:p>
            <a:r>
              <a:t>'Soy Alejandro Varela, Senior Cloud Engineer en EPAM. Llevo modelos de IA de la nube a equipos en campo: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LOOP CERRADO</a:t>
            </a:r>
          </a:p>
          <a:p/>
          <a:p>
            <a:r>
              <a:t>0:25 · sin clics · *los puntos recorren el loop*</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loop…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loop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0:30 · sin clics</a:t>
            </a:r>
          </a:p>
          <a:p/>
          <a:p>
            <a:r>
              <a:t>'Las preguntas de siempre siguen valiendo: ¿el servicio está arriba?, ¿cuánta CPU usa?, ¿hay errores? Pero ninguna dice nada del modelo. Al modelo hay que hacerle otras cuatro.'</a:t>
            </a:r>
          </a:p>
          <a:p/>
          <a:p>
            <a:r>
              <a:t>'¿Sigue distinguiendo correctamente? ¿Cambió la distribución de los datos? ¿Aumentaron los falsos positivos o negativos? ¿Y sus predicciones siguen siendo útiles?'</a:t>
            </a:r>
          </a:p>
          <a:p/>
          <a:p>
            <a:r>
              <a:t>'La última es la más difícil: solo la contesta el negocio, cuando la orden de mantenimiento dice si la alerta era real. En la demo van a ver cómo se responden las otras tres.'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*divisor* · *reloj: 6:35*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desired state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1:10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desired state. La central declara qué debería tener cada equipo, y el equipo lo trae cuando puede.'</a:t>
            </a:r>
          </a:p>
          <a:p/>
          <a:p>
            <a:r>
              <a:t>▶ CLIC 'Cuatro: evento de inferencia. El modelo deja constancia de lo que decide. Si no hay red, se encola.'</a:t>
            </a:r>
          </a:p>
          <a:p/>
          <a:p>
            <a:r>
              <a:t>▶ CLIC 'Cinco: el gate. Una condición que mira esos eventos y decide sola si sigue o vuelve atrás. Es el loop rápido: minutos.'</a:t>
            </a:r>
          </a:p>
          <a:p/>
          <a:p>
            <a:r>
              <a:t>▶ CLIC 'Y con esos mismos eventos se reentrena: el loop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desired state es un despliegue de Greengrass, que llega por IoT Core con un certificado por equipo.'</a:t>
            </a:r>
          </a:p>
          <a:p/>
          <a:p>
            <a:r>
              <a:t>▶ CLIC 'Cada decisión entra por IoT Core y una regla la deja en CloudWatch Logs.' ▶ CLIC 'El gate: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*divisor con la espina* · *reloj: 9:25*</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3 clics</a:t>
            </a:r>
          </a:p>
          <a:p/>
          <a:p>
            <a:r>
              <a:t>'Paso cuatro. ¿Cómo llega a mil equipos sin romperlos todos un martes? Con despliegues de IoT Greengrass, un thing group por ring.'</a:t>
            </a:r>
          </a:p>
          <a:p/>
          <a:p>
            <a:r>
              <a:t>'Ring 0: una estación, el canary. Recibe la versión nueva primero.'</a:t>
            </a:r>
          </a:p>
          <a:p/>
          <a:p>
            <a:r>
              <a:t>▶ CLIC 'Si pasa el gate, ring 1: el resto de la flota, en waves que crecen.'</a:t>
            </a:r>
          </a:p>
          <a:p/>
          <a:p>
            <a:r>
              <a:t>▶ CLIC 'El despliegue trae dos protecciones: si fallan demasiados equipos, se cancela; y si un equipo no arranca la versión nueva, vuelve a la que tenía.'</a:t>
            </a:r>
          </a:p>
          <a:p/>
          <a:p>
            <a:r>
              <a:t>▶ CLIC 'Y el rollback: la alarma ve fallas que nadie oyó y despliega la última versión buena. El ring 1 nunca recibe la versión mala.'</a:t>
            </a:r>
          </a:p>
          <a:p/>
          <a:p>
            <a:r>
              <a:t>'Seguro alguien está pensando: 'Greengrass ya hace rollback'. Sí, de despliegues que fallan. Para Greengrass, un modelo que se instala bien y no oye es un despliegue exitoso.'</a:t>
            </a:r>
          </a:p>
          <a:p/>
          <a:p>
            <a:r>
              <a:t>*La bomba:* 'Una estación como canary.'</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1:05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ring 0.'</a:t>
            </a:r>
          </a:p>
          <a:p/>
          <a:p>
            <a:r>
              <a:t>'El error típico: poner la alarma sobre CPU y errores. Ya vimos que eso se queda en verde. El gate mira al modelo.'</a:t>
            </a:r>
          </a:p>
          <a:p/>
          <a:p>
            <a:r>
              <a:t>'En producción no sabes en el momento si la bomba fallaba: esa verdad solo existe en la demo. La etiqueta llega tarde, con la orden de mantenimiento, y mientras tanto comparas el canary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DEMOSTRACIÓN</a:t>
            </a:r>
          </a:p>
          <a:p/>
          <a:p>
            <a:r>
              <a:t>0:05 · *divisor* · *reloj: 16:20*</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ARQUITECTURA DE LA DEMOSTRACIÓN</a:t>
            </a:r>
          </a:p>
          <a:p/>
          <a:p>
            <a:r>
              <a:t>0:40 · sin clics</a:t>
            </a:r>
          </a:p>
          <a:p/>
          <a:p>
            <a:r>
              <a:t>'Esto es lo que monté. No traje bombas al escenario: cada bomba es un contenedor en una EC2, con el nucleus real de IoT Greengrass adentro. Cinco bombas: la 1 es el ring 0, el canary; de la 2 a la 5, el ring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ring deployment y rollback.'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golden signals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Ring deployment y rollback (3:05)</a:t>
            </a:r>
          </a:p>
          <a:p/>
          <a:p>
            <a:r>
              <a:t>*Señala la bomba 1, que ya corre v2.0.0 (en el ensayo llegó en 13 a 15 s); de la 2 a la 5 siguen en v1.0.0.* 'La versión nueva se reentrenó con más audio. Más datos, mejor modelo… ¿cierto? Y da menos alertas: en operación están felices. Va solo al ring 0, el canary.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El gate trabaja solo.' *Salta al anexo A2: escribe 32 y Enter. Cuenta la secuencia con la nota de A2 (un minuto). Para volver aquí, escribe 26 y Enter.*</a:t>
            </a:r>
          </a:p>
          <a:p/>
          <a:p>
            <a:r>
              <a:t>*Vuelve a watch.sh. Cuando la 1 salga en v1.0.0 con ALERT:* 'Volvió. v1.0.0, ALERT otra vez: la falla se oye. Nadie entró al equipo. Y el ring 1 nunca recibió la v2.'</a:t>
            </a:r>
          </a:p>
          <a:p/>
          <a:p>
            <a:r>
              <a:t>*Escribe* ./demo/fault.sh pump-01 off</a:t>
            </a:r>
          </a:p>
          <a:p/>
          <a:p>
            <a:r>
              <a:t>*Vuelve a esta lámina y dilo mirando a la sala:* 'Greengrass revierte despliegues fallidos, no modelos equivocados. Ese gate lo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el rollback.*</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CINCO RECOMENDACIONES</a:t>
            </a:r>
          </a:p>
          <a:p/>
          <a:p>
            <a:r>
              <a:t>1:05 · 4 clics · *reloj: 23:05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rings, con un gate que mire al modelo y no solo al proceso.'</a:t>
            </a:r>
          </a:p>
          <a:p/>
          <a:p>
            <a:r>
              <a:t>▶ CLIC 'Cuatro: diseña para estar sin red: cola local y decisiones locales.'</a:t>
            </a:r>
          </a:p>
          <a:p/>
          <a:p>
            <a:r>
              <a:t>▶ CLIC 'Y cinco: que el modelo cuente qué decide; el dato crudo se queda en el equipo.'</a:t>
            </a:r>
          </a:p>
          <a:p/>
          <a:p>
            <a:r>
              <a:t>*Si el reloj marca 23:30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RECURSOS Y CONTACTO</a:t>
            </a:r>
          </a:p>
          <a:p/>
          <a:p>
            <a:r>
              <a:t>0:15 · sin clics</a:t>
            </a:r>
          </a:p>
          <a:p/>
          <a:p>
            <a:r>
              <a:t>'Todo está en el repo de ese QR: la demo con el paso a paso, las láminas y el guion.'</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GRACIAS</a:t>
            </a:r>
          </a:p>
          <a:p/>
          <a:p>
            <a:r>
              <a:t>0:15 · sin clics</a:t>
            </a:r>
          </a:p>
          <a:p/>
          <a:p>
            <a:r>
              <a:t>'Muchas gracias.' *(espera el aplauso)* 'Con gusto respondo sus preguntas.'</a:t>
            </a:r>
          </a:p>
          <a:p/>
          <a:p>
            <a:r>
              <a:t>*Anexos: en PowerPoint escribe el número de la lámina y Enter (A1 = 31 … A8 = 38);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desired state,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ring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ring,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ring de una estación pasa a un gate que compara el canary contra el ring.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 En la demo las nombras sobre las columnas de watch.sh.*</a:t>
            </a:r>
          </a:p>
          <a:p/>
          <a:p>
            <a:r>
              <a:t>'Los que venimos de SRE conocemos las golden signals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Llevo modelos de IA de la nube a equipos en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TextBox 68"/>
          <p:cNvSpPr txBox="1"/>
          <p:nvPr/>
        </p:nvSpPr>
        <p:spPr>
          <a:xfrm>
            <a:off x="4206240" y="476250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10759440"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cxnSp>
        <p:nvCxnSpPr>
          <p:cNvPr id="55" name="Connector 54"/>
          <p:cNvCxnSpPr/>
          <p:nvPr/>
        </p:nvCxnSpPr>
        <p:spPr>
          <a:xfrm>
            <a:off x="640080" y="2057400"/>
            <a:ext cx="10911840" cy="0"/>
          </a:xfrm>
          <a:prstGeom prst="line">
            <a:avLst/>
          </a:prstGeom>
          <a:ln w="11430">
            <a:solidFill>
              <a:srgbClr val="D5DEEA"/>
            </a:solidFill>
          </a:ln>
        </p:spPr>
      </p:cxnSp>
      <p:sp>
        <p:nvSpPr>
          <p:cNvPr id="56" name="TextBox 55"/>
          <p:cNvSpPr txBox="1"/>
          <p:nvPr/>
        </p:nvSpPr>
        <p:spPr>
          <a:xfrm>
            <a:off x="640080" y="217932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cxnSp>
        <p:nvCxnSpPr>
          <p:cNvPr id="57" name="Connector 56"/>
          <p:cNvCxnSpPr/>
          <p:nvPr/>
        </p:nvCxnSpPr>
        <p:spPr>
          <a:xfrm>
            <a:off x="640080" y="2522525"/>
            <a:ext cx="10911840" cy="0"/>
          </a:xfrm>
          <a:prstGeom prst="line">
            <a:avLst/>
          </a:prstGeom>
          <a:ln w="11430">
            <a:solidFill>
              <a:srgbClr val="D5DEEA"/>
            </a:solidFill>
          </a:ln>
        </p:spPr>
      </p:cxnSp>
      <p:sp>
        <p:nvSpPr>
          <p:cNvPr id="58" name="TextBox 57"/>
          <p:cNvSpPr txBox="1"/>
          <p:nvPr/>
        </p:nvSpPr>
        <p:spPr>
          <a:xfrm>
            <a:off x="640080" y="2644445"/>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cxnSp>
        <p:nvCxnSpPr>
          <p:cNvPr id="59" name="Connector 58"/>
          <p:cNvCxnSpPr/>
          <p:nvPr/>
        </p:nvCxnSpPr>
        <p:spPr>
          <a:xfrm>
            <a:off x="640080" y="2987650"/>
            <a:ext cx="10911840" cy="0"/>
          </a:xfrm>
          <a:prstGeom prst="line">
            <a:avLst/>
          </a:prstGeom>
          <a:ln w="11430">
            <a:solidFill>
              <a:srgbClr val="D5DEEA"/>
            </a:solidFill>
          </a:ln>
        </p:spPr>
      </p:cxnSp>
      <p:sp>
        <p:nvSpPr>
          <p:cNvPr id="60" name="TextBox 59"/>
          <p:cNvSpPr txBox="1"/>
          <p:nvPr/>
        </p:nvSpPr>
        <p:spPr>
          <a:xfrm>
            <a:off x="640080" y="310957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cxnSp>
        <p:nvCxnSpPr>
          <p:cNvPr id="61" name="Connector 60"/>
          <p:cNvCxnSpPr/>
          <p:nvPr/>
        </p:nvCxnSpPr>
        <p:spPr>
          <a:xfrm>
            <a:off x="640080" y="3452774"/>
            <a:ext cx="10911840" cy="0"/>
          </a:xfrm>
          <a:prstGeom prst="line">
            <a:avLst/>
          </a:prstGeom>
          <a:ln w="15240">
            <a:solidFill>
              <a:srgbClr val="6D28D9"/>
            </a:solidFill>
          </a:ln>
        </p:spPr>
      </p:cxnSp>
      <p:sp>
        <p:nvSpPr>
          <p:cNvPr id="62" name="TextBox 61"/>
          <p:cNvSpPr txBox="1"/>
          <p:nvPr/>
        </p:nvSpPr>
        <p:spPr>
          <a:xfrm>
            <a:off x="640080" y="3574694"/>
            <a:ext cx="10759440"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cxnSp>
        <p:nvCxnSpPr>
          <p:cNvPr id="63" name="Connector 6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