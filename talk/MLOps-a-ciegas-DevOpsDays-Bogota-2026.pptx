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41C3633-B493-4B07-9975-D4F633A1870F}">
          <p14:sldIdLst>
            <p14:sldId id="256"/>
            <p14:sldId id="257"/>
            <p14:sldId id="258"/>
            <p14:sldId id="259"/>
            <p14:sldId id="260"/>
            <p14:sldId id="261"/>
            <p14:sldId id="262"/>
          </p14:sldIdLst>
        </p14:section>
        <p14:section name="01 · El problema" id="{7E2CE677-28B6-4A31-9C45-5D9098529DF7}">
          <p14:sldIdLst>
            <p14:sldId id="263"/>
            <p14:sldId id="264"/>
            <p14:sldId id="265"/>
            <p14:sldId id="266"/>
          </p14:sldIdLst>
        </p14:section>
        <p14:section name="02 · El patrón" id="{E0448F0A-AF03-4F36-AB5E-0065910773CF}">
          <p14:sldIdLst>
            <p14:sldId id="267"/>
            <p14:sldId id="268"/>
            <p14:sldId id="269"/>
            <p14:sldId id="270"/>
          </p14:sldIdLst>
        </p14:section>
        <p14:section name="03 · Los seis pasos" id="{7F50E0D2-957A-4A55-87E1-098957D5323B}">
          <p14:sldIdLst>
            <p14:sldId id="271"/>
            <p14:sldId id="272"/>
            <p14:sldId id="273"/>
            <p14:sldId id="274"/>
            <p14:sldId id="275"/>
            <p14:sldId id="276"/>
            <p14:sldId id="277"/>
            <p14:sldId id="278"/>
          </p14:sldIdLst>
        </p14:section>
        <p14:section name="04 · La evidencia en AWS" id="{CE428E11-C659-4EB4-9BD9-95C0D09F0A22}">
          <p14:sldIdLst>
            <p14:sldId id="279"/>
            <p14:sldId id="280"/>
            <p14:sldId id="281"/>
            <p14:sldId id="282"/>
            <p14:sldId id="283"/>
          </p14:sldIdLst>
        </p14:section>
        <p14:section name="Cierre" id="{1CEB46A3-975B-4EE8-8E2D-D7E2C5031A60}">
          <p14:sldIdLst>
            <p14:sldId id="284"/>
            <p14:sldId id="285"/>
            <p14:sldId id="286"/>
            <p14:sldId id="287"/>
          </p14:sldIdLst>
        </p14:section>
        <p14:section name="Anexos" id="{469965A4-8191-4DAA-B343-306CFF21627A}">
          <p14:sldIdLst>
            <p14:sldId id="288"/>
            <p14:sldId id="289"/>
            <p14:sldId id="290"/>
            <p14:sldId id="291"/>
            <p14:sldId id="292"/>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 y arranca con el gancho, sin saludar.)*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HACE UN AÑO: SE CAE US-EAST-1</a:t>
            </a:r>
          </a:p>
          <a:p/>
          <a:p>
            <a:r>
              <a:t>0:40 · 2 clics · *antes de presentarte; sin saludar todavía*</a:t>
            </a:r>
          </a:p>
          <a:p/>
          <a:p>
            <a:r>
              <a:t>'Hace un año, casi exacto, se cayó us-east-1. Muchos de ustedes lo vivieron desde operaciones: horas de servicios detenidos.' *(señala el meme)* 'Y nos recordó algo que ya sabíamos: buena parte de internet se apoya en una sola región.' *(pausa)*</a:t>
            </a:r>
          </a:p>
          <a:p/>
          <a:p>
            <a:r>
              <a:t>▶ CLIC 'Pero hubo una víctima que nadie esperaba: una marca de camas inteligentes, de unos dos mil dólares, que controlaba la temperatura y la inclinación desde la nube. Cuando la región cayó, las camas se quedaron en su último estado: calientes, inclinadas, en plena noche, con sus dueños encima.' *(pausa)*</a:t>
            </a:r>
          </a:p>
          <a:p/>
          <a:p>
            <a:r>
              <a:t>▶ CLIC 'Su solución de emergencia fue un modo sin conexión: control manual por Bluetooth, sin la inteligencia.' *(pausa)* 'La cama sabía detectar en qué etapa del sueño estabas, pero esa decisión vivía en la nube. Cuando la nube cayó, la cama dejó de pensar. Llevar esa decisión al dispositivo: eso es edge.'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SOBRE MÍ</a:t>
            </a:r>
          </a:p>
          <a:p/>
          <a:p>
            <a:r>
              <a:t>0:25 · sin clics</a:t>
            </a:r>
          </a:p>
          <a:p/>
          <a:p>
            <a:r>
              <a:t>'Buenos días. Soy Alejandro Varela, Senior Cloud Engineer en EPAM, y eso es justamente mi trabajo: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01 · EL PROBLEMA</a:t>
            </a:r>
          </a:p>
          <a:p/>
          <a:p>
            <a:r>
              <a:t>0:05 · *reloj: 4:00*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*reloj: 6:40*</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eventos dicen cuándo reentrenar y en qué estación, y el mantenimiento pone las etiquetas. El audio para reentrenar se recolecta de forma selectiva: alertas, casos dudosos y una muestra de lo normal. Ese es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*reloj: 9:05*</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necesita arranque seguro y su llave en un TPM.'</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LA EVIDENCIA EN AWS</a:t>
            </a:r>
          </a:p>
          <a:p/>
          <a:p>
            <a:r>
              <a:t>0:05 · *reloj: 15:45*</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CINCO RECOMENDACIONES</a:t>
            </a:r>
          </a:p>
          <a:p/>
          <a:p>
            <a:r>
              <a:t>1:05 · 4 clics · *reloj: 19:30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19:50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GRACIAS</a:t>
            </a:r>
          </a:p>
          <a:p/>
          <a:p>
            <a:r>
              <a:t>0:15 · sin clics</a:t>
            </a:r>
          </a:p>
          <a:p/>
          <a:p>
            <a:r>
              <a:t>'Muchas gracias. Con gusto respondo sus preguntas.'</a:t>
            </a:r>
          </a:p>
          <a:p/>
          <a:p>
            <a:r>
              <a:t>*Anexos: en PowerPoint escribe el número de la lámina y Enter (A1 = 33 … A8 = 40); para volver, el de la lámina donde estabas. A1 evento · A2 rollback · A3 qué revierte Greengrass · A4 permisos y costo · A5 a producción · A6 drift · A7 regulación · A8 fuentes · A9 golden signals · A10 audio contra eventos · A11 seguridad del equipo.*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 ANTES DE PROTEGER EL MODELO, PROTEGE EL EQUIPO</a:t>
            </a:r>
          </a:p>
          <a:p/>
          <a:p>
            <a:r>
              <a:t>4 clics · *si preguntan por la seguridad del equipo*</a:t>
            </a:r>
          </a:p>
          <a:p/>
          <a:p>
            <a:r>
              <a:t>'Estos equipos están físicamente expuestos: cualquiera puede abrir el gabinete de una estación rural. 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3.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gif"/><Relationship Id="rId3" Type="http://schemas.openxmlformats.org/officeDocument/2006/relationships/image" Target="../media/image19.gif"/><Relationship Id="rId4" Type="http://schemas.openxmlformats.org/officeDocument/2006/relationships/image" Target="../media/image20.gif"/><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30.png"/><Relationship Id="rId11" Type="http://schemas.openxmlformats.org/officeDocument/2006/relationships/image" Target="../media/image31.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jp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jp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image" Target="../media/image74.png"/><Relationship Id="rId7" Type="http://schemas.openxmlformats.org/officeDocument/2006/relationships/image" Target="../media/image75.jp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jp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image" Target="../media/image80.png"/><Relationship Id="rId4" Type="http://schemas.openxmlformats.org/officeDocument/2006/relationships/image" Target="../media/image81.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jp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8.jpg"/><Relationship Id="rId3" Type="http://schemas.openxmlformats.org/officeDocument/2006/relationships/image" Target="../media/image89.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0.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HACE UN AÑO</a:t>
            </a:r>
          </a:p>
        </p:txBody>
      </p:sp>
      <p:sp>
        <p:nvSpPr>
          <p:cNvPr id="3" name="Title 2"/>
          <p:cNvSpPr>
            <a:spLocks noGrp="1"/>
          </p:cNvSpPr>
          <p:nvPr>
            <p:ph type="title" idx="107"/>
          </p:nvPr>
        </p:nvSpPr>
        <p:spPr/>
        <p:txBody>
          <a:bodyPr lIns="0"/>
          <a:lstStyle/>
          <a:p>
            <a:r>
              <a:rPr lang="es-CO"/>
              <a:t>20 de octubre de 2025: </a:t>
            </a:r>
            <a:r>
              <a:rPr b="1" lang="es-CO">
                <a:solidFill>
                  <a:srgbClr val="6D28D9"/>
                </a:solidFill>
              </a:rPr>
              <a:t>se cae us-east-1</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grpSp>
        <p:nvGrpSpPr>
          <p:cNvPr id="4" name="Imagen del gancho"/>
          <p:cNvGrpSpPr/>
          <p:nvPr/>
        </p:nvGrpSpPr>
        <p:grpSpPr>
          <a:xfrm>
            <a:off x="1833978" y="1569720"/>
            <a:ext cx="2861104" cy="3794760"/>
            <a:chOff x="1833978" y="1569720"/>
            <a:chExt cx="2861104" cy="3794760"/>
          </a:xfrm>
        </p:grpSpPr>
        <p:pic>
          <p:nvPicPr>
            <p:cNvPr id="54" name="Imagen" descr="hook_0.jpg"/>
            <p:cNvPicPr>
              <a:picLocks noChangeAspect="1"/>
            </p:cNvPicPr>
            <p:nvPr/>
          </p:nvPicPr>
          <p:blipFill>
            <a:blip r:embed="rId2"/>
            <a:stretch>
              <a:fillRect/>
            </a:stretch>
          </p:blipFill>
          <p:spPr>
            <a:xfrm>
              <a:off x="1833978" y="1569720"/>
              <a:ext cx="2861104" cy="3581400"/>
            </a:xfrm>
            <a:prstGeom prst="rect">
              <a:avLst/>
            </a:prstGeom>
          </p:spPr>
        </p:pic>
        <p:sp>
          <p:nvSpPr>
            <p:cNvPr id="55" name="Crédito"/>
            <p:cNvSpPr txBox="1"/>
            <p:nvPr/>
          </p:nvSpPr>
          <p:spPr>
            <a:xfrm>
              <a:off x="1833978" y="5212080"/>
              <a:ext cx="2861104" cy="152400"/>
            </a:xfrm>
            <a:prstGeom prst="rect">
              <a:avLst/>
            </a:prstGeom>
            <a:noFill/>
          </p:spPr>
          <p:txBody>
            <a:bodyPr wrap="square" lIns="0" tIns="0" rIns="0" bIns="0" anchor="t">
              <a:noAutofit/>
            </a:bodyPr>
            <a:lstStyle/>
            <a:p>
              <a:pPr algn="ctr"/>
              <a:r>
                <a:rPr sz="900" b="0" lang="es-CO">
                  <a:solidFill>
                    <a:srgbClr val="5C7290"/>
                  </a:solidFill>
                  <a:latin typeface="Calibri"/>
                </a:rPr>
                <a:t>Basado en xkcd 2347 · CC BY-NC 2.5</a:t>
              </a:r>
            </a:p>
          </p:txBody>
        </p:sp>
      </p:grpSp>
      <p:grpSp>
        <p:nvGrpSpPr>
          <p:cNvPr id="5" name="Imagen del gancho"/>
          <p:cNvGrpSpPr/>
          <p:nvPr/>
        </p:nvGrpSpPr>
        <p:grpSpPr>
          <a:xfrm>
            <a:off x="5030362" y="1569720"/>
            <a:ext cx="5327661" cy="3566160"/>
            <a:chOff x="5030362" y="1569720"/>
            <a:chExt cx="5327661" cy="3566160"/>
          </a:xfrm>
        </p:grpSpPr>
        <p:pic>
          <p:nvPicPr>
            <p:cNvPr id="56" name="Imagen" descr="hook_1.jpg"/>
            <p:cNvPicPr>
              <a:picLocks noChangeAspect="1"/>
            </p:cNvPicPr>
            <p:nvPr/>
          </p:nvPicPr>
          <p:blipFill>
            <a:blip r:embed="rId3"/>
            <a:stretch>
              <a:fillRect/>
            </a:stretch>
          </p:blipFill>
          <p:spPr>
            <a:xfrm>
              <a:off x="5030362" y="1569720"/>
              <a:ext cx="5327661" cy="3352800"/>
            </a:xfrm>
            <a:prstGeom prst="rect">
              <a:avLst/>
            </a:prstGeom>
          </p:spPr>
        </p:pic>
        <p:sp>
          <p:nvSpPr>
            <p:cNvPr id="57" name="Crédito"/>
            <p:cNvSpPr txBox="1"/>
            <p:nvPr/>
          </p:nvSpPr>
          <p:spPr>
            <a:xfrm>
              <a:off x="5030362" y="4983480"/>
              <a:ext cx="5327661" cy="152400"/>
            </a:xfrm>
            <a:prstGeom prst="rect">
              <a:avLst/>
            </a:prstGeom>
            <a:noFill/>
          </p:spPr>
          <p:txBody>
            <a:bodyPr wrap="square" lIns="0" tIns="0" rIns="0" bIns="0" anchor="t">
              <a:noAutofit/>
            </a:bodyPr>
            <a:lstStyle/>
            <a:p>
              <a:pPr algn="ctr"/>
              <a:r>
                <a:rPr sz="900" b="0" lang="es-CO">
                  <a:solidFill>
                    <a:srgbClr val="5C7290"/>
                  </a:solidFill>
                  <a:latin typeface="Calibri"/>
                </a:rPr>
                <a:t>Prensa, octubre de 2025 · imagen: Eight Sleep</a:t>
              </a:r>
            </a:p>
          </p:txBody>
        </p:sp>
      </p:grpSp>
      <p:sp>
        <p:nvSpPr>
          <p:cNvPr id="58" name="Remate"/>
          <p:cNvSpPr txBox="1"/>
          <p:nvPr/>
        </p:nvSpPr>
        <p:spPr>
          <a:xfrm>
            <a:off x="640080" y="5501640"/>
            <a:ext cx="10911840" cy="309372"/>
          </a:xfrm>
          <a:prstGeom prst="rect">
            <a:avLst/>
          </a:prstGeom>
          <a:noFill/>
        </p:spPr>
        <p:txBody>
          <a:bodyPr wrap="square" lIns="0" tIns="0" rIns="0" bIns="0" anchor="t">
            <a:noAutofit/>
          </a:bodyPr>
          <a:lstStyle/>
          <a:p>
            <a:r>
              <a:rPr sz="1800" b="0" lang="es-CO">
                <a:solidFill>
                  <a:srgbClr val="071329"/>
                </a:solidFill>
                <a:latin typeface="Calibri"/>
              </a:rPr>
              <a:t>La decisión vivía en la nube. </a:t>
            </a:r>
            <a:r>
              <a:rPr sz="1800" b="1" lang="es-CO">
                <a:solidFill>
                  <a:srgbClr val="6D28D9"/>
                </a:solidFill>
                <a:latin typeface="Calibri"/>
              </a:rPr>
              <a:t>Llevarla al dispositivo: eso es edge.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fade">
                                      <p:cBhvr>
                                        <p:cTn id="1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