
<file path=[Content_Types].xml><?xml version="1.0" encoding="utf-8"?>
<Types xmlns="http://schemas.openxmlformats.org/package/2006/content-types">
  <Default Extension="gif" ContentType="image/gif"/>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1447296-25C7-4144-8DCA-00AC261AFE2C}">
          <p14:sldIdLst>
            <p14:sldId id="256"/>
            <p14:sldId id="257"/>
            <p14:sldId id="258"/>
            <p14:sldId id="259"/>
            <p14:sldId id="260"/>
            <p14:sldId id="261"/>
          </p14:sldIdLst>
        </p14:section>
        <p14:section name="01 · El problema" id="{4AF11411-247B-4EFA-8942-6081D2C58B59}">
          <p14:sldIdLst>
            <p14:sldId id="262"/>
            <p14:sldId id="263"/>
            <p14:sldId id="264"/>
            <p14:sldId id="265"/>
            <p14:sldId id="266"/>
            <p14:sldId id="267"/>
          </p14:sldIdLst>
        </p14:section>
        <p14:section name="02 · El patrón" id="{5C94B825-DBCE-4E75-85EE-4AA63C67669A}">
          <p14:sldIdLst>
            <p14:sldId id="268"/>
            <p14:sldId id="269"/>
            <p14:sldId id="270"/>
            <p14:sldId id="271"/>
          </p14:sldIdLst>
        </p14:section>
        <p14:section name="03 · Los seis pasos" id="{E35B3ACC-254B-45A3-AC69-5CE02E13EA6D}">
          <p14:sldIdLst>
            <p14:sldId id="272"/>
            <p14:sldId id="273"/>
            <p14:sldId id="274"/>
            <p14:sldId id="275"/>
            <p14:sldId id="276"/>
            <p14:sldId id="277"/>
            <p14:sldId id="278"/>
            <p14:sldId id="279"/>
          </p14:sldIdLst>
        </p14:section>
        <p14:section name="04 · Demostración" id="{9580F7F3-942F-4D4F-A1F0-26EF17328573}">
          <p14:sldIdLst>
            <p14:sldId id="280"/>
            <p14:sldId id="281"/>
            <p14:sldId id="282"/>
          </p14:sldIdLst>
        </p14:section>
        <p14:section name="Cierre" id="{4E34DD66-6276-4282-ADBE-500388CA1790}">
          <p14:sldIdLst>
            <p14:sldId id="283"/>
            <p14:sldId id="284"/>
            <p14:sldId id="285"/>
            <p14:sldId id="286"/>
          </p14:sldIdLst>
        </p14:section>
        <p14:section name="Anexos" id="{00F4A26F-B0D3-40E3-BDE5-87EB6B500A90}">
          <p14:sldIdLst>
            <p14:sldId id="287"/>
            <p14:sldId id="288"/>
            <p14:sldId id="289"/>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*sin «buenos días»: lo primero que oye la sala es una bomba*</a:t>
            </a:r>
          </a:p>
          <a:p/>
          <a:p>
            <a:r>
              <a:t>'Bomba A.' *(dale ▶ a la A; deja sonar cinco segundos y detenla)*</a:t>
            </a:r>
          </a:p>
          <a:p/>
          <a:p>
            <a:r>
              <a:t>'Bomba B.' *(dale ▶ a la B; cinco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un acueducto con estaciones de bombeo en veredas, donde la red va y viene y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mostrar cómo gobernar un modelo que corre donde no llega tu plano de control: cómo llega, cómo vuelve atrás y cómo te cuenta lo que decide, sin que el audio salga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LA IA YA CORRE EN EL DISPOSITIVO</a:t>
            </a:r>
          </a:p>
          <a:p/>
          <a:p>
            <a:r>
              <a:t>0:35 · 2 clics</a:t>
            </a:r>
          </a:p>
          <a:p/>
          <a:p>
            <a:r>
              <a:t>'¿Por qué debería importarles un modelo en una estación de bombeo? Porque la inferencia se está moviendo de la nube al dispositivo. Un ejemplo con números de Gartner: los PC.'</a:t>
            </a:r>
          </a:p>
          <a:p/>
          <a:p>
            <a:r>
              <a:t>'De cada cien PC nuevos que se vendieron en 2024, dieciséis traían un chip para correr IA.'</a:t>
            </a:r>
          </a:p>
          <a:p/>
          <a:p>
            <a:r>
              <a:t>▶ CLIC 'En 2025, treinta y uno.'</a:t>
            </a:r>
          </a:p>
          <a:p/>
          <a:p>
            <a:r>
              <a:t>▶ CLIC 'Para este año, Gartner proyectaba cincuenta y cinco. Y no son solo los PC: los teléfonos, los carros, las cámaras y los equipos industriales ya traen hardware para correr modelos ahí mismo.'</a:t>
            </a:r>
          </a:p>
          <a:p/>
          <a:p>
            <a:r>
              <a:t>*Fuente: Gartner, 28 de agosto de 2025, «AI PCs»: 15,6 % (2024), 31 % (2025), 54,7 % (2026, proyección). La cifra es solo de PC; lo de teléfonos, carros y equipos industriales dilo sin números. Si ya salió la cifra real de 2026, dila en su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EL MODELO BAJA AL DISPOSITIVO</a:t>
            </a:r>
          </a:p>
          <a:p/>
          <a:p>
            <a:r>
              <a:t>0:50 · 2 clics · *deja que la sala se ría antes de hablar. En cada meme, a la izquierda el modelo corre en la nube y a la derecha en el equipo: esa es la única diferencia*</a:t>
            </a:r>
          </a:p>
          <a:p/>
          <a:p>
            <a:r>
              <a:t>'¿Y por qué el modelo baja al dispositivo? Se los explico en el idioma universal: memes.'</a:t>
            </a:r>
          </a:p>
          <a:p/>
          <a:p>
            <a:r>
              <a:t>*Meme 1 · latencia.* 'El carro autónomo: 'dame un segundo, le pregunto al modelo en la nube'.' *(pausa corta)* 'Cuando la decisión es de milisegundos, la ida y vuelta no alcanza.'</a:t>
            </a:r>
          </a:p>
          <a:p/>
          <a:p>
            <a:r>
              <a:t>▶ CLIC *Meme 2 · sin conexión.* 'Técnico, tres de la mañana, en la planta. El asistente tiene el modelo en la nube: 'Sin conexión. Intente más tarde'.' *(pausa)* 'Con el modelo en el equipo, responde igual. En una vereda pasa lo mismo.'</a:t>
            </a:r>
          </a:p>
          <a:p/>
          <a:p>
            <a:r>
              <a:t>▶ CLIC *Meme 3 · privacidad.* 'Y tu reloj, cada segundo, mandándole tus latidos al modelo en la nube. Si el modelo corre en el reloj, lo sensible no sale del equipo: solo sale la alerta.'</a:t>
            </a:r>
          </a:p>
          <a:p/>
          <a:p>
            <a:r>
              <a:t>'Ahora piensen en la bomba. Un micrófono a dieciséis kilohercios son ciento quince megas por hora, por bomba, por la red de una vereda. Y es el sonido de una instalación de la empresa: no tiene por qué salir de ahí.'</a:t>
            </a:r>
          </a:p>
          <a:p/>
          <a:p>
            <a:r>
              <a:t>*Cuenta: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0:30 · sin clics</a:t>
            </a:r>
          </a:p>
          <a:p/>
          <a:p>
            <a:r>
              <a:t>'Soy Alejandro Varela, Cloud Engineer en EPAM. Trabajo con inferencia en el edge e IoT industrial.'</a:t>
            </a:r>
          </a:p>
          <a:p/>
          <a:p>
            <a:r>
              <a:t>'Tengo cinco certificaciones de AWS y tres de Kubernetes, pero lo que van a ver hoy no sale de un examen: lo monté, lo rompí y lo arreglé esta semana. Todo está en AWS, con servicios que pueden usar el lunes.'</a:t>
            </a:r>
          </a:p>
          <a:p/>
          <a:p>
            <a:r>
              <a:t>*La foto sale de talk/assets/photo.jpg; si no está, la lámina deja el recuadro.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'Cuatro partes: el problema, el patrón para resolverlo, los seis pasos de entrenar a monitorear, y una demostración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LAZO CERRADO</a:t>
            </a:r>
          </a:p>
          <a:p/>
          <a:p>
            <a:r>
              <a:t>0:25 · sin clics · *los puntos recorren el lazo*</a:t>
            </a:r>
          </a:p>
          <a:p/>
          <a:p>
            <a:r>
              <a:t>'Cuando el modelo corre en la nube, esto está bastante resuelto. Cada petición y cada respuesta pasan por el endpoint: se capturan, se comparan con el entrenamiento, suena una alerta si algo se desvía, y se reentrena.'</a:t>
            </a:r>
          </a:p>
          <a:p/>
          <a:p>
            <a:r>
              <a:t>'Funciona por una razón:'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 dila como sale en pantalla*</a:t>
            </a:r>
          </a:p>
          <a:p/>
          <a:p>
            <a:r>
              <a:t>'Ahora bajemos el modelo a la estación, al lado de la bomba. Mismo lazo…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lazo de la nube se apaga.'</a:t>
            </a:r>
          </a:p>
          <a:p/>
          <a:p>
            <a:r>
              <a:t>▶ CLIC 'Y tres: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Le das al modelo un clip de una bomba sana y uno de una que falla; la AUC dice qué tan seguido le pone más puntaje al que falla. Uno es siempre. Cero coma cinco es lanzar una moneda.'</a:t>
            </a:r>
          </a:p>
          <a:p/>
          <a:p>
            <a:r>
              <a:t>'Con la velocidad con la que se entrenó: 0,69. Le cambian la velocidad a la bomba: 0,57, casi una moneda.'</a:t>
            </a:r>
          </a:p>
          <a:p/>
          <a:p>
            <a:r>
              <a:t>'Mismo modelo, mismo umbral, cero errores. Y las falsas alarmas pasan de 6 % a 18 %.'</a:t>
            </a:r>
          </a:p>
          <a:p/>
          <a:p>
            <a:r>
              <a:t>▶ CLIC 'El equipo está sano. El modelo casi no distingue.' *(pausa larga)*</a:t>
            </a:r>
          </a:p>
          <a:p/>
          <a:p>
            <a:r>
              <a:t>'Esto no me lo inventé: lo medí en la PoC, con el audio de las bombas que van a oír en la demo.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MONITOREAR LA INFRAESTRUCTURA NO ES MONITOREAR EL MODELO</a:t>
            </a:r>
          </a:p>
          <a:p/>
          <a:p>
            <a:r>
              <a:t>0:35 · sin clics · *léelo por filas: la columna de la izquierda es lo que ya tienen; la del centro, lo que falta*</a:t>
            </a:r>
          </a:p>
          <a:p/>
          <a:p>
            <a:r>
              <a:t>'Las preguntas de siempre siguen valiendo: ¿el servicio está arriba?, ¿cuánta CPU usa?, ¿hay errores?, ¿responde a tiempo? Pero ninguna dice nada del modelo.'</a:t>
            </a:r>
          </a:p>
          <a:p/>
          <a:p>
            <a:r>
              <a:t>'Al modelo hay que preguntarle otras cuatro cosas. ¿Sigue distinguiendo correctamente? ¿Cambió la distribución de los datos? ¿Aumentaron los falsos positivos o negativos? ¿Y sus predicciones siguen siendo útiles?'</a:t>
            </a:r>
          </a:p>
          <a:p/>
          <a:p>
            <a:r>
              <a:t>'La columna de la derecha es cómo responde cada pregunta la demo que van a ver. La última es la más difícil: solo la contesta el negocio, cuando la orden de mantenimiento dice si la alerta era real.'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 MANO ALZADA 1</a:t>
            </a:r>
          </a:p>
          <a:p/>
          <a:p>
            <a:r>
              <a:t>0:25 · sin clics · *la barra de abajo cuenta cinco segundos*</a:t>
            </a:r>
          </a:p>
          <a:p/>
          <a:p>
            <a:r>
              <a:t>'Pregunta a mano alzada. ¿A quién le ha sonado el pager por un modelo?' *(espera las manos)*</a:t>
            </a:r>
          </a:p>
          <a:p/>
          <a:p>
            <a:r>
              <a:t>*Si hay pocas:* 'Pocas manos. ¿Y por un disco lleno?' *(risas)* 'Exacto. El pager suena por el proceso. Por el modelo, casi nunca.'</a:t>
            </a:r>
          </a:p>
          <a:p/>
          <a:p>
            <a:r>
              <a:t>*Si hay muchas:* 'Bienvenidos al club. ¿Y cuántos se enteraron por el cliente antes que por el pager?'</a:t>
            </a:r>
          </a:p>
          <a:p/>
          <a:p>
            <a:r>
              <a:t>'Hoy vamos a hacer que el modelo también pueda despertar a alguien.'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02 · EL PATRÓN</a:t>
            </a:r>
          </a:p>
          <a:p/>
          <a:p>
            <a:r>
              <a:t>0:05 · *divisor* · *reloj: 7:05*</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ARQUITECTURA DEL EQUIPO EN LA ESTACIÓN</a:t>
            </a:r>
          </a:p>
          <a:p/>
          <a:p>
            <a:r>
              <a:t>0:45 · 3 clics · *una capa por clic*</a:t>
            </a:r>
          </a:p>
          <a:p/>
          <a:p>
            <a:r>
              <a:t>'Abajo, el micrófono sobre la bomba y el modelo con su runtime: decide en milisegundos, con o sin red. El audio entra y no sale.'</a:t>
            </a:r>
          </a:p>
          <a:p/>
          <a:p>
            <a:r>
              <a:t>▶ CLIC 'Encima, el modelo no llega como un archivo suelto: llega como un artefacto con versión y hash. Si alguien lo tocó, no se instala.'</a:t>
            </a:r>
          </a:p>
          <a:p/>
          <a:p>
            <a:r>
              <a:t>▶ CLIC 'Luego, un agente. Nadie le empuja nada a la estación: el agente trae el estado deseado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CINCO PIEZAS PARA GOBERNAR EL MODELO</a:t>
            </a:r>
          </a:p>
          <a:p/>
          <a:p>
            <a:r>
              <a:t>1:10 · 6 clics · *una pieza por clic; la leyenda de arriba se enciende con cada una*</a:t>
            </a:r>
          </a:p>
          <a:p/>
          <a:p>
            <a:r>
              <a:t>*Paso 0: «copiar el modelo… y cruzar los dedos».* 'Así se despliegan modelos en muchos lados: copias el archivo al equipo y cruzas los dedos. Yo lo he hecho.' *(risas)*</a:t>
            </a:r>
          </a:p>
          <a:p/>
          <a:p>
            <a:r>
              <a:t>▶ CLIC 'Uno: optimizar por chip. Se entrena una vez y se prepara para cada familia de hardware.'</a:t>
            </a:r>
          </a:p>
          <a:p/>
          <a:p>
            <a:r>
              <a:t>▶ CLIC 'Dos: artefacto verificable. Cada versión, con su huella, en un registro donde nada se sobrescribe.'</a:t>
            </a:r>
          </a:p>
          <a:p/>
          <a:p>
            <a:r>
              <a:t>▶ CLIC 'Tres: estado deseado. La central declara qué debería tener cada equipo, y el equipo lo trae cuando puede.'</a:t>
            </a:r>
          </a:p>
          <a:p/>
          <a:p>
            <a:r>
              <a:t>▶ CLIC 'Cuatro: evento de inferencia. El modelo deja constancia de lo que decide. Si no hay red, se encola.'</a:t>
            </a:r>
          </a:p>
          <a:p/>
          <a:p>
            <a:r>
              <a:t>▶ CLIC 'Cinco: la compuerta. Una condición que mira esos eventos y decide sola si sigue o vuelve atrás. Es el lazo rápido: minutos.'</a:t>
            </a:r>
          </a:p>
          <a:p/>
          <a:p>
            <a:r>
              <a:t>▶ CLIC 'Y con esos mismos eventos se reentrena: el lazo lento, días. Abajo, lo que atraviesa todo: identidad, mínimo privilegio, cifrado y auditoría. Ninguna de estas piezas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EL MISMO PATRÓN EN AWS</a:t>
            </a:r>
          </a:p>
          <a:p/>
          <a:p>
            <a:r>
              <a:t>0:50 · 6 clics · *misma geometría que la anterior; avanza a buen ritmo, los pasos que vienen abren cada casilla*</a:t>
            </a:r>
          </a:p>
          <a:p/>
          <a:p>
            <a:r>
              <a:t>'El mismo dibujo, en AWS. Cada casilla ahora tiene nombre.'</a:t>
            </a:r>
          </a:p>
          <a:p/>
          <a:p>
            <a:r>
              <a:t>▶ CLIC 'SageMaker AI entrena y exporta el modelo.' ▶ CLIC 'El registro es S3, un prefijo por versión, y IoT Greengrass lo empaca como componente.' ▶ CLIC 'El estado deseado es un despliegue de Greengrass, que llega por IoT Core con un certificado por equipo.'</a:t>
            </a:r>
          </a:p>
          <a:p/>
          <a:p>
            <a:r>
              <a:t>▶ CLIC 'Cada decisión entra por IoT Core y una regla la deja en CloudWatch Logs.' ▶ CLIC 'La compuerta: una alarma invoca una Lambda que vuelve a desplegar la última versión buena.' ▶ CLIC 'Y abajo, IAM, X.509,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03 · LOS SEIS PASOS</a:t>
            </a:r>
          </a:p>
          <a:p/>
          <a:p>
            <a:r>
              <a:t>0:10 · *divisor con la espina* · *reloj: 9:55*</a:t>
            </a:r>
          </a:p>
          <a:p/>
          <a:p>
            <a:r>
              <a:t>'Seis pasos: entrenar, optimizar, empaquetar, desplegar, operar sin red y monitorear.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1 · ENTRENAR CON SONIDO NORMAL</a:t>
            </a:r>
          </a:p>
          <a:p/>
          <a:p>
            <a:r>
              <a:t>1:00 · 3 clics</a:t>
            </a:r>
          </a:p>
          <a:p/>
          <a:p>
            <a:r>
              <a:t>'Paso uno. Bombas reales, solo clips de sonido normal.'</a:t>
            </a:r>
          </a:p>
          <a:p/>
          <a:p>
            <a:r>
              <a:t>▶ CLIC 'Se entrena un autoencoder: una red que aprende a rehacer el sonido normal. Si no lo puede rehacer, algo cambió. El score es el error de reconstrucción.'</a:t>
            </a:r>
          </a:p>
          <a:p/>
          <a:p>
            <a:r>
              <a:t>▶ CLIC 'Lo que sale va a S3, un prefijo por versión. Una versión nueva es otro prefijo, nunca el mismo.'</a:t>
            </a:r>
          </a:p>
          <a:p/>
          <a:p>
            <a:r>
              <a:t>▶ CLIC '¿Y qué sale exactamente? Cuatro archivos. El modelo en ONNX, que es el contrato con el equipo. stats.json, con la huella del sonido normal y el umbral. features.py, el mismo preprocesamiento del entrenamiento. E inference.py, que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mi portátil, no SageMaker AI. Lo dices en la lámina 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2 · OPTIMIZAR PARA CADA CHIP</a:t>
            </a:r>
          </a:p>
          <a:p/>
          <a:p>
            <a:r>
              <a:t>1:10 · 3 clics</a:t>
            </a:r>
          </a:p>
          <a:p/>
          <a:p>
            <a:r>
              <a:t>'Paso dos. Entrenas una vez, en 32 bits: un archivo ONNX.'</a:t>
            </a:r>
          </a:p>
          <a:p/>
          <a:p>
            <a:r>
              <a:t>▶ CLIC 'Para que quepa en el equipo, se cuantiza de 32 a 8 bits, se simplifica el grafo y se compila para el acelerador del chip. Esa compilación la hace la herramienta de cada fabricante, sobre el mismo ONNX.'</a:t>
            </a:r>
          </a:p>
          <a:p/>
          <a:p>
            <a:r>
              <a:t>▶ CLIC 'Y no sale un artefacto: sale uno por chip. Y manda la memoria del chip: si no cabe, no corre.'</a:t>
            </a:r>
          </a:p>
          <a:p/>
          <a:p>
            <a:r>
              <a:t>▶ CLIC 'Esta es la bomba, medida en el equipo de la demo, una CPU x86. De FP32 a INT8, el archivo pasa de 464 KB a 127 KB. El clip, de 14,4 ms a 12,7 ms. Y toma la misma decisión en 98 % de los clips.'</a:t>
            </a:r>
          </a:p>
          <a:p/>
          <a:p>
            <a:r>
              <a:t>'En mi portátil la mejora era casi el doble. En el equipo, la mayor parte del tiempo se va en preparar el audio, no en el modelo. Por eso se mide en el chip, no en tu máquina.'</a:t>
            </a:r>
          </a:p>
          <a:p/>
          <a:p>
            <a:r>
              <a:t>*La bomba:* 'INT8 para el equipo pequeño.'</a:t>
            </a:r>
          </a:p>
          <a:p/>
          <a:p>
            <a:r>
              <a:t>*Cifras: device.* sale de poc-devopsdays/build/device_bench.json, medido con model/bench_device.py en la EC2, dentro de la imagen de las bombas. En el portátil (M3 Pro) fue 2,6 ms → 2,0 ms. ΔAUC del INT8: −0,001. Herramientas, si preguntan: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3 · EMPAQUETAR COMO COMPONENTE</a:t>
            </a:r>
          </a:p>
          <a:p/>
          <a:p>
            <a:r>
              <a:t>1:00 · 4 clics · *una anotación por clic*</a:t>
            </a:r>
          </a:p>
          <a:p/>
          <a:p>
            <a:r>
              <a:t>'Paso tres. Un componente es la forma en que IoT Greengrass empaca software para el equipo. Esta es la receta de la demo, recortada.'</a:t>
            </a:r>
          </a:p>
          <a:p/>
          <a:p>
            <a:r>
              <a:t>▶ CLIC 'Los artefactos vienen de S3. La receta no trae el digest: Greengrass lo calcula al crear la versión del componente y lo verifica en el equipo antes de instalar.'</a:t>
            </a:r>
          </a:p>
          <a:p/>
          <a:p>
            <a:r>
              <a:t>▶ CLIC 'El ciclo de vida no instala nada: las dependencias ya vienen en el equipo. Si tu componente baja librerías al arrancar, en una vereda sin red no arranca.'</a:t>
            </a:r>
          </a:p>
          <a:p/>
          <a:p>
            <a:r>
              <a:t>▶ CLIC 'El umbral es configuración: se cambia con un despliegue, sin reentrenar ni publicar otra versión.'</a:t>
            </a:r>
          </a:p>
          <a:p/>
          <a:p>
            <a:r>
              <a:t>▶ CLIC 'Y los permisos: el componente solo puede publicar en un tema, station/events.'</a:t>
            </a:r>
          </a:p>
          <a:p/>
          <a:p>
            <a:r>
              <a:t>'Una versión publicada no se toca. Si cambias un archivo en S3 sin cambiar la versión, el digest ya no coincide y el despliegue falla.'</a:t>
            </a:r>
          </a:p>
          <a:p/>
          <a:p>
            <a:r>
              <a:t>*La bomba:* 'El umbral es configuración: se cambia sin reentrenar.'</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4 · DESPLEGAR POR ANILLOS</a:t>
            </a:r>
          </a:p>
          <a:p/>
          <a:p>
            <a:r>
              <a:t>1:05 · 3 clics</a:t>
            </a:r>
          </a:p>
          <a:p/>
          <a:p>
            <a:r>
              <a:t>'Paso cuatro. ¿Cómo llega a mil equipos sin romperlos todos un martes? Con despliegues de IoT Greengrass, un thing group por anillo.'</a:t>
            </a:r>
          </a:p>
          <a:p/>
          <a:p>
            <a:r>
              <a:t>'Anillo cero: una estación, el canario. Recibe la versión nueva primero.'</a:t>
            </a:r>
          </a:p>
          <a:p/>
          <a:p>
            <a:r>
              <a:t>▶ CLIC 'Si pasa la compuerta, anillo uno: el resto de la flota, en olas que crecen.'</a:t>
            </a:r>
          </a:p>
          <a:p/>
          <a:p>
            <a:r>
              <a:t>▶ CLIC 'El despliegue trae dos protecciones: si fallan demasiados equipos, se cancela; y si un equipo no arranca la versión nueva, vuelve a la que tenía.'</a:t>
            </a:r>
          </a:p>
          <a:p/>
          <a:p>
            <a:r>
              <a:t>▶ CLIC 'Y la vuelta: la alarma ve fallas que nadie oyó y despliega la última versión buena. El anillo 1 nunca recibe la versión mala.'</a:t>
            </a:r>
          </a:p>
          <a:p/>
          <a:p>
            <a:r>
              <a:t>'Seguro alguien está pensando: 'Greengrass ya hace rollback'. Sí, de despliegues que fallan. Para Greengrass, un modelo que se instala bien y no oye es un despliegue exitoso.'</a:t>
            </a:r>
          </a:p>
          <a:p/>
          <a:p>
            <a:r>
              <a:t>*La bomba:* 'Una estación como canario.'</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5 · OPERAR SIN RED</a:t>
            </a:r>
          </a:p>
          <a:p/>
          <a:p>
            <a:r>
              <a:t>0:50 · 2 clics</a:t>
            </a:r>
          </a:p>
          <a:p/>
          <a:p>
            <a:r>
              <a:t>'Paso cinco. ¿Qué sigue funcionando sin red?'</a:t>
            </a:r>
          </a:p>
          <a:p/>
          <a:p>
            <a:r>
              <a:t>'En un equipo pequeño, IoT Greengrass: el nucleus guarda los eventos en una cola local hasta que vuelve la red, por defecto en memoria, de 2,5 megas. Y si el equipo tiene poca memoria, existe el nucleus lite, escrito en C.'</a:t>
            </a:r>
          </a:p>
          <a:p/>
          <a:p>
            <a:r>
              <a:t>▶ CLIC 'Si la estación es una planta grande, Outposts con EKS local: el plano de control corre en el sitio y sigue sin la región.'</a:t>
            </a:r>
          </a:p>
          <a:p/>
          <a:p>
            <a:r>
              <a:t>▶ CLIC *La bomba, en el recuadro:* 'Sin red, la estación sigue escuchando y alertando: lo que necesita para decidir ya está adentro.'</a:t>
            </a:r>
          </a:p>
          <a:p/>
          <a:p>
            <a:r>
              <a:t>'Ojo con una cosa: cuando la cola se llena, el nucleus rechaza los mensajes nuevos. Si la red se va por horas, la cola va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PASO 6 · MONITOREAR LO QUE DECIDE EL MODELO</a:t>
            </a:r>
          </a:p>
          <a:p/>
          <a:p>
            <a:r>
              <a:t>1:05 · 5 clics · *un tramo de la tubería por clic*</a:t>
            </a:r>
          </a:p>
          <a:p/>
          <a:p>
            <a:r>
              <a:t>'Paso seis. Desde la nube ves lo que el modelo te cuenta: un evento por clip, de unos cientos de bytes, que llega a IoT Core.'</a:t>
            </a:r>
          </a:p>
          <a:p/>
          <a:p>
            <a:r>
              <a:t>▶ CLIC 'Una regla de IoT lo toma y le suma la hora en que llegó. Llegada menos decisión: el tiempo que la estación estuvo sin red.'</a:t>
            </a:r>
          </a:p>
          <a:p/>
          <a:p>
            <a:r>
              <a:t>▶ CLIC 'La regla lo deja en CloudWatch Logs.'</a:t>
            </a:r>
          </a:p>
          <a:p/>
          <a:p>
            <a:r>
              <a:t>▶ CLIC 'Un filtro de métrica cuenta lo que importa. En la demo: la bomba fallaba y el modelo no avisó. MissedFaults, fallas que nadie oyó.'</a:t>
            </a:r>
          </a:p>
          <a:p/>
          <a:p>
            <a:r>
              <a:t>▶ CLIC 'Una alarma mira esa métrica.'</a:t>
            </a:r>
          </a:p>
          <a:p/>
          <a:p>
            <a:r>
              <a:t>▶ CLIC 'Y la alarma invoca la Lambda, que despliega la última versión buena al anillo 0.'</a:t>
            </a:r>
          </a:p>
          <a:p/>
          <a:p>
            <a:r>
              <a:t>'El error típico: poner la alarma sobre CPU y errores. Ya vimos que eso se queda en verde. La compuerta mira al modelo.'</a:t>
            </a:r>
          </a:p>
          <a:p/>
          <a:p>
            <a:r>
              <a:t>'En producción no sabes en el momento si la bomba fallaba: esa verdad solo existe en la demo. La etiqueta llega tarde, con la orden de mantenimiento, y mientras tanto comparas el canario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 MANO ALZADA 2</a:t>
            </a:r>
          </a:p>
          <a:p/>
          <a:p>
            <a:r>
              <a:t>0:35 · 1 clic · *la barra cuenta cinco segundos*</a:t>
            </a:r>
          </a:p>
          <a:p/>
          <a:p>
            <a:r>
              <a:t>'Última pregunta. ¿Qué versión corre en cada equipo?' *(manos)* 'Ahora bajen la mano los que tuvieron que pensarlo.' *(risas)*</a:t>
            </a:r>
          </a:p>
          <a:p/>
          <a:p>
            <a:r>
              <a:t>▶ CLIC 'Esta es la respuesta, y no hay que entrar a ningún equipo: el estado del despliegue, por thing group. StationRing0, la bomba 1, com.station.Listener 1.0.0, activo. StationRing1, de la 2 a la 5, la misma versión.'</a:t>
            </a:r>
          </a:p>
          <a:p/>
          <a:p>
            <a:r>
              <a:t>'La pregunta se responde en la nube, no en el equipo.'</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04 · DEMOSTRACIÓN</a:t>
            </a:r>
          </a:p>
          <a:p/>
          <a:p>
            <a:r>
              <a:t>0:05 · *divisor* · *reloj: 16:50*</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ARQUITECTURA DE LA DEMOSTRACIÓN</a:t>
            </a:r>
          </a:p>
          <a:p/>
          <a:p>
            <a:r>
              <a:t>0:40 · sin clics</a:t>
            </a:r>
          </a:p>
          <a:p/>
          <a:p>
            <a:r>
              <a:t>'Esto es lo que monté. No traje bombas al escenario: cada bomba es un contenedor en una EC2, con el nucleus real de IoT Greengrass adentro. Cinco bombas: la 1 es el anillo 0, el canario; de la 2 a la 5, el anillo 1.'</a:t>
            </a:r>
          </a:p>
          <a:p/>
          <a:p>
            <a:r>
              <a:t>'Lo que suena es audio real de MIMII DUE. Y todo lo demás es AWS de verdad: EC2, IoT Greengrass, IoT Core, S3, CloudWatch, Lambda y Parameter Store. Todo sale de Terraform, con GitHub Actions.'</a:t>
            </a:r>
          </a:p>
          <a:p/>
          <a:p>
            <a:r>
              <a:t>'Lo único simulado es el equipo físico. Y la fábrica: el modelo lo entrena un script en mi portátil, no SageMaker AI.'</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DEMOSTRACIÓN EN TRES ACTOS</a:t>
            </a:r>
          </a:p>
          <a:p/>
          <a:p>
            <a:r>
              <a:t>6:00 · 2 clics en la lámina, después las terminales · *la lámina es el mapa; lo real está en la terminal*</a:t>
            </a:r>
          </a:p>
          <a:p/>
          <a:p>
            <a:r>
              <a:t>*En la lámina (0:20).* 'Tres actos. Uno: escuchar. La bomba 3 va a sonar como la B del principio.'</a:t>
            </a:r>
          </a:p>
          <a:p/>
          <a:p>
            <a:r>
              <a:t>▶ CLIC 'Dos: sin red. La 3 se queda sin señal.'</a:t>
            </a:r>
          </a:p>
          <a:p/>
          <a:p>
            <a:r>
              <a:t>▶ CLIC 'Tres: desplegar por anillos y volver.' *(señala la frase de abajo)* 'Y esa frase es el final de la película. No la lean todavía.' *(risas)*</a:t>
            </a:r>
          </a:p>
          <a:p/>
          <a:p>
            <a:r>
              <a:t>*Cambia a las terminales: ./demo/watch.sh a la izquierda; a la derecha arriba, el dashboard station; a la derecha abajo, la terminal de Session Manager en la EC2. Letra grande.*</a:t>
            </a:r>
          </a:p>
          <a:p/>
          <a:p>
            <a:r>
              <a:t>'Esto es la estación en vivo. Cada línea es un clip que una bomba escuchó y decidió: la hora, qué bomba, qué versión, si alertó, el score contra el umbral, cómo era la entrada y en cuántos milisegundos. Esas son las señales doradas de un modelo. El audio no está ahí. Nunca sale.'</a:t>
            </a:r>
          </a:p>
          <a:p/>
          <a:p>
            <a:r>
              <a:t>Acto 1 · Escuchar (1:00)</a:t>
            </a:r>
          </a:p>
          <a:p/>
          <a:p>
            <a:r>
              <a:t>*Escribe* ./demo/fault.sh pump-03 — 'Le digo a la bomba 3 que suene como la B.'</a:t>
            </a:r>
          </a:p>
          <a:p/>
          <a:p>
            <a:r>
              <a:t>*Cuando aparezca pump-03 v1.0.0 ALERT (en el ensayo, al siguiente clip, unos 4 s):* 'Ahí está. ALERT: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(1:20)</a:t>
            </a:r>
          </a:p>
          <a:p/>
          <a:p>
            <a:r>
              <a:t>*Escribe* ./demo/network.sh off pump-03 — 'Le quito la red a la estación 3, como cuando se va la señal en la vereda.'</a:t>
            </a:r>
          </a:p>
          <a:p/>
          <a:p>
            <a:r>
              <a:t>*Mientras esperas, lanza el despliegue del acto 3:* ./demo/deploy.sh 2.0.0 ring-0 — 'Y mientras la 3 está sin señal, aprovecho: mando una versión nueva a una sola estación. Ya volvemos a eso.'</a:t>
            </a:r>
          </a:p>
          <a:p/>
          <a:p>
            <a:r>
              <a:t>*A los 40 o 50 s:* 'La 3 se calló. Las otras cuatro siguen. ¿Se rompió? No. Sigue escuchando, sigue alertando y guarda cada evento en la cola del nucleus. La nube no sabe nada. La estación, sí.'</a:t>
            </a:r>
          </a:p>
          <a:p/>
          <a:p>
            <a:r>
              <a:t>*Escribe* ./demo/network.sh on pump-03 — *en el ensayo, la bomba se reconectó en unos 5 s.* 'Ahí están: llegaron tarde, pero llegaron. Ese 'arrived late' es la diferencia entre cuándo decidió la bomba y cuándo llegó a la nube. No se perdió ninguna alerta.'</a:t>
            </a:r>
          </a:p>
          <a:p/>
          <a:p>
            <a:r>
              <a:t>*Escribe* ./demo/fault.sh pump-03 off</a:t>
            </a:r>
          </a:p>
          <a:p/>
          <a:p>
            <a:r>
              <a:t>Acto 3 · Desplegar por anillos y volver (3:05)</a:t>
            </a:r>
          </a:p>
          <a:p/>
          <a:p>
            <a:r>
              <a:t>*Señala la bomba 1, que ya corre v2.0.0 (en el ensayo llegó en 13 a 15 s); de la 2 a la 5 siguen en v1.0.0.* 'La versión nueva se reentrenó con más audio. Más datos, mejor modelo… ¿cierto? Y da menos alertas: en operación están felices. Va solo al anillo 0, el canario. Sin errores, misma latencia. Para Greengrass, despliegue exitoso.'</a:t>
            </a:r>
          </a:p>
          <a:p/>
          <a:p>
            <a:r>
              <a:t>*Escribe* ./demo/fault.sh pump-01 — 'Ahora la 1 suena con falla.'</a:t>
            </a:r>
          </a:p>
          <a:p/>
          <a:p>
            <a:r>
              <a:t>*Cuando aparezca pump-01 v2.0.0 normal … · missed fault:*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datos:* 'Ahora no voy a tocar nada. La compuerta trabaja sola.' *Salta al anexo A2: escribe 33 y Enter. Cuenta la secuencia con la nota de A2 (un minuto). Para volver aquí, escribe 27 y Enter.*</a:t>
            </a:r>
          </a:p>
          <a:p/>
          <a:p>
            <a:r>
              <a:t>*Vuelve a watch.sh. Cuando la 1 salga en v1.0.0 con ALERT:* 'Volvió. v1.0.0, ALERT otra vez: la falla se oye. Nadie entró al equipo. Y el anillo 1 nunca recibió la v2.'</a:t>
            </a:r>
          </a:p>
          <a:p/>
          <a:p>
            <a:r>
              <a:t>*Escribe* ./demo/fault.sh pump-01 off</a:t>
            </a:r>
          </a:p>
          <a:p/>
          <a:p>
            <a:r>
              <a:t>*Vuelve a esta lámina y dilo mirando a la sala:* 'Greengrass revierte despliegues fallidos, no modelos equivocados. Esa compuerta la pones tú.'</a:t>
            </a:r>
          </a:p>
          <a:p/>
          <a:p>
            <a:r>
              <a:t>*Tiempos medidos en los ensayos del 12 de octubre: de fault.sh pump-01 a la v1 otra vez, entre 1:40 y 2:15 (la alarma salta entre 1:30 y 2:00; la Lambda despliega 1 s después; la bomba vuelve unos 13 s más tarde). Depende de en qué segundo del minuto cae la falla. Tope: si a los tres minutos de fault.sh pump-01 la 1 no ha vuelto, no esperes más: «La alarma va a su ritmo; para no robarles tiempo, les muestro cómo termina», y pon el video desde la vuelta.*</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a:t>
            </a:r>
          </a:p>
          <a:p/>
          <a:p>
            <a:r>
              <a:t>*Si preguntan si la v2 es mala en general o solo en la demo: en todo el set de prueba, con fallas que la v2 no vio al entrenar, la v1 detecta 21 % de las fallas y la v2 16 %; la v1 alerta en 13 % de los clips y la v2 en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CINCO RECOMENDACIONES</a:t>
            </a:r>
          </a:p>
          <a:p/>
          <a:p>
            <a:r>
              <a:t>1:05 · 4 clics · *reloj: 23:35 al entrar*</a:t>
            </a:r>
          </a:p>
          <a:p/>
          <a:p>
            <a:r>
              <a:t>'Les dejo cinco cosas que funcionan. La mayoría no las va a hacer el lunes. Los que las hagan van a dormir mejor.'</a:t>
            </a:r>
          </a:p>
          <a:p/>
          <a:p>
            <a:r>
              <a:t>'Uno: el modelo es un artefacto más: versión, digest y receta.'</a:t>
            </a:r>
          </a:p>
          <a:p/>
          <a:p>
            <a:r>
              <a:t>▶ CLIC 'Dos: optimiza por chip y mide en el chip.'</a:t>
            </a:r>
          </a:p>
          <a:p/>
          <a:p>
            <a:r>
              <a:t>▶ CLIC 'Tres: despliega por anillos, con una compuerta que mire al modelo y no solo al proceso.'</a:t>
            </a:r>
          </a:p>
          <a:p/>
          <a:p>
            <a:r>
              <a:t>▶ CLIC 'Cuatro: diseña para estar sin red: cola local y decisiones locales.'</a:t>
            </a:r>
          </a:p>
          <a:p/>
          <a:p>
            <a:r>
              <a:t>▶ CLIC 'Y cinco: que el modelo cuente qué decide; el dato crudo se queda en el equipo.'</a:t>
            </a:r>
          </a:p>
          <a:p/>
          <a:p>
            <a:r>
              <a:t>*Si el reloj marca 23:40 o menos al llegar aquí (+0:25), cuenta lo que pasó en el primer ensayo, que es real: «La primera vez que monté esto en AWS, ninguna bomba arrancaba.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la bomba 3, versión 1.0.0, alerta, el score sobre el umbral.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RECURSOS Y CONTACTO</a:t>
            </a:r>
          </a:p>
          <a:p/>
          <a:p>
            <a:r>
              <a:t>0:15 · sin clics</a:t>
            </a:r>
          </a:p>
          <a:p/>
          <a:p>
            <a:r>
              <a:t>'Todo está en el repo de ese QR: la demo con el paso a paso, las láminas y el guion. Y si van a leer una sola cosa: The ML Test Score, de Google.'</a:t>
            </a:r>
          </a:p>
          <a:p/>
          <a:p>
            <a:r>
              <a:t>*El QR solo funciona si el repo es público. Antes de la charla, hazlo público y revisa que no quede material privado.*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GRACIAS</a:t>
            </a:r>
          </a:p>
          <a:p/>
          <a:p>
            <a:r>
              <a:t>0:15 · sin clics</a:t>
            </a:r>
          </a:p>
          <a:p/>
          <a:p>
            <a:r>
              <a:t>'Muchas gracias.' *(espera el aplauso)* 'Con gusto respondo sus preguntas.'</a:t>
            </a:r>
          </a:p>
          <a:p/>
          <a:p>
            <a:r>
              <a:t>*Anexos: en PowerPoint escribe el número de la lámina y Enter (A1 = 32 … A8 = 39); para volver, el de la lámina donde estabas. A1 el evento, A2 la vuelta paso a paso, A3 qué revierte Greengrass solo, A4 permisos y costo, A5 de la demo a producción, A6 qué método de drift, A7 regulación, A8 fuentes, A9 señales doradas,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LA VUELTA AUTOMÁTICA, PASO A PASO</a:t>
            </a:r>
          </a:p>
          <a:p/>
          <a:p>
            <a:r>
              <a:t>*Úsalo mientras esperas la alarma del acto 3. Dura un minuto. M te devuelve a la demo.*</a:t>
            </a:r>
          </a:p>
          <a:p/>
          <a:p>
            <a:r>
              <a:t>'Esto es lo que está pasando ahora mismo, sin que yo toque nada.'</a:t>
            </a:r>
          </a:p>
          <a:p/>
          <a:p>
            <a:r>
              <a:t>'Desplegué la 2.0.0 al thing group StationRing0. La bomba 1 trajo su estado deseado,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ocho o más, la alarma station-missed-faults pasa a ALARM e invoca la Lambda. La Lambda le pregunta a Parameter Store cuál es la última versión buena. Responde 1.0.0. Y crea un despliegue de la 1.0.0, solo al anillo 0.'</a:t>
            </a:r>
          </a:p>
          <a:p/>
          <a:p>
            <a:r>
              <a:t>'La bomba 1 vuelve a la v1, y la falla se oye otra vez. Yo solo aparezco en el primer paso. Del quinto en adelante, nadie toca nada.'</a:t>
            </a:r>
          </a:p>
          <a:p/>
          <a:p>
            <a:r>
              <a:t>*El umbral de la alarma (fallas no oídas por minuto) es la variable de Terraform alarm_threshold, que en Actions viene de la variable del repo ALARM_THRESHOLD (8 por defecto). Con estos clips, la v2 deja pasar unas 12 por minuto.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la compuerta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anillo, abortConfig cancela el despliegue.'</a:t>
            </a:r>
          </a:p>
          <a:p/>
          <a:p>
            <a:r>
              <a:t>'Y una no: un modelo que corre bien y decide mal. Para Greengrass, eso salió bien.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que solo lo deja conectarse como su bomba y publicar en station/events. La regla solo escribe en su grupo de logs. Y la Lambda solo puede crear el despliegue y leer el parámetro.'</a:t>
            </a:r>
          </a:p>
          <a:p/>
          <a:p>
            <a:r>
              <a:t>'¿Cuánto cuesta? Lo que cobra es la EC2 que hospeda las cinco bombas, los mensajes de IoT Core, los core devices de Greengrass, CloudWatch y Lambda. La cifra exacta sale de Cost Explorer después del ensayo. Para dejar de pagar, el workflow de Terraform tiene un destroy.'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anillo de una estación pasa a una compuerta que compara el canario contra el anillo.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SEÑALES DORADAS DE UN MODELO</a:t>
            </a:r>
          </a:p>
          <a:p/>
          <a:p>
            <a:r>
              <a:t>*Si preguntan qué mirar en el dashboard. En la demo las nombras sobre las columnas de watch.sh.*</a:t>
            </a:r>
          </a:p>
          <a:p/>
          <a:p>
            <a:r>
              <a:t>'Los que venimos de SRE conocemos las señales doradas de un servicio: latencia, tráfico, errores y saturación. Las de un modelo, con la bomba: ¿qué decide? Alertas por bomba. ¿Con cuánta seguridad? El score contra el umbral. ¿Se parece a lo que aprendió? El nivel de la entrada. ¿Qué corre dónde? La versión por equipo.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mandaras el audio crudo de mil bombas: 2,76 terabytes al día.'</a:t>
            </a:r>
          </a:p>
          <a:p/>
          <a:p>
            <a:r>
              <a:t>▶ CLIC 'Un evento cada 10 segundos por bomba: 8,64 millones de mensajes al día.'</a:t>
            </a:r>
          </a:p>
          <a:p/>
          <a:p>
            <a:r>
              <a:t>▶ CLIC 'Un resumen por minuto: 1,44 millones. El audio se queda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9.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Marco foto"/>
          <p:cNvSpPr/>
          <p:nvPr/>
        </p:nvSpPr>
        <p:spPr>
          <a:xfrm>
            <a:off x="640080" y="1874520"/>
            <a:ext cx="3200400" cy="3200400"/>
          </a:xfrm>
          <a:prstGeom prst="rect">
            <a:avLst/>
          </a:prstGeom>
          <a:solidFill>
            <a:srgbClr val="F4F7FC"/>
          </a:solidFill>
          <a:ln w="11430">
            <a:solidFill>
              <a:srgbClr val="5C7290"/>
            </a:solidFill>
            <a:prstDash val="dash"/>
          </a:ln>
        </p:spPr>
        <p:txBody>
          <a:bodyPr rtlCol="0" anchor="ctr"/>
          <a:lstStyle/>
          <a:p>
            <a:pPr algn="ctr"/>
          </a:p>
        </p:txBody>
      </p:sp>
      <p:sp>
        <p:nvSpPr>
          <p:cNvPr id="55" name="Texto foto"/>
          <p:cNvSpPr txBox="1"/>
          <p:nvPr/>
        </p:nvSpPr>
        <p:spPr>
          <a:xfrm>
            <a:off x="640080" y="3200400"/>
            <a:ext cx="3200400" cy="609600"/>
          </a:xfrm>
          <a:prstGeom prst="rect">
            <a:avLst/>
          </a:prstGeom>
          <a:noFill/>
        </p:spPr>
        <p:txBody>
          <a:bodyPr wrap="square" lIns="0" tIns="0" rIns="0" bIns="0" anchor="t">
            <a:noAutofit/>
          </a:bodyPr>
          <a:lstStyle/>
          <a:p>
            <a:pPr algn="ctr"/>
            <a:r>
              <a:rPr sz="1320" b="1" lang="es-CO">
                <a:solidFill>
                  <a:srgbClr val="5C7290"/>
                </a:solidFill>
                <a:latin typeface="Calibri"/>
              </a:rPr>
              <a:t>TU FOTO</a:t>
            </a:r>
          </a:p>
          <a:p>
            <a:pPr algn="ctr"/>
            <a:r>
              <a:rPr sz="1019" b="0" lang="es-CO">
                <a:solidFill>
                  <a:srgbClr val="475569"/>
                </a:solidFill>
                <a:latin typeface="Courier New"/>
              </a:rPr>
              <a:t>talk/assets/photo.jpg</a:t>
            </a:r>
          </a:p>
        </p:txBody>
      </p:sp>
      <p:sp>
        <p:nvSpPr>
          <p:cNvPr id="56" name="TextBox 55"/>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7" name="TextBox 56"/>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Cloud Engineer</a:t>
            </a:r>
          </a:p>
        </p:txBody>
      </p:sp>
      <p:pic>
        <p:nvPicPr>
          <p:cNvPr id="58" name="Logo empresa" descr="epam.png"/>
          <p:cNvPicPr>
            <a:picLocks noChangeAspect="1"/>
          </p:cNvPicPr>
          <p:nvPr/>
        </p:nvPicPr>
        <p:blipFill>
          <a:blip r:embed="rId2"/>
          <a:stretch>
            <a:fillRect/>
          </a:stretch>
        </p:blipFill>
        <p:spPr>
          <a:xfrm>
            <a:off x="5515094" y="2301240"/>
            <a:ext cx="495300" cy="259080"/>
          </a:xfrm>
          <a:prstGeom prst="rect">
            <a:avLst/>
          </a:prstGeom>
        </p:spPr>
      </p:pic>
      <p:sp>
        <p:nvSpPr>
          <p:cNvPr id="59" name="TextBox 58"/>
          <p:cNvSpPr txBox="1"/>
          <p:nvPr/>
        </p:nvSpPr>
        <p:spPr>
          <a:xfrm>
            <a:off x="4206240" y="2712720"/>
            <a:ext cx="6858000" cy="304800"/>
          </a:xfrm>
          <a:prstGeom prst="rect">
            <a:avLst/>
          </a:prstGeom>
          <a:noFill/>
        </p:spPr>
        <p:txBody>
          <a:bodyPr wrap="square" lIns="0" tIns="0" rIns="0" bIns="0" anchor="t">
            <a:noAutofit/>
          </a:bodyPr>
          <a:lstStyle/>
          <a:p>
            <a:r>
              <a:rPr sz="1500" b="0" lang="es-CO">
                <a:solidFill>
                  <a:srgbClr val="475569"/>
                </a:solidFill>
                <a:latin typeface="Calibri"/>
              </a:rPr>
              <a:t>Trabajo con inferencia en el edge e IoT industrial sobre AWS, Azure y GCP.</a:t>
            </a:r>
          </a:p>
        </p:txBody>
      </p:sp>
      <p:sp>
        <p:nvSpPr>
          <p:cNvPr id="60" name="Certificaciones"/>
          <p:cNvSpPr txBox="1"/>
          <p:nvPr/>
        </p:nvSpPr>
        <p:spPr>
          <a:xfrm>
            <a:off x="420624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1" name="AWS Certified Solutions Architect – Professional" descr="aws-sap-solutions-architect-professional.png"/>
          <p:cNvPicPr>
            <a:picLocks noChangeAspect="1"/>
          </p:cNvPicPr>
          <p:nvPr/>
        </p:nvPicPr>
        <p:blipFill>
          <a:blip r:embed="rId3"/>
          <a:stretch>
            <a:fillRect/>
          </a:stretch>
        </p:blipFill>
        <p:spPr>
          <a:xfrm>
            <a:off x="4206240" y="3505200"/>
            <a:ext cx="701040" cy="701040"/>
          </a:xfrm>
          <a:prstGeom prst="rect">
            <a:avLst/>
          </a:prstGeom>
        </p:spPr>
      </p:pic>
      <p:pic>
        <p:nvPicPr>
          <p:cNvPr id="62" name="AWS Certified DevOps Engineer – Professional" descr="aws-dop-devops-engineer-professional.png"/>
          <p:cNvPicPr>
            <a:picLocks noChangeAspect="1"/>
          </p:cNvPicPr>
          <p:nvPr/>
        </p:nvPicPr>
        <p:blipFill>
          <a:blip r:embed="rId4"/>
          <a:stretch>
            <a:fillRect/>
          </a:stretch>
        </p:blipFill>
        <p:spPr>
          <a:xfrm>
            <a:off x="4983480" y="3505200"/>
            <a:ext cx="701040" cy="701040"/>
          </a:xfrm>
          <a:prstGeom prst="rect">
            <a:avLst/>
          </a:prstGeom>
        </p:spPr>
      </p:pic>
      <p:pic>
        <p:nvPicPr>
          <p:cNvPr id="63" name="AWS Certified Advanced Networking – Specialty" descr="aws-ans-advanced-networking-specialty.png"/>
          <p:cNvPicPr>
            <a:picLocks noChangeAspect="1"/>
          </p:cNvPicPr>
          <p:nvPr/>
        </p:nvPicPr>
        <p:blipFill>
          <a:blip r:embed="rId5"/>
          <a:stretch>
            <a:fillRect/>
          </a:stretch>
        </p:blipFill>
        <p:spPr>
          <a:xfrm>
            <a:off x="5760720" y="3505200"/>
            <a:ext cx="701040" cy="701040"/>
          </a:xfrm>
          <a:prstGeom prst="rect">
            <a:avLst/>
          </a:prstGeom>
        </p:spPr>
      </p:pic>
      <p:pic>
        <p:nvPicPr>
          <p:cNvPr id="64" name="AWS Certified Security – Specialty" descr="aws-scs-security-specialty.png"/>
          <p:cNvPicPr>
            <a:picLocks noChangeAspect="1"/>
          </p:cNvPicPr>
          <p:nvPr/>
        </p:nvPicPr>
        <p:blipFill>
          <a:blip r:embed="rId6"/>
          <a:stretch>
            <a:fillRect/>
          </a:stretch>
        </p:blipFill>
        <p:spPr>
          <a:xfrm>
            <a:off x="6537960" y="3505200"/>
            <a:ext cx="701040" cy="701040"/>
          </a:xfrm>
          <a:prstGeom prst="rect">
            <a:avLst/>
          </a:prstGeom>
        </p:spPr>
      </p:pic>
      <p:pic>
        <p:nvPicPr>
          <p:cNvPr id="65" name="AWS Certified Solutions Architect – Associate" descr="aws-saa-solutions-architect-associate.png"/>
          <p:cNvPicPr>
            <a:picLocks noChangeAspect="1"/>
          </p:cNvPicPr>
          <p:nvPr/>
        </p:nvPicPr>
        <p:blipFill>
          <a:blip r:embed="rId7"/>
          <a:stretch>
            <a:fillRect/>
          </a:stretch>
        </p:blipFill>
        <p:spPr>
          <a:xfrm>
            <a:off x="7315200" y="3505200"/>
            <a:ext cx="701040" cy="701040"/>
          </a:xfrm>
          <a:prstGeom prst="rect">
            <a:avLst/>
          </a:prstGeom>
        </p:spPr>
      </p:pic>
      <p:sp>
        <p:nvSpPr>
          <p:cNvPr id="66" name="Certificaciones"/>
          <p:cNvSpPr txBox="1"/>
          <p:nvPr/>
        </p:nvSpPr>
        <p:spPr>
          <a:xfrm>
            <a:off x="827532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7" name="Certified Kubernetes Administrator" descr="k8s-cka-administrator.png"/>
          <p:cNvPicPr>
            <a:picLocks noChangeAspect="1"/>
          </p:cNvPicPr>
          <p:nvPr/>
        </p:nvPicPr>
        <p:blipFill>
          <a:blip r:embed="rId8"/>
          <a:stretch>
            <a:fillRect/>
          </a:stretch>
        </p:blipFill>
        <p:spPr>
          <a:xfrm>
            <a:off x="8275320" y="3505200"/>
            <a:ext cx="701040" cy="701040"/>
          </a:xfrm>
          <a:prstGeom prst="rect">
            <a:avLst/>
          </a:prstGeom>
        </p:spPr>
      </p:pic>
      <p:pic>
        <p:nvPicPr>
          <p:cNvPr id="68" name="Certified Kubernetes Application Developer" descr="k8s-ckad-application-developer.png"/>
          <p:cNvPicPr>
            <a:picLocks noChangeAspect="1"/>
          </p:cNvPicPr>
          <p:nvPr/>
        </p:nvPicPr>
        <p:blipFill>
          <a:blip r:embed="rId9"/>
          <a:stretch>
            <a:fillRect/>
          </a:stretch>
        </p:blipFill>
        <p:spPr>
          <a:xfrm>
            <a:off x="9052560" y="3505200"/>
            <a:ext cx="701040" cy="701040"/>
          </a:xfrm>
          <a:prstGeom prst="rect">
            <a:avLst/>
          </a:prstGeom>
        </p:spPr>
      </p:pic>
      <p:pic>
        <p:nvPicPr>
          <p:cNvPr id="69" name="Certified Kubernetes Security Specialist" descr="k8s-cks-security-specialist.png"/>
          <p:cNvPicPr>
            <a:picLocks noChangeAspect="1"/>
          </p:cNvPicPr>
          <p:nvPr/>
        </p:nvPicPr>
        <p:blipFill>
          <a:blip r:embed="rId10"/>
          <a:stretch>
            <a:fillRect/>
          </a:stretch>
        </p:blipFill>
        <p:spPr>
          <a:xfrm>
            <a:off x="9829800" y="3505200"/>
            <a:ext cx="701040" cy="701040"/>
          </a:xfrm>
          <a:prstGeom prst="rect">
            <a:avLst/>
          </a:prstGeom>
        </p:spPr>
      </p:pic>
      <p:sp>
        <p:nvSpPr>
          <p:cNvPr id="70" name="TextBox 69"/>
          <p:cNvSpPr txBox="1"/>
          <p:nvPr/>
        </p:nvSpPr>
        <p:spPr>
          <a:xfrm>
            <a:off x="4206240" y="449580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lazo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Monitorear la infraestructura </a:t>
            </a:r>
            <a:r>
              <a:rPr b="1" lang="es-CO">
                <a:solidFill>
                  <a:srgbClr val="6D28D9"/>
                </a:solidFill>
              </a:rPr>
              <a:t>no es monitorear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MONITOREO TRADICIONAL</a:t>
            </a:r>
          </a:p>
        </p:txBody>
      </p:sp>
      <p:sp>
        <p:nvSpPr>
          <p:cNvPr id="55" name="TextBox 54"/>
          <p:cNvSpPr txBox="1"/>
          <p:nvPr/>
        </p:nvSpPr>
        <p:spPr>
          <a:xfrm>
            <a:off x="3586277"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MONITOREO DE ML / MLOPS</a:t>
            </a:r>
          </a:p>
        </p:txBody>
      </p:sp>
      <p:sp>
        <p:nvSpPr>
          <p:cNvPr id="56" name="TextBox 55"/>
          <p:cNvSpPr txBox="1"/>
          <p:nvPr/>
        </p:nvSpPr>
        <p:spPr>
          <a:xfrm>
            <a:off x="7732776" y="1798320"/>
            <a:ext cx="3666744"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793797"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servicio está arriba?</a:t>
            </a:r>
          </a:p>
        </p:txBody>
      </p:sp>
      <p:sp>
        <p:nvSpPr>
          <p:cNvPr id="59" name="TextBox 58"/>
          <p:cNvSpPr txBox="1"/>
          <p:nvPr/>
        </p:nvSpPr>
        <p:spPr>
          <a:xfrm>
            <a:off x="3586277" y="2179320"/>
            <a:ext cx="399409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modelo sigue distinguiendo correctamente?</a:t>
            </a:r>
          </a:p>
        </p:txBody>
      </p:sp>
      <p:sp>
        <p:nvSpPr>
          <p:cNvPr id="60" name="TextBox 59"/>
          <p:cNvSpPr txBox="1"/>
          <p:nvPr/>
        </p:nvSpPr>
        <p:spPr>
          <a:xfrm>
            <a:off x="7732776" y="2179320"/>
            <a:ext cx="3666744"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AUC: 0,69 → 0,57 con la otra velocidad</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2793797"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¿Cuánta CPU y memoria usa?</a:t>
            </a:r>
          </a:p>
        </p:txBody>
      </p:sp>
      <p:sp>
        <p:nvSpPr>
          <p:cNvPr id="63" name="TextBox 62"/>
          <p:cNvSpPr txBox="1"/>
          <p:nvPr/>
        </p:nvSpPr>
        <p:spPr>
          <a:xfrm>
            <a:off x="3586277" y="2644445"/>
            <a:ext cx="3994099"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¿Cambió la distribución de los datos?</a:t>
            </a:r>
          </a:p>
        </p:txBody>
      </p:sp>
      <p:sp>
        <p:nvSpPr>
          <p:cNvPr id="64" name="TextBox 63"/>
          <p:cNvSpPr txBox="1"/>
          <p:nvPr/>
        </p:nvSpPr>
        <p:spPr>
          <a:xfrm>
            <a:off x="7732776" y="2644445"/>
            <a:ext cx="3666744" cy="442570"/>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InputZ</a:t>
            </a:r>
            <a:r>
              <a:rPr sz="1320" b="0" lang="es-CO">
                <a:solidFill>
                  <a:srgbClr val="071329"/>
                </a:solidFill>
                <a:latin typeface="Calibri"/>
              </a:rPr>
              <a:t>: qué tan lejos está la entrada de lo que aprendió</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793797"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¿Hay errores o excepciones?</a:t>
            </a:r>
          </a:p>
        </p:txBody>
      </p:sp>
      <p:sp>
        <p:nvSpPr>
          <p:cNvPr id="67" name="TextBox 66"/>
          <p:cNvSpPr txBox="1"/>
          <p:nvPr/>
        </p:nvSpPr>
        <p:spPr>
          <a:xfrm>
            <a:off x="3586277" y="3330854"/>
            <a:ext cx="399409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¿Aumentaron los falsos positivos o negativos?</a:t>
            </a:r>
          </a:p>
        </p:txBody>
      </p:sp>
      <p:sp>
        <p:nvSpPr>
          <p:cNvPr id="68" name="TextBox 67"/>
          <p:cNvSpPr txBox="1"/>
          <p:nvPr/>
        </p:nvSpPr>
        <p:spPr>
          <a:xfrm>
            <a:off x="7732776" y="3330854"/>
            <a:ext cx="3666744"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Alerts</a:t>
            </a:r>
            <a:r>
              <a:rPr sz="1320" b="0" lang="es-CO">
                <a:solidFill>
                  <a:srgbClr val="071329"/>
                </a:solidFill>
                <a:latin typeface="Calibri"/>
              </a:rPr>
              <a:t> y </a:t>
            </a:r>
            <a:r>
              <a:rPr sz="1080" b="0" lang="es-CO">
                <a:solidFill>
                  <a:srgbClr val="071329"/>
                </a:solidFill>
                <a:latin typeface="Courier New"/>
              </a:rPr>
              <a:t>MissedFaults</a:t>
            </a:r>
            <a:r>
              <a:rPr sz="1320" b="0" lang="es-CO">
                <a:solidFill>
                  <a:srgbClr val="071329"/>
                </a:solidFill>
                <a:latin typeface="Calibri"/>
              </a:rPr>
              <a:t>: falsas alarmas 6 % → 18 %</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793797"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¿Responde a tiempo?</a:t>
            </a:r>
          </a:p>
        </p:txBody>
      </p:sp>
      <p:sp>
        <p:nvSpPr>
          <p:cNvPr id="71" name="TextBox 70"/>
          <p:cNvSpPr txBox="1"/>
          <p:nvPr/>
        </p:nvSpPr>
        <p:spPr>
          <a:xfrm>
            <a:off x="3586277" y="3795979"/>
            <a:ext cx="3994099" cy="442570"/>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¿Las predicciones siguen siendo útiles?</a:t>
            </a:r>
          </a:p>
        </p:txBody>
      </p:sp>
      <p:sp>
        <p:nvSpPr>
          <p:cNvPr id="72" name="TextBox 71"/>
          <p:cNvSpPr txBox="1"/>
          <p:nvPr/>
        </p:nvSpPr>
        <p:spPr>
          <a:xfrm>
            <a:off x="7732776" y="3795979"/>
            <a:ext cx="3666744"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La orden de mantenimiento confirma si la alerta era real (en la demo, el campo </a:t>
            </a:r>
            <a:r>
              <a:rPr sz="1080" b="0" lang="es-CO">
                <a:solidFill>
                  <a:srgbClr val="071329"/>
                </a:solidFill>
                <a:latin typeface="Courier New"/>
              </a:rPr>
              <a:t>truth</a:t>
            </a:r>
            <a:r>
              <a:rPr sz="1320" b="0" lang="es-CO">
                <a:solidFill>
                  <a:srgbClr val="071329"/>
                </a:solidFill>
                <a:latin typeface="Calibri"/>
              </a:rPr>
              <a:t>)</a:t>
            </a:r>
          </a:p>
        </p:txBody>
      </p:sp>
      <p:cxnSp>
        <p:nvCxnSpPr>
          <p:cNvPr id="73" name="Connector 72"/>
          <p:cNvCxnSpPr/>
          <p:nvPr/>
        </p:nvCxnSpPr>
        <p:spPr>
          <a:xfrm>
            <a:off x="640080" y="4360469"/>
            <a:ext cx="10911840" cy="0"/>
          </a:xfrm>
          <a:prstGeom prst="line">
            <a:avLst/>
          </a:prstGeom>
          <a:ln w="11430">
            <a:solidFill>
              <a:srgbClr val="D5DEEA"/>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1 DE 2</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TextBox 54"/>
          <p:cNvSpPr txBox="1"/>
          <p:nvPr/>
        </p:nvSpPr>
        <p:spPr>
          <a:xfrm>
            <a:off x="1249680" y="1219200"/>
            <a:ext cx="9692640" cy="3581400"/>
          </a:xfrm>
          <a:prstGeom prst="rect">
            <a:avLst/>
          </a:prstGeom>
          <a:noFill/>
        </p:spPr>
        <p:txBody>
          <a:bodyPr wrap="square" lIns="0" tIns="0" rIns="0" bIns="0" anchor="ctr">
            <a:noAutofit/>
          </a:bodyPr>
          <a:lstStyle/>
          <a:p>
            <a:pPr>
              <a:lnSpc>
                <a:spcPct val="105000"/>
              </a:lnSpc>
            </a:pPr>
            <a:r>
              <a:rPr sz="3960" b="1" lang="es-CO">
                <a:solidFill>
                  <a:srgbClr val="071329"/>
                </a:solidFill>
                <a:latin typeface="Calibri"/>
              </a:rPr>
              <a:t>¿A quién le ha sonado el pager</a:t>
            </a:r>
            <a:br/>
            <a:r>
              <a:rPr sz="3960" b="1" lang="es-CO">
                <a:solidFill>
                  <a:srgbClr val="6D28D9"/>
                </a:solidFill>
                <a:latin typeface="Calibri"/>
              </a:rPr>
              <a:t>por un modelo</a:t>
            </a:r>
            <a:r>
              <a:rPr sz="3960" b="1" lang="es-CO">
                <a:solidFill>
                  <a:srgbClr val="071329"/>
                </a:solidFill>
                <a:latin typeface="Calibri"/>
              </a:rPr>
              <a:t>?</a:t>
            </a:r>
          </a:p>
          <a:p>
            <a:pPr>
              <a:lnSpc>
                <a:spcPct val="105000"/>
              </a:lnSpc>
              <a:spcBef>
                <a:spcPts val="1800"/>
              </a:spcBef>
            </a:pPr>
            <a:r>
              <a:rPr sz="1920" b="0" lang="es-CO">
                <a:solidFill>
                  <a:srgbClr val="475569"/>
                </a:solidFill>
                <a:latin typeface="Calibri"/>
              </a:rPr>
              <a:t>Levanten la mano.</a:t>
            </a:r>
          </a:p>
        </p:txBody>
      </p:sp>
      <p:sp>
        <p:nvSpPr>
          <p:cNvPr id="56"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57"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58" name="TextBox 57"/>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5547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para </a:t>
            </a:r>
            <a:r>
              <a:rPr b="1" lang="es-CO">
                <a:solidFill>
                  <a:srgbClr val="6D28D9"/>
                </a:solidFill>
              </a:rPr>
              <a:t>gobernar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anillos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77749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anillos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2 DE 2</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Desplegar por anillos y volver</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anillo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esa compuerta la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anillos, con una compuerta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Lectura recomendada</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The ML Test Score · Breck et al., Google, 2017</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TextBox 62"/>
          <p:cNvSpPr txBox="1"/>
          <p:nvPr/>
        </p:nvSpPr>
        <p:spPr>
          <a:xfrm>
            <a:off x="640080" y="457200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4" name="TextBox 63"/>
          <p:cNvSpPr txBox="1"/>
          <p:nvPr/>
        </p:nvSpPr>
        <p:spPr>
          <a:xfrm>
            <a:off x="3840480" y="457200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sp>
        <p:nvSpPr>
          <p:cNvPr id="65"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6"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7" name="TextBox 66"/>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 vuelta automática,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anillo</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anillo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Compuerta canario contra anillo: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Breck et al. · The ML Test Score (2017)</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research.google/pubs/pub46555</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4" name="Connector 73"/>
          <p:cNvCxnSpPr/>
          <p:nvPr/>
        </p:nvCxnSpPr>
        <p:spPr>
          <a:xfrm>
            <a:off x="640080" y="4254398"/>
            <a:ext cx="10911840" cy="0"/>
          </a:xfrm>
          <a:prstGeom prst="line">
            <a:avLst/>
          </a:prstGeom>
          <a:ln w="11430">
            <a:solidFill>
              <a:srgbClr val="D5DEEA"/>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señales doradas </a:t>
            </a:r>
            <a:r>
              <a:rPr b="1" lang="es-CO">
                <a:solidFill>
                  <a:srgbClr val="6D28D9"/>
                </a:solidFill>
              </a:rPr>
              <a:t>de un modelo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