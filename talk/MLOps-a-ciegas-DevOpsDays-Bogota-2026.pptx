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DA22CF9-BC31-435F-AA7C-91101DB36C27}">
          <p14:sldIdLst>
            <p14:sldId id="256"/>
            <p14:sldId id="257"/>
            <p14:sldId id="258"/>
            <p14:sldId id="259"/>
            <p14:sldId id="260"/>
            <p14:sldId id="261"/>
            <p14:sldId id="262"/>
          </p14:sldIdLst>
        </p14:section>
        <p14:section name="01 · El problema" id="{D8898383-7398-46FE-AE4C-F05FBA4246D2}">
          <p14:sldIdLst>
            <p14:sldId id="263"/>
            <p14:sldId id="264"/>
            <p14:sldId id="265"/>
            <p14:sldId id="266"/>
          </p14:sldIdLst>
        </p14:section>
        <p14:section name="02 · El patrón" id="{9C54FC4E-0928-4367-A860-2340D9A4F1CA}">
          <p14:sldIdLst>
            <p14:sldId id="267"/>
            <p14:sldId id="268"/>
            <p14:sldId id="269"/>
            <p14:sldId id="270"/>
            <p14:sldId id="271"/>
          </p14:sldIdLst>
        </p14:section>
        <p14:section name="03 · Los seis pasos" id="{7991442B-802B-400F-9C59-BF5C7FC61A8D}">
          <p14:sldIdLst>
            <p14:sldId id="272"/>
            <p14:sldId id="273"/>
            <p14:sldId id="274"/>
            <p14:sldId id="275"/>
            <p14:sldId id="276"/>
            <p14:sldId id="277"/>
            <p14:sldId id="278"/>
            <p14:sldId id="279"/>
          </p14:sldIdLst>
        </p14:section>
        <p14:section name="04 · La evidencia en AWS" id="{8AAE1017-305C-4817-BB8C-BDDF5FEBEBEF}">
          <p14:sldIdLst>
            <p14:sldId id="280"/>
            <p14:sldId id="281"/>
            <p14:sldId id="282"/>
            <p14:sldId id="283"/>
            <p14:sldId id="284"/>
          </p14:sldIdLst>
        </p14:section>
        <p14:section name="Cierre" id="{B9DFFF8E-9F3B-4499-A4D3-37DEBCB70CB3}">
          <p14:sldIdLst>
            <p14:sldId id="285"/>
            <p14:sldId id="286"/>
            <p14:sldId id="287"/>
            <p14:sldId id="288"/>
          </p14:sldIdLst>
        </p14:section>
        <p14:section name="Anexos" id="{780A8E1D-1CBB-43A2-88F0-2E6B77BB342B}">
          <p14:sldIdLst>
            <p14:sldId id="289"/>
            <p14:sldId id="290"/>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0:40 · 2 clics · *antes de presentarte; sin saludar todavía*</a:t>
            </a:r>
          </a:p>
          <a:p/>
          <a:p>
            <a:r>
              <a:t>'El 20 de octubre del año pasado, hace casi exactamente un año, se cayó us-east-1. Muchos de ustedes lo vivieron desde operaciones: horas de servicios detenidos.' *(señala el meme)* 'Y nos recordó algo que ya sabíamos: buena parte de internet se apoya en una sola región.' *(pausa)*</a:t>
            </a:r>
          </a:p>
          <a:p/>
          <a:p>
            <a:r>
              <a:t>▶ CLIC 'Pero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'La solución que publicaron fue un modo sin conexión: llevar la decisión al dispositivo. Eso es edge. Y no fue una falla de AWS: fue una decisión de arquitectura. Cada vez más, esa decisión va a ser nuestra.'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esa decisión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4:00*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6:40*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ANTES DE PROTEGER EL MODELO, PROTEGE EL EQUIPO</a:t>
            </a:r>
          </a:p>
          <a:p/>
          <a:p>
            <a:r>
              <a:t>0:50 · 4 clics</a:t>
            </a:r>
          </a:p>
          <a:p/>
          <a:p>
            <a:r>
              <a:t>'Un punto que suele quedar fuera de las discusiones de MLOps: estos equipos están físicamente expuestos. Cualquiera puede abrir el gabinete de una estación rural.'</a:t>
            </a:r>
          </a:p>
          <a:p/>
          <a:p>
            <a:r>
              <a:t>'Antes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03 · LOS SEIS PASOS</a:t>
            </a:r>
          </a:p>
          <a:p/>
          <a:p>
            <a:r>
              <a:t>0:10 · *reloj: 9:55*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los controles del equipo van primero.'</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04 · LA EVIDENCIA EN AWS</a:t>
            </a:r>
          </a:p>
          <a:p/>
          <a:p>
            <a:r>
              <a:t>0:05 · *reloj: 16:35*</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CINCO RECOMENDACIONES</a:t>
            </a:r>
          </a:p>
          <a:p/>
          <a:p>
            <a:r>
              <a:t>1:05 · 4 clics · *reloj: 20:20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20:40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GRACIAS</a:t>
            </a:r>
          </a:p>
          <a:p/>
          <a:p>
            <a:r>
              <a:t>0:15 · sin clics</a:t>
            </a:r>
          </a:p>
          <a:p/>
          <a:p>
            <a:r>
              <a:t>'Muchas gracias. Con gusto respondo sus preguntas.'</a:t>
            </a:r>
          </a:p>
          <a:p/>
          <a:p>
            <a:r>
              <a:t>*Anexos: en PowerPoint escribe el número de la lámina y Enter (A1 = 34 … A8 = 41);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3.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gif"/><Relationship Id="rId3" Type="http://schemas.openxmlformats.org/officeDocument/2006/relationships/image" Target="../media/image19.gif"/><Relationship Id="rId4" Type="http://schemas.openxmlformats.org/officeDocument/2006/relationships/image" Target="../media/image20.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jp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jp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jp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jpg"/><Relationship Id="rId3" Type="http://schemas.openxmlformats.org/officeDocument/2006/relationships/image" Target="../media/image89.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Imagen del gancho"/>
          <p:cNvGrpSpPr/>
          <p:nvPr/>
        </p:nvGrpSpPr>
        <p:grpSpPr>
          <a:xfrm>
            <a:off x="1833978" y="1569720"/>
            <a:ext cx="2861104" cy="3794760"/>
            <a:chOff x="1833978" y="1569720"/>
            <a:chExt cx="2861104" cy="3794760"/>
          </a:xfrm>
        </p:grpSpPr>
        <p:pic>
          <p:nvPicPr>
            <p:cNvPr id="54" name="Imagen" descr="hook_0.jpg"/>
            <p:cNvPicPr>
              <a:picLocks noChangeAspect="1"/>
            </p:cNvPicPr>
            <p:nvPr/>
          </p:nvPicPr>
          <p:blipFill>
            <a:blip r:embed="rId2"/>
            <a:stretch>
              <a:fillRect/>
            </a:stretch>
          </p:blipFill>
          <p:spPr>
            <a:xfrm>
              <a:off x="1833978" y="1569720"/>
              <a:ext cx="2861104" cy="3581400"/>
            </a:xfrm>
            <a:prstGeom prst="rect">
              <a:avLst/>
            </a:prstGeom>
          </p:spPr>
        </p:pic>
        <p:sp>
          <p:nvSpPr>
            <p:cNvPr id="55" name="Crédito"/>
            <p:cNvSpPr txBox="1"/>
            <p:nvPr/>
          </p:nvSpPr>
          <p:spPr>
            <a:xfrm>
              <a:off x="1833978" y="5212080"/>
              <a:ext cx="2861104" cy="152400"/>
            </a:xfrm>
            <a:prstGeom prst="rect">
              <a:avLst/>
            </a:prstGeom>
            <a:noFill/>
          </p:spPr>
          <p:txBody>
            <a:bodyPr wrap="square" lIns="0" tIns="0" rIns="0" bIns="0" anchor="t">
              <a:noAutofit/>
            </a:bodyPr>
            <a:lstStyle/>
            <a:p>
              <a:pPr algn="ctr"/>
              <a:r>
                <a:rPr sz="900" b="0" lang="es-CO">
                  <a:solidFill>
                    <a:srgbClr val="5C7290"/>
                  </a:solidFill>
                  <a:latin typeface="Calibri"/>
                </a:rPr>
                <a:t>Basado en xkcd 2347 · CC BY-NC 2.5</a:t>
              </a:r>
            </a:p>
          </p:txBody>
        </p:sp>
      </p:grpSp>
      <p:grpSp>
        <p:nvGrpSpPr>
          <p:cNvPr id="5" name="Imagen del gancho"/>
          <p:cNvGrpSpPr/>
          <p:nvPr/>
        </p:nvGrpSpPr>
        <p:grpSpPr>
          <a:xfrm>
            <a:off x="5030362" y="1569720"/>
            <a:ext cx="5327661" cy="3566160"/>
            <a:chOff x="5030362" y="1569720"/>
            <a:chExt cx="5327661" cy="3566160"/>
          </a:xfrm>
        </p:grpSpPr>
        <p:pic>
          <p:nvPicPr>
            <p:cNvPr id="56" name="Imagen" descr="hook_1.jpg"/>
            <p:cNvPicPr>
              <a:picLocks noChangeAspect="1"/>
            </p:cNvPicPr>
            <p:nvPr/>
          </p:nvPicPr>
          <p:blipFill>
            <a:blip r:embed="rId3"/>
            <a:stretch>
              <a:fillRect/>
            </a:stretch>
          </p:blipFill>
          <p:spPr>
            <a:xfrm>
              <a:off x="5030362" y="1569720"/>
              <a:ext cx="5327661" cy="3352800"/>
            </a:xfrm>
            <a:prstGeom prst="rect">
              <a:avLst/>
            </a:prstGeom>
          </p:spPr>
        </p:pic>
        <p:sp>
          <p:nvSpPr>
            <p:cNvPr id="57" name="Crédito"/>
            <p:cNvSpPr txBox="1"/>
            <p:nvPr/>
          </p:nvSpPr>
          <p:spPr>
            <a:xfrm>
              <a:off x="5030362" y="4983480"/>
              <a:ext cx="5327661" cy="152400"/>
            </a:xfrm>
            <a:prstGeom prst="rect">
              <a:avLst/>
            </a:prstGeom>
            <a:noFill/>
          </p:spPr>
          <p:txBody>
            <a:bodyPr wrap="square" lIns="0" tIns="0" rIns="0" bIns="0" anchor="t">
              <a:noAutofit/>
            </a:bodyPr>
            <a:lstStyle/>
            <a:p>
              <a:pPr algn="ctr"/>
              <a:r>
                <a:rPr sz="900" b="0" lang="es-CO">
                  <a:solidFill>
                    <a:srgbClr val="5C7290"/>
                  </a:solidFill>
                  <a:latin typeface="Calibri"/>
                </a:rPr>
                <a:t>Prensa, octubre de 2025 · imagen: Eight Sleep</a:t>
              </a:r>
            </a:p>
          </p:txBody>
        </p:sp>
      </p:grpSp>
      <p:sp>
        <p:nvSpPr>
          <p:cNvPr id="58" name="Remate"/>
          <p:cNvSpPr txBox="1"/>
          <p:nvPr/>
        </p:nvSpPr>
        <p:spPr>
          <a:xfrm>
            <a:off x="640080" y="5501640"/>
            <a:ext cx="10911840" cy="309372"/>
          </a:xfrm>
          <a:prstGeom prst="rect">
            <a:avLst/>
          </a:prstGeom>
          <a:noFill/>
        </p:spPr>
        <p:txBody>
          <a:bodyPr wrap="square" lIns="0" tIns="0" rIns="0" bIns="0" anchor="t">
            <a:noAutofit/>
          </a:bodyPr>
          <a:lstStyle/>
          <a:p>
            <a:r>
              <a:rPr sz="1800" b="0" lang="es-CO">
                <a:solidFill>
                  <a:srgbClr val="071329"/>
                </a:solidFill>
                <a:latin typeface="Calibri"/>
              </a:rPr>
              <a:t>La solución fue decidir en el dispositivo. </a:t>
            </a:r>
            <a:r>
              <a:rPr sz="1800" b="1" lang="es-CO">
                <a:solidFill>
                  <a:srgbClr val="6D28D9"/>
                </a:solidFill>
                <a:latin typeface="Calibri"/>
              </a:rPr>
              <a:t>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