
<file path=[Content_Types].xml><?xml version="1.0" encoding="utf-8"?>
<Types xmlns="http://schemas.openxmlformats.org/package/2006/content-types">
  <Default Extension="gif" ContentType="image/gif"/>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449E6E0A-0206-48DB-9AD2-72740BD2A223}">
          <p14:sldIdLst>
            <p14:sldId id="256"/>
            <p14:sldId id="257"/>
            <p14:sldId id="258"/>
            <p14:sldId id="259"/>
            <p14:sldId id="260"/>
          </p14:sldIdLst>
        </p14:section>
        <p14:section name="01 · El problema" id="{FBE51C10-8BFA-4032-BF46-1BFEA77E59DD}">
          <p14:sldIdLst>
            <p14:sldId id="261"/>
            <p14:sldId id="262"/>
            <p14:sldId id="263"/>
            <p14:sldId id="264"/>
          </p14:sldIdLst>
        </p14:section>
        <p14:section name="02 · El patrón" id="{C6ECDC93-B4E6-4404-BD36-26A151CBA75D}">
          <p14:sldIdLst>
            <p14:sldId id="265"/>
            <p14:sldId id="266"/>
            <p14:sldId id="267"/>
            <p14:sldId id="268"/>
            <p14:sldId id="269"/>
          </p14:sldIdLst>
        </p14:section>
        <p14:section name="03 · Los seis pasos" id="{A93BD092-5218-4A29-89F0-9B001BB172C3}">
          <p14:sldIdLst>
            <p14:sldId id="270"/>
            <p14:sldId id="271"/>
            <p14:sldId id="272"/>
            <p14:sldId id="273"/>
            <p14:sldId id="274"/>
            <p14:sldId id="275"/>
            <p14:sldId id="276"/>
            <p14:sldId id="277"/>
          </p14:sldIdLst>
        </p14:section>
        <p14:section name="04 · Demostración" id="{9A03F6F4-CD31-465F-AD2E-C32750D5737C}">
          <p14:sldIdLst>
            <p14:sldId id="278"/>
            <p14:sldId id="279"/>
            <p14:sldId id="280"/>
          </p14:sldIdLst>
        </p14:section>
        <p14:section name="Cierre" id="{4CC0DB1E-D053-4D62-9920-804BF3DB2619}">
          <p14:sldIdLst>
            <p14:sldId id="281"/>
            <p14:sldId id="282"/>
            <p14:sldId id="283"/>
            <p14:sldId id="284"/>
          </p14:sldIdLst>
        </p14:section>
        <p14:section name="Anexos" id="{C4E0CD09-D0B2-4360-B43C-412FDE916E68}">
          <p14:sldIdLst>
            <p14:sldId id="285"/>
            <p14:sldId id="286"/>
            <p14:sldId id="287"/>
            <p14:sldId id="288"/>
            <p14:sldId id="289"/>
            <p14:sldId id="290"/>
            <p14:sldId id="291"/>
            <p14:sldId id="292"/>
            <p14:sldId id="293"/>
            <p14:sldId id="29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Cuando te den la palabra, pasa a la lámina 2: te presentas en 25 segundos y vas directo a los audios. Antes de subir, prueba que el audio del deck sale por los parlantes de la sala.*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SOBRE MÍ</a:t>
            </a:r>
          </a:p>
          <a:p/>
          <a:p>
            <a:r>
              <a:t>0:25 · sin clics · *corto: lo que engancha viene en la siguiente lámina*</a:t>
            </a:r>
          </a:p>
          <a:p/>
          <a:p>
            <a:r>
              <a:t>'Buenos días. Soy Alejandro Varela, Senior Cloud Engineer en EPAM. Diseño cómo llegan y se gobiernan modelos de IA en equipos de campo, donde no hay nadie cerca.'</a:t>
            </a:r>
          </a:p>
          <a:p/>
          <a:p>
            <a:r>
              <a:t>'Tengo unas certificaciones por ahí, pero lo que van a ver hoy no salió de un examen: lo monté, lo rompí y lo arreglé esta misma semana. Y fuera del trabajo, me encuentran con una raqueta en la mano.'</a:t>
            </a:r>
          </a:p>
          <a:p/>
          <a:p>
            <a:r>
              <a:t>'Pero no vine a hablar de mí. Vine a ponerles un audio.'</a:t>
            </a:r>
          </a:p>
          <a:p/>
          <a:p>
            <a:r>
              <a:t>*La foto sale de talk/assets/photo.jpeg (recortada en cuadrado). El LinkedIn sale de la variable LINKEDIN al generar el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¿ESTA BOMBA ESTÁ FALLANDO?</a:t>
            </a:r>
          </a:p>
          <a:p/>
          <a:p>
            <a:r>
              <a:t>1:10 · 1 clic · *la experiencia que abre la charla*</a:t>
            </a:r>
          </a:p>
          <a:p/>
          <a:p>
            <a:r>
              <a:t>'Les voy a poner dos audios. Esta es la bomba A.' *(▶ A, cinco segundos, la detienes)*</a:t>
            </a:r>
          </a:p>
          <a:p/>
          <a:p>
            <a:r>
              <a:t>'Y esta es la bomba B.' *(▶ B, cinco segundos)*</a:t>
            </a:r>
          </a:p>
          <a:p/>
          <a:p>
            <a:r>
              <a:t>'Pregunta: ¿alguna de las dos está fallando?'</a:t>
            </a:r>
          </a:p>
          <a:p/>
          <a:p>
            <a:r>
              <a:t>▶ CLIC 'Levanten la mano. ¿La A?' *(cuenta en voz alta: «unos cinco…»)* '¿La B?' *(cuenta)* '¿Las dos?' *(cuenta)* 'Interesante. No les voy a decir todavía; eso lo vemos en vivo.'</a:t>
            </a:r>
          </a:p>
          <a:p/>
          <a:p>
            <a:r>
              <a:t>'Los sonidos son reales, los grabó Hitachi en una planta. Lo que sí me inventé es la empresa: un acueducto con estaciones de bombeo en veredas, donde la señal va y viene y no hay nadie cerca. En cada estación hay un equipito que escucha las bombas, y un modelo que avisa cuando una empieza a sonar raro.'</a:t>
            </a:r>
          </a:p>
          <a:p/>
          <a:p>
            <a:r>
              <a:t>'Lo que ustedes acaban de hacer es justo lo que hace ese modelo: oír y decidir. La diferencia es que ustedes estaban aquí. Desde la nube, nadie oyó nada.' *(pausa)*</a:t>
            </a:r>
          </a:p>
          <a:p/>
          <a:p>
            <a:r>
              <a:t>'Por eso le puse a esta charla «MLOps a ciegas». Hoy les quiero mostrar cómo se maneja un modelo que corre allá, donde uno no lo ve: cómo le llega una versión nueva, cómo se devuelve si sale mala y cómo nos cuenta lo que decide. Sin que el audio salga nunca de la estación.'</a:t>
            </a:r>
          </a:p>
          <a:p/>
          <a:p>
            <a:r>
              <a:t>*En PowerPoint, un clic en «Escuchar» (o en la onda) reproduce el audio; al cambiar de lámina se detiene. Si los botones dicen «audio pendiente», faltaban talk/assets/audio/pump-a.wav y pump-b.wav cuando se armó el PowerPoint: ponlos y vuelve a generarlo. La atribución de MIMII DUE está al pie.*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LA IA YA CORRE EN EL DISPOSITIVO</a:t>
            </a:r>
          </a:p>
          <a:p/>
          <a:p>
            <a:r>
              <a:t>0:25 · 2 clics</a:t>
            </a:r>
          </a:p>
          <a:p/>
          <a:p>
            <a:r>
              <a:t>'¿Y a mí qué me importa un modelo en una bomba? Que los modelos se están bajando de la nube a los dispositivos. Un ejemplo de Gartner, con los PC.'</a:t>
            </a:r>
          </a:p>
          <a:p/>
          <a:p>
            <a:r>
              <a:t>'En 2024, de cada cien PC nuevos, dieciséis traían un chip para correr IA.'</a:t>
            </a:r>
          </a:p>
          <a:p/>
          <a:p>
            <a:r>
              <a:t>▶ CLIC 'En 2025, treinta y uno.'</a:t>
            </a:r>
          </a:p>
          <a:p/>
          <a:p>
            <a:r>
              <a:t>▶ CLIC 'Y para este año proyectaban cincuenta y cinco. Más de la mitad. Y lo mismo pasa con el celular, los carros y los equipos de una planta.'</a:t>
            </a:r>
          </a:p>
          <a:p/>
          <a:p>
            <a:r>
              <a:t>*Fuente: Gartner, 28 de agosto de 2025, «AI PCs»: 15,6 % (2024), 31 % (2025), 54,7 % (2026, proyección). La cifra es solo de PC; lo demás dilo sin números. Si ya salió la cifra real de 2026, úsala.*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POR QUÉ EL MODELO BAJA AL DISPOSITIVO</a:t>
            </a:r>
          </a:p>
          <a:p/>
          <a:p>
            <a:r>
              <a:t>0:55 · 2 clics · *deja que se rían antes de seguir. En cada meme, a la izquierda el modelo corre en la nube y a la derecha en el equipo*</a:t>
            </a:r>
          </a:p>
          <a:p/>
          <a:p>
            <a:r>
              <a:t>'¿Y por qué se baja? Se los explico como explicamos todo los ingenieros: con memes.'</a:t>
            </a:r>
          </a:p>
          <a:p/>
          <a:p>
            <a:r>
              <a:t>*Meme 1.* 'El carro autónomo, frente a un cono: 'dame un segundo, que le pregunto al modelo en la nube'.' *(pausa, risas)* 'Cuando hay que frenar ya, la ida y vuelta no alcanza.'</a:t>
            </a:r>
          </a:p>
          <a:p/>
          <a:p>
            <a:r>
              <a:t>▶ CLIC *Meme 2.* 'El técnico a las tres de la mañana en la planta: '¿cómo cambio este rodamiento?'. Y el asistente, que tiene el modelo en la nube: 'Sin conexión, intente más tarde'.' *(risas)* 'Con el modelo en el equipo, le responde igual. Y en una vereda, sin señal, pasa exactamente lo mismo.'</a:t>
            </a:r>
          </a:p>
          <a:p/>
          <a:p>
            <a:r>
              <a:t>▶ CLIC *Meme 3.* 'Y mi favorito: ustedes, desbloqueando el teléfono, y el teléfono diciendo 'un momentico, le mando tu cara al modelo en la nube'.' *(risas)* 'Face ID no funciona así. Su modelo corre en el teléfono, y los datos de tu cara quedan cifrados en un chip aparte, el Secure Enclave. Nunca salen: ni a Apple, ni a iCloud. Lo único que sale es un sí o un no.'</a:t>
            </a:r>
          </a:p>
          <a:p/>
          <a:p>
            <a:r>
              <a:t>'Y fíjense en otra cosa: si te dejas crecer la barba, Face ID se adapta solo, ahí mismo en el teléfono. Los datos cambiaron y el modelo se ajustó sin ir a la nube. Guárdenme esa idea, que volvemos a ella.'</a:t>
            </a:r>
          </a:p>
          <a:p/>
          <a:p>
            <a:r>
              <a:t>'Ahora piensen en la bomba. Un micrófono son ciento quince megas por hora. Por bomba. Por la red de una vereda. No cabe, y además es el sonido de una instalación de la empresa: no tiene por qué salir de ahí.'</a:t>
            </a:r>
          </a:p>
          <a:p/>
          <a:p>
            <a:r>
              <a:t>*Cuenta: 16 000 muestras por segundo × 2 bytes ≈ 115 MB por hora. Face ID: «Face ID data doesn't leave your device… is never backed up to iCloud» y «automatically adapts to changes in your appearance», Apple, «About Face ID advanced technology», https://support.apple.com/102381 (está en A8).*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01 · EL PROBLEMA</a:t>
            </a:r>
          </a:p>
          <a:p/>
          <a:p>
            <a:r>
              <a:t>0:08 · *divisor: no lo leas* · *reloj: 3:05*</a:t>
            </a:r>
          </a:p>
          <a:p/>
          <a:p>
            <a:r>
              <a:t>'Vamos en cuatro partes: el problema, el patrón para resolverlo, seis pasos y la demo en vivo. Arranquemos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MLOPS EN LA NUBE: UN LOOP CERRADO</a:t>
            </a:r>
          </a:p>
          <a:p/>
          <a:p>
            <a:r>
              <a:t>0:20 · sin clics · *los puntos recorren el loop*</a:t>
            </a:r>
          </a:p>
          <a:p/>
          <a:p>
            <a:r>
              <a:t>'Cuando el modelo vive en la nube, la verdad, esto está bastante resuelto. Todas las peticiones pasan por un endpoint: uno las guarda, las compara con lo que vio el modelo al entrenar, si algo cambia salta una alerta y se reentrena.'</a:t>
            </a:r>
          </a:p>
          <a:p/>
          <a:p>
            <a:r>
              <a:t>'¿Y por qué funciona tan bien?' *(señala la frase de la izquierda)* 'Porque todo pasa por ahí. Uno lo ve todo.'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LAS RESTRICCIONES DE LA ESTACIÓN</a:t>
            </a:r>
          </a:p>
          <a:p/>
          <a:p>
            <a:r>
              <a:t>1:00 · 5 clics · *una restricción por clic*</a:t>
            </a:r>
          </a:p>
          <a:p/>
          <a:p>
            <a:r>
              <a:t>'Ahora bajemos ese modelo a la estación, al lado de la bomba. Mismo loop… pero ya no hay un endpoint por donde pase todo.'</a:t>
            </a:r>
          </a:p>
          <a:p/>
          <a:p>
            <a:r>
              <a:t>▶ CLIC 'Uno: los recursos. Poca memoria, y chips distintos: una estación tiene ARM, otra un x86 con sus años, y la nueva trae NPU.'</a:t>
            </a:r>
          </a:p>
          <a:p/>
          <a:p>
            <a:r>
              <a:t>▶ CLIC 'Dos: la red. Se va la señal en la vereda y se apaga todo el loop de la nube.'</a:t>
            </a:r>
          </a:p>
          <a:p/>
          <a:p>
            <a:r>
              <a:t>▶ CLIC 'Tres: el audio no puede salir de ahí. Ni cabe, ni debe.'</a:t>
            </a:r>
          </a:p>
          <a:p/>
          <a:p>
            <a:r>
              <a:t>▶ CLIC 'Cuatro, y esta casi nadie la mide: la latencia depende de la energía. Con la batería baja o con el equipo caliente, el chip se pone lento para ahorrar o para enfriarse. El mismo modelo tarda más.'</a:t>
            </a:r>
          </a:p>
          <a:p/>
          <a:p>
            <a:r>
              <a:t>▶ CLIC 'Y cinco: los datos. Fallas hay pocas para aprender, y lo normal cambia con el tiempo: el micrófono envejece, cambia la velocidad de la bomba. Eso es el drift. Y conseguir buenos datos es la mitad del trabajo; en la demo van a ver qué pasa cuando no.'</a:t>
            </a:r>
          </a:p>
          <a:p/>
          <a:p>
            <a:r>
              <a:t>'O sea: todo lo que uno hacía en la nube asume que las cosas pasan por uno. Aquí no pasa nada por uno.'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UN PANEL EN VERDE NO MIDE EL MODELO</a:t>
            </a:r>
          </a:p>
          <a:p/>
          <a:p>
            <a:r>
              <a:t>1:15 · 3 clics · *el mito central de la charla: ve despacio*</a:t>
            </a:r>
          </a:p>
          <a:p/>
          <a:p>
            <a:r>
              <a:t>'Entonces, ¿cómo sabe uno si el modelo de la estación está bien? Lo de siempre: abrimos el panel.'</a:t>
            </a:r>
          </a:p>
          <a:p/>
          <a:p>
            <a:r>
              <a:t>▶ CLIC 'Servicio del modelo, arriba. CPU, normal. Memoria, normal. Todo en verde.'</a:t>
            </a:r>
          </a:p>
          <a:p/>
          <a:p>
            <a:r>
              <a:t>*Cambia la voz:* 'Y llega el jefe: '¿y el modelo de la estación cómo va?' — 'Todo verde, jefe'.' *(risas)*</a:t>
            </a:r>
          </a:p>
          <a:p/>
          <a:p>
            <a:r>
              <a:t>▶ CLIC 'Pero la pregunta de verdad es otra: ¿el modelo todavía distingue una bomba sana de una que está fallando? Eso se mide con algo que se llama AUC. Para los que no son de datos: uno es perfecto, y cero coma cinco es lo mismo que lanzar una moneda.'</a:t>
            </a:r>
          </a:p>
          <a:p/>
          <a:p>
            <a:r>
              <a:t>'Con la velocidad con la que se entrenó, este modelo da cero coma sesenta y nueve. Ahora alguien le cambia la velocidad a la bomba… y baja a cero coma cincuenta y siete.' *(pausa)* 'Casi una moneda. Y las falsas alarmas pasan de 6 a 18 por ciento.'</a:t>
            </a:r>
          </a:p>
          <a:p/>
          <a:p>
            <a:r>
              <a:t>▶ CLIC 'Y lo más bonito: ni un error. El equipo está sano. El modelo casi no distingue.' *(pausa larga)*</a:t>
            </a:r>
          </a:p>
          <a:p/>
          <a:p>
            <a:r>
              <a:t>'Y esto no es teoría: lo medí con el mismo audio de las bombas que van a oír en un rato. Un servicio caído hace ruido. Un modelo que dejó de oír sigue respondiendo a tiempo, con un 200 OK.'</a:t>
            </a:r>
          </a:p>
          <a:p/>
          <a:p>
            <a:r>
              <a:t>'Monitorear la infraestructura no es monitorear el modelo. Al modelo hay que preguntarle otras cosas, y en el paso seis les muestro cuáles.'</a:t>
            </a:r>
          </a:p>
          <a:p/>
          <a:p>
            <a:r>
              <a:t>*Por qué AUC y no «fallas detectadas»: con la otra velocidad todos los scores suben, y la detección puede subir junto con las falsas alarmas. La AUC mide si el modelo separa una bomba sana de una que falla, sin depender del umbral.*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02 · EL PATRÓN</a:t>
            </a:r>
          </a:p>
          <a:p/>
          <a:p>
            <a:r>
              <a:t>0:05 · *divisor* · *reloj: 5:48*</a:t>
            </a:r>
          </a:p>
          <a:p/>
          <a:p>
            <a:r>
              <a:t>'Bueno, ¿y cómo se gobierna esto? Abramos el equipo.'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ARQUITECTURA DEL EQUIPO EN LA ESTACIÓN</a:t>
            </a:r>
          </a:p>
          <a:p/>
          <a:p>
            <a:r>
              <a:t>0:45 · 3 clics · *una capa por clic*</a:t>
            </a:r>
          </a:p>
          <a:p/>
          <a:p>
            <a:r>
              <a:t>'Abajo está el micrófono sobre la bomba y el modelo con su runtime. Decide en milisegundos, haya red o no. El audio entra… y ahí se queda.'</a:t>
            </a:r>
          </a:p>
          <a:p/>
          <a:p>
            <a:r>
              <a:t>▶ CLIC 'Encima, el modelo no llega como un archivo suelto que alguien copió. Llega como un artefacto con versión y con su huella. Si alguien lo toca, no se instala.'</a:t>
            </a:r>
          </a:p>
          <a:p/>
          <a:p>
            <a:r>
              <a:t>▶ CLIC 'Después, un agente. A la estación nadie le empuja nada; es el agente el que, cuando hay red, va y pregunta qué debería tener.'</a:t>
            </a:r>
          </a:p>
          <a:p/>
          <a:p>
            <a:r>
              <a:t>▶ CLIC 'Y arriba, lo que casi nadie pone: una cola de eventos. Cada decisión se guarda hasta que vuelva la señal.'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ANTES DE PROTEGER EL MODELO, PROTEGE EL EQUIPO</a:t>
            </a:r>
          </a:p>
          <a:p/>
          <a:p>
            <a:r>
              <a:t>0:50 · 4 clics · *una tarjeta por clic; el remate con la última*</a:t>
            </a:r>
          </a:p>
          <a:p/>
          <a:p>
            <a:r>
              <a:t>'Antes de hablar de gobernar el modelo, una pregunta incómoda: esta estación está en una vereda. ¿Quién la cuida?' *(pausa)* 'Nadie. Cualquiera puede abrir el gabinete.'</a:t>
            </a:r>
          </a:p>
          <a:p/>
          <a:p>
            <a:r>
              <a:t>'Por eso, antes de preocuparse por que alguien engañe al modelo, hay cuatro cosas del equipo que van primero. Uno: arranque seguro. El equipo solo arranca software firmado; si alguien le cambia el sistema, no enciende.'</a:t>
            </a:r>
          </a:p>
          <a:p/>
          <a:p>
            <a:r>
              <a:t>▶ CLIC 'Dos: la llave. La identidad del equipo es la llave de su certificado. Si está en la tarjeta SD, cualquiera se la lleva y se hace pasar por la bomba. Va en un TPM, y Greengrass la usa desde ahí.'</a:t>
            </a:r>
          </a:p>
          <a:p/>
          <a:p>
            <a:r>
              <a:t>▶ CLIC 'Tres: updates verificados. El equipo solo instala lo que trae la huella correcta, y lo baja por un canal cifrado.'</a:t>
            </a:r>
          </a:p>
          <a:p/>
          <a:p>
            <a:r>
              <a:t>▶ CLIC 'Y cuatro: los datos. El audio no sale, y en el disco va cifrado.'</a:t>
            </a:r>
          </a:p>
          <a:p/>
          <a:p>
            <a:r>
              <a:t>▶ CLIC 'Porque sin esto, nadie necesita engañar a su modelo con ejemplos raros… le basta con reemplazarlo.'</a:t>
            </a:r>
          </a:p>
          <a:p/>
          <a:p>
            <a:r>
              <a:t>*Si preguntan: secure boot en x86 es UEFI Secure Boot; en ARM depende del fabricante (HAB en NXP, por ejemplo). Greengrass soporta llaves en HSM o TPM con el componente PKCS#11. La firma del modelo: OpenSSF Model Signing, sobre Sigstore. La PoC corre en contenedores y no tiene nada de esto físico: dilo si te preguntan.*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CINCO PIEZAS PARA GOBERNARLO</a:t>
            </a:r>
          </a:p>
          <a:p/>
          <a:p>
            <a:r>
              <a:t>1:05 · 6 clics · *una pieza por clic; la leyenda se enciende con cada una*</a:t>
            </a:r>
          </a:p>
          <a:p/>
          <a:p>
            <a:r>
              <a:t>*Paso 0, «copiar el modelo… y cruzar los dedos».* 'Seamos sinceros: así se despliegan modelos en muchos lados. Uno copia el archivo al equipo… y cruza los dedos.' *(cruza los dedos)* 'Yo lo he hecho, no me da pena.' *(risas)*</a:t>
            </a:r>
          </a:p>
          <a:p/>
          <a:p>
            <a:r>
              <a:t>▶ CLIC 'La primera pieza es optimizar para cada chip: se entrena una vez y se prepara para cada tipo de hardware.'</a:t>
            </a:r>
          </a:p>
          <a:p/>
          <a:p>
            <a:r>
              <a:t>▶ CLIC 'La segunda, un artefacto verificable: cada versión con su huella, en un registro donde nada se sobrescribe.'</a:t>
            </a:r>
          </a:p>
          <a:p/>
          <a:p>
            <a:r>
              <a:t>▶ CLIC 'La tercera, el desired state: la central dice qué debería tener cada equipo, y el equipo lo trae cuando puede.'</a:t>
            </a:r>
          </a:p>
          <a:p/>
          <a:p>
            <a:r>
              <a:t>▶ CLIC 'La cuarta, que el modelo deje constancia de cada decisión. Si no hay red, se encola.'</a:t>
            </a:r>
          </a:p>
          <a:p/>
          <a:p>
            <a:r>
              <a:t>▶ CLIC 'Y la quinta, el gate: algo que mira esas decisiones y resuelve solo si seguimos o nos devolvemos. Eso es el loop rápido, de minutos.'</a:t>
            </a:r>
          </a:p>
          <a:p/>
          <a:p>
            <a:r>
              <a:t>▶ CLIC 'Con esas mismas decisiones se reentrena; ese es el loop lento, de días. Y por debajo de todo, lo de siempre: identidad, mínimo privilegio, cifrado y auditoría. Nada de esto depende de una nube en particular.'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EL MISMO PATRÓN EN AWS</a:t>
            </a:r>
          </a:p>
          <a:p/>
          <a:p>
            <a:r>
              <a:t>0:30 · 5 clics · *misma geometría; ve rápido, los pasos que vienen abren cada casilla*</a:t>
            </a:r>
          </a:p>
          <a:p/>
          <a:p>
            <a:r>
              <a:t>'Ahora el mismo dibujo, pero en AWS. Cada casilla ya tiene nombre.'</a:t>
            </a:r>
          </a:p>
          <a:p/>
          <a:p>
            <a:r>
              <a:t>▶ CLIC 'SageMaker AI entrena.' ▶ CLIC 'S3 guarda cada versión e IoT Greengrass la empaca como componente.' ▶ CLIC 'El desired state es un despliegue de Greengrass, que le llega a cada equipo por IoT Core, con su propio certificado.'</a:t>
            </a:r>
          </a:p>
          <a:p/>
          <a:p>
            <a:r>
              <a:t>▶ CLIC 'Cada decisión vuelve por IoT Core y una regla la deja en CloudWatch.' ▶ CLIC 'Y el gate es una alarma que llama a una Lambda, que vuelve a poner la última versión buena.'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03 · LOS SEIS PASOS</a:t>
            </a:r>
          </a:p>
          <a:p/>
          <a:p>
            <a:r>
              <a:t>0:10 · *divisor con la espina* · *reloj: 9:03*</a:t>
            </a:r>
          </a:p>
          <a:p/>
          <a:p>
            <a:r>
              <a:t>'Vamos paso por paso: entrenar, optimizar, empaquetar, desplegar, operar sin red y monitorear. Y en cada paso, la bomba.'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PASO 1 · ENTRENAR CON SONIDO NORMAL</a:t>
            </a:r>
          </a:p>
          <a:p/>
          <a:p>
            <a:r>
              <a:t>0:50 · 3 clics · *el último clic es la evidencia de S3*</a:t>
            </a:r>
          </a:p>
          <a:p/>
          <a:p>
            <a:r>
              <a:t>'Paso uno, entrenar. Y aquí hay un detalle bonito: este modelo se entrena solo con bombas sanas.'</a:t>
            </a:r>
          </a:p>
          <a:p/>
          <a:p>
            <a:r>
              <a:t>▶ CLIC 'Es un autoencoder: una red que aprende a reconstruir el sonido normal. Cuando no lo puede reconstruir, es porque algo cambió. Es como el mecánico que de tanto oír el motor sano, nota cualquier ruido raro.'</a:t>
            </a:r>
          </a:p>
          <a:p/>
          <a:p>
            <a:r>
              <a:t>▶ CLIC 'Lo que sale va a S3, cada versión en su propia carpeta: el modelo en ONNX, el umbral y también el preprocesamiento del audio. ¿Por qué el preprocesamiento? Porque el error más común es entrenar con uno y servir con otro. No explota nada; el modelo simplemente oye distinto.'</a:t>
            </a:r>
          </a:p>
          <a:p/>
          <a:p>
            <a:r>
              <a:t>▶ CLIC 'Y así quedó en el ensayo: cada versión subió a su propia carpeta, la 1.0.0 y la 2.0.0. Versión nueva, carpeta nueva; nunca se pisa la anterior.'</a:t>
            </a:r>
          </a:p>
          <a:p/>
          <a:p>
            <a:r>
              <a:t>*En la PoC la fábrica es model/train.py en mi portátil, no SageMaker AI. Lo dices en la lámina 24. La imagen es la salida real de publish.sh en el ensayo (talk/assets/screens/s3-versiones.png).*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PASO 2 · OPTIMIZAR PARA CADA CHIP</a:t>
            </a:r>
          </a:p>
          <a:p/>
          <a:p>
            <a:r>
              <a:t>1:00 · 3 clics</a:t>
            </a:r>
          </a:p>
          <a:p/>
          <a:p>
            <a:r>
              <a:t>'Paso dos. Uno entrena una vez, en 32 bits, y sale un archivo ONNX.'</a:t>
            </a:r>
          </a:p>
          <a:p/>
          <a:p>
            <a:r>
              <a:t>▶ CLIC 'Para que eso quepa en un equipo pequeño se cuantiza a 8 bits, se simplifica y se compila para el chip. Esa compilación la hace la herramienta de cada fabricante.'</a:t>
            </a:r>
          </a:p>
          <a:p/>
          <a:p>
            <a:r>
              <a:t>▶ CLIC 'Y aquí está la trampa: no sale un artefacto, sale uno por cada tipo de chip. Y el que manda es la memoria: si no cabe, no corre.'</a:t>
            </a:r>
          </a:p>
          <a:p/>
          <a:p>
            <a:r>
              <a:t>▶ CLIC 'Esta es la bomba, medida en el equipo de la demo. De 32 a 8 bits, el archivo baja de 464 a 127 kilobytes, cada clip pasa de 14,4 a 12,7 milisegundos, y toma la misma decisión en el 98 por ciento de los casos.'</a:t>
            </a:r>
          </a:p>
          <a:p/>
          <a:p>
            <a:r>
              <a:t>'Ojo: en mi portátil la mejora era casi el doble. En el equipo, el tiempo se va preparando el audio, no en el modelo. Por eso se mide en el chip de verdad… y con la batería baja y el equipo caliente, que es como va a estar a las tres de la tarde en una vereda.'</a:t>
            </a:r>
          </a:p>
          <a:p/>
          <a:p>
            <a:r>
              <a:t>*Portátil (M3 Pro): 2,6 → 2,0 ms. La pérdida de AUC del INT8 es de −0,001. Si preguntan por herramientas: LiteRT y Qualcomm QNN para NPU, TensorRT para GPU de NVIDIA, ONNX Runtime y OpenVINO para CPU. Sobre SageMaker Neo, ver «Preguntas difíciles».*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3 · EMPAQUETAR COMO COMPONENTE</a:t>
            </a:r>
          </a:p>
          <a:p/>
          <a:p>
            <a:r>
              <a:t>1:00 · 5 clics · *una anotación por clic; el último es la evidencia del ensayo*</a:t>
            </a:r>
          </a:p>
          <a:p/>
          <a:p>
            <a:r>
              <a:t>'Paso tres. En IoT Greengrass, el software se empaca como un componente, y esta es la receta de la demo, un poco recortada.'</a:t>
            </a:r>
          </a:p>
          <a:p/>
          <a:p>
            <a:r>
              <a:t>▶ CLIC 'Los archivos vienen de S3. Ojo que la receta no trae el digest: Greengrass lo calcula cuando uno publica la versión y lo verifica en el equipo antes de instalar.'</a:t>
            </a:r>
          </a:p>
          <a:p/>
          <a:p>
            <a:r>
              <a:t>▶ CLIC 'Cuando arranca, no instala nada. Las dependencias ya vienen en el equipo. Si su componente baja librerías de internet al arrancar… en una vereda sin señal, no arranca.'</a:t>
            </a:r>
          </a:p>
          <a:p/>
          <a:p>
            <a:r>
              <a:t>▶ CLIC 'El umbral es configuración. Si hay que moverlo, se manda un despliegue; no hay que reentrenar.'</a:t>
            </a:r>
          </a:p>
          <a:p/>
          <a:p>
            <a:r>
              <a:t>▶ CLIC 'Y los permisos: este componente solo puede publicar en un tema, station/events. Nada más.'</a:t>
            </a:r>
          </a:p>
          <a:p/>
          <a:p>
            <a:r>
              <a:t>▶ CLIC 'Y así queda en Greengrass: el componente con sus dos versiones, y el umbral como configuración. Una regla que aprendí a las malas: una versión publicada no se toca. Si uno cambia un archivo en S3 sin cambiar la versión, el digest ya no cuadra y el despliegue falla.'</a:t>
            </a:r>
          </a:p>
          <a:p/>
          <a:p>
            <a:r>
              <a:t>*Fuente del digest: referencia de recetas de Greengrass, campo Digest de Artifacts. https://docs.aws.amazon.com/greengrass/v2/developerguide/component-recipe-reference.html*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4 · DESPLEGAR POR RINGS</a:t>
            </a:r>
          </a:p>
          <a:p/>
          <a:p>
            <a:r>
              <a:t>1:05 · 4 clics · *el último es la evidencia del ensayo*</a:t>
            </a:r>
          </a:p>
          <a:p/>
          <a:p>
            <a:r>
              <a:t>'Paso cuatro. ¿Cómo le llega una versión nueva a mil equipos sin dañarlos todos un martes por la tarde? Con despliegues de Greengrass, por rings: cada ring es un thing group.'</a:t>
            </a:r>
          </a:p>
          <a:p/>
          <a:p>
            <a:r>
              <a:t>'El ring 0 es una sola estación, el canary. Es la que recibe la versión nueva primero.'</a:t>
            </a:r>
          </a:p>
          <a:p/>
          <a:p>
            <a:r>
              <a:t>▶ CLIC 'Si pasa el gate, sigue el ring 1, el resto de la flota, y no de golpe: por waves que van creciendo.'</a:t>
            </a:r>
          </a:p>
          <a:p/>
          <a:p>
            <a:r>
              <a:t>▶ CLIC 'Y el despliegue ya trae dos protecciones: si fallan muchos equipos, se cancela; y si un equipo no logra arrancar la versión nueva, vuelve solito a la que tenía.'</a:t>
            </a:r>
          </a:p>
          <a:p/>
          <a:p>
            <a:r>
              <a:t>▶ CLIC 'Y el rollback que armé yo: una alarma ve fallas que nadie oyó y vuelve a poner la última versión buena. El ring 1 nunca recibe la mala.'</a:t>
            </a:r>
          </a:p>
          <a:p/>
          <a:p>
            <a:r>
              <a:t>'Seguro alguno está pensando: 'pero si Greengrass ya hace rollback'. Sí… pero de despliegues que fallan. Un modelo que se instala perfecto y oye mal, para Greengrass, es un despliegue exitoso.'</a:t>
            </a:r>
          </a:p>
          <a:p/>
          <a:p>
            <a:r>
              <a:t>▶ CLIC 'Y esto es lo que devolvió AWS en el ensayo: un despliegue por thing group. En el ring 0 se ve la historia completa: la 1.0.0, la 2.0.0 y el rollback, que es el activo. El ring 1 solo tuvo la 1.0.0.'</a:t>
            </a:r>
          </a:p>
          <a:p/>
          <a:p>
            <a:r>
              <a:t>*Fuentes: failureHandlingPolicy = ROLLBACK por defecto, https://docs.aws.amazon.com/greengrass/v2/APIReference/API_DeploymentPolicies.html · abortConfig y jobExecutionsRolloutConfig, https://docs.aws.amazon.com/cli/latest/reference/greengrassv2/create-deployment.html*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5 · OPERAR SIN RED</a:t>
            </a:r>
          </a:p>
          <a:p/>
          <a:p>
            <a:r>
              <a:t>0:40 · 2 clics · *el último es la evidencia del ensayo*</a:t>
            </a:r>
          </a:p>
          <a:p/>
          <a:p>
            <a:r>
              <a:t>'Paso cinco: ¿qué pasa cuando se va la señal?'</a:t>
            </a:r>
          </a:p>
          <a:p/>
          <a:p>
            <a:r>
              <a:t>'En cada equipo, Greengrass guarda los eventos en una cola local hasta que vuelve la red. Si los datos son más pesados, el stream manager los sube solo cuando hay conexión. Y si el equipo tiene muy poca memoria, existe una versión liviana del agente, escrita en C.'</a:t>
            </a:r>
          </a:p>
          <a:p/>
          <a:p>
            <a:r>
              <a:t>▶ CLIC 'La estación sigue escuchando y alertando. Lo que necesita para decidir ya lo tiene adentro. Un ojo: esa cola vive en memoria; cuando se llena, rechaza mensajes. Si la red se va por horas, la cola tiene que ir a disco.'</a:t>
            </a:r>
          </a:p>
          <a:p/>
          <a:p>
            <a:r>
              <a:t>▶ CLIC 'Y esto pasó en el ensayo: las cinco bombas sanas, y cuando a la 3 le volvió la red, sus alertas llegaron 30, 40, 55 segundos tarde. Pero llegaron todas.'</a:t>
            </a:r>
          </a:p>
          <a:p/>
          <a:p>
            <a:r>
              <a:t>*Si preguntan por una planta grande: Outposts con EKS local (ver «Preguntas difíciles»). Fuentes: cola mqtt.spooler de 2,5 MB en memoria, https://docs.aws.amazon.com/greengrass/v2/developerguide/greengrass-nucleus-component.html · cola en disco, https://docs.aws.amazon.com/greengrass/v2/developerguide/disk-spooler-component.html · nucleus lite (5 MB de almacenamiento, menos de 15 MB de RAM), https://docs.aws.amazon.com/greengrass/v2/developerguide/greengrass-nucleus-lite-component.html*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6 · MONITOREAR LO QUE DECIDE EL MODELO</a:t>
            </a:r>
          </a:p>
          <a:p/>
          <a:p>
            <a:r>
              <a:t>1:25 · 5 clics · *la tubería sale entera; después una señal por clic; el último es la evidencia del ensayo*</a:t>
            </a:r>
          </a:p>
          <a:p/>
          <a:p>
            <a:r>
              <a:t>'Paso seis. Desde la nube no vemos el audio: vemos lo que el modelo nos cuenta. Un mensajito por clip, de unos cientos de bytes. Llega a IoT Core, una regla le pega la hora de llegada, cae en CloudWatch, y una alarma lo vigila y puede llamar a la Lambda del rollback.'</a:t>
            </a:r>
          </a:p>
          <a:p/>
          <a:p>
            <a:r>
              <a:t>'Pero, ¿qué hay que vigilar? Tres cosas.'</a:t>
            </a:r>
          </a:p>
          <a:p/>
          <a:p>
            <a:r>
              <a:t>▶ CLIC 'Uno: la entrada. ¿El micrófono todavía dice la verdad? Si el número sube despacio durante semanas, el sensor está envejeciendo. Si salta de un clip al otro, se dañó… o alguien lo está manipulando. La velocidad del cambio les dice cuál de las dos.'</a:t>
            </a:r>
          </a:p>
          <a:p/>
          <a:p>
            <a:r>
              <a:t>▶ CLIC 'Dos: la salida. Se compara la distribución de los scores de esta hora contra la de la semana, con algo como el PSI. Si el modelo de repente decide muy distinto, algo pasó, aunque nadie sepa todavía si la bomba fallaba.'</a:t>
            </a:r>
          </a:p>
          <a:p/>
          <a:p>
            <a:r>
              <a:t>▶ CLIC 'Y tres, la que casi nadie mira: la autenticidad. ¿Es el modelo que mandamos? Cada evento trae la versión y la huella del modelo, y se compara con la del registro.' *(pausa)* 'Ojo: esa huella la reporta el equipo. Un equipo comprometido puede mentir. Por eso la lámina de seguridad iba primero.'</a:t>
            </a:r>
          </a:p>
          <a:p/>
          <a:p>
            <a:r>
              <a:t>▶ CLIC 'Y algo importante: en la demo, el gate sabe si la bomba fallaba, porque yo sé qué audio suena. En producción eso llega tarde, con la orden de mantenimiento. Estas tres señales no lo necesitan: sirven desde el primer día.'</a:t>
            </a:r>
          </a:p>
          <a:p/>
          <a:p>
            <a:r>
              <a:t>▶ CLIC 'Y este es el dashboard del ensayo: qué decide, con cuánta seguridad, la entrada, qué versión corre, la latencia y las fallas que nadie oyó.'</a:t>
            </a:r>
          </a:p>
          <a:p/>
          <a:p>
            <a:r>
              <a:t>*Si preguntan por umbrales del PSI: 0,1 y 0,25 son costumbre, no estadística (A6). Fíjate que el filtro MissedFaults de la tubería usa el campo truth, que solo existe en la demo: lo dice el clic 4. La imagen son los seis widgets reales del ensayo (talk/assets/screens/cw-dashboard.png).*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A MANO ALZADA</a:t>
            </a:r>
          </a:p>
          <a:p/>
          <a:p>
            <a:r>
              <a:t>0:30 · 1 clic · *la barra cuenta cinco segundos*</a:t>
            </a:r>
          </a:p>
          <a:p/>
          <a:p>
            <a:r>
              <a:t>'Una pregunta antes de la demo: ¿ustedes saben qué versión del modelo está corriendo en cada uno de sus equipos?' *(espera manos)* 'Ahora bajen la mano los que tuvieron que pensarlo.' *(risas)*</a:t>
            </a:r>
          </a:p>
          <a:p/>
          <a:p>
            <a:r>
              <a:t>▶ CLIC 'Aquí la respuesta sale de la nube, sin entrar a ningún equipo: el ring 0, la bomba 1, versión 1.0.0, activo. El ring 1, de la 2 a la 5, la misma.'</a:t>
            </a:r>
          </a:p>
          <a:p/>
          <a:p>
            <a:r>
              <a:t>*Así lo devolvió aws greengrassv2 list-deployments en el ensayo: un despliegue a un thing group queda ACTIVE. Detalle de un equipo, si lo piden: aws greengrassv2 list-installed-components --core-device-thing-name pump-01. Antes de subir, confirma que la flota está así.*</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04 · DEMOSTRACIÓN</a:t>
            </a:r>
          </a:p>
          <a:p/>
          <a:p>
            <a:r>
              <a:t>0:05 · *divisor* · *reloj: 15:43*</a:t>
            </a:r>
          </a:p>
          <a:p/>
          <a:p>
            <a:r>
              <a:t>'Bueno, suficiente teoría. Vamos para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ARQUITECTURA DE LA DEMOSTRACIÓN</a:t>
            </a:r>
          </a:p>
          <a:p/>
          <a:p>
            <a:r>
              <a:t>0:30 · sin clics</a:t>
            </a:r>
          </a:p>
          <a:p/>
          <a:p>
            <a:r>
              <a:t>'Les cuento qué monté, porque no me traje bombas en la maleta.' *(risas)* 'Cada bomba es un contenedor en una EC2, con el agente real de Greengrass adentro. Son cinco: la 1 es el ring 0, el canary, y de la 2 a la 5 son el ring 1.'</a:t>
            </a:r>
          </a:p>
          <a:p/>
          <a:p>
            <a:r>
              <a:t>'El audio es real, y todo lo demás es AWS de verdad, montado con Terraform desde GitHub Actions.'</a:t>
            </a:r>
          </a:p>
          <a:p/>
          <a:p>
            <a:r>
              <a:t>'Lo único de mentiras es el equipo físico… y la fábrica del modelo, que es un script en mi portátil y no SageMaker.'</a:t>
            </a:r>
          </a:p>
          <a:p/>
          <a:p>
            <a:r>
              <a:t>*La fábrica del modelo es la de la lámina 16. Si preguntan: las cinco bombas salen de tres secciones de MIMII DUE; la 1 y la 4 comparten sección, y la 2 y la 5 también, con clips distintos. Cada nucleus es una JVM: en el ensayo, unos 220 MB por bomba.*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DEMOSTRACIÓN EN TRES ACTOS</a:t>
            </a:r>
          </a:p>
          <a:p/>
          <a:p>
            <a:r>
              <a:t>6:00 · 3 clics en la lámina, después las terminales · *la lámina es el mapa; lo de verdad está en la terminal*</a:t>
            </a:r>
          </a:p>
          <a:p/>
          <a:p>
            <a:r>
              <a:t>*En la lámina (0:20).* 'Van a ser tres actos. En el primero, la bomba 3 va a sonar como la B del principio.'</a:t>
            </a:r>
          </a:p>
          <a:p/>
          <a:p>
            <a:r>
              <a:t>▶ CLIC 'En el segundo, la dejamos sin señal.'</a:t>
            </a:r>
          </a:p>
          <a:p/>
          <a:p>
            <a:r>
              <a:t>▶ CLIC 'Y en el tercero, mandamos una versión nueva por rings… y vemos qué pasa.' *(señala la frase de abajo)* 'Esa frase de abajo es el final de la película, así que no la lean todavía.' *(risas)*</a:t>
            </a:r>
          </a:p>
          <a:p/>
          <a:p>
            <a:r>
              <a:t>*Cambia a las terminales: ./demo/watch.sh a la izquierda; arriba a la derecha, el dashboard station; abajo a la derecha, la terminal de Session Manager en la EC2. Letra grande.*</a:t>
            </a:r>
          </a:p>
          <a:p/>
          <a:p>
            <a:r>
              <a:t>'Esto que ven aquí es la estación en vivo. Cada línea es un clip que una bomba escuchó y decidió: qué bomba, qué versión, si alertó, el score contra el umbral, cómo venía la entrada y cuánto se demoró. Ahí están las tres señales del paso seis: la entrada, la salida y la versión. Y fíjense que el audio no aparece por ningún lado.'</a:t>
            </a:r>
          </a:p>
          <a:p/>
          <a:p>
            <a:r>
              <a:t>Acto 1 · Escuchar (1:00)</a:t>
            </a:r>
          </a:p>
          <a:p/>
          <a:p>
            <a:r>
              <a:t>*Escribe* ./demo/fault.sh pump-03 — 'Le voy a decir a la bomba 3 que suene como la B.'</a:t>
            </a:r>
          </a:p>
          <a:p/>
          <a:p>
            <a:r>
              <a:t>*Cuando aparezca pump-03 v1.0.0 ALERT (en el ensayo salió al siguiente clip):* '¡Ahí está! Alerta: el score pasó el umbral.'</a:t>
            </a:r>
          </a:p>
          <a:p/>
          <a:p>
            <a:r>
              <a:t>'Y aquí está la respuesta de la pregunta del principio: la que estaba fallando era la B. ¿Quién votó por la B?' *(manos)* 'Ustedes tienen oído de mecánico. Los de la A, tranquilos, para eso está el modelo.' *(risas)*</a:t>
            </a:r>
          </a:p>
          <a:p/>
          <a:p>
            <a:r>
              <a:t>'Y ojo: el audio no salió de la estación. Lo único que salió fue esta línea.'</a:t>
            </a:r>
          </a:p>
          <a:p/>
          <a:p>
            <a:r>
              <a:t>*No apagues la falla de la 3: en el acto 2, lo que llega tarde tienen que ser alertas.*</a:t>
            </a:r>
          </a:p>
          <a:p/>
          <a:p>
            <a:r>
              <a:t>Acto 2 · Sin red (1:20)</a:t>
            </a:r>
          </a:p>
          <a:p/>
          <a:p>
            <a:r>
              <a:t>*Escribe* ./demo/network.sh off pump-03 — 'Ahora le quito la red a la bomba 3. Como cuando se va la señal en la vereda.'</a:t>
            </a:r>
          </a:p>
          <a:p/>
          <a:p>
            <a:r>
              <a:t>*Mientras esperas, lanza el despliegue del acto 3:* ./demo/deploy.sh 2.0.0 ring-0 — 'Y mientras tanto, aprovecho y le mando una versión nueva a una sola estación. Ya volvemos a eso.'</a:t>
            </a:r>
          </a:p>
          <a:p/>
          <a:p>
            <a:r>
              <a:t>*A los 40 o 50 s:* 'Miren: la 3 se calló, y las otras cuatro siguen como si nada. ¿Se dañó? No. Sigue escuchando, sigue alertando, y va guardando todo en su cola. La nube no sabe nada; la estación sí.'</a:t>
            </a:r>
          </a:p>
          <a:p/>
          <a:p>
            <a:r>
              <a:t>*Escribe* ./demo/network.sh on pump-03 — *en el ensayo se reconectó en unos 5 s.* 'Y ahí llegan, de golpe. Llegaron tarde, pero llegaron todas: ese 'arrived late' es el tiempo que la bomba estuvo sin señal. No se perdió ninguna alerta.'</a:t>
            </a:r>
          </a:p>
          <a:p/>
          <a:p>
            <a:r>
              <a:t>*Escribe* ./demo/fault.sh pump-03 off</a:t>
            </a:r>
          </a:p>
          <a:p/>
          <a:p>
            <a:r>
              <a:t>Acto 3 · Ring deployment y rollback (3:05)</a:t>
            </a:r>
          </a:p>
          <a:p/>
          <a:p>
            <a:r>
              <a:t>*Señala la bomba 1, que ya corre v2.0.0 (en el ensayo llegó en 13 a 20 s); de la 2 a la 5 siguen en v1.0.0.* 'La versión nueva se entrenó con más audio. Y más datos es mejor modelo, ¿cierto?' *(pausa)* 'Además da menos alertas, en operación están felices. Llegó solo al ring 0, sin errores, con la misma latencia. Para Greengrass, todo perfecto.'</a:t>
            </a:r>
          </a:p>
          <a:p/>
          <a:p>
            <a:r>
              <a:t>*Escribe* ./demo/fault.sh pump-01 — 'Ahora pongamos a fallar la bomba 1.'</a:t>
            </a:r>
          </a:p>
          <a:p/>
          <a:p>
            <a:r>
              <a:t>*Cuando aparezca pump-01 v2.0.0 normal … · missed fault:* 'La bomba está fallando… y la versión nueva dice 'normal'. Una falla que nadie oyó.' *(pausa)*</a:t>
            </a:r>
          </a:p>
          <a:p/>
          <a:p>
            <a:r>
              <a:t>'¿Qué pasó? ¿Se acuerdan del punto cinco, los datos? Ese audio extra incluía la semana en que una bomba ya venía fallando, y nadie lo revisó. El modelo aprendió que fallar es lo normal. No da errores, da menos alertas… y no oye las fallas. No es un bug de código: es un bug de datos.'</a:t>
            </a:r>
          </a:p>
          <a:p/>
          <a:p>
            <a:r>
              <a:t>*Mientras la alarma junta datos:* 'Y ahora no voy a tocar nada. Dejemos que el gate haga su trabajo.' *Salta al anexo A2: escribe 31 y Enter. Cuenta la secuencia con la nota de A2 (un minuto). Para volver aquí, escribe 25 y Enter.*</a:t>
            </a:r>
          </a:p>
          <a:p/>
          <a:p>
            <a:r>
              <a:t>*Vuelve a watch.sh. Cuando la 1 salga en v1.0.0 con ALERT:* 'Ahí volvió: versión 1.0.0, y alerta otra vez. Nadie entró al equipo, y el ring 1 nunca recibió la versión mala.'</a:t>
            </a:r>
          </a:p>
          <a:p/>
          <a:p>
            <a:r>
              <a:t>*Escribe* ./demo/fault.sh pump-01 off</a:t>
            </a:r>
          </a:p>
          <a:p/>
          <a:p>
            <a:r>
              <a:t>*Vuelve a esta lámina y dilo mirando a la sala, despacio:* 'Greengrass revierte despliegues fallidos, pero no modelos equivocados. Ese gate lo tiene que poner uno.'</a:t>
            </a:r>
          </a:p>
          <a:p/>
          <a:p>
            <a:r>
              <a:t>▶ CLIC 'Y así quedó en el ensayo: las fallas no oídas pasan el umbral de 8, la alarma salta, la Lambda devuelve la 1.0.0 en un segundo, y la bomba 1 vuelve a alertar.' *Si la demo en vivo falló, esta lámina es la prueba de que funciona; cuéntala con calma.*</a:t>
            </a:r>
          </a:p>
          <a:p/>
          <a:p>
            <a:r>
              <a:t>*Tiempos medidos en los ensayos del 12 de octubre: de fault.sh pump-01 a la v1 otra vez, entre 90 y 135 s. Depende de en qué segundo del minuto cae la falla. Si a los tres minutos la 1 no ha vuelto, no esperes más: «La alarma va a su ritmo; para no robarles tiempo, les muestro cómo termina», y pon el video desde el rollback.*</a:t>
            </a:r>
          </a:p>
          <a:p/>
          <a:p>
            <a:r>
              <a:t>*Plan B, si la red del evento falla (watch.sh sin líneas en 30 s o la EC2 no responde): pon el video de respaldo y dilo con humor: «El wifi de un evento es el peor lugar del mundo para depender de MQTT. Por eso traje la grabación del ensayo.» Narra encima con este mismo guion.*</a:t>
            </a:r>
          </a:p>
          <a:p/>
          <a:p>
            <a:r>
              <a:t>*Si preguntan si la v2 es mala en general o solo en la demo: en todo el set de prueba, con fallas que no vio al entrenar, la v1 detecta el 21 % de las fallas y la v2 el 16 %; la v1 alerta en el 13 % de los clips y la v2 en el 10 %. Los clips de la flota se eligen para que la demo sea repetible.*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CINCO RECOMENDACIONES</a:t>
            </a:r>
          </a:p>
          <a:p/>
          <a:p>
            <a:r>
              <a:t>1:05 · 4 clics · *reloj: 22:18 al entrar*</a:t>
            </a:r>
          </a:p>
          <a:p/>
          <a:p>
            <a:r>
              <a:t>'Me quedan unos minutos, así que les dejo cinco cosas. Y les advierto: casi nadie las hace el lunes. Pero los que las hacen duermen más tranquilos.'</a:t>
            </a:r>
          </a:p>
          <a:p/>
          <a:p>
            <a:r>
              <a:t>'La primera: el modelo es un artefacto más, con versión, huella y firma… y sobre un equipo que arranca seguro.'</a:t>
            </a:r>
          </a:p>
          <a:p/>
          <a:p>
            <a:r>
              <a:t>▶ CLIC 'La segunda: midan en el chip de verdad, con la batería baja y con calor, no en su portátil.'</a:t>
            </a:r>
          </a:p>
          <a:p/>
          <a:p>
            <a:r>
              <a:t>▶ CLIC 'La tercera: desplieguen por rings, con un gate que mire al modelo, no solo al proceso.'</a:t>
            </a:r>
          </a:p>
          <a:p/>
          <a:p>
            <a:r>
              <a:t>▶ CLIC 'La cuarta: diseñen pensando en que no va a haber red. Cola local y decisiones locales.'</a:t>
            </a:r>
          </a:p>
          <a:p/>
          <a:p>
            <a:r>
              <a:t>▶ CLIC 'Y la quinta: vigilen tres señales, la entrada, la salida y la autenticidad. Y el audio, que se quede en el equipo.'</a:t>
            </a:r>
          </a:p>
          <a:p/>
          <a:p>
            <a:r>
              <a:t>*Si el reloj marca 22:40 o menos al llegar aquí, cuenta lo que pasó en el primer ensayo, que es real: «¿Saben qué fue lo primero que se me dañó? La primera vez que monté esto en AWS, ninguna bomba arrancaba. Horas buscando, y era que el instalador de Greengrass decide el formato del archivo de configuración por la extensión… y mi archivo no tenía extensión. Una línea. Por eso se ensaya en el equipo de verdad.»*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LA FRASE FINAL: ¿ESTA BOMBA ESTÁ FALLANDO?</a:t>
            </a:r>
          </a:p>
          <a:p/>
          <a:p>
            <a:r>
              <a:t>0:45 · 2 clics · *cierre circular: vuelven los audios del principio*</a:t>
            </a:r>
          </a:p>
          <a:p/>
          <a:p>
            <a:r>
              <a:t>'¿Se acuerdan de la pregunta del principio?' *(señala)* '¿Esta bomba está fallando?'</a:t>
            </a:r>
          </a:p>
          <a:p/>
          <a:p>
            <a:r>
              <a:t>*(▶ bomba B, tres o cuatro segundos, la detienes)*</a:t>
            </a:r>
          </a:p>
          <a:p/>
          <a:p>
            <a:r>
              <a:t>'Ustedes la oyeron. Desde la nube, nadie la oyó… y no hacía falta.'</a:t>
            </a:r>
          </a:p>
          <a:p/>
          <a:p>
            <a:r>
              <a:t>▶ CLIC 'Esto fue lo único que salió de la estación: la bomba 3, versión 1.0.0, alerta, con el score por encima del umbral. Unos cientos de bytes. El audio se quedó allá.'</a:t>
            </a:r>
          </a:p>
          <a:p/>
          <a:p>
            <a:r>
              <a:t>▶ CLIC 'Porque uno no necesita ver el modelo. Necesita que el modelo le cuente.' *(pausa)*</a:t>
            </a:r>
          </a:p>
          <a:p/>
          <a:p>
            <a:r>
              <a:t>'Y les dejo una última pregunta. Si mañana uno de sus modelos deja de oír… ¿quién se va a enterar primero? ¿Ustedes… o la vereda que se quedó sin agua?' *(pausa larga antes de pasar)*</a:t>
            </a:r>
          </a:p>
          <a:p/>
          <a:p>
            <a:r>
              <a:t>*La línea de la lámina es la que imprimió la terminal en el ensayo: score 0.42 contra un umbral de 0.34.*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RECURSOS Y CONTACTO</a:t>
            </a:r>
          </a:p>
          <a:p/>
          <a:p>
            <a:r>
              <a:t>0:15 · sin clics</a:t>
            </a:r>
          </a:p>
          <a:p/>
          <a:p>
            <a:r>
              <a:t>'Todo lo que vieron está en el repo de ese QR: la demo con el paso a paso, las láminas y este guion. Tómenle foto.'</a:t>
            </a:r>
          </a:p>
          <a:p/>
          <a:p>
            <a:r>
              <a:t>*El QR lleva a https://github.com/alejandro945/mlops-a-ciegas (público desde el 12 de octubre; verificado leyendo el QR de la lámina). Si lo necesitas suelto, está en talk/assets/qr-repo.png y qr-repo.svg.*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GRACIAS</a:t>
            </a:r>
          </a:p>
          <a:p/>
          <a:p>
            <a:r>
              <a:t>0:15 · sin clics</a:t>
            </a:r>
          </a:p>
          <a:p/>
          <a:p>
            <a:r>
              <a:t>'Muchas gracias.' *(espera el aplauso)* 'Con todo gusto respondo sus preguntas.'</a:t>
            </a:r>
          </a:p>
          <a:p/>
          <a:p>
            <a:r>
              <a:t>*Anexos: en PowerPoint escribe el número de la lámina y Enter (A1 = 30 … A8 = 37); para volver, el de la lámina donde estabas. A1 el evento, A2 el rollback paso a paso, A3 qué revierte Greengrass solo, A4 permisos y costo, A5 de la demo a producción, A6 qué método de drift, A7 regulación, A8 fuentes, A9 golden signals, A10 audio crudo contra eventos. Más respuestas en «Preguntas difíciles», al final de este archivo.*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DE LA DEMO, CAMPO POR CAMPO</a:t>
            </a:r>
          </a:p>
          <a:p/>
          <a:p>
            <a:r>
              <a:t>*Si preguntan qué lleva exactamente el evento. M para volver.*</a:t>
            </a:r>
          </a:p>
          <a:p/>
          <a:p>
            <a:r>
              <a:t>'Cada mensaje dice qué bomba decidió, con qué versión del modelo y la huella exacta de ese modelo. Trae un número de secuencia y la hora en que decidió. Qué audio escuchó, el score, el umbral de esa versión y si alertó o no. Un resumen de cómo venía la entrada, la latencia… y la verdad del clip, que solo existe en la demo.'</a:t>
            </a:r>
          </a:p>
          <a:p/>
          <a:p>
            <a:r>
              <a:t>'La hora de llegada la pone la regla de IoT. Si le restan la hora de la decisión, sale lo que la estación estuvo sin red.'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EL ROLLBACK AUTOMÁTICO, PASO A PASO</a:t>
            </a:r>
          </a:p>
          <a:p/>
          <a:p>
            <a:r>
              <a:t>*Úsalo mientras esperas la alarma del acto 3. Dura un minuto. M te devuelve a la demo.*</a:t>
            </a:r>
          </a:p>
          <a:p/>
          <a:p>
            <a:r>
              <a:t>'Mientras esperamos, les cuento qué está pasando ahora mismo, sin que yo toque nada.'</a:t>
            </a:r>
          </a:p>
          <a:p/>
          <a:p>
            <a:r>
              <a:t>'Yo mandé la 2.0.0 al ring 0. La bomba 1 se trajo su desired state, bajó los archivos de S3, revisó el digest e instaló. Para Greengrass, todo salió bien.'</a:t>
            </a:r>
          </a:p>
          <a:p/>
          <a:p>
            <a:r>
              <a:t>'Pero la bomba suena con falla y la versión nueva no avisa. Cada uno de esos mensajes pasa por la regla, cae en CloudWatch, y el filtro va contando: una falla que nadie oyó, otra, otra…'</a:t>
            </a:r>
          </a:p>
          <a:p/>
          <a:p>
            <a:r>
              <a:t>'Cuando en un minuto se juntan ocho, salta la alarma y llama a la Lambda. La Lambda le pregunta a Parameter Store cuál fue la última versión buena, le responde 1.0.0, y la vuelve a desplegar solo en el ring 0.'</a:t>
            </a:r>
          </a:p>
          <a:p/>
          <a:p>
            <a:r>
              <a:t>'Fíjense que yo solo aparezco en el primer paso. De ahí en adelante, nadie toca nada.'</a:t>
            </a:r>
          </a:p>
          <a:p/>
          <a:p>
            <a:r>
              <a:t>*El umbral de la alarma (fallas no oídas por minuto) es la variable de Terraform alarm_threshold, que en Actions viene de la variable del repo ALARM_THRESHOLD (8 por defecto). Con estos clips, la v2 deja pasar unas 12 por minuto. La alarma solo actúa cuando cambia de estado: antes de subir, tiene que estar en OK.*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*Si preguntan por qué hace falta el gate si Greengrass ya revierte.*</a:t>
            </a:r>
          </a:p>
          <a:p/>
          <a:p>
            <a:r>
              <a:t>'Greengrass sí se devuelve solo en tres casos: si alguien cambió un archivo en S3 y el digest no cuadra; si el componente no instala o no arranca, porque por defecto hace rollback; y si fallan muchos equipos del ring, porque cancela el despliegue.'</a:t>
            </a:r>
          </a:p>
          <a:p/>
          <a:p>
            <a:r>
              <a:t>'Pero hay un caso que no ve: un modelo que corre perfecto y decide mal. Para Greengrass eso salió bien. Ese caso solo lo ven los eventos del modelo y una alarma que los mire.'</a:t>
            </a:r>
          </a:p>
          <a:p/>
          <a:p>
            <a:r>
              <a:t>*Fuentes: https://docs.aws.amazon.com/greengrass/v2/developerguide/component-recipe-reference.html (Digest) · https://docs.aws.amazon.com/greengrass/v2/APIReference/API_DeploymentPolicies.html (ROLLBACK por defecto) · https://docs.aws.amazon.com/cli/latest/reference/greengrassv2/create-deployment.html (abortConfig).*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*Si preguntan por permisos o por cuánto cuesta.*</a:t>
            </a:r>
          </a:p>
          <a:p/>
          <a:p>
            <a:r>
              <a:t>'Cada pieza tiene lo mínimo. La bomba solo puede leer su bucket y solo puede publicar en su tema, con su propia identidad. La regla solo escribe en sus logs. Y la Lambda solo puede crear el despliegue y leer el parámetro.'</a:t>
            </a:r>
          </a:p>
          <a:p/>
          <a:p>
            <a:r>
              <a:t>'¿Y cuánto cuesta? Lo que más pesa es la EC2 que hospeda las cinco bombas; después vienen los mensajes de IoT Core, Greengrass, CloudWatch y Lambda. La cifra exacta la saco de Cost Explorer. Y para no pagar de más, todo se baja con un destroy desde 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*Si preguntan qué cambia para una flota real.*</a:t>
            </a:r>
          </a:p>
          <a:p/>
          <a:p>
            <a:r>
              <a:t>'Cambiarían cinco cosas. En vez de un mensaje por clip, un resumen por minuto, y el detalle solo cuando algo cambia. La cola se va a disco. El agente pasa a la versión liviana en los equipos pequeños. El canary deja de ser una sola estación y se compara contra el ring. Y la verdad del clip, que aquí ya la sabemos, en producción llega tarde, con la orden de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*Si preguntan cómo medir el drift.*</a:t>
            </a:r>
          </a:p>
          <a:p/>
          <a:p>
            <a:r>
              <a:t>'Depende del dato. PSI sirve para rangos o categorías, pero sus umbrales son más costumbre que estadística. Kolmogorov-Smirnov sirve con pocas muestras; con muchas, da falsas alarmas. Wasserstein dice cuánto se movió la distribución. Y Jensen-Shannon queda siempre entre cero y uno, que es cómodo para alertar.'</a:t>
            </a:r>
          </a:p>
          <a:p/>
          <a:p>
            <a:r>
              <a:t>'En la demo uso algo más sencillo: qué tan lejos está cada clip de la huella del sonido normal. Con la otra velocidad, en el set de prueba, pasa de 0,76 a 1,07.'</a:t>
            </a:r>
          </a:p>
          <a:p/>
          <a:p>
            <a:r>
              <a:t>*En el ensayo, con ./demo/domain.sh pump-05 shifted, la entrada de la bomba 5 subió de ~0,8 a entre 1,6 y 2,2 desde el primer clip, y aparecieron alertas falsas. En el dashboard, el widget de la entrada muestra el promedio de la flota y la peor bomba: la deriva de una sola bomba se ve en la segunda serie.*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 · *si preguntan quién más va a pedir cuentas*</a:t>
            </a:r>
          </a:p>
          <a:p/>
          <a:p>
            <a:r>
              <a:t>'En Europa, el AI Act les pide a los sistemas de alto riesgo que registren eventos solos durante toda su vida, que los guarden al menos seis meses y que los sigan monitoreando después de salir al mercado. Para alto riesgo aplica desde diciembre de 2027 o agosto de 2028, según el caso.'</a:t>
            </a:r>
          </a:p>
          <a:p/>
          <a:p>
            <a:r>
              <a:t>▶ CLIC 'En Estados Unidos está el marco de riesgo de IA del NIST. Es voluntario, pero se volvió el idioma común.'</a:t>
            </a:r>
          </a:p>
          <a:p/>
          <a:p>
            <a:r>
              <a:t>▶ CLIC 'Y la ISO 42001, que es como la 27001 pero para IA, y se puede certificar.'</a:t>
            </a:r>
          </a:p>
          <a:p/>
          <a:p>
            <a:r>
              <a:t>▶ CLIC 'Y si se fijan, todos piden lo mismo que uno necesita para operar: saber qué corre, qué decidió y cómo devolverse.'</a:t>
            </a:r>
          </a:p>
          <a:p/>
          <a:p>
            <a:r>
              <a:t>*Si preguntan por Colombia: el AI Act se aplica a lo que se pone en el mercado de la UE, se fabrique donde se fabrique. Verifica en EUR-Lex el número y las fechas del Reglamento (UE) 2026/1744 antes de subir.*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*Si piden los papers y los datos. Los audios y las cifras salen de MIMII DUE (Tanabe et al., Hitachi, 2021), bombas, licencia CC BY-NC-SA 4.0. Las fuentes de AWS no van en láminas: están en este guion y en el README de la PoC.*</a:t>
            </a:r>
          </a:p>
          <a:p/>
          <a:p>
            <a:r>
              <a:t>'Todo está aquí y en el repo. Los audios son de MIMII DUE, de Hitachi, con licencia abierta no comercial.'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GOLDEN SIGNALS DE UN MODELO</a:t>
            </a:r>
          </a:p>
          <a:p/>
          <a:p>
            <a:r>
              <a:t>*Si preguntan qué mirar en el dashboard.*</a:t>
            </a:r>
          </a:p>
          <a:p/>
          <a:p>
            <a:r>
              <a:t>'Los que venimos de SRE conocemos las golden signals de un servicio: latencia, tráfico, errores y saturación. Las de un modelo, con la bomba, serían: ¿qué está decidiendo? ¿Con cuánta seguridad? ¿Lo que le llega se parece a lo que aprendió? ¿Y qué versión corre dónde? Ninguna sola alcanza; hay que mirarlas juntas.'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 · *si preguntan por qué no mandar el audio a la nube*</a:t>
            </a:r>
          </a:p>
          <a:p/>
          <a:p>
            <a:r>
              <a:t>'Si mandáramos el audio crudo de mil bombas, serían 2,76 terabytes al día.'</a:t>
            </a:r>
          </a:p>
          <a:p/>
          <a:p>
            <a:r>
              <a:t>▶ CLIC 'Un mensaje cada 10 segundos por bomba: 8,64 millones de mensajes al día.'</a:t>
            </a:r>
          </a:p>
          <a:p/>
          <a:p>
            <a:r>
              <a:t>▶ CLIC 'Y un resumen por minuto: 1,44 millones. Y el audio, quietico en la estación.'</a:t>
            </a:r>
          </a:p>
          <a:p/>
          <a:p>
            <a:r>
              <a:t>*La PoC manda un evento por clip, cada 3 s, porque son cinco bombas. Las cuentas están al pie de la lámina.*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1.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2.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gif"/><Relationship Id="rId3" Type="http://schemas.openxmlformats.org/officeDocument/2006/relationships/image" Target="../media/image17.gif"/><Relationship Id="rId4" Type="http://schemas.openxmlformats.org/officeDocument/2006/relationships/image" Target="../media/image18.gif"/><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image" Target="../media/image52.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jp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jpg"/><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3.jp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jp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7.png"/><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jp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4.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5.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7.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Senior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Foto" descr="photo.jpg"/>
          <p:cNvPicPr>
            <a:picLocks noChangeAspect="1"/>
          </p:cNvPicPr>
          <p:nvPr/>
        </p:nvPicPr>
        <p:blipFill>
          <a:blip r:embed="rId2"/>
          <a:stretch>
            <a:fillRect/>
          </a:stretch>
        </p:blipFill>
        <p:spPr>
          <a:xfrm>
            <a:off x="640080" y="1874520"/>
            <a:ext cx="3200400" cy="3200400"/>
          </a:xfrm>
          <a:prstGeom prst="rect">
            <a:avLst/>
          </a:prstGeom>
        </p:spPr>
      </p:pic>
      <p:sp>
        <p:nvSpPr>
          <p:cNvPr id="55" name="TextBox 54"/>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6" name="TextBox 55"/>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Senior Cloud Engineer</a:t>
            </a:r>
          </a:p>
        </p:txBody>
      </p:sp>
      <p:pic>
        <p:nvPicPr>
          <p:cNvPr id="57" name="Logo empresa" descr="epam.png"/>
          <p:cNvPicPr>
            <a:picLocks noChangeAspect="1"/>
          </p:cNvPicPr>
          <p:nvPr/>
        </p:nvPicPr>
        <p:blipFill>
          <a:blip r:embed="rId3"/>
          <a:stretch>
            <a:fillRect/>
          </a:stretch>
        </p:blipFill>
        <p:spPr>
          <a:xfrm>
            <a:off x="6051232" y="2301240"/>
            <a:ext cx="495300" cy="259080"/>
          </a:xfrm>
          <a:prstGeom prst="rect">
            <a:avLst/>
          </a:prstGeom>
        </p:spPr>
      </p:pic>
      <p:sp>
        <p:nvSpPr>
          <p:cNvPr id="58" name="TextBox 57"/>
          <p:cNvSpPr txBox="1"/>
          <p:nvPr/>
        </p:nvSpPr>
        <p:spPr>
          <a:xfrm>
            <a:off x="4206240" y="2712720"/>
            <a:ext cx="6858000" cy="579120"/>
          </a:xfrm>
          <a:prstGeom prst="rect">
            <a:avLst/>
          </a:prstGeom>
          <a:noFill/>
        </p:spPr>
        <p:txBody>
          <a:bodyPr wrap="square" lIns="0" tIns="0" rIns="0" bIns="0" anchor="t">
            <a:noAutofit/>
          </a:bodyPr>
          <a:lstStyle/>
          <a:p>
            <a:pPr>
              <a:lnSpc>
                <a:spcPct val="114800"/>
              </a:lnSpc>
            </a:pPr>
            <a:r>
              <a:rPr sz="1500" b="0" lang="es-CO">
                <a:solidFill>
                  <a:srgbClr val="475569"/>
                </a:solidFill>
                <a:latin typeface="Calibri"/>
              </a:rPr>
              <a:t>Diseño cómo llegan y se gobiernan modelos de IA en equipos de campo: inferencia en el edge e IoT industrial sobre AWS, Azure y GCP.</a:t>
            </a:r>
          </a:p>
        </p:txBody>
      </p:sp>
      <p:sp>
        <p:nvSpPr>
          <p:cNvPr id="59" name="Certificaciones"/>
          <p:cNvSpPr txBox="1"/>
          <p:nvPr/>
        </p:nvSpPr>
        <p:spPr>
          <a:xfrm>
            <a:off x="420624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0" name="AWS Certified Solutions Architect – Professional" descr="aws-sap-solutions-architect-professional.png"/>
          <p:cNvPicPr>
            <a:picLocks noChangeAspect="1"/>
          </p:cNvPicPr>
          <p:nvPr/>
        </p:nvPicPr>
        <p:blipFill>
          <a:blip r:embed="rId4"/>
          <a:stretch>
            <a:fillRect/>
          </a:stretch>
        </p:blipFill>
        <p:spPr>
          <a:xfrm>
            <a:off x="4206240" y="3771900"/>
            <a:ext cx="701040" cy="701040"/>
          </a:xfrm>
          <a:prstGeom prst="rect">
            <a:avLst/>
          </a:prstGeom>
        </p:spPr>
      </p:pic>
      <p:pic>
        <p:nvPicPr>
          <p:cNvPr id="61" name="AWS Certified DevOps Engineer – Professional" descr="aws-dop-devops-engineer-professional.png"/>
          <p:cNvPicPr>
            <a:picLocks noChangeAspect="1"/>
          </p:cNvPicPr>
          <p:nvPr/>
        </p:nvPicPr>
        <p:blipFill>
          <a:blip r:embed="rId5"/>
          <a:stretch>
            <a:fillRect/>
          </a:stretch>
        </p:blipFill>
        <p:spPr>
          <a:xfrm>
            <a:off x="4983480" y="3771900"/>
            <a:ext cx="701040" cy="701040"/>
          </a:xfrm>
          <a:prstGeom prst="rect">
            <a:avLst/>
          </a:prstGeom>
        </p:spPr>
      </p:pic>
      <p:pic>
        <p:nvPicPr>
          <p:cNvPr id="62" name="AWS Certified Advanced Networking – Specialty" descr="aws-ans-advanced-networking-specialty.png"/>
          <p:cNvPicPr>
            <a:picLocks noChangeAspect="1"/>
          </p:cNvPicPr>
          <p:nvPr/>
        </p:nvPicPr>
        <p:blipFill>
          <a:blip r:embed="rId6"/>
          <a:stretch>
            <a:fillRect/>
          </a:stretch>
        </p:blipFill>
        <p:spPr>
          <a:xfrm>
            <a:off x="5760720" y="3771900"/>
            <a:ext cx="701040" cy="701040"/>
          </a:xfrm>
          <a:prstGeom prst="rect">
            <a:avLst/>
          </a:prstGeom>
        </p:spPr>
      </p:pic>
      <p:pic>
        <p:nvPicPr>
          <p:cNvPr id="63" name="AWS Certified Security – Specialty" descr="aws-scs-security-specialty.png"/>
          <p:cNvPicPr>
            <a:picLocks noChangeAspect="1"/>
          </p:cNvPicPr>
          <p:nvPr/>
        </p:nvPicPr>
        <p:blipFill>
          <a:blip r:embed="rId7"/>
          <a:stretch>
            <a:fillRect/>
          </a:stretch>
        </p:blipFill>
        <p:spPr>
          <a:xfrm>
            <a:off x="6537960" y="3771900"/>
            <a:ext cx="701040" cy="701040"/>
          </a:xfrm>
          <a:prstGeom prst="rect">
            <a:avLst/>
          </a:prstGeom>
        </p:spPr>
      </p:pic>
      <p:pic>
        <p:nvPicPr>
          <p:cNvPr id="64" name="AWS Certified Solutions Architect – Associate" descr="aws-saa-solutions-architect-associate.png"/>
          <p:cNvPicPr>
            <a:picLocks noChangeAspect="1"/>
          </p:cNvPicPr>
          <p:nvPr/>
        </p:nvPicPr>
        <p:blipFill>
          <a:blip r:embed="rId8"/>
          <a:stretch>
            <a:fillRect/>
          </a:stretch>
        </p:blipFill>
        <p:spPr>
          <a:xfrm>
            <a:off x="7315200" y="3771900"/>
            <a:ext cx="701040" cy="701040"/>
          </a:xfrm>
          <a:prstGeom prst="rect">
            <a:avLst/>
          </a:prstGeom>
        </p:spPr>
      </p:pic>
      <p:sp>
        <p:nvSpPr>
          <p:cNvPr id="65" name="Certificaciones"/>
          <p:cNvSpPr txBox="1"/>
          <p:nvPr/>
        </p:nvSpPr>
        <p:spPr>
          <a:xfrm>
            <a:off x="827532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6" name="Certified Kubernetes Administrator" descr="k8s-cka-administrator.png"/>
          <p:cNvPicPr>
            <a:picLocks noChangeAspect="1"/>
          </p:cNvPicPr>
          <p:nvPr/>
        </p:nvPicPr>
        <p:blipFill>
          <a:blip r:embed="rId9"/>
          <a:stretch>
            <a:fillRect/>
          </a:stretch>
        </p:blipFill>
        <p:spPr>
          <a:xfrm>
            <a:off x="8275320" y="3771900"/>
            <a:ext cx="701040" cy="701040"/>
          </a:xfrm>
          <a:prstGeom prst="rect">
            <a:avLst/>
          </a:prstGeom>
        </p:spPr>
      </p:pic>
      <p:pic>
        <p:nvPicPr>
          <p:cNvPr id="67" name="Certified Kubernetes Application Developer" descr="k8s-ckad-application-developer.png"/>
          <p:cNvPicPr>
            <a:picLocks noChangeAspect="1"/>
          </p:cNvPicPr>
          <p:nvPr/>
        </p:nvPicPr>
        <p:blipFill>
          <a:blip r:embed="rId10"/>
          <a:stretch>
            <a:fillRect/>
          </a:stretch>
        </p:blipFill>
        <p:spPr>
          <a:xfrm>
            <a:off x="9052560" y="3771900"/>
            <a:ext cx="701040" cy="701040"/>
          </a:xfrm>
          <a:prstGeom prst="rect">
            <a:avLst/>
          </a:prstGeom>
        </p:spPr>
      </p:pic>
      <p:pic>
        <p:nvPicPr>
          <p:cNvPr id="68" name="Certified Kubernetes Security Specialist" descr="k8s-cks-security-specialist.png"/>
          <p:cNvPicPr>
            <a:picLocks noChangeAspect="1"/>
          </p:cNvPicPr>
          <p:nvPr/>
        </p:nvPicPr>
        <p:blipFill>
          <a:blip r:embed="rId11"/>
          <a:stretch>
            <a:fillRect/>
          </a:stretch>
        </p:blipFill>
        <p:spPr>
          <a:xfrm>
            <a:off x="9829800" y="3771900"/>
            <a:ext cx="701040" cy="701040"/>
          </a:xfrm>
          <a:prstGeom prst="rect">
            <a:avLst/>
          </a:prstGeom>
        </p:spPr>
      </p:pic>
      <p:sp>
        <p:nvSpPr>
          <p:cNvPr id="69" name="Fuera del trabajo"/>
          <p:cNvSpPr txBox="1"/>
          <p:nvPr/>
        </p:nvSpPr>
        <p:spPr>
          <a:xfrm>
            <a:off x="4206240" y="4762500"/>
            <a:ext cx="6858000" cy="493776"/>
          </a:xfrm>
          <a:prstGeom prst="rect">
            <a:avLst/>
          </a:prstGeom>
          <a:noFill/>
        </p:spPr>
        <p:txBody>
          <a:bodyPr wrap="square" lIns="0" tIns="0" rIns="0" bIns="0" anchor="t">
            <a:noAutofit/>
          </a:bodyPr>
          <a:lstStyle/>
          <a:p>
            <a:pPr>
              <a:lnSpc>
                <a:spcPct val="114800"/>
              </a:lnSpc>
            </a:pPr>
            <a:r>
              <a:rPr sz="1260" b="1" lang="es-CO">
                <a:solidFill>
                  <a:srgbClr val="071329"/>
                </a:solidFill>
                <a:latin typeface="Calibri"/>
              </a:rPr>
              <a:t>Fuera del trabajo:</a:t>
            </a:r>
            <a:r>
              <a:rPr sz="1260" b="0" lang="es-CO">
                <a:solidFill>
                  <a:srgbClr val="475569"/>
                </a:solidFill>
                <a:latin typeface="Calibri"/>
              </a:rPr>
              <a:t> cualquier deporte de raqueta (tenis de mesa, tenis, pádel…), aprender algo nuevo para estar a la vanguardia y viajar.</a:t>
            </a:r>
          </a:p>
        </p:txBody>
      </p:sp>
      <p:sp>
        <p:nvSpPr>
          <p:cNvPr id="70" name="TextBox 69"/>
          <p:cNvSpPr txBox="1"/>
          <p:nvPr/>
        </p:nvSpPr>
        <p:spPr>
          <a:xfrm>
            <a:off x="4206240" y="537972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loop cerrado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1402080" y="2792730"/>
            <a:ext cx="3192780" cy="185547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2895600" cy="268605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381500" y="2213610"/>
            <a:ext cx="2644140" cy="3093720"/>
          </a:xfrm>
          <a:prstGeom prst="rect">
            <a:avLst/>
          </a:prstGeom>
        </p:spPr>
      </p:pic>
      <p:pic>
        <p:nvPicPr>
          <p:cNvPr id="61" name="Capa on3" descr="iso_edge_07_on3.png"/>
          <p:cNvPicPr>
            <a:picLocks noChangeAspect="1"/>
          </p:cNvPicPr>
          <p:nvPr/>
        </p:nvPicPr>
        <p:blipFill>
          <a:blip r:embed="rId9"/>
          <a:stretch>
            <a:fillRect/>
          </a:stretch>
        </p:blipFill>
        <p:spPr>
          <a:xfrm>
            <a:off x="8039100" y="5135880"/>
            <a:ext cx="2301240" cy="209550"/>
          </a:xfrm>
          <a:prstGeom prst="rect">
            <a:avLst/>
          </a:prstGeom>
        </p:spPr>
      </p:pic>
      <p:pic>
        <p:nvPicPr>
          <p:cNvPr id="62" name="Capa on4" descr="iso_edge_08_on4.png"/>
          <p:cNvPicPr>
            <a:picLocks noChangeAspect="1"/>
          </p:cNvPicPr>
          <p:nvPr/>
        </p:nvPicPr>
        <p:blipFill>
          <a:blip r:embed="rId10"/>
          <a:stretch>
            <a:fillRect/>
          </a:stretch>
        </p:blipFill>
        <p:spPr>
          <a:xfrm>
            <a:off x="723900" y="5452110"/>
            <a:ext cx="2918460" cy="217170"/>
          </a:xfrm>
          <a:prstGeom prst="rect">
            <a:avLst/>
          </a:prstGeom>
        </p:spPr>
      </p:pic>
      <p:pic>
        <p:nvPicPr>
          <p:cNvPr id="63" name="Capa on5" descr="iso_edge_09_on5.png"/>
          <p:cNvPicPr>
            <a:picLocks noChangeAspect="1"/>
          </p:cNvPicPr>
          <p:nvPr/>
        </p:nvPicPr>
        <p:blipFill>
          <a:blip r:embed="rId11"/>
          <a:stretch>
            <a:fillRect/>
          </a:stretch>
        </p:blipFill>
        <p:spPr>
          <a:xfrm>
            <a:off x="4381500" y="5455920"/>
            <a:ext cx="2907030" cy="20955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61"/>
                                        </p:tgtEl>
                                        <p:attrNameLst>
                                          <p:attrName>style.visibility</p:attrName>
                                        </p:attrNameLst>
                                      </p:cBhvr>
                                      <p:to>
                                        <p:strVal val="visible"/>
                                      </p:to>
                                    </p:set>
                                    <p:animEffect transition="in" filter="fade">
                                      <p:cBhvr>
                                        <p:cTn id="26" dur="400"/>
                                        <p:tgtEl>
                                          <p:spTgt spid="6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fade">
                                      <p:cBhvr>
                                        <p:cTn id="31" dur="400"/>
                                        <p:tgtEl>
                                          <p:spTgt spid="6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fade">
                                      <p:cBhvr>
                                        <p:cTn id="3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3642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Antes de proteger el modelo, </a:t>
            </a:r>
            <a:r>
              <a:rPr b="1" lang="es-CO">
                <a:solidFill>
                  <a:srgbClr val="6D28D9"/>
                </a:solidFill>
              </a:rPr>
              <a:t>protege el equipo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ounded Rectangle 53"/>
          <p:cNvSpPr/>
          <p:nvPr/>
        </p:nvSpPr>
        <p:spPr>
          <a:xfrm>
            <a:off x="6400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382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01</a:t>
            </a:r>
          </a:p>
        </p:txBody>
      </p:sp>
      <p:sp>
        <p:nvSpPr>
          <p:cNvPr id="56" name="TextBox 55"/>
          <p:cNvSpPr txBox="1"/>
          <p:nvPr/>
        </p:nvSpPr>
        <p:spPr>
          <a:xfrm>
            <a:off x="8382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Arranque seguro</a:t>
            </a:r>
          </a:p>
        </p:txBody>
      </p:sp>
      <p:sp>
        <p:nvSpPr>
          <p:cNvPr id="57" name="TextBox 56"/>
          <p:cNvSpPr txBox="1"/>
          <p:nvPr/>
        </p:nvSpPr>
        <p:spPr>
          <a:xfrm>
            <a:off x="838200" y="2834640"/>
            <a:ext cx="2171700" cy="23622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arranca software firmado.</a:t>
            </a:r>
          </a:p>
        </p:txBody>
      </p:sp>
      <p:sp>
        <p:nvSpPr>
          <p:cNvPr id="58" name="TextBox 57"/>
          <p:cNvSpPr txBox="1"/>
          <p:nvPr/>
        </p:nvSpPr>
        <p:spPr>
          <a:xfrm>
            <a:off x="8382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secure boot · UEFI, HAB en ARM</a:t>
            </a:r>
          </a:p>
        </p:txBody>
      </p:sp>
      <p:sp>
        <p:nvSpPr>
          <p:cNvPr id="59" name="Rounded Rectangle 58"/>
          <p:cNvSpPr/>
          <p:nvPr/>
        </p:nvSpPr>
        <p:spPr>
          <a:xfrm>
            <a:off x="34213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0" name="TextBox 59"/>
          <p:cNvSpPr txBox="1"/>
          <p:nvPr/>
        </p:nvSpPr>
        <p:spPr>
          <a:xfrm>
            <a:off x="36195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02</a:t>
            </a:r>
          </a:p>
        </p:txBody>
      </p:sp>
      <p:sp>
        <p:nvSpPr>
          <p:cNvPr id="61" name="TextBox 60"/>
          <p:cNvSpPr txBox="1"/>
          <p:nvPr/>
        </p:nvSpPr>
        <p:spPr>
          <a:xfrm>
            <a:off x="36195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Llave protegida</a:t>
            </a:r>
          </a:p>
        </p:txBody>
      </p:sp>
      <p:sp>
        <p:nvSpPr>
          <p:cNvPr id="62" name="TextBox 61"/>
          <p:cNvSpPr txBox="1"/>
          <p:nvPr/>
        </p:nvSpPr>
        <p:spPr>
          <a:xfrm>
            <a:off x="36195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La identidad del equipo no se copia de la tarjeta SD.</a:t>
            </a:r>
          </a:p>
        </p:txBody>
      </p:sp>
      <p:sp>
        <p:nvSpPr>
          <p:cNvPr id="63" name="TextBox 62"/>
          <p:cNvSpPr txBox="1"/>
          <p:nvPr/>
        </p:nvSpPr>
        <p:spPr>
          <a:xfrm>
            <a:off x="36195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TPM · PKCS#11 en Greengrass</a:t>
            </a:r>
          </a:p>
        </p:txBody>
      </p:sp>
      <p:sp>
        <p:nvSpPr>
          <p:cNvPr id="64" name="Rounded Rectangle 63"/>
          <p:cNvSpPr/>
          <p:nvPr/>
        </p:nvSpPr>
        <p:spPr>
          <a:xfrm>
            <a:off x="62026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64008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03</a:t>
            </a:r>
          </a:p>
        </p:txBody>
      </p:sp>
      <p:sp>
        <p:nvSpPr>
          <p:cNvPr id="66" name="TextBox 65"/>
          <p:cNvSpPr txBox="1"/>
          <p:nvPr/>
        </p:nvSpPr>
        <p:spPr>
          <a:xfrm>
            <a:off x="64008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Updates verificados</a:t>
            </a:r>
          </a:p>
        </p:txBody>
      </p:sp>
      <p:sp>
        <p:nvSpPr>
          <p:cNvPr id="67" name="TextBox 66"/>
          <p:cNvSpPr txBox="1"/>
          <p:nvPr/>
        </p:nvSpPr>
        <p:spPr>
          <a:xfrm>
            <a:off x="64008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instala lo que trae la huella correcta.</a:t>
            </a:r>
          </a:p>
        </p:txBody>
      </p:sp>
      <p:sp>
        <p:nvSpPr>
          <p:cNvPr id="68" name="TextBox 67"/>
          <p:cNvSpPr txBox="1"/>
          <p:nvPr/>
        </p:nvSpPr>
        <p:spPr>
          <a:xfrm>
            <a:off x="64008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digest · mTLS · firma</a:t>
            </a:r>
          </a:p>
        </p:txBody>
      </p:sp>
      <p:sp>
        <p:nvSpPr>
          <p:cNvPr id="69" name="Rounded Rectangle 68"/>
          <p:cNvSpPr/>
          <p:nvPr/>
        </p:nvSpPr>
        <p:spPr>
          <a:xfrm>
            <a:off x="8983980" y="1798320"/>
            <a:ext cx="2567940" cy="2286000"/>
          </a:xfrm>
          <a:prstGeom prst="roundRect">
            <a:avLst>
              <a:gd name="adj" fmla="val 4000"/>
            </a:avLst>
          </a:prstGeom>
          <a:solidFill>
            <a:srgbClr val="FFFFFF"/>
          </a:solidFill>
          <a:ln w="11430">
            <a:solidFill>
              <a:srgbClr val="6D28D9"/>
            </a:solidFill>
          </a:ln>
        </p:spPr>
        <p:txBody>
          <a:bodyPr rtlCol="0" anchor="ctr"/>
          <a:lstStyle/>
          <a:p>
            <a:pPr algn="ctr"/>
          </a:p>
        </p:txBody>
      </p:sp>
      <p:sp>
        <p:nvSpPr>
          <p:cNvPr id="70" name="TextBox 69"/>
          <p:cNvSpPr txBox="1"/>
          <p:nvPr/>
        </p:nvSpPr>
        <p:spPr>
          <a:xfrm>
            <a:off x="9182100" y="1996440"/>
            <a:ext cx="2171700" cy="335280"/>
          </a:xfrm>
          <a:prstGeom prst="rect">
            <a:avLst/>
          </a:prstGeom>
          <a:noFill/>
        </p:spPr>
        <p:txBody>
          <a:bodyPr wrap="square" lIns="0" tIns="0" rIns="0" bIns="0" anchor="t">
            <a:noAutofit/>
          </a:bodyPr>
          <a:lstStyle/>
          <a:p>
            <a:r>
              <a:rPr sz="2400" b="1" lang="es-CO">
                <a:solidFill>
                  <a:srgbClr val="6D28D9"/>
                </a:solidFill>
                <a:latin typeface="Courier New"/>
              </a:rPr>
              <a:t>04</a:t>
            </a:r>
          </a:p>
        </p:txBody>
      </p:sp>
      <p:sp>
        <p:nvSpPr>
          <p:cNvPr id="71" name="TextBox 70"/>
          <p:cNvSpPr txBox="1"/>
          <p:nvPr/>
        </p:nvSpPr>
        <p:spPr>
          <a:xfrm>
            <a:off x="91821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Datos privados</a:t>
            </a:r>
          </a:p>
        </p:txBody>
      </p:sp>
      <p:sp>
        <p:nvSpPr>
          <p:cNvPr id="72" name="TextBox 71"/>
          <p:cNvSpPr txBox="1"/>
          <p:nvPr/>
        </p:nvSpPr>
        <p:spPr>
          <a:xfrm>
            <a:off x="91821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El audio no sale y se cifra en el disco.</a:t>
            </a:r>
          </a:p>
        </p:txBody>
      </p:sp>
      <p:sp>
        <p:nvSpPr>
          <p:cNvPr id="73" name="TextBox 72"/>
          <p:cNvSpPr txBox="1"/>
          <p:nvPr/>
        </p:nvSpPr>
        <p:spPr>
          <a:xfrm>
            <a:off x="91821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solo salen eventos</a:t>
            </a:r>
          </a:p>
        </p:txBody>
      </p:sp>
      <p:sp>
        <p:nvSpPr>
          <p:cNvPr id="74" name="Remate"/>
          <p:cNvSpPr txBox="1"/>
          <p:nvPr/>
        </p:nvSpPr>
        <p:spPr>
          <a:xfrm>
            <a:off x="640080" y="4556760"/>
            <a:ext cx="10911840" cy="346558"/>
          </a:xfrm>
          <a:prstGeom prst="rect">
            <a:avLst/>
          </a:prstGeom>
          <a:noFill/>
        </p:spPr>
        <p:txBody>
          <a:bodyPr wrap="square" lIns="0" tIns="0" rIns="0" bIns="0" anchor="t">
            <a:noAutofit/>
          </a:bodyPr>
          <a:lstStyle/>
          <a:p>
            <a:r>
              <a:rPr sz="2039" b="0" lang="es-CO">
                <a:solidFill>
                  <a:srgbClr val="071329"/>
                </a:solidFill>
                <a:latin typeface="Calibri"/>
              </a:rPr>
              <a:t>Sin esto, nadie necesita engañar a tu modelo: </a:t>
            </a:r>
            <a:r>
              <a:rPr sz="2039" b="1" lang="es-CO">
                <a:solidFill>
                  <a:srgbClr val="6D28D9"/>
                </a:solidFill>
                <a:latin typeface="Calibri"/>
              </a:rPr>
              <a:t>le basta con reemplazarlo</a:t>
            </a:r>
            <a:r>
              <a:rPr sz="2039"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animEffect transition="in" filter="fade">
                                      <p:cBhvr>
                                        <p:cTn id="27" dur="400"/>
                                        <p:tgtEl>
                                          <p:spTgt spid="6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6"/>
                                        </p:tgtEl>
                                        <p:attrNameLst>
                                          <p:attrName>style.visibility</p:attrName>
                                        </p:attrNameLst>
                                      </p:cBhvr>
                                      <p:to>
                                        <p:strVal val="visible"/>
                                      </p:to>
                                    </p:set>
                                    <p:animEffect transition="in" filter="fade">
                                      <p:cBhvr>
                                        <p:cTn id="30" dur="400"/>
                                        <p:tgtEl>
                                          <p:spTgt spid="6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7"/>
                                        </p:tgtEl>
                                        <p:attrNameLst>
                                          <p:attrName>style.visibility</p:attrName>
                                        </p:attrNameLst>
                                      </p:cBhvr>
                                      <p:to>
                                        <p:strVal val="visible"/>
                                      </p:to>
                                    </p:set>
                                    <p:animEffect transition="in" filter="fade">
                                      <p:cBhvr>
                                        <p:cTn id="33" dur="400"/>
                                        <p:tgtEl>
                                          <p:spTgt spid="6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8"/>
                                        </p:tgtEl>
                                        <p:attrNameLst>
                                          <p:attrName>style.visibility</p:attrName>
                                        </p:attrNameLst>
                                      </p:cBhvr>
                                      <p:to>
                                        <p:strVal val="visible"/>
                                      </p:to>
                                    </p:set>
                                    <p:animEffect transition="in" filter="fade">
                                      <p:cBhvr>
                                        <p:cTn id="36" dur="400"/>
                                        <p:tgtEl>
                                          <p:spTgt spid="6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69"/>
                                        </p:tgtEl>
                                        <p:attrNameLst>
                                          <p:attrName>style.visibility</p:attrName>
                                        </p:attrNameLst>
                                      </p:cBhvr>
                                      <p:to>
                                        <p:strVal val="visible"/>
                                      </p:to>
                                    </p:set>
                                    <p:animEffect transition="in" filter="fade">
                                      <p:cBhvr>
                                        <p:cTn id="41" dur="400"/>
                                        <p:tgtEl>
                                          <p:spTgt spid="6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70"/>
                                        </p:tgtEl>
                                        <p:attrNameLst>
                                          <p:attrName>style.visibility</p:attrName>
                                        </p:attrNameLst>
                                      </p:cBhvr>
                                      <p:to>
                                        <p:strVal val="visible"/>
                                      </p:to>
                                    </p:set>
                                    <p:animEffect transition="in" filter="fade">
                                      <p:cBhvr>
                                        <p:cTn id="44" dur="400"/>
                                        <p:tgtEl>
                                          <p:spTgt spid="7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71"/>
                                        </p:tgtEl>
                                        <p:attrNameLst>
                                          <p:attrName>style.visibility</p:attrName>
                                        </p:attrNameLst>
                                      </p:cBhvr>
                                      <p:to>
                                        <p:strVal val="visible"/>
                                      </p:to>
                                    </p:set>
                                    <p:animEffect transition="in" filter="fade">
                                      <p:cBhvr>
                                        <p:cTn id="47" dur="400"/>
                                        <p:tgtEl>
                                          <p:spTgt spid="7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72"/>
                                        </p:tgtEl>
                                        <p:attrNameLst>
                                          <p:attrName>style.visibility</p:attrName>
                                        </p:attrNameLst>
                                      </p:cBhvr>
                                      <p:to>
                                        <p:strVal val="visible"/>
                                      </p:to>
                                    </p:set>
                                    <p:animEffect transition="in" filter="fade">
                                      <p:cBhvr>
                                        <p:cTn id="50" dur="400"/>
                                        <p:tgtEl>
                                          <p:spTgt spid="7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73"/>
                                        </p:tgtEl>
                                        <p:attrNameLst>
                                          <p:attrName>style.visibility</p:attrName>
                                        </p:attrNameLst>
                                      </p:cBhvr>
                                      <p:to>
                                        <p:strVal val="visible"/>
                                      </p:to>
                                    </p:set>
                                    <p:animEffect transition="in" filter="fade">
                                      <p:cBhvr>
                                        <p:cTn id="53" dur="400"/>
                                        <p:tgtEl>
                                          <p:spTgt spid="7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74"/>
                                        </p:tgtEl>
                                        <p:attrNameLst>
                                          <p:attrName>style.visibility</p:attrName>
                                        </p:attrNameLst>
                                      </p:cBhvr>
                                      <p:to>
                                        <p:strVal val="visible"/>
                                      </p:to>
                                    </p:set>
                                    <p:animEffect transition="in" filter="fade">
                                      <p:cBhvr>
                                        <p:cTn id="58" dur="4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p:bldP spid="61" grpId="0"/>
      <p:bldP spid="62" grpId="0"/>
      <p:bldP spid="63" grpId="0"/>
      <p:bldP spid="64" grpId="0"/>
      <p:bldP spid="65" grpId="0"/>
      <p:bldP spid="66" grpId="0"/>
      <p:bldP spid="67" grpId="0"/>
      <p:bldP spid="68" grpId="0"/>
      <p:bldP spid="69" grpId="0"/>
      <p:bldP spid="70" grpId="0"/>
      <p:bldP spid="71" grpId="0"/>
      <p:bldP spid="72" grpId="0"/>
      <p:bldP spid="73" grpId="0"/>
      <p:bldP spid="74"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a:t>
            </a:r>
            <a:r>
              <a:rPr b="1" lang="es-CO">
                <a:solidFill>
                  <a:srgbClr val="6D28D9"/>
                </a:solidFill>
              </a:rPr>
              <a:t>para gobernarlo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rings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24155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24155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2415540"/>
            <a:ext cx="3813810" cy="1691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grpSp>
        <p:nvGrpSpPr>
          <p:cNvPr id="10" name="Captura de AWS"/>
          <p:cNvGrpSpPr/>
          <p:nvPr/>
        </p:nvGrpSpPr>
        <p:grpSpPr>
          <a:xfrm>
            <a:off x="0" y="1447800"/>
            <a:ext cx="12192000" cy="4053840"/>
            <a:chOff x="0" y="1447800"/>
            <a:chExt cx="12192000" cy="4053840"/>
          </a:xfrm>
        </p:grpSpPr>
        <p:sp>
          <p:nvSpPr>
            <p:cNvPr id="57"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8" name="Ventana"/>
            <p:cNvSpPr/>
            <p:nvPr/>
          </p:nvSpPr>
          <p:spPr>
            <a:xfrm>
              <a:off x="1143000" y="2308860"/>
              <a:ext cx="9906000" cy="2331720"/>
            </a:xfrm>
            <a:prstGeom prst="roundRect">
              <a:avLst>
                <a:gd name="adj" fmla="val 3921"/>
              </a:avLst>
            </a:prstGeom>
            <a:solidFill>
              <a:srgbClr val="FFFFFF"/>
            </a:solidFill>
            <a:ln w="11430">
              <a:solidFill>
                <a:srgbClr val="D5DEEA"/>
              </a:solidFill>
            </a:ln>
          </p:spPr>
          <p:txBody>
            <a:bodyPr rtlCol="0" anchor="ctr"/>
            <a:lstStyle/>
            <a:p>
              <a:pPr algn="ctr"/>
            </a:p>
          </p:txBody>
        </p:sp>
        <p:sp>
          <p:nvSpPr>
            <p:cNvPr id="59" name="Barra"/>
            <p:cNvSpPr/>
            <p:nvPr/>
          </p:nvSpPr>
          <p:spPr>
            <a:xfrm>
              <a:off x="1150620" y="2316480"/>
              <a:ext cx="9890760" cy="281940"/>
            </a:xfrm>
            <a:prstGeom prst="rect">
              <a:avLst/>
            </a:prstGeom>
            <a:solidFill>
              <a:srgbClr val="F4F7FC"/>
            </a:solidFill>
            <a:ln>
              <a:noFill/>
            </a:ln>
          </p:spPr>
          <p:txBody>
            <a:bodyPr rtlCol="0" anchor="ctr"/>
            <a:lstStyle/>
            <a:p>
              <a:pPr algn="ctr"/>
            </a:p>
          </p:txBody>
        </p:sp>
        <p:sp>
          <p:nvSpPr>
            <p:cNvPr id="60" name="Punto"/>
            <p:cNvSpPr/>
            <p:nvPr/>
          </p:nvSpPr>
          <p:spPr>
            <a:xfrm>
              <a:off x="1264920" y="241173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1409700" y="2411730"/>
              <a:ext cx="83820" cy="83820"/>
            </a:xfrm>
            <a:prstGeom prst="roundRect">
              <a:avLst>
                <a:gd name="adj" fmla="val 50000"/>
              </a:avLst>
            </a:prstGeom>
            <a:solidFill>
              <a:srgbClr val="D5DEEA"/>
            </a:solidFill>
            <a:ln>
              <a:noFill/>
            </a:ln>
          </p:spPr>
          <p:txBody>
            <a:bodyPr rtlCol="0" anchor="ctr"/>
            <a:lstStyle/>
            <a:p>
              <a:pPr algn="ctr"/>
            </a:p>
          </p:txBody>
        </p:sp>
        <p:sp>
          <p:nvSpPr>
            <p:cNvPr id="62" name="Punto"/>
            <p:cNvSpPr/>
            <p:nvPr/>
          </p:nvSpPr>
          <p:spPr>
            <a:xfrm>
              <a:off x="1554480" y="2411730"/>
              <a:ext cx="83820" cy="83820"/>
            </a:xfrm>
            <a:prstGeom prst="roundRect">
              <a:avLst>
                <a:gd name="adj" fmla="val 50000"/>
              </a:avLst>
            </a:prstGeom>
            <a:solidFill>
              <a:srgbClr val="D5DEEA"/>
            </a:solidFill>
            <a:ln>
              <a:noFill/>
            </a:ln>
          </p:spPr>
          <p:txBody>
            <a:bodyPr rtlCol="0" anchor="ctr"/>
            <a:lstStyle/>
            <a:p>
              <a:pPr algn="ctr"/>
            </a:p>
          </p:txBody>
        </p:sp>
        <p:sp>
          <p:nvSpPr>
            <p:cNvPr id="63" name="Ruta"/>
            <p:cNvSpPr txBox="1"/>
            <p:nvPr/>
          </p:nvSpPr>
          <p:spPr>
            <a:xfrm>
              <a:off x="1798320" y="2308860"/>
              <a:ext cx="9144000" cy="289560"/>
            </a:xfrm>
            <a:prstGeom prst="rect">
              <a:avLst/>
            </a:prstGeom>
            <a:noFill/>
          </p:spPr>
          <p:txBody>
            <a:bodyPr wrap="square" lIns="0" tIns="0" rIns="0" bIns="0" anchor="ctr">
              <a:noAutofit/>
            </a:bodyPr>
            <a:lstStyle/>
            <a:p>
              <a:r>
                <a:rPr sz="960" b="0" lang="es-CO">
                  <a:solidFill>
                    <a:srgbClr val="475569"/>
                  </a:solidFill>
                  <a:latin typeface="Courier New"/>
                </a:rPr>
                <a:t>./demo/publish.sh · </a:t>
              </a:r>
              <a:r>
                <a:rPr sz="960" b="1" lang="es-CO">
                  <a:solidFill>
                    <a:srgbClr val="6D28D9"/>
                  </a:solidFill>
                  <a:latin typeface="Courier New"/>
                </a:rPr>
                <a:t>S3</a:t>
              </a:r>
              <a:r>
                <a:rPr sz="960" b="0" lang="es-CO">
                  <a:solidFill>
                    <a:srgbClr val="475569"/>
                  </a:solidFill>
                  <a:latin typeface="Courier New"/>
                </a:rPr>
                <a:t>, una carpeta por versión · ensayo del 12 oct</a:t>
              </a:r>
            </a:p>
          </p:txBody>
        </p:sp>
        <p:pic>
          <p:nvPicPr>
            <p:cNvPr id="64" name="Captura" descr="shot_entrenar.jpg"/>
            <p:cNvPicPr>
              <a:picLocks noChangeAspect="1"/>
            </p:cNvPicPr>
            <p:nvPr/>
          </p:nvPicPr>
          <p:blipFill>
            <a:blip r:embed="rId5"/>
            <a:stretch>
              <a:fillRect/>
            </a:stretch>
          </p:blipFill>
          <p:spPr>
            <a:xfrm>
              <a:off x="1143000" y="2598420"/>
              <a:ext cx="9906000" cy="204216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grpSp>
        <p:nvGrpSpPr>
          <p:cNvPr id="10" name="Captura de AWS"/>
          <p:cNvGrpSpPr/>
          <p:nvPr/>
        </p:nvGrpSpPr>
        <p:grpSpPr>
          <a:xfrm>
            <a:off x="0" y="1447800"/>
            <a:ext cx="12192000" cy="4053840"/>
            <a:chOff x="0" y="1447800"/>
            <a:chExt cx="12192000" cy="4053840"/>
          </a:xfrm>
        </p:grpSpPr>
        <p:sp>
          <p:nvSpPr>
            <p:cNvPr id="60"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1" name="Ventana"/>
            <p:cNvSpPr/>
            <p:nvPr/>
          </p:nvSpPr>
          <p:spPr>
            <a:xfrm>
              <a:off x="1143000" y="2282190"/>
              <a:ext cx="9906000" cy="2385060"/>
            </a:xfrm>
            <a:prstGeom prst="roundRect">
              <a:avLst>
                <a:gd name="adj" fmla="val 3833"/>
              </a:avLst>
            </a:prstGeom>
            <a:solidFill>
              <a:srgbClr val="FFFFFF"/>
            </a:solidFill>
            <a:ln w="11430">
              <a:solidFill>
                <a:srgbClr val="D5DEEA"/>
              </a:solidFill>
            </a:ln>
          </p:spPr>
          <p:txBody>
            <a:bodyPr rtlCol="0" anchor="ctr"/>
            <a:lstStyle/>
            <a:p>
              <a:pPr algn="ctr"/>
            </a:p>
          </p:txBody>
        </p:sp>
        <p:sp>
          <p:nvSpPr>
            <p:cNvPr id="62" name="Barra"/>
            <p:cNvSpPr/>
            <p:nvPr/>
          </p:nvSpPr>
          <p:spPr>
            <a:xfrm>
              <a:off x="1150620" y="2289810"/>
              <a:ext cx="9890760" cy="281940"/>
            </a:xfrm>
            <a:prstGeom prst="rect">
              <a:avLst/>
            </a:prstGeom>
            <a:solidFill>
              <a:srgbClr val="F4F7FC"/>
            </a:solidFill>
            <a:ln>
              <a:noFill/>
            </a:ln>
          </p:spPr>
          <p:txBody>
            <a:bodyPr rtlCol="0" anchor="ctr"/>
            <a:lstStyle/>
            <a:p>
              <a:pPr algn="ctr"/>
            </a:p>
          </p:txBody>
        </p:sp>
        <p:sp>
          <p:nvSpPr>
            <p:cNvPr id="63" name="Punto"/>
            <p:cNvSpPr/>
            <p:nvPr/>
          </p:nvSpPr>
          <p:spPr>
            <a:xfrm>
              <a:off x="1264920" y="2385060"/>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1409700" y="2385060"/>
              <a:ext cx="83820" cy="83820"/>
            </a:xfrm>
            <a:prstGeom prst="roundRect">
              <a:avLst>
                <a:gd name="adj" fmla="val 50000"/>
              </a:avLst>
            </a:prstGeom>
            <a:solidFill>
              <a:srgbClr val="D5DEEA"/>
            </a:solidFill>
            <a:ln>
              <a:noFill/>
            </a:ln>
          </p:spPr>
          <p:txBody>
            <a:bodyPr rtlCol="0" anchor="ctr"/>
            <a:lstStyle/>
            <a:p>
              <a:pPr algn="ctr"/>
            </a:p>
          </p:txBody>
        </p:sp>
        <p:sp>
          <p:nvSpPr>
            <p:cNvPr id="65" name="Punto"/>
            <p:cNvSpPr/>
            <p:nvPr/>
          </p:nvSpPr>
          <p:spPr>
            <a:xfrm>
              <a:off x="1554480" y="2385060"/>
              <a:ext cx="83820" cy="83820"/>
            </a:xfrm>
            <a:prstGeom prst="roundRect">
              <a:avLst>
                <a:gd name="adj" fmla="val 50000"/>
              </a:avLst>
            </a:prstGeom>
            <a:solidFill>
              <a:srgbClr val="D5DEEA"/>
            </a:solidFill>
            <a:ln>
              <a:noFill/>
            </a:ln>
          </p:spPr>
          <p:txBody>
            <a:bodyPr rtlCol="0" anchor="ctr"/>
            <a:lstStyle/>
            <a:p>
              <a:pPr algn="ctr"/>
            </a:p>
          </p:txBody>
        </p:sp>
        <p:sp>
          <p:nvSpPr>
            <p:cNvPr id="66" name="Ruta"/>
            <p:cNvSpPr txBox="1"/>
            <p:nvPr/>
          </p:nvSpPr>
          <p:spPr>
            <a:xfrm>
              <a:off x="1798320" y="2282190"/>
              <a:ext cx="9144000" cy="289560"/>
            </a:xfrm>
            <a:prstGeom prst="rect">
              <a:avLst/>
            </a:prstGeom>
            <a:noFill/>
          </p:spPr>
          <p:txBody>
            <a:bodyPr wrap="square" lIns="0" tIns="0" rIns="0" bIns="0" anchor="ctr">
              <a:noAutofit/>
            </a:bodyPr>
            <a:lstStyle/>
            <a:p>
              <a:r>
                <a:rPr sz="960" b="0" lang="es-CO">
                  <a:solidFill>
                    <a:srgbClr val="475569"/>
                  </a:solidFill>
                  <a:latin typeface="Courier New"/>
                </a:rPr>
                <a:t>./demo/publish.sh · </a:t>
              </a:r>
              <a:r>
                <a:rPr sz="960" b="1" lang="es-CO">
                  <a:solidFill>
                    <a:srgbClr val="6D28D9"/>
                  </a:solidFill>
                  <a:latin typeface="Courier New"/>
                </a:rPr>
                <a:t>IoT Greengrass</a:t>
              </a:r>
              <a:r>
                <a:rPr sz="960" b="0" lang="es-CO">
                  <a:solidFill>
                    <a:srgbClr val="475569"/>
                  </a:solidFill>
                  <a:latin typeface="Courier New"/>
                </a:rPr>
                <a:t> crea el componente · ensayo del 12 oct</a:t>
              </a:r>
            </a:p>
          </p:txBody>
        </p:sp>
        <p:pic>
          <p:nvPicPr>
            <p:cNvPr id="67" name="Captura" descr="shot_componente.jpg"/>
            <p:cNvPicPr>
              <a:picLocks noChangeAspect="1"/>
            </p:cNvPicPr>
            <p:nvPr/>
          </p:nvPicPr>
          <p:blipFill>
            <a:blip r:embed="rId8"/>
            <a:stretch>
              <a:fillRect/>
            </a:stretch>
          </p:blipFill>
          <p:spPr>
            <a:xfrm>
              <a:off x="1143000" y="2571750"/>
              <a:ext cx="9906000" cy="209550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80797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rings</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1371600" y="1638300"/>
              <a:ext cx="9448800" cy="3672840"/>
            </a:xfrm>
            <a:prstGeom prst="roundRect">
              <a:avLst>
                <a:gd name="adj" fmla="val 2489"/>
              </a:avLst>
            </a:prstGeom>
            <a:solidFill>
              <a:srgbClr val="FFFFFF"/>
            </a:solidFill>
            <a:ln w="11430">
              <a:solidFill>
                <a:srgbClr val="D5DEEA"/>
              </a:solidFill>
            </a:ln>
          </p:spPr>
          <p:txBody>
            <a:bodyPr rtlCol="0" anchor="ctr"/>
            <a:lstStyle/>
            <a:p>
              <a:pPr algn="ctr"/>
            </a:p>
          </p:txBody>
        </p:sp>
        <p:sp>
          <p:nvSpPr>
            <p:cNvPr id="61" name="Barra"/>
            <p:cNvSpPr/>
            <p:nvPr/>
          </p:nvSpPr>
          <p:spPr>
            <a:xfrm>
              <a:off x="1379220" y="1645920"/>
              <a:ext cx="9433560" cy="281940"/>
            </a:xfrm>
            <a:prstGeom prst="rect">
              <a:avLst/>
            </a:prstGeom>
            <a:solidFill>
              <a:srgbClr val="F4F7FC"/>
            </a:solidFill>
            <a:ln>
              <a:noFill/>
            </a:ln>
          </p:spPr>
          <p:txBody>
            <a:bodyPr rtlCol="0" anchor="ctr"/>
            <a:lstStyle/>
            <a:p>
              <a:pPr algn="ctr"/>
            </a:p>
          </p:txBody>
        </p:sp>
        <p:sp>
          <p:nvSpPr>
            <p:cNvPr id="62" name="Punto"/>
            <p:cNvSpPr/>
            <p:nvPr/>
          </p:nvSpPr>
          <p:spPr>
            <a:xfrm>
              <a:off x="1493520" y="1741170"/>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1638300" y="1741170"/>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1783080" y="1741170"/>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2026920" y="1638300"/>
              <a:ext cx="8686800" cy="289560"/>
            </a:xfrm>
            <a:prstGeom prst="rect">
              <a:avLst/>
            </a:prstGeom>
            <a:noFill/>
          </p:spPr>
          <p:txBody>
            <a:bodyPr wrap="square" lIns="0" tIns="0" rIns="0" bIns="0" anchor="ctr">
              <a:noAutofit/>
            </a:bodyPr>
            <a:lstStyle/>
            <a:p>
              <a:r>
                <a:rPr sz="960" b="0" lang="es-CO">
                  <a:solidFill>
                    <a:srgbClr val="475569"/>
                  </a:solidFill>
                  <a:latin typeface="Courier New"/>
                </a:rPr>
                <a:t>aws greengrassv2 list-deployments · </a:t>
              </a:r>
              <a:r>
                <a:rPr sz="960" b="1" lang="es-CO">
                  <a:solidFill>
                    <a:srgbClr val="6D28D9"/>
                  </a:solidFill>
                  <a:latin typeface="Courier New"/>
                </a:rPr>
                <a:t>un despliegue por ring</a:t>
              </a:r>
              <a:r>
                <a:rPr sz="960" b="0" lang="es-CO">
                  <a:solidFill>
                    <a:srgbClr val="475569"/>
                  </a:solidFill>
                  <a:latin typeface="Courier New"/>
                </a:rPr>
                <a:t> · ensayo del 12 oct</a:t>
              </a:r>
            </a:p>
          </p:txBody>
        </p:sp>
        <p:pic>
          <p:nvPicPr>
            <p:cNvPr id="66" name="Captura" descr="shot_anillos.jpg"/>
            <p:cNvPicPr>
              <a:picLocks noChangeAspect="1"/>
            </p:cNvPicPr>
            <p:nvPr/>
          </p:nvPicPr>
          <p:blipFill>
            <a:blip r:embed="rId7"/>
            <a:stretch>
              <a:fillRect/>
            </a:stretch>
          </p:blipFill>
          <p:spPr>
            <a:xfrm>
              <a:off x="1371600" y="1927860"/>
              <a:ext cx="9448800" cy="338328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2019300"/>
            <a:ext cx="10774680" cy="2331720"/>
          </a:xfrm>
          <a:prstGeom prst="rect">
            <a:avLst/>
          </a:prstGeom>
        </p:spPr>
      </p:pic>
      <p:pic>
        <p:nvPicPr>
          <p:cNvPr id="55" name="Capa on1" descr="iso_sinred_01_on1.png"/>
          <p:cNvPicPr>
            <a:picLocks noChangeAspect="1"/>
          </p:cNvPicPr>
          <p:nvPr/>
        </p:nvPicPr>
        <p:blipFill>
          <a:blip r:embed="rId3"/>
          <a:stretch>
            <a:fillRect/>
          </a:stretch>
        </p:blipFill>
        <p:spPr>
          <a:xfrm>
            <a:off x="708660" y="4594860"/>
            <a:ext cx="10774680" cy="5334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grpSp>
        <p:nvGrpSpPr>
          <p:cNvPr id="10" name="Captura de AWS"/>
          <p:cNvGrpSpPr/>
          <p:nvPr/>
        </p:nvGrpSpPr>
        <p:grpSpPr>
          <a:xfrm>
            <a:off x="0" y="1447800"/>
            <a:ext cx="12192000" cy="4053840"/>
            <a:chOff x="0" y="1447800"/>
            <a:chExt cx="12192000" cy="4053840"/>
          </a:xfrm>
        </p:grpSpPr>
        <p:sp>
          <p:nvSpPr>
            <p:cNvPr id="56"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7" name="Ventana"/>
            <p:cNvSpPr/>
            <p:nvPr/>
          </p:nvSpPr>
          <p:spPr>
            <a:xfrm>
              <a:off x="685800" y="2141220"/>
              <a:ext cx="10820400" cy="2667000"/>
            </a:xfrm>
            <a:prstGeom prst="roundRect">
              <a:avLst>
                <a:gd name="adj" fmla="val 3428"/>
              </a:avLst>
            </a:prstGeom>
            <a:solidFill>
              <a:srgbClr val="FFFFFF"/>
            </a:solidFill>
            <a:ln w="11430">
              <a:solidFill>
                <a:srgbClr val="D5DEEA"/>
              </a:solidFill>
            </a:ln>
          </p:spPr>
          <p:txBody>
            <a:bodyPr rtlCol="0" anchor="ctr"/>
            <a:lstStyle/>
            <a:p>
              <a:pPr algn="ctr"/>
            </a:p>
          </p:txBody>
        </p:sp>
        <p:sp>
          <p:nvSpPr>
            <p:cNvPr id="58" name="Barra"/>
            <p:cNvSpPr/>
            <p:nvPr/>
          </p:nvSpPr>
          <p:spPr>
            <a:xfrm>
              <a:off x="693420" y="2148840"/>
              <a:ext cx="10805160" cy="281940"/>
            </a:xfrm>
            <a:prstGeom prst="rect">
              <a:avLst/>
            </a:prstGeom>
            <a:solidFill>
              <a:srgbClr val="F4F7FC"/>
            </a:solidFill>
            <a:ln>
              <a:noFill/>
            </a:ln>
          </p:spPr>
          <p:txBody>
            <a:bodyPr rtlCol="0" anchor="ctr"/>
            <a:lstStyle/>
            <a:p>
              <a:pPr algn="ctr"/>
            </a:p>
          </p:txBody>
        </p:sp>
        <p:sp>
          <p:nvSpPr>
            <p:cNvPr id="59" name="Punto"/>
            <p:cNvSpPr/>
            <p:nvPr/>
          </p:nvSpPr>
          <p:spPr>
            <a:xfrm>
              <a:off x="807720" y="2244090"/>
              <a:ext cx="83820" cy="83820"/>
            </a:xfrm>
            <a:prstGeom prst="roundRect">
              <a:avLst>
                <a:gd name="adj" fmla="val 50000"/>
              </a:avLst>
            </a:prstGeom>
            <a:solidFill>
              <a:srgbClr val="D5DEEA"/>
            </a:solidFill>
            <a:ln>
              <a:noFill/>
            </a:ln>
          </p:spPr>
          <p:txBody>
            <a:bodyPr rtlCol="0" anchor="ctr"/>
            <a:lstStyle/>
            <a:p>
              <a:pPr algn="ctr"/>
            </a:p>
          </p:txBody>
        </p:sp>
        <p:sp>
          <p:nvSpPr>
            <p:cNvPr id="60" name="Punto"/>
            <p:cNvSpPr/>
            <p:nvPr/>
          </p:nvSpPr>
          <p:spPr>
            <a:xfrm>
              <a:off x="952500" y="224409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1097280" y="2244090"/>
              <a:ext cx="83820" cy="83820"/>
            </a:xfrm>
            <a:prstGeom prst="roundRect">
              <a:avLst>
                <a:gd name="adj" fmla="val 50000"/>
              </a:avLst>
            </a:prstGeom>
            <a:solidFill>
              <a:srgbClr val="D5DEEA"/>
            </a:solidFill>
            <a:ln>
              <a:noFill/>
            </a:ln>
          </p:spPr>
          <p:txBody>
            <a:bodyPr rtlCol="0" anchor="ctr"/>
            <a:lstStyle/>
            <a:p>
              <a:pPr algn="ctr"/>
            </a:p>
          </p:txBody>
        </p:sp>
        <p:sp>
          <p:nvSpPr>
            <p:cNvPr id="62" name="Ruta"/>
            <p:cNvSpPr txBox="1"/>
            <p:nvPr/>
          </p:nvSpPr>
          <p:spPr>
            <a:xfrm>
              <a:off x="1341120" y="2141220"/>
              <a:ext cx="10058400" cy="289560"/>
            </a:xfrm>
            <a:prstGeom prst="rect">
              <a:avLst/>
            </a:prstGeom>
            <a:noFill/>
          </p:spPr>
          <p:txBody>
            <a:bodyPr wrap="square" lIns="0" tIns="0" rIns="0" bIns="0" anchor="ctr">
              <a:noAutofit/>
            </a:bodyPr>
            <a:lstStyle/>
            <a:p>
              <a:r>
                <a:rPr sz="960" b="1" lang="es-CO">
                  <a:solidFill>
                    <a:srgbClr val="6D28D9"/>
                  </a:solidFill>
                  <a:latin typeface="Courier New"/>
                </a:rPr>
                <a:t>core devices</a:t>
              </a:r>
              <a:r>
                <a:rPr sz="960" b="0" lang="es-CO">
                  <a:solidFill>
                    <a:srgbClr val="475569"/>
                  </a:solidFill>
                  <a:latin typeface="Courier New"/>
                </a:rPr>
                <a:t> y lo que llegó tarde al volver la red · ensayo del 12 oct</a:t>
              </a:r>
            </a:p>
          </p:txBody>
        </p:sp>
        <p:pic>
          <p:nvPicPr>
            <p:cNvPr id="63" name="Captura" descr="shot_sinred.jpg"/>
            <p:cNvPicPr>
              <a:picLocks noChangeAspect="1"/>
            </p:cNvPicPr>
            <p:nvPr/>
          </p:nvPicPr>
          <p:blipFill>
            <a:blip r:embed="rId4"/>
            <a:stretch>
              <a:fillRect/>
            </a:stretch>
          </p:blipFill>
          <p:spPr>
            <a:xfrm>
              <a:off x="685800" y="2430780"/>
              <a:ext cx="10820400" cy="237744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819150" y="1783080"/>
            <a:ext cx="10500360" cy="861060"/>
          </a:xfrm>
          <a:prstGeom prst="rect">
            <a:avLst/>
          </a:prstGeom>
        </p:spPr>
      </p:pic>
      <p:pic>
        <p:nvPicPr>
          <p:cNvPr id="55" name="Capa on1" descr="iso_monitoreo_01_on1.png"/>
          <p:cNvPicPr>
            <a:picLocks noChangeAspect="1"/>
          </p:cNvPicPr>
          <p:nvPr/>
        </p:nvPicPr>
        <p:blipFill>
          <a:blip r:embed="rId3"/>
          <a:stretch>
            <a:fillRect/>
          </a:stretch>
        </p:blipFill>
        <p:spPr>
          <a:xfrm>
            <a:off x="708660" y="2903220"/>
            <a:ext cx="3459480" cy="1676400"/>
          </a:xfrm>
          <a:prstGeom prst="rect">
            <a:avLst/>
          </a:prstGeom>
        </p:spPr>
      </p:pic>
      <p:pic>
        <p:nvPicPr>
          <p:cNvPr id="56" name="Capa on2" descr="iso_monitoreo_02_on2.png"/>
          <p:cNvPicPr>
            <a:picLocks noChangeAspect="1"/>
          </p:cNvPicPr>
          <p:nvPr/>
        </p:nvPicPr>
        <p:blipFill>
          <a:blip r:embed="rId4"/>
          <a:stretch>
            <a:fillRect/>
          </a:stretch>
        </p:blipFill>
        <p:spPr>
          <a:xfrm>
            <a:off x="4366260" y="2903220"/>
            <a:ext cx="3459480" cy="1676400"/>
          </a:xfrm>
          <a:prstGeom prst="rect">
            <a:avLst/>
          </a:prstGeom>
        </p:spPr>
      </p:pic>
      <p:pic>
        <p:nvPicPr>
          <p:cNvPr id="57" name="Capa on3" descr="iso_monitoreo_03_on3.png"/>
          <p:cNvPicPr>
            <a:picLocks noChangeAspect="1"/>
          </p:cNvPicPr>
          <p:nvPr/>
        </p:nvPicPr>
        <p:blipFill>
          <a:blip r:embed="rId5"/>
          <a:stretch>
            <a:fillRect/>
          </a:stretch>
        </p:blipFill>
        <p:spPr>
          <a:xfrm>
            <a:off x="8023860" y="2903220"/>
            <a:ext cx="3459480" cy="1676400"/>
          </a:xfrm>
          <a:prstGeom prst="rect">
            <a:avLst/>
          </a:prstGeom>
        </p:spPr>
      </p:pic>
      <p:pic>
        <p:nvPicPr>
          <p:cNvPr id="58" name="Capa on4" descr="iso_monitoreo_04_on4.png"/>
          <p:cNvPicPr>
            <a:picLocks noChangeAspect="1"/>
          </p:cNvPicPr>
          <p:nvPr/>
        </p:nvPicPr>
        <p:blipFill>
          <a:blip r:embed="rId6"/>
          <a:stretch>
            <a:fillRect/>
          </a:stretch>
        </p:blipFill>
        <p:spPr>
          <a:xfrm>
            <a:off x="708660" y="4732020"/>
            <a:ext cx="10774680" cy="51816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685800" y="1817370"/>
              <a:ext cx="10820400" cy="3314700"/>
            </a:xfrm>
            <a:prstGeom prst="roundRect">
              <a:avLst>
                <a:gd name="adj" fmla="val 2758"/>
              </a:avLst>
            </a:prstGeom>
            <a:solidFill>
              <a:srgbClr val="FFFFFF"/>
            </a:solidFill>
            <a:ln w="11430">
              <a:solidFill>
                <a:srgbClr val="D5DEEA"/>
              </a:solidFill>
            </a:ln>
          </p:spPr>
          <p:txBody>
            <a:bodyPr rtlCol="0" anchor="ctr"/>
            <a:lstStyle/>
            <a:p>
              <a:pPr algn="ctr"/>
            </a:p>
          </p:txBody>
        </p:sp>
        <p:sp>
          <p:nvSpPr>
            <p:cNvPr id="61" name="Barra"/>
            <p:cNvSpPr/>
            <p:nvPr/>
          </p:nvSpPr>
          <p:spPr>
            <a:xfrm>
              <a:off x="693420" y="1824990"/>
              <a:ext cx="10805160" cy="281940"/>
            </a:xfrm>
            <a:prstGeom prst="rect">
              <a:avLst/>
            </a:prstGeom>
            <a:solidFill>
              <a:srgbClr val="F4F7FC"/>
            </a:solidFill>
            <a:ln>
              <a:noFill/>
            </a:ln>
          </p:spPr>
          <p:txBody>
            <a:bodyPr rtlCol="0" anchor="ctr"/>
            <a:lstStyle/>
            <a:p>
              <a:pPr algn="ctr"/>
            </a:p>
          </p:txBody>
        </p:sp>
        <p:sp>
          <p:nvSpPr>
            <p:cNvPr id="62" name="Punto"/>
            <p:cNvSpPr/>
            <p:nvPr/>
          </p:nvSpPr>
          <p:spPr>
            <a:xfrm>
              <a:off x="807720" y="1920240"/>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952500" y="1920240"/>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1097280" y="1920240"/>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1341120" y="1817370"/>
              <a:ext cx="10058400" cy="289560"/>
            </a:xfrm>
            <a:prstGeom prst="rect">
              <a:avLst/>
            </a:prstGeom>
            <a:noFill/>
          </p:spPr>
          <p:txBody>
            <a:bodyPr wrap="square" lIns="0" tIns="0" rIns="0" bIns="0" anchor="ctr">
              <a:noAutofit/>
            </a:bodyPr>
            <a:lstStyle/>
            <a:p>
              <a:r>
                <a:rPr sz="960" b="0" lang="es-CO">
                  <a:solidFill>
                    <a:srgbClr val="475569"/>
                  </a:solidFill>
                  <a:latin typeface="Courier New"/>
                </a:rPr>
                <a:t>CloudWatch · dashboard </a:t>
              </a:r>
              <a:r>
                <a:rPr sz="960" b="1" lang="es-CO">
                  <a:solidFill>
                    <a:srgbClr val="6D28D9"/>
                  </a:solidFill>
                  <a:latin typeface="Courier New"/>
                </a:rPr>
                <a:t>station</a:t>
              </a:r>
              <a:r>
                <a:rPr sz="960" b="0" lang="es-CO">
                  <a:solidFill>
                    <a:srgbClr val="475569"/>
                  </a:solidFill>
                  <a:latin typeface="Courier New"/>
                </a:rPr>
                <a:t> · ensayo del 12 oct</a:t>
              </a:r>
            </a:p>
          </p:txBody>
        </p:sp>
        <p:pic>
          <p:nvPicPr>
            <p:cNvPr id="66" name="Captura" descr="shot_monitoreo.jpg"/>
            <p:cNvPicPr>
              <a:picLocks noChangeAspect="1"/>
            </p:cNvPicPr>
            <p:nvPr/>
          </p:nvPicPr>
          <p:blipFill>
            <a:blip r:embed="rId7"/>
            <a:stretch>
              <a:fillRect/>
            </a:stretch>
          </p:blipFill>
          <p:spPr>
            <a:xfrm>
              <a:off x="685800" y="2106930"/>
              <a:ext cx="10820400" cy="302514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Demostración</a:t>
            </a:r>
          </a:p>
        </p:txBody>
      </p:sp>
      <p:sp>
        <p:nvSpPr>
          <p:cNvPr id="4" name="Text Placeholder 3"/>
          <p:cNvSpPr>
            <a:spLocks noGrp="1"/>
          </p:cNvSpPr>
          <p:nvPr>
            <p:ph type="body" idx="108"/>
          </p:nvPr>
        </p:nvSpPr>
        <p:spPr/>
        <p:txBody>
          <a:bodyPr lIns="0"/>
          <a:lstStyle/>
          <a:p>
            <a:r>
              <a:rPr lang="es-CO"/>
              <a:t>Cinco bombas simuladas,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Arquitectura </a:t>
            </a:r>
            <a:r>
              <a:rPr b="1" lang="es-CO">
                <a:solidFill>
                  <a:srgbClr val="6D28D9"/>
                </a:solidFill>
              </a:rPr>
              <a:t>de la demostración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Demostración </a:t>
            </a:r>
            <a:r>
              <a:rPr b="1" lang="es-CO">
                <a:solidFill>
                  <a:srgbClr val="6D28D9"/>
                </a:solidFill>
              </a:rPr>
              <a:t>en tres actos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533400" cy="846582"/>
          </a:xfrm>
          <a:prstGeom prst="rect">
            <a:avLst/>
          </a:prstGeom>
          <a:noFill/>
        </p:spPr>
        <p:txBody>
          <a:bodyPr wrap="square" lIns="0" tIns="0" rIns="0" bIns="0" anchor="ctr">
            <a:noAutofit/>
          </a:bodyPr>
          <a:lstStyle/>
          <a:p>
            <a:r>
              <a:rPr sz="2640" b="1" lang="es-CO">
                <a:solidFill>
                  <a:srgbClr val="2448FF"/>
                </a:solidFill>
                <a:latin typeface="Courier New"/>
              </a:rPr>
              <a:t>1</a:t>
            </a:r>
          </a:p>
        </p:txBody>
      </p:sp>
      <p:sp>
        <p:nvSpPr>
          <p:cNvPr id="55" name="TextBox 54"/>
          <p:cNvSpPr txBox="1"/>
          <p:nvPr/>
        </p:nvSpPr>
        <p:spPr>
          <a:xfrm>
            <a:off x="1386840" y="1843735"/>
            <a:ext cx="5989320" cy="316078"/>
          </a:xfrm>
          <a:prstGeom prst="rect">
            <a:avLst/>
          </a:prstGeom>
          <a:noFill/>
        </p:spPr>
        <p:txBody>
          <a:bodyPr wrap="square" lIns="0" tIns="0" rIns="0" bIns="0" anchor="t">
            <a:noAutofit/>
          </a:bodyPr>
          <a:lstStyle/>
          <a:p>
            <a:r>
              <a:rPr sz="2039" b="1" lang="es-CO">
                <a:solidFill>
                  <a:srgbClr val="071329"/>
                </a:solidFill>
                <a:latin typeface="Calibri"/>
              </a:rPr>
              <a:t>Escuchar</a:t>
            </a:r>
          </a:p>
        </p:txBody>
      </p:sp>
      <p:sp>
        <p:nvSpPr>
          <p:cNvPr id="56" name="TextBox 55"/>
          <p:cNvSpPr txBox="1"/>
          <p:nvPr/>
        </p:nvSpPr>
        <p:spPr>
          <a:xfrm>
            <a:off x="1386840" y="2205228"/>
            <a:ext cx="5989320" cy="256794"/>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bomba 3 suena como la B del inicio y aparece la alerta.</a:t>
            </a:r>
          </a:p>
        </p:txBody>
      </p:sp>
      <p:sp>
        <p:nvSpPr>
          <p:cNvPr id="57" name="Comando"/>
          <p:cNvSpPr/>
          <p:nvPr/>
        </p:nvSpPr>
        <p:spPr>
          <a:xfrm>
            <a:off x="7589520" y="1993011"/>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pump-03</a:t>
            </a:r>
          </a:p>
        </p:txBody>
      </p:sp>
      <p:cxnSp>
        <p:nvCxnSpPr>
          <p:cNvPr id="58" name="Connector 57"/>
          <p:cNvCxnSpPr/>
          <p:nvPr/>
        </p:nvCxnSpPr>
        <p:spPr>
          <a:xfrm>
            <a:off x="640080" y="2568702"/>
            <a:ext cx="10911840" cy="0"/>
          </a:xfrm>
          <a:prstGeom prst="line">
            <a:avLst/>
          </a:prstGeom>
          <a:ln w="11430">
            <a:solidFill>
              <a:srgbClr val="D5DEEA"/>
            </a:solidFill>
          </a:ln>
        </p:spPr>
      </p:cxnSp>
      <p:sp>
        <p:nvSpPr>
          <p:cNvPr id="59" name="TextBox 58"/>
          <p:cNvSpPr txBox="1"/>
          <p:nvPr/>
        </p:nvSpPr>
        <p:spPr>
          <a:xfrm>
            <a:off x="640080" y="2568702"/>
            <a:ext cx="533400" cy="1072896"/>
          </a:xfrm>
          <a:prstGeom prst="rect">
            <a:avLst/>
          </a:prstGeom>
          <a:noFill/>
        </p:spPr>
        <p:txBody>
          <a:bodyPr wrap="square" lIns="0" tIns="0" rIns="0" bIns="0" anchor="ctr">
            <a:noAutofit/>
          </a:bodyPr>
          <a:lstStyle/>
          <a:p>
            <a:r>
              <a:rPr sz="2640" b="1" lang="es-CO">
                <a:solidFill>
                  <a:srgbClr val="2448FF"/>
                </a:solidFill>
                <a:latin typeface="Courier New"/>
              </a:rPr>
              <a:t>2</a:t>
            </a:r>
          </a:p>
        </p:txBody>
      </p:sp>
      <p:sp>
        <p:nvSpPr>
          <p:cNvPr id="60" name="TextBox 59"/>
          <p:cNvSpPr txBox="1"/>
          <p:nvPr/>
        </p:nvSpPr>
        <p:spPr>
          <a:xfrm>
            <a:off x="1386840" y="2690317"/>
            <a:ext cx="5989320" cy="316078"/>
          </a:xfrm>
          <a:prstGeom prst="rect">
            <a:avLst/>
          </a:prstGeom>
          <a:noFill/>
        </p:spPr>
        <p:txBody>
          <a:bodyPr wrap="square" lIns="0" tIns="0" rIns="0" bIns="0" anchor="t">
            <a:noAutofit/>
          </a:bodyPr>
          <a:lstStyle/>
          <a:p>
            <a:r>
              <a:rPr sz="2039" b="1" lang="es-CO">
                <a:solidFill>
                  <a:srgbClr val="071329"/>
                </a:solidFill>
                <a:latin typeface="Calibri"/>
              </a:rPr>
              <a:t>Sin red</a:t>
            </a:r>
          </a:p>
        </p:txBody>
      </p:sp>
      <p:sp>
        <p:nvSpPr>
          <p:cNvPr id="61" name="TextBox 60"/>
          <p:cNvSpPr txBox="1"/>
          <p:nvPr/>
        </p:nvSpPr>
        <p:spPr>
          <a:xfrm>
            <a:off x="1386840" y="3051810"/>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3 se calla y las otras cuatro siguen. Al volver la red, sus alertas llegan tarde y no se pierde ninguna.</a:t>
            </a:r>
          </a:p>
        </p:txBody>
      </p:sp>
      <p:sp>
        <p:nvSpPr>
          <p:cNvPr id="62" name="Comando"/>
          <p:cNvSpPr/>
          <p:nvPr/>
        </p:nvSpPr>
        <p:spPr>
          <a:xfrm>
            <a:off x="7589520" y="276987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off pump-03</a:t>
            </a:r>
          </a:p>
        </p:txBody>
      </p:sp>
      <p:sp>
        <p:nvSpPr>
          <p:cNvPr id="63" name="Comando"/>
          <p:cNvSpPr/>
          <p:nvPr/>
        </p:nvSpPr>
        <p:spPr>
          <a:xfrm>
            <a:off x="7589520" y="313563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on pump-03</a:t>
            </a:r>
          </a:p>
        </p:txBody>
      </p:sp>
      <p:cxnSp>
        <p:nvCxnSpPr>
          <p:cNvPr id="64" name="Connector 63"/>
          <p:cNvCxnSpPr/>
          <p:nvPr/>
        </p:nvCxnSpPr>
        <p:spPr>
          <a:xfrm>
            <a:off x="640080" y="3641598"/>
            <a:ext cx="10911840" cy="0"/>
          </a:xfrm>
          <a:prstGeom prst="line">
            <a:avLst/>
          </a:prstGeom>
          <a:ln w="11430">
            <a:solidFill>
              <a:srgbClr val="D5DEEA"/>
            </a:solidFill>
          </a:ln>
        </p:spPr>
      </p:cxnSp>
      <p:sp>
        <p:nvSpPr>
          <p:cNvPr id="65" name="TextBox 64"/>
          <p:cNvSpPr txBox="1"/>
          <p:nvPr/>
        </p:nvSpPr>
        <p:spPr>
          <a:xfrm>
            <a:off x="640080" y="3641598"/>
            <a:ext cx="533400" cy="1072896"/>
          </a:xfrm>
          <a:prstGeom prst="rect">
            <a:avLst/>
          </a:prstGeom>
          <a:noFill/>
        </p:spPr>
        <p:txBody>
          <a:bodyPr wrap="square" lIns="0" tIns="0" rIns="0" bIns="0" anchor="ctr">
            <a:noAutofit/>
          </a:bodyPr>
          <a:lstStyle/>
          <a:p>
            <a:r>
              <a:rPr sz="2640" b="1" lang="es-CO">
                <a:solidFill>
                  <a:srgbClr val="6D28D9"/>
                </a:solidFill>
                <a:latin typeface="Courier New"/>
              </a:rPr>
              <a:t>3</a:t>
            </a:r>
          </a:p>
        </p:txBody>
      </p:sp>
      <p:sp>
        <p:nvSpPr>
          <p:cNvPr id="66" name="TextBox 65"/>
          <p:cNvSpPr txBox="1"/>
          <p:nvPr/>
        </p:nvSpPr>
        <p:spPr>
          <a:xfrm>
            <a:off x="1386840" y="3763213"/>
            <a:ext cx="5989320" cy="316078"/>
          </a:xfrm>
          <a:prstGeom prst="rect">
            <a:avLst/>
          </a:prstGeom>
          <a:noFill/>
        </p:spPr>
        <p:txBody>
          <a:bodyPr wrap="square" lIns="0" tIns="0" rIns="0" bIns="0" anchor="t">
            <a:noAutofit/>
          </a:bodyPr>
          <a:lstStyle/>
          <a:p>
            <a:r>
              <a:rPr sz="2039" b="1" lang="es-CO">
                <a:solidFill>
                  <a:srgbClr val="6D28D9"/>
                </a:solidFill>
                <a:latin typeface="Calibri"/>
              </a:rPr>
              <a:t>Ring deployment y rollback</a:t>
            </a:r>
          </a:p>
        </p:txBody>
      </p:sp>
      <p:sp>
        <p:nvSpPr>
          <p:cNvPr id="67" name="TextBox 66"/>
          <p:cNvSpPr txBox="1"/>
          <p:nvPr/>
        </p:nvSpPr>
        <p:spPr>
          <a:xfrm>
            <a:off x="1386840" y="4124706"/>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1 pasa a la v2 y no oye la falla. La alarma dispara la Lambda y la 1 vuelve a la v1. El ring 1 nunca recibió la v2.</a:t>
            </a:r>
          </a:p>
        </p:txBody>
      </p:sp>
      <p:sp>
        <p:nvSpPr>
          <p:cNvPr id="68" name="Comando"/>
          <p:cNvSpPr/>
          <p:nvPr/>
        </p:nvSpPr>
        <p:spPr>
          <a:xfrm>
            <a:off x="7589520" y="384276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./demo/deploy.sh 2.0.0 ring-0</a:t>
            </a:r>
          </a:p>
        </p:txBody>
      </p:sp>
      <p:sp>
        <p:nvSpPr>
          <p:cNvPr id="69" name="Comando"/>
          <p:cNvSpPr/>
          <p:nvPr/>
        </p:nvSpPr>
        <p:spPr>
          <a:xfrm>
            <a:off x="7589520" y="420852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pump-01</a:t>
            </a:r>
          </a:p>
        </p:txBody>
      </p:sp>
      <p:sp>
        <p:nvSpPr>
          <p:cNvPr id="70" name="Remate"/>
          <p:cNvSpPr txBox="1"/>
          <p:nvPr/>
        </p:nvSpPr>
        <p:spPr>
          <a:xfrm>
            <a:off x="640080" y="521208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ese gate lo pones tú.</a:t>
            </a:r>
          </a:p>
        </p:txBody>
      </p:sp>
      <p:grpSp>
        <p:nvGrpSpPr>
          <p:cNvPr id="4" name="Captura de AWS"/>
          <p:cNvGrpSpPr/>
          <p:nvPr/>
        </p:nvGrpSpPr>
        <p:grpSpPr>
          <a:xfrm>
            <a:off x="0" y="1447800"/>
            <a:ext cx="12192000" cy="4053840"/>
            <a:chOff x="0" y="1447800"/>
            <a:chExt cx="12192000" cy="4053840"/>
          </a:xfrm>
        </p:grpSpPr>
        <p:sp>
          <p:nvSpPr>
            <p:cNvPr id="71"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72" name="Ventana"/>
            <p:cNvSpPr/>
            <p:nvPr/>
          </p:nvSpPr>
          <p:spPr>
            <a:xfrm>
              <a:off x="685800" y="2308860"/>
              <a:ext cx="10820400" cy="2331720"/>
            </a:xfrm>
            <a:prstGeom prst="roundRect">
              <a:avLst>
                <a:gd name="adj" fmla="val 3921"/>
              </a:avLst>
            </a:prstGeom>
            <a:solidFill>
              <a:srgbClr val="FFFFFF"/>
            </a:solidFill>
            <a:ln w="11430">
              <a:solidFill>
                <a:srgbClr val="D5DEEA"/>
              </a:solidFill>
            </a:ln>
          </p:spPr>
          <p:txBody>
            <a:bodyPr rtlCol="0" anchor="ctr"/>
            <a:lstStyle/>
            <a:p>
              <a:pPr algn="ctr"/>
            </a:p>
          </p:txBody>
        </p:sp>
        <p:sp>
          <p:nvSpPr>
            <p:cNvPr id="73" name="Barra"/>
            <p:cNvSpPr/>
            <p:nvPr/>
          </p:nvSpPr>
          <p:spPr>
            <a:xfrm>
              <a:off x="693420" y="2316480"/>
              <a:ext cx="10805160" cy="281940"/>
            </a:xfrm>
            <a:prstGeom prst="rect">
              <a:avLst/>
            </a:prstGeom>
            <a:solidFill>
              <a:srgbClr val="F4F7FC"/>
            </a:solidFill>
            <a:ln>
              <a:noFill/>
            </a:ln>
          </p:spPr>
          <p:txBody>
            <a:bodyPr rtlCol="0" anchor="ctr"/>
            <a:lstStyle/>
            <a:p>
              <a:pPr algn="ctr"/>
            </a:p>
          </p:txBody>
        </p:sp>
        <p:sp>
          <p:nvSpPr>
            <p:cNvPr id="74" name="Punto"/>
            <p:cNvSpPr/>
            <p:nvPr/>
          </p:nvSpPr>
          <p:spPr>
            <a:xfrm>
              <a:off x="807720" y="2411730"/>
              <a:ext cx="83820" cy="83820"/>
            </a:xfrm>
            <a:prstGeom prst="roundRect">
              <a:avLst>
                <a:gd name="adj" fmla="val 50000"/>
              </a:avLst>
            </a:prstGeom>
            <a:solidFill>
              <a:srgbClr val="D5DEEA"/>
            </a:solidFill>
            <a:ln>
              <a:noFill/>
            </a:ln>
          </p:spPr>
          <p:txBody>
            <a:bodyPr rtlCol="0" anchor="ctr"/>
            <a:lstStyle/>
            <a:p>
              <a:pPr algn="ctr"/>
            </a:p>
          </p:txBody>
        </p:sp>
        <p:sp>
          <p:nvSpPr>
            <p:cNvPr id="75" name="Punto"/>
            <p:cNvSpPr/>
            <p:nvPr/>
          </p:nvSpPr>
          <p:spPr>
            <a:xfrm>
              <a:off x="952500" y="2411730"/>
              <a:ext cx="83820" cy="83820"/>
            </a:xfrm>
            <a:prstGeom prst="roundRect">
              <a:avLst>
                <a:gd name="adj" fmla="val 50000"/>
              </a:avLst>
            </a:prstGeom>
            <a:solidFill>
              <a:srgbClr val="D5DEEA"/>
            </a:solidFill>
            <a:ln>
              <a:noFill/>
            </a:ln>
          </p:spPr>
          <p:txBody>
            <a:bodyPr rtlCol="0" anchor="ctr"/>
            <a:lstStyle/>
            <a:p>
              <a:pPr algn="ctr"/>
            </a:p>
          </p:txBody>
        </p:sp>
        <p:sp>
          <p:nvSpPr>
            <p:cNvPr id="76" name="Punto"/>
            <p:cNvSpPr/>
            <p:nvPr/>
          </p:nvSpPr>
          <p:spPr>
            <a:xfrm>
              <a:off x="1097280" y="2411730"/>
              <a:ext cx="83820" cy="83820"/>
            </a:xfrm>
            <a:prstGeom prst="roundRect">
              <a:avLst>
                <a:gd name="adj" fmla="val 50000"/>
              </a:avLst>
            </a:prstGeom>
            <a:solidFill>
              <a:srgbClr val="D5DEEA"/>
            </a:solidFill>
            <a:ln>
              <a:noFill/>
            </a:ln>
          </p:spPr>
          <p:txBody>
            <a:bodyPr rtlCol="0" anchor="ctr"/>
            <a:lstStyle/>
            <a:p>
              <a:pPr algn="ctr"/>
            </a:p>
          </p:txBody>
        </p:sp>
        <p:sp>
          <p:nvSpPr>
            <p:cNvPr id="77" name="Ruta"/>
            <p:cNvSpPr txBox="1"/>
            <p:nvPr/>
          </p:nvSpPr>
          <p:spPr>
            <a:xfrm>
              <a:off x="1341120" y="2308860"/>
              <a:ext cx="10058400" cy="289560"/>
            </a:xfrm>
            <a:prstGeom prst="rect">
              <a:avLst/>
            </a:prstGeom>
            <a:noFill/>
          </p:spPr>
          <p:txBody>
            <a:bodyPr wrap="square" lIns="0" tIns="0" rIns="0" bIns="0" anchor="ctr">
              <a:noAutofit/>
            </a:bodyPr>
            <a:lstStyle/>
            <a:p>
              <a:r>
                <a:rPr sz="960" b="0" lang="es-CO">
                  <a:solidFill>
                    <a:srgbClr val="475569"/>
                  </a:solidFill>
                  <a:latin typeface="Courier New"/>
                </a:rPr>
                <a:t>CloudWatch · </a:t>
              </a:r>
              <a:r>
                <a:rPr sz="960" b="1" lang="es-CO">
                  <a:solidFill>
                    <a:srgbClr val="6D28D9"/>
                  </a:solidFill>
                  <a:latin typeface="Courier New"/>
                </a:rPr>
                <a:t>station-missed-faults</a:t>
              </a:r>
              <a:r>
                <a:rPr sz="960" b="0" lang="es-CO">
                  <a:solidFill>
                    <a:srgbClr val="475569"/>
                  </a:solidFill>
                  <a:latin typeface="Courier New"/>
                </a:rPr>
                <a:t> → Lambda → v1 · ensayo del 12 oct</a:t>
              </a:r>
            </a:p>
          </p:txBody>
        </p:sp>
        <p:pic>
          <p:nvPicPr>
            <p:cNvPr id="78" name="Captura" descr="shot_demo.jpg"/>
            <p:cNvPicPr>
              <a:picLocks noChangeAspect="1"/>
            </p:cNvPicPr>
            <p:nvPr/>
          </p:nvPicPr>
          <p:blipFill>
            <a:blip r:embed="rId2"/>
            <a:stretch>
              <a:fillRect/>
            </a:stretch>
          </p:blipFill>
          <p:spPr>
            <a:xfrm>
              <a:off x="685800" y="2598420"/>
              <a:ext cx="10820400" cy="204216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2"/>
                                        </p:tgtEl>
                                        <p:attrNameLst>
                                          <p:attrName>style.visibility</p:attrName>
                                        </p:attrNameLst>
                                      </p:cBhvr>
                                      <p:to>
                                        <p:strVal val="visible"/>
                                      </p:to>
                                    </p:set>
                                    <p:animEffect transition="in" filter="fade">
                                      <p:cBhvr>
                                        <p:cTn id="19" dur="400"/>
                                        <p:tgtEl>
                                          <p:spTgt spid="6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3"/>
                                        </p:tgtEl>
                                        <p:attrNameLst>
                                          <p:attrName>style.visibility</p:attrName>
                                        </p:attrNameLst>
                                      </p:cBhvr>
                                      <p:to>
                                        <p:strVal val="visible"/>
                                      </p:to>
                                    </p:set>
                                    <p:animEffect transition="in" filter="fade">
                                      <p:cBhvr>
                                        <p:cTn id="22" dur="400"/>
                                        <p:tgtEl>
                                          <p:spTgt spid="6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7"/>
                                        </p:tgtEl>
                                        <p:attrNameLst>
                                          <p:attrName>style.visibility</p:attrName>
                                        </p:attrNameLst>
                                      </p:cBhvr>
                                      <p:to>
                                        <p:strVal val="visible"/>
                                      </p:to>
                                    </p:set>
                                    <p:animEffect transition="in" filter="fade">
                                      <p:cBhvr>
                                        <p:cTn id="36" dur="400"/>
                                        <p:tgtEl>
                                          <p:spTgt spid="6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fade">
                                      <p:cBhvr>
                                        <p:cTn id="39" dur="400"/>
                                        <p:tgtEl>
                                          <p:spTgt spid="6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9"/>
                                        </p:tgtEl>
                                        <p:attrNameLst>
                                          <p:attrName>style.visibility</p:attrName>
                                        </p:attrNameLst>
                                      </p:cBhvr>
                                      <p:to>
                                        <p:strVal val="visible"/>
                                      </p:to>
                                    </p:set>
                                    <p:animEffect transition="in" filter="fade">
                                      <p:cBhvr>
                                        <p:cTn id="42" dur="400"/>
                                        <p:tgtEl>
                                          <p:spTgt spid="6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0"/>
                                        </p:tgtEl>
                                        <p:attrNameLst>
                                          <p:attrName>style.visibility</p:attrName>
                                        </p:attrNameLst>
                                      </p:cBhvr>
                                      <p:to>
                                        <p:strVal val="visible"/>
                                      </p:to>
                                    </p:set>
                                    <p:animEffect transition="in" filter="fade">
                                      <p:cBhvr>
                                        <p:cTn id="45" dur="400"/>
                                        <p:tgtEl>
                                          <p:spTgt spid="7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4"/>
                                        </p:tgtEl>
                                        <p:attrNameLst>
                                          <p:attrName>style.visibility</p:attrName>
                                        </p:attrNameLst>
                                      </p:cBhvr>
                                      <p:to>
                                        <p:strVal val="visible"/>
                                      </p:to>
                                    </p:set>
                                    <p:animEffect transition="in" filter="fade">
                                      <p:cBhvr>
                                        <p:cTn id="50"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p:bldP spid="63" grpId="0"/>
      <p:bldP spid="64" grpId="0" animBg="1"/>
      <p:bldP spid="65" grpId="0"/>
      <p:bldP spid="66" grpId="0"/>
      <p:bldP spid="67" grpId="0"/>
      <p:bldP spid="68" grpId="0"/>
      <p:bldP spid="69" grpId="0"/>
      <p:bldP spid="70" grpId="0"/>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a:t>
            </a:r>
            <a:r>
              <a:rPr sz="1920" b="1" lang="es-CO">
                <a:solidFill>
                  <a:srgbClr val="071329"/>
                </a:solidFill>
                <a:latin typeface="Calibri"/>
              </a:rPr>
              <a:t>versión, huella y firma</a:t>
            </a:r>
            <a:r>
              <a:rPr sz="1920" b="0" lang="es-CO">
                <a:solidFill>
                  <a:srgbClr val="071329"/>
                </a:solidFill>
                <a:latin typeface="Calibri"/>
              </a:rPr>
              <a:t>, sobre un equipo seguro.</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Mide en el chip de verdad, </a:t>
            </a:r>
            <a:r>
              <a:rPr sz="1920" b="1" lang="es-CO">
                <a:solidFill>
                  <a:srgbClr val="071329"/>
                </a:solidFill>
                <a:latin typeface="Calibri"/>
              </a:rPr>
              <a:t>con batería baja y con calor</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rings, con un gate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Vigila tres señales: </a:t>
            </a:r>
            <a:r>
              <a:rPr sz="1920" b="1" lang="es-CO">
                <a:solidFill>
                  <a:srgbClr val="6D28D9"/>
                </a:solidFill>
                <a:latin typeface="Calibri"/>
              </a:rPr>
              <a:t>entrada, salida y autenticidad</a:t>
            </a:r>
            <a:r>
              <a:rPr sz="1920" b="0" lang="es-CO">
                <a:solidFill>
                  <a:srgbClr val="071329"/>
                </a:solidFill>
                <a:latin typeface="Calibri"/>
              </a:rPr>
              <a:t>. El audio no sale.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4"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5" name="TextBox 64"/>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rollback automático,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ring</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ring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Gate: canary contra ring,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1" name="Connector 70"/>
          <p:cNvCxnSpPr/>
          <p:nvPr/>
        </p:nvCxnSpPr>
        <p:spPr>
          <a:xfrm>
            <a:off x="640080" y="3905707"/>
            <a:ext cx="10911840" cy="0"/>
          </a:xfrm>
          <a:prstGeom prst="line">
            <a:avLst/>
          </a:prstGeom>
          <a:ln w="11430">
            <a:solidFill>
              <a:srgbClr val="D5DEEA"/>
            </a:solidFill>
          </a:ln>
        </p:spPr>
      </p:cxnSp>
      <p:sp>
        <p:nvSpPr>
          <p:cNvPr id="72" name="TextBox 71"/>
          <p:cNvSpPr txBox="1"/>
          <p:nvPr/>
        </p:nvSpPr>
        <p:spPr>
          <a:xfrm>
            <a:off x="640080" y="3989527"/>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Face ID: los datos no salen del equipo · Secure Enclave</a:t>
            </a:r>
          </a:p>
        </p:txBody>
      </p:sp>
      <p:sp>
        <p:nvSpPr>
          <p:cNvPr id="73" name="TextBox 72"/>
          <p:cNvSpPr txBox="1"/>
          <p:nvPr/>
        </p:nvSpPr>
        <p:spPr>
          <a:xfrm>
            <a:off x="5441290" y="3989527"/>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support.apple.com/102381 · Apple Platform Security Guide</a:t>
            </a:r>
          </a:p>
        </p:txBody>
      </p:sp>
      <p:cxnSp>
        <p:nvCxnSpPr>
          <p:cNvPr id="74" name="Connector 73"/>
          <p:cNvCxnSpPr/>
          <p:nvPr/>
        </p:nvCxnSpPr>
        <p:spPr>
          <a:xfrm>
            <a:off x="640080" y="4254398"/>
            <a:ext cx="10911840" cy="0"/>
          </a:xfrm>
          <a:prstGeom prst="line">
            <a:avLst/>
          </a:prstGeom>
          <a:ln w="11430">
            <a:solidFill>
              <a:srgbClr val="D5DEEA"/>
            </a:solidFill>
          </a:ln>
        </p:spPr>
      </p:cxnSp>
      <p:sp>
        <p:nvSpPr>
          <p:cNvPr id="75" name="TextBox 74"/>
          <p:cNvSpPr txBox="1"/>
          <p:nvPr/>
        </p:nvSpPr>
        <p:spPr>
          <a:xfrm>
            <a:off x="640080" y="4338218"/>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Greengrass con HSM/TPM (PKCS#11) · OpenSSF Model Signing</a:t>
            </a:r>
          </a:p>
        </p:txBody>
      </p:sp>
      <p:sp>
        <p:nvSpPr>
          <p:cNvPr id="76" name="TextBox 75"/>
          <p:cNvSpPr txBox="1"/>
          <p:nvPr/>
        </p:nvSpPr>
        <p:spPr>
          <a:xfrm>
            <a:off x="5441290" y="4338218"/>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docs.aws.amazon.com/greengrass/v2 · github.com/sigstore/model-transparency</a:t>
            </a:r>
          </a:p>
        </p:txBody>
      </p:sp>
      <p:cxnSp>
        <p:nvCxnSpPr>
          <p:cNvPr id="77" name="Connector 76"/>
          <p:cNvCxnSpPr/>
          <p:nvPr/>
        </p:nvCxnSpPr>
        <p:spPr>
          <a:xfrm>
            <a:off x="640080" y="4603090"/>
            <a:ext cx="10911840" cy="0"/>
          </a:xfrm>
          <a:prstGeom prst="line">
            <a:avLst/>
          </a:prstGeom>
          <a:ln w="11430">
            <a:solidFill>
              <a:srgbClr val="D5DEEA"/>
            </a:solidFill>
          </a:ln>
        </p:spPr>
      </p:cxn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golden signals </a:t>
            </a:r>
            <a:r>
              <a:rPr b="1" lang="es-CO">
                <a:solidFill>
                  <a:srgbClr val="6D28D9"/>
                </a:solidFill>
              </a:rPr>
              <a:t>de un modelo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