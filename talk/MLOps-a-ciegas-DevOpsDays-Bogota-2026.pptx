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6"/>
    <p:sldId id="276" r:id="rId5"/>
    <p:sldId id="277" r:id="rId4"/>
    <p:sldId id="278" r:id="rId3"/>
    <p:sldId id="279" r:id="rId2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4A3BF9E-4BD1-44DC-83B2-1E83795FF5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01 · El problema" id="{EEBC394D-7965-4B65-AE3A-C966759799F8}">
          <p14:sldIdLst>
            <p14:sldId id="263"/>
            <p14:sldId id="264"/>
            <p14:sldId id="265"/>
            <p14:sldId id="266"/>
          </p14:sldIdLst>
        </p14:section>
        <p14:section name="02 · El patrón" id="{9A26E20B-F548-4BBB-B2DC-168B552B9C15}">
          <p14:sldIdLst>
            <p14:sldId id="267"/>
            <p14:sldId id="268"/>
            <p14:sldId id="269"/>
            <p14:sldId id="270"/>
          </p14:sldIdLst>
        </p14:section>
        <p14:section name="03 · Los seis pasos" id="{3CFB39FB-B78E-4C41-B751-89E3EEE73DC0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4 · La evidencia en AWS" id="{7F2922AD-92D9-4804-88EF-5F1B3E506B4A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ierre" id="{FE2DDA9F-A8E4-4417-A931-61057C57F244}">
          <p14:sldIdLst>
            <p14:sldId id="285"/>
            <p14:sldId id="286"/>
            <p14:sldId id="287"/>
            <p14:sldId id="288"/>
          </p14:sldIdLst>
        </p14:section>
        <p14:section name="Anexos" id="{9336A1A2-C81A-438A-8337-5F9B9115847A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4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· MLOPS A CIEGAS</a:t>
            </a:r>
          </a:p>
          <a:p/>
          <a:p>
            <a:r>
              <a:t>0:10 · sin clics</a:t>
            </a:r>
          </a:p>
          <a:p/>
          <a:p>
            <a:r>
              <a:t>*(En pantalla mientras te presentan. Cuando te den la palabra, pasa a la 2 y arranca con el gancho, sin saludar.)*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· HACE UN AÑO: SE CAE US-EAST-1</a:t>
            </a:r>
          </a:p>
          <a:p/>
          <a:p>
            <a:r>
              <a:t>0:40 · 2 clics · *antes de presentarte; sin saludar todavía*</a:t>
            </a:r>
          </a:p>
          <a:p/>
          <a:p>
            <a:r>
              <a:t>'Hace un año, casi exacto, se cayó us-east-1. Muchos de ustedes lo vivieron desde operaciones: horas de servicios detenidos.' *(señala el meme)* 'Y nos recordó algo que ya sabíamos: buena parte de internet se apoya en una sola región.' *(pausa)*</a:t>
            </a:r>
          </a:p>
          <a:p/>
          <a:p>
            <a:r>
              <a:t>▶ CLIC 'Pero hubo una víctima que nadie esperaba: una marca de camas inteligentes, de unos dos mil dólares, que controlaba la temperatura y la inclinación desde la nube. Cuando la región cayó, las camas se quedaron en su último estado: calientes, inclinadas, en plena noche, con sus dueños encima.' *(pausa)*</a:t>
            </a:r>
          </a:p>
          <a:p/>
          <a:p>
            <a:r>
              <a:t>▶ CLIC 'Su solución de emergencia fue un modo sin conexión: control manual por Bluetooth, sin la inteligencia.' *(pausa)* 'La cama sabía detectar en qué etapa del sueño estabas, pero esa decisión vivía en la nube. Cuando la nube cayó, la cama dejó de pensar. Llevar esa decisión al dispositivo: eso es edge.'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· SOBRE MÍ</a:t>
            </a:r>
          </a:p>
          <a:p/>
          <a:p>
            <a:r>
              <a:t>0:25 · sin clics</a:t>
            </a:r>
          </a:p>
          <a:p/>
          <a:p>
            <a:r>
              <a:t>'Buenos días. Soy Alejandro Varela, Senior Cloud Engineer en EPAM, y eso es justamente mi trabajo: diseñar cómo se despliegan y se operan modelos de IA en equipos de campo, lugares sin conectividad estable y sin nadie que los atienda.'</a:t>
            </a:r>
          </a:p>
          <a:p/>
          <a:p>
            <a:r>
              <a:t>'Hoy les voy a mostrar el patrón que uso para eso, con una implementación completa en AWS. Pero antes de la arquitectura, quiero que escuchen algo.'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· ¿ESTA BOMBA ESTÁ FALLANDO?</a:t>
            </a:r>
          </a:p>
          <a:p/>
          <a:p>
            <a:r>
              <a:t>1:10 · 3 clics · *el control reproduce los audios (10 s cada uno); un clic mientras suena lo detiene sin avanzar*</a:t>
            </a:r>
          </a:p>
          <a:p/>
          <a:p>
            <a:r>
              <a:t>'Bomba A.' ▶ CLIC *(suena A)*</a:t>
            </a:r>
          </a:p>
          <a:p/>
          <a:p>
            <a:r>
              <a:t>'Bomba B.' ▶ CLIC *(suena B)*</a:t>
            </a:r>
          </a:p>
          <a:p/>
          <a:p>
            <a:r>
              <a:t>▶ CLIC '¿Alguna de las dos está fallando? Levanten la mano: ¿la A?' *(cuenta)* '¿La B?' *(cuenta)* '¿Las dos?' *(cuenta)* 'La respuesta la vamos a ver con datos más adelante.'</a:t>
            </a:r>
          </a:p>
          <a:p/>
          <a:p>
            <a:r>
              <a:t>'Los audios son reales, del dataset MIMII DUE de Hitachi. Este es el caso: un acueducto con estaciones de bombeo en zonas rurales, con conectividad intermitente y sin personal en sitio. En cada estación, un equipo de borde escucha las bombas y un modelo detecta cuándo una empieza a sonar distinto.'</a:t>
            </a:r>
          </a:p>
          <a:p/>
          <a:p>
            <a:r>
              <a:t>'Ustedes acaban de hacer exactamente lo que hace ese modelo: decidieron ahí mismo, con lo que ya saben y su experiencia, sin preguntarle a ChatGPT.' *(pausa)* 'Eso es inferencia en el borde: el conocimiento vive donde está el dato, y la decisión no depende de la red.'</a:t>
            </a:r>
          </a:p>
          <a:p/>
          <a:p>
            <a:r>
              <a:t>'De eso se trata «MLOps a ciegas»: cómo se opera un modelo que corre donde no lo vemos. Cómo le llega una versión nueva, cómo se revierte cuando falla y cómo reporta lo que decide, sin que el audio salga de la estación.'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· LA IA YA CORRE EN EL DISPOSITIVO</a:t>
            </a:r>
          </a:p>
          <a:p/>
          <a:p>
            <a:r>
              <a:t>0:25 · 2 clics</a:t>
            </a:r>
          </a:p>
          <a:p/>
          <a:p>
            <a:r>
              <a:t>'Esto no es un caso aislado: la inferencia se está moviendo de la nube al dispositivo. Según Gartner, en 2024, 16 de cada 100 PC nuevos traían hardware dedicado para IA.'</a:t>
            </a:r>
          </a:p>
          <a:p/>
          <a:p>
            <a:r>
              <a:t>▶ CLIC 'En 2025, 31.'</a:t>
            </a:r>
          </a:p>
          <a:p/>
          <a:p>
            <a:r>
              <a:t>▶ CLIC 'Y la proyección para este año es 55: más de la mitad. La misma tendencia se ve en teléfonos, vehículos y equipos industriales.'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· POR QUÉ EL MODELO BAJA AL DISPOSITIVO</a:t>
            </a:r>
          </a:p>
          <a:p/>
          <a:p>
            <a:r>
              <a:t>0:55 · 2 clics</a:t>
            </a:r>
          </a:p>
          <a:p/>
          <a:p>
            <a:r>
              <a:t>'Hay tres razones para ejecutar el modelo en el dispositivo, y las tres se ven mejor con un caso concreto.'</a:t>
            </a:r>
          </a:p>
          <a:p/>
          <a:p>
            <a:r>
              <a:t>'Latencia: un vehículo autónomo frente a un obstáculo no puede esperar la respuesta de un modelo remoto. La ida y vuelta a la nube no cabe en el tiempo de frenado.'</a:t>
            </a:r>
          </a:p>
          <a:p/>
          <a:p>
            <a:r>
              <a:t>▶ CLIC 'Disponibilidad: un técnico en planta, de madrugada, consulta un asistente cuyo modelo vive en la nube, y la respuesta es «sin conexión». En una estación rural, ese es el estado normal.'</a:t>
            </a:r>
          </a:p>
          <a:p/>
          <a:p>
            <a:r>
              <a:t>▶ CLIC 'Privacidad: Face ID. El modelo corre en el teléfono y los datos biométricos quedan cifrados en el Secure Enclave; nunca salen del dispositivo. Lo único que sale es una decisión: sí o no.'</a:t>
            </a:r>
          </a:p>
          <a:p/>
          <a:p>
            <a:r>
              <a:t>'Y un detalle relevante para esta charla: Face ID se adapta a los cambios de apariencia en el propio dispositivo. Los datos cambian y el modelo se ajusta sin ir a la nube. Vamos a volver sobre esa idea.'</a:t>
            </a:r>
          </a:p>
          <a:p/>
          <a:p>
            <a:r>
              <a:t>'En nuestro caso, un micrófono genera 115 MB por hora, por bomba, sobre la red de una zona rural. No cabe, y tampoco debería salir de la estación.'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· CONTENIDO DE LA SESIÓN</a:t>
            </a:r>
          </a:p>
          <a:p/>
          <a:p>
            <a:r>
              <a:t>0:15 · sin clics</a:t>
            </a:r>
          </a:p>
          <a:p/>
          <a:p>
            <a:r>
              <a:t>'La charla tiene cuatro partes: el problema, el patrón de arquitectura, la implementación en seis pasos y la evidencia de una ejecución real en AWS.'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· 01 · EL PROBLEMA</a:t>
            </a:r>
          </a:p>
          <a:p/>
          <a:p>
            <a:r>
              <a:t>0:05 · *reloj: 4:00*</a:t>
            </a:r>
          </a:p>
          <a:p/>
          <a:p>
            <a:r>
              <a:t>'Empecemos por el problema.'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· MLOPS EN LA NUBE: UN LOOP CERRADO</a:t>
            </a:r>
          </a:p>
          <a:p/>
          <a:p>
            <a:r>
              <a:t>0:20 · sin clics</a:t>
            </a:r>
          </a:p>
          <a:p/>
          <a:p>
            <a:r>
              <a:t>'Cuando el modelo vive en la nube, el ciclo está resuelto. Todas las inferencias pasan por un endpoint: se registran, se comparan contra la línea base del entrenamiento, se alerta cuando la distribución cambia y se reentrena.'</a:t>
            </a:r>
          </a:p>
          <a:p/>
          <a:p>
            <a:r>
              <a:t>'Funciona por una razón: todo pasa por un punto que controlamos.'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LAS RESTRICCIONES DE LA ESTACIÓN</a:t>
            </a:r>
          </a:p>
          <a:p/>
          <a:p>
            <a:r>
              <a:t>1:00 · 5 clics</a:t>
            </a:r>
          </a:p>
          <a:p/>
          <a:p>
            <a:r>
              <a:t>'Al llevar el modelo a la estación, ese punto de control desaparece. Aparecen cinco restricciones.'</a:t>
            </a:r>
          </a:p>
          <a:p/>
          <a:p>
            <a:r>
              <a:t>▶ CLIC 'Primera, recursos: memoria limitada y hardware heterogéneo. Una estación tiene ARM, otra un x86 de varias generaciones atrás, la más nueva una NPU.'</a:t>
            </a:r>
          </a:p>
          <a:p/>
          <a:p>
            <a:r>
              <a:t>▶ CLIC 'Segunda, conectividad: cuando cae el enlace, cae todo el ciclo de la nube.'</a:t>
            </a:r>
          </a:p>
          <a:p/>
          <a:p>
            <a:r>
              <a:t>▶ CLIC 'Tercera, el dato crudo no puede salir: por volumen y por política.'</a:t>
            </a:r>
          </a:p>
          <a:p/>
          <a:p>
            <a:r>
              <a:t>▶ CLIC 'Cuarta, y la menos medida: la latencia depende de la energía. Con batería baja o temperatura alta, el procesador reduce su frecuencia y el mismo modelo tarda más.'</a:t>
            </a:r>
          </a:p>
          <a:p/>
          <a:p>
            <a:r>
              <a:t>▶ CLIC 'Quinta, los datos: hay pocos ejemplos de falla y la distribución de lo normal cambia con el tiempo; el sensor envejece, la bomba cambia de régimen. Eso es drift. Y la calidad de los datos de entrenamiento define todo lo demás; en el acto 3 vamos a ver qué pasa cuando falla.'</a:t>
            </a:r>
          </a:p>
          <a:p/>
          <a:p>
            <a:r>
              <a:t>'Todas las prácticas de MLOps en la nube asumen que las inferencias pasan por nosotros. En el borde, ese supuesto no se cumple.'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UN PANEL EN VERDE NO MIDE EL MODELO</a:t>
            </a:r>
          </a:p>
          <a:p/>
          <a:p>
            <a:r>
              <a:t>1:15 · 3 clics · *la idea central: ve despacio*</a:t>
            </a:r>
          </a:p>
          <a:p/>
          <a:p>
            <a:r>
              <a:t>'La pregunta operativa es: ¿cómo sabemos si el modelo de la estación está funcionando? La respuesta habitual es el panel de infraestructura.'</a:t>
            </a:r>
          </a:p>
          <a:p/>
          <a:p>
            <a:r>
              <a:t>▶ CLIC 'Servicio arriba, CPU normal, memoria normal. Todo en verde. Desde operaciones, el sistema está sano.'</a:t>
            </a:r>
          </a:p>
          <a:p/>
          <a:p>
            <a:r>
              <a:t>▶ CLIC 'Pero la pregunta correcta es otra: ¿el modelo todavía distingue una bomba sana de una que falla? Eso lo mide el AUC: 1 es separación perfecta, 0,5 es azar.'</a:t>
            </a:r>
          </a:p>
          <a:p/>
          <a:p>
            <a:r>
              <a:t>'Con las condiciones de entrenamiento, este modelo tiene un AUC de 0,69. Cambiamos la velocidad de operación de la bomba y cae a 0,57.' *(pausa)* 'Prácticamente azar. Y las falsas alarmas pasan del 6 al 18 por ciento.'</a:t>
            </a:r>
          </a:p>
          <a:p/>
          <a:p>
            <a:r>
              <a:t>▶ CLIC 'Sin un solo error en los logs. La infraestructura está sana; el modelo dejó de discriminar.' *(pausa)*</a:t>
            </a:r>
          </a:p>
          <a:p/>
          <a:p>
            <a:r>
              <a:t>'Esto está medido con los mismos audios que escucharon al principio. Un servicio caído genera alertas. Un modelo degradado sigue respondiendo a tiempo, con un 200 OK.'</a:t>
            </a:r>
          </a:p>
          <a:p/>
          <a:p>
            <a:r>
              <a:t>'Monitorear la infraestructura no es monitorear el modelo. En el paso seis vamos a ver qué hay que medir.'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02 · EL PATRÓN</a:t>
            </a:r>
          </a:p>
          <a:p/>
          <a:p>
            <a:r>
              <a:t>0:05 · *reloj: 6:40*</a:t>
            </a:r>
          </a:p>
          <a:p/>
          <a:p>
            <a:r>
              <a:t>'Veamos cómo se gobierna esto, empezando por el equipo.'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ARQUITECTURA DEL EQUIPO EN LA ESTACIÓN</a:t>
            </a:r>
          </a:p>
          <a:p/>
          <a:p>
            <a:r>
              <a:t>0:45 · 3 clics</a:t>
            </a:r>
          </a:p>
          <a:p/>
          <a:p>
            <a:r>
              <a:t>'En la base: el micrófono sobre la bomba y el modelo con su runtime. La inferencia ocurre localmente, en milisegundos, con o sin red. El audio entra y no sale.'</a:t>
            </a:r>
          </a:p>
          <a:p/>
          <a:p>
            <a:r>
              <a:t>▶ CLIC 'Encima, el modelo no se distribuye como un archivo suelto: es un artefacto versionado y con huella criptográfica. Si se altera, no se instala.'</a:t>
            </a:r>
          </a:p>
          <a:p/>
          <a:p>
            <a:r>
              <a:t>▶ CLIC 'Luego, un agente. Nadie empuja cambios a la estación: el agente consulta, cuando hay conectividad, cuál es el estado deseado.'</a:t>
            </a:r>
          </a:p>
          <a:p/>
          <a:p>
            <a:r>
              <a:t>▶ CLIC 'Y arriba, una cola de eventos persistente. Cada decisión queda registrada hasta que se restablece el enlace.'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CINCO PIEZAS PARA GOBERNARLO</a:t>
            </a:r>
          </a:p>
          <a:p/>
          <a:p>
            <a:r>
              <a:t>1:05 · 6 clics</a:t>
            </a:r>
          </a:p>
          <a:p/>
          <a:p>
            <a:r>
              <a:t>'Este es el punto de partida en muchas organizaciones: se copia el modelo al equipo y se asume que funciona. No hay versión, no hay trazabilidad, no hay forma de revertir.'</a:t>
            </a:r>
          </a:p>
          <a:p/>
          <a:p>
            <a:r>
              <a:t>▶ CLIC 'El patrón tiene cinco piezas. Primera: optimización por hardware. Se entrena una vez y se compila para cada tipo de chip.'</a:t>
            </a:r>
          </a:p>
          <a:p/>
          <a:p>
            <a:r>
              <a:t>▶ CLIC 'Segunda: un artefacto verificable, con versión y huella, en un registro inmutable.'</a:t>
            </a:r>
          </a:p>
          <a:p/>
          <a:p>
            <a:r>
              <a:t>▶ CLIC 'Tercera: estado deseado. El plano de control declara qué debe tener cada equipo y el equipo converge cuando hay conectividad.'</a:t>
            </a:r>
          </a:p>
          <a:p/>
          <a:p>
            <a:r>
              <a:t>▶ CLIC 'Cuarta: eventos de inferencia. Cada decisión se registra; sin red, se encola.'</a:t>
            </a:r>
          </a:p>
          <a:p/>
          <a:p>
            <a:r>
              <a:t>▶ CLIC 'Quinta: un gate que evalúa esos eventos y decide automáticamente si se avanza o se revierte. Es el ciclo rápido, de minutos.'</a:t>
            </a:r>
          </a:p>
          <a:p/>
          <a:p>
            <a:r>
              <a:t>▶ CLIC 'Esos eventos dicen cuándo reentrenar y en qué estación, y el mantenimiento pone las etiquetas. El audio para reentrenar se recolecta de forma selectiva: alertas, casos dudosos y una muestra de lo normal. Ese es el ciclo lento, de días. Y de forma transversal, identidad, mínimo privilegio, cifrado y auditoría. El patrón no depende de ningún proveedor de nube.'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EL MISMO PATRÓN EN AWS</a:t>
            </a:r>
          </a:p>
          <a:p/>
          <a:p>
            <a:r>
              <a:t>0:30 · 5 clics · *ritmo ágil*</a:t>
            </a:r>
          </a:p>
          <a:p/>
          <a:p>
            <a:r>
              <a:t>'La misma arquitectura, con servicios de AWS.'</a:t>
            </a:r>
          </a:p>
          <a:p/>
          <a:p>
            <a:r>
              <a:t>▶ CLIC 'SageMaker AI entrena.' ▶ CLIC 'S3 almacena cada versión e IoT Greengrass la empaqueta como componente.' ▶ CLIC 'El estado deseado es un despliegue de Greengrass, que llega por IoT Core con un certificado por dispositivo.'</a:t>
            </a:r>
          </a:p>
          <a:p/>
          <a:p>
            <a:r>
              <a:t>▶ CLIC 'Los eventos regresan por IoT Core y una regla los envía a CloudWatch.' ▶ CLIC 'Y el gate es una alarma de CloudWatch que invoca una Lambda, que restaura la última versión aprobada.'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· 03 · LOS SEIS PASOS</a:t>
            </a:r>
          </a:p>
          <a:p/>
          <a:p>
            <a:r>
              <a:t>0:10 · *reloj: 9:05*</a:t>
            </a:r>
          </a:p>
          <a:p/>
          <a:p>
            <a:r>
              <a:t>'La implementación, en seis pasos: entrenar, optimizar, empaquetar, desplegar, operar sin red y monitorear.'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· PASO 1 · ENTRENAR CON SONIDO NORMAL</a:t>
            </a:r>
          </a:p>
          <a:p/>
          <a:p>
            <a:r>
              <a:t>0:45 · 2 clics</a:t>
            </a:r>
          </a:p>
          <a:p/>
          <a:p>
            <a:r>
              <a:t>'Paso uno: el modelo se entrena únicamente con audio de bombas sanas.'</a:t>
            </a:r>
          </a:p>
          <a:p/>
          <a:p>
            <a:r>
              <a:t>▶ CLIC 'Es un autoencoder: aprende a reconstruir el sonido normal, y el error de reconstrucción es el score de anomalía. Si no puede reconstruir lo que escucha, algo cambió.'</a:t>
            </a:r>
          </a:p>
          <a:p/>
          <a:p>
            <a:r>
              <a:t>▶ CLIC 'El resultado se publica en S3: el modelo en ONNX, el umbral y el código de preprocesamiento. El preprocesamiento viaja con el modelo porque la causa más común de degradación silenciosa es entrenar con una transformación y servir con otra. Cada versión, en su propio prefijo: nunca se sobrescribe.'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· PASO 2 · OPTIMIZAR PARA CADA CHIP</a:t>
            </a:r>
          </a:p>
          <a:p/>
          <a:p>
            <a:r>
              <a:t>1:00 · 3 clics</a:t>
            </a:r>
          </a:p>
          <a:p/>
          <a:p>
            <a:r>
              <a:t>'Paso dos: el modelo se entrena en 32 bits y se exporta a ONNX.'</a:t>
            </a:r>
          </a:p>
          <a:p/>
          <a:p>
            <a:r>
              <a:t>▶ CLIC 'Para el equipo de borde se cuantiza a 8 bits, se simplifica el grafo y se compila con el toolchain de cada fabricante.'</a:t>
            </a:r>
          </a:p>
          <a:p/>
          <a:p>
            <a:r>
              <a:t>▶ CLIC 'La consecuencia operativa: no hay un artefacto, hay uno por tipo de hardware. Y la restricción que manda es la memoria.'</a:t>
            </a:r>
          </a:p>
          <a:p/>
          <a:p>
            <a:r>
              <a:t>▶ CLIC 'Medido en el equipo del ensayo: de 32 a 8 bits, el modelo pasa de 464 a 127 KB, la latencia por clip de 14,4 a 12,7 milisegundos, y la decisión coincide en el 98 % de los casos.'</a:t>
            </a:r>
          </a:p>
          <a:p/>
          <a:p>
            <a:r>
              <a:t>'En mi portátil, la mejora era casi del doble. En el equipo real, el cuello de botella es el preprocesamiento del audio, no el modelo. Por eso se mide en el hardware de destino, y en condiciones reales: batería baja y temperatura alta.'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· PASO 3 · EMPAQUETAR COMO COMPONENTE</a:t>
            </a:r>
          </a:p>
          <a:p/>
          <a:p>
            <a:r>
              <a:t>0:55 · 4 clics</a:t>
            </a:r>
          </a:p>
          <a:p/>
          <a:p>
            <a:r>
              <a:t>'Paso tres: en IoT Greengrass, el modelo se empaqueta como componente. Esta es la receta, resumida.'</a:t>
            </a:r>
          </a:p>
          <a:p/>
          <a:p>
            <a:r>
              <a:t>▶ CLIC 'Los artefactos vienen de S3, y Greengrass verifica la huella de cada uno antes de instalar.'</a:t>
            </a:r>
          </a:p>
          <a:p/>
          <a:p>
            <a:r>
              <a:t>▶ CLIC 'El arranque no descarga nada: las dependencias ya están en el equipo. Un componente que instala librerías al iniciar no arranca sin conectividad.'</a:t>
            </a:r>
          </a:p>
          <a:p/>
          <a:p>
            <a:r>
              <a:t>▶ CLIC 'El umbral es configuración: se ajusta con un despliegue, sin reentrenar.'</a:t>
            </a:r>
          </a:p>
          <a:p/>
          <a:p>
            <a:r>
              <a:t>▶ CLIC 'Y los permisos son mínimos: el componente solo puede publicar en un tópico, station/events.'</a:t>
            </a:r>
          </a:p>
          <a:p/>
          <a:p>
            <a:r>
              <a:t>'Una regla operativa: una versión publicada es inmutable. Si se modifica un artefacto sin cambiar la versión, la huella no coincide y el despliegue falla.'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· PASO 4 · DESPLEGAR POR RINGS</a:t>
            </a:r>
          </a:p>
          <a:p/>
          <a:p>
            <a:r>
              <a:t>0:55 · 3 clics</a:t>
            </a:r>
          </a:p>
          <a:p/>
          <a:p>
            <a:r>
              <a:t>'Paso cuatro: cómo llevar una versión nueva a mil equipos sin afectarlos a todos a la vez. Despliegue por rings, donde cada ring es un thing group. El ring 0 es una sola estación: el canary.'</a:t>
            </a:r>
          </a:p>
          <a:p/>
          <a:p>
            <a:r>
              <a:t>▶ CLIC 'Si el canary pasa el gate, continúa el ring 1, en olas de tamaño creciente.'</a:t>
            </a:r>
          </a:p>
          <a:p/>
          <a:p>
            <a:r>
              <a:t>▶ CLIC 'Greengrass incluye dos protecciones: cancela el despliegue si fallan demasiados equipos, y revierte en el equipo que no logra iniciar la versión nueva.'</a:t>
            </a:r>
          </a:p>
          <a:p/>
          <a:p>
            <a:r>
              <a:t>▶ CLIC 'Lo que Greengrass no trae es el gate sobre el modelo: una alarma sobre las fallas no detectadas que restaura la última versión aprobada. Ese lo construí.'</a:t>
            </a:r>
          </a:p>
          <a:p/>
          <a:p>
            <a:r>
              <a:t>'La distinción es importante: Greengrass revierte despliegues que fallan. Un modelo que se instala correctamente y decide mal es, para Greengrass, un despliegue exitoso.'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· PASO 5 · OPERAR SIN RED</a:t>
            </a:r>
          </a:p>
          <a:p/>
          <a:p>
            <a:r>
              <a:t>0:30 · sin clics</a:t>
            </a:r>
          </a:p>
          <a:p/>
          <a:p>
            <a:r>
              <a:t>'Paso cinco: operación desconectada. Greengrass encola los eventos localmente hasta que vuelve la conectividad. Para equipos con muy poca memoria existe una versión ligera del agente, escrita en C.'</a:t>
            </a:r>
          </a:p>
          <a:p/>
          <a:p>
            <a:r>
              <a:t>'La estación sigue decidiendo y alertando sin red, porque todo lo necesario está en el equipo. Un detalle de diseño: la cola por defecto vive en memoria y descarta mensajes al llenarse. Para desconexiones largas, debe ir a disco.'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· PASO 6 · MONITOREAR LO QUE DECIDE EL MODELO</a:t>
            </a:r>
          </a:p>
          <a:p/>
          <a:p>
            <a:r>
              <a:t>1:15 · 3 clics</a:t>
            </a:r>
          </a:p>
          <a:p/>
          <a:p>
            <a:r>
              <a:t>'Paso seis: desde la nube no vemos el audio, vemos los eventos del modelo. Unos cientos de bytes por inferencia, que pasan por IoT Core, una regla, CloudWatch y una alarma conectada al rollback.'</a:t>
            </a:r>
          </a:p>
          <a:p/>
          <a:p>
            <a:r>
              <a:t>'La pregunta es qué medir. Propongo tres señales.'</a:t>
            </a:r>
          </a:p>
          <a:p/>
          <a:p>
            <a:r>
              <a:t>▶ CLIC 'Primera, la entrada: ¿el sensor sigue entregando datos confiables? Un aumento gradual indica envejecimiento; un salto abrupto indica falla o manipulación. La velocidad del cambio distingue un caso del otro.'</a:t>
            </a:r>
          </a:p>
          <a:p/>
          <a:p>
            <a:r>
              <a:t>▶ CLIC 'Segunda, la salida: ¿cambió la distribución de las decisiones? Se compara la distribución de scores de la última hora contra la de referencia, con una métrica como PSI.'</a:t>
            </a:r>
          </a:p>
          <a:p/>
          <a:p>
            <a:r>
              <a:t>▶ CLIC 'Tercera, la autenticidad: ¿el modelo en ejecución es el que desplegamos? Cada evento incluye la versión y la huella del modelo.' *(pausa)* 'Esa huella la reporta el propio equipo, y un equipo comprometido puede reportar lo que quiera. Por eso necesita arranque seguro y su llave en un TPM.'</a:t>
            </a:r>
          </a:p>
          <a:p/>
          <a:p>
            <a:r>
              <a:t>'En la PoC, el gate usa la verdad de cada clip, porque sé qué audio está sonando. En producción esa etiqueta llega tarde, con la orden de mantenimiento. Las tres señales no la necesitan: funcionan desde el primer día.'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· 04 · LA EVIDENCIA EN AWS</a:t>
            </a:r>
          </a:p>
          <a:p/>
          <a:p>
            <a:r>
              <a:t>0:05 · *reloj: 14:35*</a:t>
            </a:r>
          </a:p>
          <a:p/>
          <a:p>
            <a:r>
              <a:t>'Ahora, la evidencia: la misma arquitectura, ejecutada en AWS.'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· LO QUE MONTÉ Y CORRÍ</a:t>
            </a:r>
          </a:p>
          <a:p/>
          <a:p>
            <a:r>
              <a:t>0:25 · sin clics</a:t>
            </a:r>
          </a:p>
          <a:p/>
          <a:p>
            <a:r>
              <a:t>'Cinco bombas simuladas: contenedores con el agente real de Greengrass en una instancia EC2. La bomba 1 es el canary; las otras cuatro, el ring 1. Audio real e infraestructura con Terraform. Todo lo que sigue es la consola y los eventos de esa ejecución, sin editar.'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· EL MODELO, VERSIONADO</a:t>
            </a:r>
          </a:p>
          <a:p/>
          <a:p>
            <a:r>
              <a:t>0:25 · sin clics</a:t>
            </a:r>
          </a:p>
          <a:p/>
          <a:p>
            <a:r>
              <a:t>'Primero, el artefacto. En S3, cada versión en su propia carpeta. En Greengrass, el componente con sus dos versiones: 1.0.0 y 2.0.0. Nada se sobrescribe.'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· LA FLOTA, REPORTANDO</a:t>
            </a:r>
          </a:p>
          <a:p/>
          <a:p>
            <a:r>
              <a:t>0:30 · sin clics</a:t>
            </a:r>
          </a:p>
          <a:p/>
          <a:p>
            <a:r>
              <a:t>'La flota: cinco equipos en dos rings, reportando a este dashboard, organizado por las tres señales: entrada, salida y autenticidad. Con esto en marcha, tres pruebas.'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· ACTO 1 · ESCUCHAR</a:t>
            </a:r>
          </a:p>
          <a:p/>
          <a:p>
            <a:r>
              <a:t>0:50 · sin clics · *deja que lean primero*</a:t>
            </a:r>
          </a:p>
          <a:p/>
          <a:p>
            <a:r>
              <a:t>'Esto es lo que se ve desde la nube: cada línea es una inferencia de la bomba 3, con versión, decisión, score y nivel de entrada.'</a:t>
            </a:r>
          </a:p>
          <a:p/>
          <a:p>
            <a:r>
              <a:t>'Decisiones normales, hasta que inyecto el audio de falla. En ese mismo clip, el score supera el umbral y el modelo emite una alerta.'</a:t>
            </a:r>
          </a:p>
          <a:p/>
          <a:p>
            <a:r>
              <a:t>'Esa es la respuesta a la pregunta inicial: la bomba B era la que fallaba.' *(pausa)*</a:t>
            </a:r>
          </a:p>
          <a:p/>
          <a:p>
            <a:r>
              <a:t>'Y lo único que salió de la estación fue esta línea, no el audio.'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· ACTO 2 · SIN RED, Y UNA DERIVA</a:t>
            </a:r>
          </a:p>
          <a:p/>
          <a:p>
            <a:r>
              <a:t>1:00 · sin clics</a:t>
            </a:r>
          </a:p>
          <a:p/>
          <a:p>
            <a:r>
              <a:t>'Segundo acto: desconecto la bomba 3 de la red. A la izquierda, sus eventos dejan de llegar mientras las otras cuatro siguen reportando.'</a:t>
            </a:r>
          </a:p>
          <a:p/>
          <a:p>
            <a:r>
              <a:t>'Cuarenta y cinco segundos después restablezco la conexión, y los eventos encolados llegan con su retraso registrado: 41, 32, 29, 20 segundos. Ninguno se perdió. La bomba siguió decidiendo sin red.'</a:t>
            </a:r>
          </a:p>
          <a:p/>
          <a:p>
            <a:r>
              <a:t>'A la derecha, otra prueba: cambio el régimen de la bomba 5. No hay un solo error, pero la señal de entrada salta de 0,8 a 1,8 desviaciones estándar. Es exactamente el tipo de deriva que el panel de infraestructura no 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· ACTO 3 · RING DEPLOYMENT Y ROLLBACK</a:t>
            </a:r>
          </a:p>
          <a:p/>
          <a:p>
            <a:r>
              <a:t>1:30 · 3 clics · *el punto culminante: ve despacio*</a:t>
            </a:r>
          </a:p>
          <a:p/>
          <a:p>
            <a:r>
              <a:t>'Tercer acto: despliego la versión 2.0.0 solo en el ring 0. Esta versión se entrenó con más datos.' *(pausa)* 'Llega en 17 segundos, sin errores. Para Greengrass, un despliegue exitoso.'</a:t>
            </a:r>
          </a:p>
          <a:p/>
          <a:p>
            <a:r>
              <a:t>'Ahora inyecto una falla en la bomba 1. La versión nueva responde «normal» con la bomba fallando: fallas no detectadas.'</a:t>
            </a:r>
          </a:p>
          <a:p/>
          <a:p>
            <a:r>
              <a:t>'La causa: el audio adicional incluía un periodo en que una bomba ya estaba fallando, y nadie lo validó. El modelo aprendió la falla como comportamiento normal. No es un error de código; es un error de datos.'</a:t>
            </a:r>
          </a:p>
          <a:p/>
          <a:p>
            <a:r>
              <a:t>'Nadie interviene. La alarma pasa a ALARM, la Lambda restaura la versión 1.0.0 y la bomba 1 vuelve a alertar. Ochenta y ocho segundos desde la falla, sin acceso al equipo.' *(pausa)*</a:t>
            </a:r>
          </a:p>
          <a:p/>
          <a:p>
            <a:r>
              <a:t>▶ CLIC 'La alarma en CloudWatch: las fallas no detectadas superan el umbral de 8 por minuto, y la franja roja marca el periodo en ALARM.'</a:t>
            </a:r>
          </a:p>
          <a:p/>
          <a:p>
            <a:r>
              <a:t>▶ CLIC 'Y en los despliegues: el ring 0 corre «rollback-to-1.0.0», creado por la Lambda, no por mí. El ring 1 nunca recibió la 2.0.0.'</a:t>
            </a:r>
          </a:p>
          <a:p/>
          <a:p>
            <a:r>
              <a:t>▶ CLIC *(mirando a la sala)* 'Greengrass revierte despliegues fallidos, no modelos equivocados. Ese gate es responsabilidad nuestra.'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· CINCO RECOMENDACIONES</a:t>
            </a:r>
          </a:p>
          <a:p/>
          <a:p>
            <a:r>
              <a:t>1:05 · 4 clics · *reloj: 19:20 al entrar*</a:t>
            </a:r>
          </a:p>
          <a:p/>
          <a:p>
            <a:r>
              <a:t>'Cinco recomendaciones para aplicar desde el lunes.'</a:t>
            </a:r>
          </a:p>
          <a:p/>
          <a:p>
            <a:r>
              <a:t>'Primera: traten el modelo como cualquier artefacto de software: versión, huella y firma, sobre un equipo con arranque seguro.'</a:t>
            </a:r>
          </a:p>
          <a:p/>
          <a:p>
            <a:r>
              <a:t>▶ CLIC 'Segunda: midan en el hardware de destino, en condiciones reales de energía y temperatura.'</a:t>
            </a:r>
          </a:p>
          <a:p/>
          <a:p>
            <a:r>
              <a:t>▶ CLIC 'Tercera: desplieguen por rings, con un gate que evalúe al modelo, no solo al proceso.'</a:t>
            </a:r>
          </a:p>
          <a:p/>
          <a:p>
            <a:r>
              <a:t>▶ CLIC 'Cuarta: diseñen para operar sin conectividad: cola local y decisiones locales.'</a:t>
            </a:r>
          </a:p>
          <a:p/>
          <a:p>
            <a:r>
              <a:t>▶ CLIC 'Quinta: monitoreen tres señales: entrada, salida y autenticidad.'</a:t>
            </a:r>
          </a:p>
          <a:p/>
          <a:p>
            <a:r>
              <a:t>*(Si el reloj marca 19:40 o menos: «Una lección del primer montaje: ninguna bomba arrancaba. El problema era que el instalador de Greengrass determina el formato de configuración por la extensión del archivo, y el mío no tenía extensión. Una línea. Por eso se prueba en el entorno real.»)*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· LA FRASE FINAL: ¿ESTA BOMBA ESTÁ FALLANDO?</a:t>
            </a:r>
          </a:p>
          <a:p/>
          <a:p>
            <a:r>
              <a:t>0:45 · 3 clics · *el primer clic reproduce la bomba B*</a:t>
            </a:r>
          </a:p>
          <a:p/>
          <a:p>
            <a:r>
              <a:t>'Volvamos a la pregunta inicial: ¿esta bomba está fallando?' ▶ CLIC *(suena B; córtala con otro clic a los tres segundos)*</a:t>
            </a:r>
          </a:p>
          <a:p/>
          <a:p>
            <a:r>
              <a:t>'Ustedes la escucharon. La nube no, y no necesitaba hacerlo.'</a:t>
            </a:r>
          </a:p>
          <a:p/>
          <a:p>
            <a:r>
              <a:t>▶ CLIC 'Esto es todo lo que salió de la estación: bomba 3, versión 1.0.0, alerta. Unos cientos de bytes.'</a:t>
            </a:r>
          </a:p>
          <a:p/>
          <a:p>
            <a:r>
              <a:t>▶ CLIC 'No necesitamos ver el modelo. Necesitamos que el modelo nos cuente qué decide.' *(pausa)*</a:t>
            </a:r>
          </a:p>
          <a:p/>
          <a:p>
            <a:r>
              <a:t>'Les dejo una pregunta: si mañana uno de sus modelos deja de detectar lo que debe, ¿quién se va a enterar primero: ustedes, o la comunidad que se quedó sin agua?' *(pausa larga)*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 · RECURSOS Y CONTACTO</a:t>
            </a:r>
          </a:p>
          <a:p/>
          <a:p>
            <a:r>
              <a:t>0:15 · sin clics</a:t>
            </a:r>
          </a:p>
          <a:p/>
          <a:p>
            <a:r>
              <a:t>'El código, la infraestructura y estas láminas están en el repositorio del código QR.'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 · GRACIAS</a:t>
            </a:r>
          </a:p>
          <a:p/>
          <a:p>
            <a:r>
              <a:t>0:15 · sin clics</a:t>
            </a:r>
          </a:p>
          <a:p/>
          <a:p>
            <a:r>
              <a:t>'Muchas gracias. Con gusto respondo sus preguntas.'</a:t>
            </a:r>
          </a:p>
          <a:p/>
          <a:p>
            <a:r>
              <a:t>*Anexos: en PowerPoint escribe el número de la lámina y Enter (A1 = 34 … A8 = 41); para volver, el de la lámina donde estabas. A1 evento · A2 rollback · A3 qué revierte Greengrass · A4 permisos y costo · A5 a producción · A6 drift · A7 regulación · A8 fuentes · A9 golden signals · A10 audio contra eventos · A11 seguridad del equipo.*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· EL EVENTO, CAMPO POR CAMPO</a:t>
            </a:r>
          </a:p>
          <a:p/>
          <a:p>
            <a:r>
              <a:t>'Cada evento identifica el dispositivo, la versión y la huella del modelo; incluye un número de secuencia y la marca de tiempo de la decisión; el score, el umbral y la decisión; un resumen de la entrada y la latencia. La regla de IoT agrega la hora de llegada: la diferencia es el tiempo que el equipo estuvo desconectado.'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 · EL ROLLBACK AUTOMÁTICO, PASO A PASO</a:t>
            </a:r>
          </a:p>
          <a:p/>
          <a:p>
            <a:r>
              <a:t>'La única acción manual es el despliegue de la 2.0.0 al ring 0. El equipo obtiene su estado deseado, descarga de S3, verifica la huella e instala: para Greengrass, todo correcto. Pero la versión nueva no detecta las fallas. Cada evento pasa por la regla de IoT, llega a CloudWatch y un filtro de métrica cuenta las fallas no detectadas. Con ocho en un minuto, la alarma invoca la Lambda, que consulta en Parameter Store la última versión aprobada y la despliega solo en el ring 0.'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· ¿QUÉ REVIERTE GREENGRASS SOLO?</a:t>
            </a:r>
          </a:p>
          <a:p/>
          <a:p>
            <a:r>
              <a:t>'Greengrass revierte en tres casos: si la huella de un artefacto no coincide, si el componente no instala o no inicia, y si fallan demasiados equipos del ring. No detecta un modelo que se ejecuta correctamente y decide mal. Eso solo lo detectan los eventos del modelo y una alarma sobre ellos.'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· PERMISOS Y COSTO</a:t>
            </a:r>
          </a:p>
          <a:p/>
          <a:p>
            <a:r>
              <a:t>'Cada componente tiene el mínimo privilegio: el equipo lee su bucket y publica en su tópico, con identidad propia; la regla escribe en su log group; la Lambda crea el despliegue y lee un parámetro. El costo lo domina la instancia EC2, y todo se elimina con un destroy desde GitHub Actions.'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A5 · DE LA DEMO A PRODUCCIÓN</a:t>
            </a:r>
          </a:p>
          <a:p/>
          <a:p>
            <a:r>
              <a:t>'Para una flota real cambian cinco cosas: un resumen por minuto en lugar de un evento por inferencia; la cola en disco; el agente ligero en equipos pequeños; el canary comparado contra el resto del ring; y la verdad de la falla llega tarde, con la orden de mantenimiento.'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 · ¿QUÉ MÉTODO DE DRIFT USO?</a:t>
            </a:r>
          </a:p>
          <a:p/>
          <a:p>
            <a:r>
              <a:t>'Depende del tipo de dato. PSI para variables discretizadas, con umbrales más convencionales que estadísticos. Kolmogorov-Smirnov para muestras pequeñas. Wasserstein para cuantificar el desplazamiento. Jensen-Shannon, acotada entre 0 y 1, conveniente para alertar. En la PoC uso la distancia de cada clip a la huella de lo normal.'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A7 · REGULACIÓN</a:t>
            </a:r>
          </a:p>
          <a:p/>
          <a:p>
            <a:r>
              <a:t>3 clics</a:t>
            </a:r>
          </a:p>
          <a:p/>
          <a:p>
            <a:r>
              <a:t>'En Europa, el AI Act exige a los sistemas de alto riesgo registro automático de eventos durante todo su ciclo de vida, retención mínima de seis meses y monitoreo posterior a la comercialización.'</a:t>
            </a:r>
          </a:p>
          <a:p/>
          <a:p>
            <a:r>
              <a:t>▶ CLIC 'En Estados Unidos, el AI Risk Management Framework del NIST: voluntario, pero se convirtió en el vocabulario común.'</a:t>
            </a:r>
          </a:p>
          <a:p/>
          <a:p>
            <a:r>
              <a:t>▶ CLIC 'Y la ISO/IEC 42001: un sistema de gestión de IA, certificable, con la lógica de la 27001.'</a:t>
            </a:r>
          </a:p>
          <a:p/>
          <a:p>
            <a:r>
              <a:t>▶ CLIC 'Los tres exigen lo mismo que necesitamos para operar: qué se ejecuta, qué decidió y cómo revertirlo.'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A8 · FUENTES</a:t>
            </a:r>
          </a:p>
          <a:p/>
          <a:p>
            <a:r>
              <a:t>'Las fuentes están aquí y en el repositorio. Los audios son de MIMII DUE, de Hitachi, bajo licencia CC BY-NC-SA.'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A9 · LAS GOLDEN SIGNALS DE UN MODELO</a:t>
            </a:r>
          </a:p>
          <a:p/>
          <a:p>
            <a:r>
              <a:t>'Para un servicio, las golden signals son latencia, tráfico, errores y saturación. Para un modelo: qué decide, con qué confianza, si la entrada se parece a la del entrenamiento y qué versión corre en cada equipo. Ninguna es suficiente por sí sola.'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A10 · AUDIO CRUDO CONTRA EVENTOS, CON MIL BOMBAS</a:t>
            </a:r>
          </a:p>
          <a:p/>
          <a:p>
            <a:r>
              <a:t>2 clics</a:t>
            </a:r>
          </a:p>
          <a:p/>
          <a:p>
            <a:r>
              <a:t>'Enviar el audio crudo de mil bombas: 2,76 terabytes al día.'</a:t>
            </a:r>
          </a:p>
          <a:p/>
          <a:p>
            <a:r>
              <a:t>▶ CLIC 'Un evento cada 10 segundos: 8,64 millones de mensajes al día.'</a:t>
            </a:r>
          </a:p>
          <a:p/>
          <a:p>
            <a:r>
              <a:t>▶ CLIC 'Un resumen por minuto: 1,44 millones. Y el audio permanece en la estación.'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A11 · ANTES DE PROTEGER EL MODELO, PROTEGE EL EQUIPO</a:t>
            </a:r>
          </a:p>
          <a:p/>
          <a:p>
            <a:r>
              <a:t>4 clics · *si preguntan por la seguridad del equipo*</a:t>
            </a:r>
          </a:p>
          <a:p/>
          <a:p>
            <a:r>
              <a:t>'Estos equipos están físicamente expuestos: cualquiera puede abrir el gabinete de una estación rural. Antes de hablar de ataques al modelo, hay cuatro controles del equipo que son prerrequisito. Primero, arranque seguro: el equipo solo ejecuta software firmado.'</a:t>
            </a:r>
          </a:p>
          <a:p/>
          <a:p>
            <a:r>
              <a:t>▶ CLIC 'Segundo, protección de la identidad: la llave privada del certificado no puede vivir en la tarjeta SD, porque quien la copie suplanta al dispositivo. Va en un TPM o un elemento seguro.'</a:t>
            </a:r>
          </a:p>
          <a:p/>
          <a:p>
            <a:r>
              <a:t>▶ CLIC 'Tercero, actualizaciones autenticadas: solo se instala lo que trae la huella esperada, por un canal cifrado.'</a:t>
            </a:r>
          </a:p>
          <a:p/>
          <a:p>
            <a:r>
              <a:t>▶ CLIC 'Cuarto, privacidad del dato: el audio no sale y se cifra en reposo.'</a:t>
            </a:r>
          </a:p>
          <a:p/>
          <a:p>
            <a:r>
              <a:t>▶ CLIC 'Sin estos controles, nadie necesita engañar al modelo. Basta con reemplazarlo.'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gradado" descr="/tmp/claude-0/-home-claude/5ec21709-fc46-5733-a412-4634ee5d7730/scratchpad/ppt/img/fondo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ort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2651760" cy="1170432"/>
          </a:xfrm>
          <a:prstGeom prst="rect">
            <a:avLst/>
          </a:prstGeom>
        </p:spPr>
      </p:pic>
      <p:pic>
        <p:nvPicPr>
          <p:cNvPr id="4" name="abrazo" descr="/tmp/claude-0/-home-claude/5ec21709-fc46-5733-a412-4634ee5d7730/scratchpad/ppt/img/abrazo-devy-o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807208"/>
            <a:ext cx="2926080" cy="308884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640080" y="2468880"/>
            <a:ext cx="78638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200" b="1" dirty="0">
                <a:solidFill>
                  <a:srgbClr val="071329"/>
                </a:solidFill>
              </a:rPr>
              <a:t>Título de tu charla</a:t>
            </a:r>
            <a:endParaRPr lang="en-US" sz="4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40080" y="43891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Nombre Apellido  ·  Cargo, Empresa</a:t>
            </a:r>
            <a:endParaRPr lang="en-US" sz="1800" dirty="0"/>
          </a:p>
        </p:txBody>
      </p:sp>
      <p:sp>
        <p:nvSpPr>
          <p:cNvPr id="7" name="datos-evento"/>
          <p:cNvSpPr txBox="1"/>
          <p:nvPr/>
        </p:nvSpPr>
        <p:spPr>
          <a:xfrm>
            <a:off x="640080" y="5440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329"/>
                </a:solidFill>
              </a:rPr>
              <a:t>23 · 10 · 2026   ·   Compensar Av. 68   ·   Bogotá</a:t>
            </a:r>
            <a:endParaRPr lang="en-US" sz="2000" dirty="0"/>
          </a:p>
        </p:txBody>
      </p:sp>
      <p:sp>
        <p:nvSpPr>
          <p:cNvPr id="8" name="hashtag"/>
          <p:cNvSpPr txBox="1"/>
          <p:nvPr/>
        </p:nvSpPr>
        <p:spPr>
          <a:xfrm>
            <a:off x="640080" y="5925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nel" descr="/tmp/claude-0/-home-claude/5ec21709-fc46-5733-a412-4634ee5d7730/scratchpad/ppt/img/panel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pic>
        <p:nvPicPr>
          <p:cNvPr id="3" name="amigos" descr="/tmp/claude-0/-home-claude/5ec21709-fc46-5733-a412-4634ee5d7730/scratchpad/ppt/img/grupo-amig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969264"/>
            <a:ext cx="7223760" cy="5663794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CIERRE</a:t>
            </a:r>
            <a:endParaRPr lang="en-US" sz="12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Cierre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C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-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Cierre</a:t>
            </a:r>
            <a:endParaRPr lang="en-US" sz="1700" dirty="0"/>
          </a:p>
        </p:txBody>
      </p:sp>
      <p:sp>
        <p:nvSpPr>
          <p:cNvPr id="7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C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-pie" descr="/tmp/claude-0/-home-claude/5ec21709-fc46-5733-a412-4634ee5d7730/scratchpad/ppt/img/onda-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5195"/>
            <a:ext cx="12191695" cy="952805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2668" y="512064"/>
            <a:ext cx="9144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05256" y="512064"/>
            <a:ext cx="91440" cy="91440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40" kern="0" dirty="0">
                <a:solidFill>
                  <a:srgbClr val="6D28D9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EYEBROW</a:t>
            </a:r>
            <a:endParaRPr lang="en-US" sz="1200" dirty="0"/>
          </a:p>
        </p:txBody>
      </p:sp>
      <p:sp>
        <p:nvSpPr>
          <p:cNvPr id="9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Título de la lámina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-pie" descr="/tmp/claude-0/-home-claude/5ec21709-fc46-5733-a412-4634ee5d7730/scratchpad/ppt/img/onda-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5195"/>
            <a:ext cx="12191695" cy="952805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2668" y="512064"/>
            <a:ext cx="9144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05256" y="512064"/>
            <a:ext cx="91440" cy="91440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Título de la lámina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s" descr="/tmp/claude-0/-home-claude/5ec21709-fc46-5733-a412-4634ee5d7730/scratchpad/ppt/img/fondo-divi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2084832"/>
            <a:ext cx="146304" cy="146304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27532" y="2084832"/>
            <a:ext cx="146304" cy="1463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4984" y="2084832"/>
            <a:ext cx="146304" cy="146304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640080" y="2395728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400" b="1" dirty="0">
                <a:solidFill>
                  <a:srgbClr val="2448FF"/>
                </a:solidFill>
              </a:defRPr>
            </a:lvl1pPr>
          </a:lstStyle>
          <a:p>
            <a:pPr indent="0" marL="0">
              <a:buNone/>
            </a:pPr>
            <a:r>
              <a:rPr lang="en-US" sz="6400" b="1" dirty="0">
                <a:solidFill>
                  <a:srgbClr val="2448FF"/>
                </a:solidFill>
              </a:rPr>
              <a:t>01</a:t>
            </a:r>
            <a:endParaRPr lang="en-US" sz="6400" dirty="0"/>
          </a:p>
        </p:txBody>
      </p:sp>
      <p:sp>
        <p:nvSpPr>
          <p:cNvPr id="9" name="Text 4"/>
          <p:cNvSpPr/>
          <p:nvPr>
            <p:ph idx="107" type="title" hasCustomPrompt="1"/>
          </p:nvPr>
        </p:nvSpPr>
        <p:spPr>
          <a:xfrm>
            <a:off x="640080" y="3456432"/>
            <a:ext cx="8595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071329"/>
                </a:solidFill>
              </a:rPr>
              <a:t>Nombre de la sección</a:t>
            </a:r>
            <a:endParaRPr lang="en-US" sz="38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640080" y="4407408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Una línea que anticipa de qué va esta parte.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3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14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gif"/><Relationship Id="rId3" Type="http://schemas.openxmlformats.org/officeDocument/2006/relationships/image" Target="../media/image19.gif"/><Relationship Id="rId4" Type="http://schemas.openxmlformats.org/officeDocument/2006/relationships/image" Target="../media/image20.gif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Relationship Id="rId4" Type="http://schemas.openxmlformats.org/officeDocument/2006/relationships/image" Target="../media/image86.jp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7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 lIns="0"/>
          <a:lstStyle/>
          <a:p>
            <a:r>
              <a:rPr lang="es-CO"/>
              <a:t>MLOps </a:t>
            </a:r>
            <a:r>
              <a:rPr lang="es-CO">
                <a:solidFill>
                  <a:srgbClr val="6D28D9"/>
                </a:solidFill>
              </a:rPr>
              <a:t>a ciegas</a:t>
            </a:r>
          </a:p>
          <a:p>
            <a:pPr>
              <a:spcBef>
                <a:spcPts val="800"/>
              </a:spcBef>
            </a:pPr>
            <a:r>
              <a:rPr sz="1800" b="0" lang="es-CO">
                <a:solidFill>
                  <a:srgbClr val="071329"/>
                </a:solidFill>
              </a:rPr>
              <a:t>Gobernar modelos de IA que se ejecutan donde no llega el plano de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 lIns="0"/>
          <a:lstStyle/>
          <a:p>
            <a:r>
              <a:rPr lang="es-CO"/>
              <a:t>Alejandro Varela · Senior Cloud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HACE UN AÑO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20 de octubre de 2025: </a:t>
            </a:r>
            <a:r>
              <a:rPr b="1" lang="es-CO">
                <a:solidFill>
                  <a:srgbClr val="6D28D9"/>
                </a:solidFill>
              </a:rPr>
              <a:t>se cae us-east-1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grpSp>
        <p:nvGrpSpPr>
          <p:cNvPr id="4" name="Imagen del gancho"/>
          <p:cNvGrpSpPr/>
          <p:nvPr/>
        </p:nvGrpSpPr>
        <p:grpSpPr>
          <a:xfrm>
            <a:off x="1833978" y="1569720"/>
            <a:ext cx="2861104" cy="3794760"/>
            <a:chOff x="1833978" y="1569720"/>
            <a:chExt cx="2861104" cy="3794760"/>
          </a:xfrm>
        </p:grpSpPr>
        <p:pic>
          <p:nvPicPr>
            <p:cNvPr id="54" name="Imagen" descr="hook_0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3978" y="1569720"/>
              <a:ext cx="2861104" cy="3581400"/>
            </a:xfrm>
            <a:prstGeom prst="rect">
              <a:avLst/>
            </a:prstGeom>
          </p:spPr>
        </p:pic>
        <p:sp>
          <p:nvSpPr>
            <p:cNvPr id="55" name="Crédito"/>
            <p:cNvSpPr txBox="1"/>
            <p:nvPr/>
          </p:nvSpPr>
          <p:spPr>
            <a:xfrm>
              <a:off x="1833978" y="5212080"/>
              <a:ext cx="2861104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900" b="0" lang="es-CO">
                  <a:solidFill>
                    <a:srgbClr val="5C7290"/>
                  </a:solidFill>
                  <a:latin typeface="Calibri"/>
                </a:rPr>
                <a:t>Basado en xkcd 2347 · CC BY-NC 2.5</a:t>
              </a:r>
            </a:p>
          </p:txBody>
        </p:sp>
      </p:grpSp>
      <p:grpSp>
        <p:nvGrpSpPr>
          <p:cNvPr id="5" name="Imagen del gancho"/>
          <p:cNvGrpSpPr/>
          <p:nvPr/>
        </p:nvGrpSpPr>
        <p:grpSpPr>
          <a:xfrm>
            <a:off x="5030362" y="1569720"/>
            <a:ext cx="5327661" cy="3566160"/>
            <a:chOff x="5030362" y="1569720"/>
            <a:chExt cx="5327661" cy="3566160"/>
          </a:xfrm>
        </p:grpSpPr>
        <p:pic>
          <p:nvPicPr>
            <p:cNvPr id="56" name="Imagen" descr="hook_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0362" y="1569720"/>
              <a:ext cx="5327661" cy="3352800"/>
            </a:xfrm>
            <a:prstGeom prst="rect">
              <a:avLst/>
            </a:prstGeom>
          </p:spPr>
        </p:pic>
        <p:sp>
          <p:nvSpPr>
            <p:cNvPr id="57" name="Crédito"/>
            <p:cNvSpPr txBox="1"/>
            <p:nvPr/>
          </p:nvSpPr>
          <p:spPr>
            <a:xfrm>
              <a:off x="5030362" y="4983480"/>
              <a:ext cx="5327661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900" b="0" lang="es-CO">
                  <a:solidFill>
                    <a:srgbClr val="5C7290"/>
                  </a:solidFill>
                  <a:latin typeface="Calibri"/>
                </a:rPr>
                <a:t>Prensa, octubre de 2025 · imagen: Eight Sleep</a:t>
              </a:r>
            </a:p>
          </p:txBody>
        </p:sp>
      </p:grpSp>
      <p:sp>
        <p:nvSpPr>
          <p:cNvPr id="58" name="Remate"/>
          <p:cNvSpPr txBox="1"/>
          <p:nvPr/>
        </p:nvSpPr>
        <p:spPr>
          <a:xfrm>
            <a:off x="640080" y="5501640"/>
            <a:ext cx="10911840" cy="3093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La decisión vivía en la nube. </a:t>
            </a:r>
            <a:r>
              <a:rPr sz="1800" b="1" lang="es-CO">
                <a:solidFill>
                  <a:srgbClr val="6D28D9"/>
                </a:solidFill>
                <a:latin typeface="Calibri"/>
              </a:rPr>
              <a:t>Llevarla al dispositivo: eso es 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PONENTE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Sobre </a:t>
            </a:r>
            <a:r>
              <a:rPr b="1" lang="es-CO">
                <a:solidFill>
                  <a:srgbClr val="6D28D9"/>
                </a:solidFill>
              </a:rPr>
              <a:t>mí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Foto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3200400" cy="3200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206240" y="1874520"/>
            <a:ext cx="6858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580" b="1" lang="es-CO">
                <a:solidFill>
                  <a:srgbClr val="071329"/>
                </a:solidFill>
                <a:latin typeface="Calibri"/>
              </a:rPr>
              <a:t>Alejandro Varela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2301240"/>
            <a:ext cx="68580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 lang="es-CO">
                <a:solidFill>
                  <a:srgbClr val="6D28D9"/>
                </a:solidFill>
                <a:latin typeface="Calibri"/>
              </a:rPr>
              <a:t>Senior Cloud Engineer</a:t>
            </a:r>
          </a:p>
        </p:txBody>
      </p:sp>
      <p:pic>
        <p:nvPicPr>
          <p:cNvPr id="57" name="Logo empresa" descr="ep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232" y="2301240"/>
            <a:ext cx="495300" cy="2590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206240" y="2712720"/>
            <a:ext cx="6858000" cy="57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500" b="0" lang="es-CO">
                <a:solidFill>
                  <a:srgbClr val="475569"/>
                </a:solidFill>
                <a:latin typeface="Calibri"/>
              </a:rPr>
              <a:t>Diseño cómo llegan y se gobiernan modelos de IA en equipos de campo: inferencia en el edge e IoT industrial sobre AWS, Azure y GCP.</a:t>
            </a:r>
          </a:p>
        </p:txBody>
      </p:sp>
      <p:sp>
        <p:nvSpPr>
          <p:cNvPr id="59" name="Certificaciones"/>
          <p:cNvSpPr txBox="1"/>
          <p:nvPr/>
        </p:nvSpPr>
        <p:spPr>
          <a:xfrm>
            <a:off x="4206240" y="346710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1" lang="es-CO">
                <a:solidFill>
                  <a:srgbClr val="6D28D9"/>
                </a:solidFill>
                <a:latin typeface="Calibri"/>
              </a:rPr>
              <a:t>5 </a:t>
            </a:r>
            <a:r>
              <a:rPr sz="1200" b="1" lang="es-CO">
                <a:solidFill>
                  <a:srgbClr val="071329"/>
                </a:solidFill>
                <a:latin typeface="Calibri"/>
              </a:rPr>
              <a:t>certificaciones de AWS</a:t>
            </a:r>
          </a:p>
        </p:txBody>
      </p:sp>
      <p:pic>
        <p:nvPicPr>
          <p:cNvPr id="60" name="AWS Certified Solutions Architect – Professional" descr="aws-sap-solutions-architect-profess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771900"/>
            <a:ext cx="701040" cy="701040"/>
          </a:xfrm>
          <a:prstGeom prst="rect">
            <a:avLst/>
          </a:prstGeom>
        </p:spPr>
      </p:pic>
      <p:pic>
        <p:nvPicPr>
          <p:cNvPr id="61" name="AWS Certified DevOps Engineer – Professional" descr="aws-dop-devops-engineer-profess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71900"/>
            <a:ext cx="701040" cy="701040"/>
          </a:xfrm>
          <a:prstGeom prst="rect">
            <a:avLst/>
          </a:prstGeom>
        </p:spPr>
      </p:pic>
      <p:pic>
        <p:nvPicPr>
          <p:cNvPr id="62" name="AWS Certified Advanced Networking – Specialty" descr="aws-ans-advanced-networking-special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771900"/>
            <a:ext cx="701040" cy="701040"/>
          </a:xfrm>
          <a:prstGeom prst="rect">
            <a:avLst/>
          </a:prstGeom>
        </p:spPr>
      </p:pic>
      <p:pic>
        <p:nvPicPr>
          <p:cNvPr id="63" name="AWS Certified Security – Specialty" descr="aws-scs-security-special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71900"/>
            <a:ext cx="701040" cy="701040"/>
          </a:xfrm>
          <a:prstGeom prst="rect">
            <a:avLst/>
          </a:prstGeom>
        </p:spPr>
      </p:pic>
      <p:pic>
        <p:nvPicPr>
          <p:cNvPr id="64" name="AWS Certified Solutions Architect – Associate" descr="aws-saa-solutions-architect-associ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771900"/>
            <a:ext cx="701040" cy="701040"/>
          </a:xfrm>
          <a:prstGeom prst="rect">
            <a:avLst/>
          </a:prstGeom>
        </p:spPr>
      </p:pic>
      <p:sp>
        <p:nvSpPr>
          <p:cNvPr id="65" name="Certificaciones"/>
          <p:cNvSpPr txBox="1"/>
          <p:nvPr/>
        </p:nvSpPr>
        <p:spPr>
          <a:xfrm>
            <a:off x="8275320" y="3467100"/>
            <a:ext cx="396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1" lang="es-CO">
                <a:solidFill>
                  <a:srgbClr val="6D28D9"/>
                </a:solidFill>
                <a:latin typeface="Calibri"/>
              </a:rPr>
              <a:t>3 </a:t>
            </a:r>
            <a:r>
              <a:rPr sz="1200" b="1" lang="es-CO">
                <a:solidFill>
                  <a:srgbClr val="071329"/>
                </a:solidFill>
                <a:latin typeface="Calibri"/>
              </a:rPr>
              <a:t>certificaciones de Kubernetes</a:t>
            </a:r>
          </a:p>
        </p:txBody>
      </p:sp>
      <p:pic>
        <p:nvPicPr>
          <p:cNvPr id="66" name="Certified Kubernetes Administrator" descr="k8s-cka-administra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3771900"/>
            <a:ext cx="701040" cy="701040"/>
          </a:xfrm>
          <a:prstGeom prst="rect">
            <a:avLst/>
          </a:prstGeom>
        </p:spPr>
      </p:pic>
      <p:pic>
        <p:nvPicPr>
          <p:cNvPr id="67" name="Certified Kubernetes Application Developer" descr="k8s-ckad-application-develo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3771900"/>
            <a:ext cx="701040" cy="701040"/>
          </a:xfrm>
          <a:prstGeom prst="rect">
            <a:avLst/>
          </a:prstGeom>
        </p:spPr>
      </p:pic>
      <p:pic>
        <p:nvPicPr>
          <p:cNvPr id="68" name="Certified Kubernetes Security Specialist" descr="k8s-cks-security-speciali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800" y="3771900"/>
            <a:ext cx="701040" cy="701040"/>
          </a:xfrm>
          <a:prstGeom prst="rect">
            <a:avLst/>
          </a:prstGeom>
        </p:spPr>
      </p:pic>
      <p:sp>
        <p:nvSpPr>
          <p:cNvPr id="69" name="Fuera del trabajo"/>
          <p:cNvSpPr txBox="1"/>
          <p:nvPr/>
        </p:nvSpPr>
        <p:spPr>
          <a:xfrm>
            <a:off x="4206240" y="4762500"/>
            <a:ext cx="68580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260" b="1" lang="es-CO">
                <a:solidFill>
                  <a:srgbClr val="071329"/>
                </a:solidFill>
                <a:latin typeface="Calibri"/>
              </a:rPr>
              <a:t>Fuera del trabajo:</a:t>
            </a:r>
            <a:r>
              <a:rPr sz="1260" b="0" lang="es-CO">
                <a:solidFill>
                  <a:srgbClr val="475569"/>
                </a:solidFill>
                <a:latin typeface="Calibri"/>
              </a:rPr>
              <a:t> cualquier deporte de raqueta (tenis de mesa, tenis, pádel…), aprender algo nuevo para estar a la vanguardia y viajar.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53797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lang="es-CO">
                <a:solidFill>
                  <a:srgbClr val="1F6C93"/>
                </a:solidFill>
                <a:latin typeface="Courier New"/>
              </a:rPr>
              <a:t>linkedin.com/in/alejandro-varela-fr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ESCUCHA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¿Esta bomba está </a:t>
            </a:r>
            <a:r>
              <a:rPr b="1" lang="es-CO">
                <a:solidFill>
                  <a:srgbClr val="6D28D9"/>
                </a:solidFill>
              </a:rPr>
              <a:t>fallando</a:t>
            </a:r>
            <a:r>
              <a:rPr lang="es-CO"/>
              <a:t>?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arjeta A"/>
          <p:cNvSpPr/>
          <p:nvPr/>
        </p:nvSpPr>
        <p:spPr>
          <a:xfrm>
            <a:off x="640080" y="1828800"/>
            <a:ext cx="5273040" cy="265557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ótulo A"/>
          <p:cNvSpPr txBox="1"/>
          <p:nvPr/>
        </p:nvSpPr>
        <p:spPr>
          <a:xfrm>
            <a:off x="849630" y="1992325"/>
            <a:ext cx="3810000" cy="3160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39" b="1" lang="es-CO">
                <a:solidFill>
                  <a:srgbClr val="071329"/>
                </a:solidFill>
                <a:latin typeface="Calibri"/>
              </a:rPr>
              <a:t>Bomba A</a:t>
            </a:r>
          </a:p>
        </p:txBody>
      </p:sp>
      <p:pic>
        <p:nvPicPr>
          <p:cNvPr id="56" name="Audio bomba A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9630" y="2415540"/>
            <a:ext cx="4876800" cy="1219200"/>
          </a:xfrm>
          <a:prstGeom prst="rect">
            <a:avLst/>
          </a:prstGeom>
        </p:spPr>
      </p:pic>
      <p:grpSp>
        <p:nvGrpSpPr>
          <p:cNvPr id="4" name="Botón A"/>
          <p:cNvGrpSpPr/>
          <p:nvPr/>
        </p:nvGrpSpPr>
        <p:grpSpPr>
          <a:xfrm>
            <a:off x="849630" y="3787140"/>
            <a:ext cx="4853940" cy="487680"/>
            <a:chOff x="849630" y="3787140"/>
            <a:chExt cx="4853940" cy="487680"/>
          </a:xfrm>
        </p:grpSpPr>
        <p:sp>
          <p:nvSpPr>
            <p:cNvPr id="57" name="Fondo"/>
            <p:cNvSpPr/>
            <p:nvPr/>
          </p:nvSpPr>
          <p:spPr>
            <a:xfrm>
              <a:off x="849630" y="3787140"/>
              <a:ext cx="4853940" cy="48768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riángulo"/>
            <p:cNvSpPr/>
            <p:nvPr/>
          </p:nvSpPr>
          <p:spPr>
            <a:xfrm>
              <a:off x="2783503" y="3939540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80" h="182880">
                  <a:moveTo>
                    <a:pt x="0" y="0"/>
                  </a:moveTo>
                  <a:lnTo>
                    <a:pt x="14478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ótulo"/>
            <p:cNvSpPr txBox="1"/>
            <p:nvPr/>
          </p:nvSpPr>
          <p:spPr>
            <a:xfrm>
              <a:off x="3050203" y="3787140"/>
              <a:ext cx="932855" cy="487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1620" b="1" lang="es-CO">
                  <a:solidFill>
                    <a:srgbClr val="FFFFFF"/>
                  </a:solidFill>
                  <a:latin typeface="Calibri"/>
                </a:rPr>
                <a:t>Escuchar</a:t>
              </a:r>
            </a:p>
          </p:txBody>
        </p:sp>
      </p:grpSp>
      <p:sp>
        <p:nvSpPr>
          <p:cNvPr id="59" name="Tarjeta B"/>
          <p:cNvSpPr/>
          <p:nvPr/>
        </p:nvSpPr>
        <p:spPr>
          <a:xfrm>
            <a:off x="6278880" y="1828800"/>
            <a:ext cx="5273040" cy="265557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ótulo B"/>
          <p:cNvSpPr txBox="1"/>
          <p:nvPr/>
        </p:nvSpPr>
        <p:spPr>
          <a:xfrm>
            <a:off x="6488430" y="1992325"/>
            <a:ext cx="3810000" cy="3160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39" b="1" lang="es-CO">
                <a:solidFill>
                  <a:srgbClr val="071329"/>
                </a:solidFill>
                <a:latin typeface="Calibri"/>
              </a:rPr>
              <a:t>Bomba B</a:t>
            </a:r>
          </a:p>
        </p:txBody>
      </p:sp>
      <p:pic>
        <p:nvPicPr>
          <p:cNvPr id="61" name="Audio bomba B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88430" y="2415540"/>
            <a:ext cx="4876800" cy="1219200"/>
          </a:xfrm>
          <a:prstGeom prst="rect">
            <a:avLst/>
          </a:prstGeom>
        </p:spPr>
      </p:pic>
      <p:grpSp>
        <p:nvGrpSpPr>
          <p:cNvPr id="6" name="Botón B"/>
          <p:cNvGrpSpPr/>
          <p:nvPr/>
        </p:nvGrpSpPr>
        <p:grpSpPr>
          <a:xfrm>
            <a:off x="6488430" y="3787140"/>
            <a:ext cx="4853940" cy="487680"/>
            <a:chOff x="6488430" y="3787140"/>
            <a:chExt cx="4853940" cy="487680"/>
          </a:xfrm>
        </p:grpSpPr>
        <p:sp>
          <p:nvSpPr>
            <p:cNvPr id="62" name="Fondo"/>
            <p:cNvSpPr/>
            <p:nvPr/>
          </p:nvSpPr>
          <p:spPr>
            <a:xfrm>
              <a:off x="6488430" y="3787140"/>
              <a:ext cx="4853940" cy="48768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riángulo"/>
            <p:cNvSpPr/>
            <p:nvPr/>
          </p:nvSpPr>
          <p:spPr>
            <a:xfrm>
              <a:off x="8422303" y="3939540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80" h="182880">
                  <a:moveTo>
                    <a:pt x="0" y="0"/>
                  </a:moveTo>
                  <a:lnTo>
                    <a:pt x="14478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ótulo"/>
            <p:cNvSpPr txBox="1"/>
            <p:nvPr/>
          </p:nvSpPr>
          <p:spPr>
            <a:xfrm>
              <a:off x="8689003" y="3787140"/>
              <a:ext cx="932855" cy="487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1620" b="1" lang="es-CO">
                  <a:solidFill>
                    <a:srgbClr val="FFFFFF"/>
                  </a:solidFill>
                  <a:latin typeface="Calibri"/>
                </a:rPr>
                <a:t>Escuchar</a:t>
              </a:r>
            </a:p>
          </p:txBody>
        </p:sp>
      </p:grpSp>
      <p:sp>
        <p:nvSpPr>
          <p:cNvPr id="64" name="Pregunta"/>
          <p:cNvSpPr txBox="1"/>
          <p:nvPr/>
        </p:nvSpPr>
        <p:spPr>
          <a:xfrm>
            <a:off x="640080" y="4789322"/>
            <a:ext cx="10911840" cy="53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3479" b="1" lang="es-CO">
                <a:solidFill>
                  <a:srgbClr val="071329"/>
                </a:solidFill>
                <a:latin typeface="Calibri"/>
              </a:rPr>
              <a:t>Levanten la mano: ¿</a:t>
            </a:r>
            <a:r>
              <a:rPr sz="3479" b="1" lang="es-CO">
                <a:solidFill>
                  <a:srgbClr val="6D28D9"/>
                </a:solidFill>
                <a:latin typeface="Calibri"/>
              </a:rPr>
              <a:t>A</a:t>
            </a:r>
            <a:r>
              <a:rPr sz="3479" b="1" lang="es-CO">
                <a:solidFill>
                  <a:srgbClr val="071329"/>
                </a:solidFill>
                <a:latin typeface="Calibri"/>
              </a:rPr>
              <a:t>, </a:t>
            </a:r>
            <a:r>
              <a:rPr sz="3479" b="1" lang="es-CO">
                <a:solidFill>
                  <a:srgbClr val="6D28D9"/>
                </a:solidFill>
                <a:latin typeface="Calibri"/>
              </a:rPr>
              <a:t>B</a:t>
            </a:r>
            <a:r>
              <a:rPr sz="3479" b="1" lang="es-CO">
                <a:solidFill>
                  <a:srgbClr val="071329"/>
                </a:solidFill>
                <a:latin typeface="Calibri"/>
              </a:rPr>
              <a:t> o </a:t>
            </a:r>
            <a:r>
              <a:rPr sz="3479" b="1" lang="es-CO">
                <a:solidFill>
                  <a:srgbClr val="6D28D9"/>
                </a:solidFill>
                <a:latin typeface="Calibri"/>
              </a:rPr>
              <a:t>las dos</a:t>
            </a:r>
            <a:r>
              <a:rPr sz="3479" b="1" lang="es-CO">
                <a:solidFill>
                  <a:srgbClr val="071329"/>
                </a:solidFill>
                <a:latin typeface="Calibri"/>
              </a:rPr>
              <a:t>?</a:t>
            </a:r>
          </a:p>
        </p:txBody>
      </p:sp>
      <p:sp>
        <p:nvSpPr>
          <p:cNvPr id="65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Sonidos reales de bombas industriales · MIMII DUE, Hitachi · CC BY-NC-SA 4.0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  <p:bldLst>
      <p:bldP spid="64" grpId="0"/>
    </p:bldLst>
  </p:timing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CONTEXTO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La IA ya corre </a:t>
            </a:r>
            <a:r>
              <a:rPr b="1" lang="es-CO">
                <a:solidFill>
                  <a:srgbClr val="6D28D9"/>
                </a:solidFill>
              </a:rPr>
              <a:t>en el dispositivo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cien_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pic>
        <p:nvPicPr>
          <p:cNvPr id="55" name="Paso 1" descr="cien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pic>
        <p:nvPicPr>
          <p:cNvPr id="56" name="Paso 2" descr="cien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sp>
        <p:nvSpPr>
          <p:cNvPr id="57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Gartner, agosto 2025: PC con IA · 2026 es proyección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CONTEXTO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Por qué el modelo </a:t>
            </a:r>
            <a:r>
              <a:rPr b="1" lang="es-CO">
                <a:solidFill>
                  <a:srgbClr val="6D28D9"/>
                </a:solidFill>
              </a:rPr>
              <a:t>baja al dispositivo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memes_s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9720"/>
            <a:ext cx="10911840" cy="4251960"/>
          </a:xfrm>
          <a:prstGeom prst="rect">
            <a:avLst/>
          </a:prstGeom>
        </p:spPr>
      </p:pic>
      <p:pic>
        <p:nvPicPr>
          <p:cNvPr id="55" name="Paso 1" descr="memes_s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9720"/>
            <a:ext cx="10911840" cy="4251960"/>
          </a:xfrm>
          <a:prstGeom prst="rect">
            <a:avLst/>
          </a:prstGeom>
        </p:spPr>
      </p:pic>
      <p:pic>
        <p:nvPicPr>
          <p:cNvPr id="56" name="Paso 2" descr="memes_s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69720"/>
            <a:ext cx="10911840" cy="4251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Contenido </a:t>
            </a:r>
            <a:r>
              <a:rPr b="1" lang="es-CO">
                <a:solidFill>
                  <a:srgbClr val="6D28D9"/>
                </a:solidFill>
              </a:rPr>
              <a:t>de la sesión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920240"/>
            <a:ext cx="8382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1920240"/>
            <a:ext cx="39624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20" b="1" lang="es-CO">
                <a:solidFill>
                  <a:srgbClr val="071329"/>
                </a:solidFill>
                <a:latin typeface="Calibri"/>
              </a:rPr>
              <a:t>El problema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2120" y="1920240"/>
            <a:ext cx="60198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lang="es-CO">
                <a:solidFill>
                  <a:srgbClr val="475569"/>
                </a:solidFill>
                <a:latin typeface="Calibri"/>
              </a:rPr>
              <a:t>Operar un modelo fuera de la nube: sin red y sin acceso al equipo.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26670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2926080"/>
            <a:ext cx="8382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08760" y="2926080"/>
            <a:ext cx="39624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20" b="1" lang="es-CO">
                <a:solidFill>
                  <a:srgbClr val="071329"/>
                </a:solidFill>
                <a:latin typeface="Calibri"/>
              </a:rPr>
              <a:t>El patrón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2120" y="2926080"/>
            <a:ext cx="60198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lang="es-CO">
                <a:solidFill>
                  <a:srgbClr val="475569"/>
                </a:solidFill>
                <a:latin typeface="Calibri"/>
              </a:rPr>
              <a:t>Las piezas para gobernarlo, primero en general y después en AWS.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0080" y="367284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40080" y="3931920"/>
            <a:ext cx="8382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3931920"/>
            <a:ext cx="39624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20" b="1" lang="es-CO">
                <a:solidFill>
                  <a:srgbClr val="071329"/>
                </a:solidFill>
                <a:latin typeface="Calibri"/>
              </a:rPr>
              <a:t>Los seis pasos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2120" y="3931920"/>
            <a:ext cx="60198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lang="es-CO">
                <a:solidFill>
                  <a:srgbClr val="475569"/>
                </a:solidFill>
                <a:latin typeface="Calibri"/>
              </a:rPr>
              <a:t>Entrenar, optimizar, empaquetar, desplegar, operar sin red y monitorear.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467868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4937760"/>
            <a:ext cx="8382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8760" y="4937760"/>
            <a:ext cx="39624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20" b="1" lang="es-CO">
                <a:solidFill>
                  <a:srgbClr val="071329"/>
                </a:solidFill>
                <a:latin typeface="Calibri"/>
              </a:rPr>
              <a:t>La evidencia en AWS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2120" y="4937760"/>
            <a:ext cx="6019800" cy="746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lang="es-CO">
                <a:solidFill>
                  <a:srgbClr val="475569"/>
                </a:solidFill>
                <a:latin typeface="Calibri"/>
              </a:rPr>
              <a:t>Una ejecución real: una falla, un corte de red y un rollback automático.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problema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8"/>
          </p:nvPr>
        </p:nvSpPr>
        <p:spPr/>
        <p:txBody>
          <a:bodyPr lIns="0"/>
          <a:lstStyle/>
          <a:p>
            <a:r>
              <a:rPr lang="es-CO"/>
              <a:t>Un modelo que escucha bombas, sin red y sin nadie cerca.</a:t>
            </a:r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nube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125980"/>
            <a:ext cx="10919460" cy="284988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MLOps en la nube: </a:t>
            </a:r>
            <a:r>
              <a:rPr b="1" lang="es-CO">
                <a:solidFill>
                  <a:srgbClr val="6D28D9"/>
                </a:solidFill>
              </a:rPr>
              <a:t>un loop cerrado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edge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90" y="2125980"/>
            <a:ext cx="10306050" cy="2849880"/>
          </a:xfrm>
          <a:prstGeom prst="rect">
            <a:avLst/>
          </a:prstGeom>
        </p:spPr>
      </p:pic>
      <p:pic>
        <p:nvPicPr>
          <p:cNvPr id="55" name="Capa on3" descr="iso_edge_01_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2792730"/>
            <a:ext cx="3192780" cy="1855470"/>
          </a:xfrm>
          <a:prstGeom prst="rect">
            <a:avLst/>
          </a:prstGeom>
        </p:spPr>
      </p:pic>
      <p:pic>
        <p:nvPicPr>
          <p:cNvPr id="56" name="Capa base" descr="iso_edge_02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830" y="2186940"/>
            <a:ext cx="2903220" cy="2217420"/>
          </a:xfrm>
          <a:prstGeom prst="rect">
            <a:avLst/>
          </a:prstGeom>
        </p:spPr>
      </p:pic>
      <p:pic>
        <p:nvPicPr>
          <p:cNvPr id="57" name="Capa on1" descr="iso_edge_03_o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59380"/>
            <a:ext cx="2895600" cy="2686050"/>
          </a:xfrm>
          <a:prstGeom prst="rect">
            <a:avLst/>
          </a:prstGeom>
        </p:spPr>
      </p:pic>
      <p:pic>
        <p:nvPicPr>
          <p:cNvPr id="58" name="Capa on3" descr="iso_edge_04_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740" y="2827020"/>
            <a:ext cx="1504950" cy="922020"/>
          </a:xfrm>
          <a:prstGeom prst="rect">
            <a:avLst/>
          </a:prstGeom>
        </p:spPr>
      </p:pic>
      <p:pic>
        <p:nvPicPr>
          <p:cNvPr id="59" name="Capa on2_fog" descr="iso_edge_05_on2_f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0220" y="1798320"/>
            <a:ext cx="6469380" cy="3383280"/>
          </a:xfrm>
          <a:prstGeom prst="rect">
            <a:avLst/>
          </a:prstGeom>
        </p:spPr>
      </p:pic>
      <p:pic>
        <p:nvPicPr>
          <p:cNvPr id="60" name="Capa on2" descr="iso_edge_06_on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2213610"/>
            <a:ext cx="2644140" cy="3093720"/>
          </a:xfrm>
          <a:prstGeom prst="rect">
            <a:avLst/>
          </a:prstGeom>
        </p:spPr>
      </p:pic>
      <p:pic>
        <p:nvPicPr>
          <p:cNvPr id="61" name="Capa on3" descr="iso_edge_07_on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9100" y="5135880"/>
            <a:ext cx="2301240" cy="209550"/>
          </a:xfrm>
          <a:prstGeom prst="rect">
            <a:avLst/>
          </a:prstGeom>
        </p:spPr>
      </p:pic>
      <p:pic>
        <p:nvPicPr>
          <p:cNvPr id="62" name="Capa on4" descr="iso_edge_08_on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5452110"/>
            <a:ext cx="2918460" cy="217170"/>
          </a:xfrm>
          <a:prstGeom prst="rect">
            <a:avLst/>
          </a:prstGeom>
        </p:spPr>
      </p:pic>
      <p:pic>
        <p:nvPicPr>
          <p:cNvPr id="63" name="Capa on5" descr="iso_edge_09_on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5455920"/>
            <a:ext cx="2907030" cy="20955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Las restricciones </a:t>
            </a:r>
            <a:r>
              <a:rPr b="1" lang="es-CO">
                <a:solidFill>
                  <a:srgbClr val="6D28D9"/>
                </a:solidFill>
              </a:rPr>
              <a:t>de la estación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PROBLEMA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Un panel en verde </a:t>
            </a:r>
            <a:r>
              <a:rPr b="1" lang="es-CO">
                <a:solidFill>
                  <a:srgbClr val="6D28D9"/>
                </a:solidFill>
              </a:rPr>
              <a:t>no mide el modelo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tablero_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pic>
        <p:nvPicPr>
          <p:cNvPr id="55" name="Paso 1" descr="tablero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pic>
        <p:nvPicPr>
          <p:cNvPr id="56" name="Paso 2" descr="tablero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pic>
        <p:nvPicPr>
          <p:cNvPr id="57" name="Paso 3" descr="tablero_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91640"/>
            <a:ext cx="10911840" cy="3931920"/>
          </a:xfrm>
          <a:prstGeom prst="rect">
            <a:avLst/>
          </a:prstGeom>
        </p:spPr>
      </p:pic>
      <p:sp>
        <p:nvSpPr>
          <p:cNvPr id="58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Medido en la PoC con MIMII DUE (bombas, dominio de entrenamiento contra dominio nuevo)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8"/>
          </p:nvPr>
        </p:nvSpPr>
        <p:spPr/>
        <p:txBody>
          <a:bodyPr lIns="0"/>
          <a:lstStyle/>
          <a:p>
            <a:r>
              <a:rPr lang="es-CO"/>
              <a:t>Qué lleva el equipo y qué hace falta para gobernarlo.</a:t>
            </a:r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equipo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2053590"/>
            <a:ext cx="3547110" cy="3333750"/>
          </a:xfrm>
          <a:prstGeom prst="rect">
            <a:avLst/>
          </a:prstGeom>
        </p:spPr>
      </p:pic>
      <p:pic>
        <p:nvPicPr>
          <p:cNvPr id="55" name="Capa on1" descr="iso_equipo_01_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3874770"/>
            <a:ext cx="1287780" cy="259080"/>
          </a:xfrm>
          <a:prstGeom prst="rect">
            <a:avLst/>
          </a:prstGeom>
        </p:spPr>
      </p:pic>
      <p:pic>
        <p:nvPicPr>
          <p:cNvPr id="56" name="Capa base" descr="iso_equipo_02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20" y="1847850"/>
            <a:ext cx="8427720" cy="3208020"/>
          </a:xfrm>
          <a:prstGeom prst="rect">
            <a:avLst/>
          </a:prstGeom>
        </p:spPr>
      </p:pic>
      <p:pic>
        <p:nvPicPr>
          <p:cNvPr id="57" name="Capa on1" descr="iso_equipo_03_o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370" y="3627120"/>
            <a:ext cx="3543300" cy="361950"/>
          </a:xfrm>
          <a:prstGeom prst="rect">
            <a:avLst/>
          </a:prstGeom>
        </p:spPr>
      </p:pic>
      <p:pic>
        <p:nvPicPr>
          <p:cNvPr id="58" name="Capa on2" descr="iso_equipo_04_o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330" y="2868930"/>
            <a:ext cx="3364230" cy="659130"/>
          </a:xfrm>
          <a:prstGeom prst="rect">
            <a:avLst/>
          </a:prstGeom>
        </p:spPr>
      </p:pic>
      <p:pic>
        <p:nvPicPr>
          <p:cNvPr id="59" name="Capa on3" descr="iso_equipo_05_on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480" y="2114550"/>
            <a:ext cx="3806190" cy="36957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PATRÓN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Arquitectura del </a:t>
            </a:r>
            <a:r>
              <a:rPr b="1" lang="es-CO">
                <a:solidFill>
                  <a:srgbClr val="6D28D9"/>
                </a:solidFill>
              </a:rPr>
              <a:t>equipo en la estación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flujo_htm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5" name="Paso 1" descr="flujo_htm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6" name="Paso 2" descr="flujo_htm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7" name="Paso 3" descr="flujo_htm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8" name="Paso 4" descr="flujo_htm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9" name="Paso 5" descr="flujo_htm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60" name="Paso 6" descr="flujo_html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PATRÓN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Cinco piezas </a:t>
            </a:r>
            <a:r>
              <a:rPr b="1" lang="es-CO">
                <a:solidFill>
                  <a:srgbClr val="6D28D9"/>
                </a:solidFill>
              </a:rPr>
              <a:t>para gobernarlo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aws_htm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5" name="Paso 1" descr="aws_htm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6" name="Paso 2" descr="aws_htm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7" name="Paso 3" descr="aws_htm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8" name="Paso 4" descr="aws_html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pic>
        <p:nvPicPr>
          <p:cNvPr id="59" name="Paso 5" descr="aws_htm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EL PATRÓN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mismo patrón </a:t>
            </a:r>
            <a:r>
              <a:rPr b="1" lang="es-CO">
                <a:solidFill>
                  <a:srgbClr val="6D28D9"/>
                </a:solidFill>
              </a:rPr>
              <a:t>en AWS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5" name="Paso 1"/>
          <p:cNvSpPr/>
          <p:nvPr/>
        </p:nvSpPr>
        <p:spPr>
          <a:xfrm>
            <a:off x="64008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01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Entrenar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SageMaker AI · S3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54580" y="5417820"/>
            <a:ext cx="106680" cy="0"/>
          </a:xfrm>
          <a:prstGeom prst="line">
            <a:avLst/>
          </a:prstGeom>
          <a:ln w="16764">
            <a:solidFill>
              <a:srgbClr val="6D28D9"/>
            </a:solidFill>
            <a:tailEnd type="triangle" w="med" len="med"/>
          </a:ln>
        </p:spPr>
      </p:cxnSp>
      <p:sp>
        <p:nvSpPr>
          <p:cNvPr id="57" name="Paso 2"/>
          <p:cNvSpPr/>
          <p:nvPr/>
        </p:nvSpPr>
        <p:spPr>
          <a:xfrm>
            <a:off x="248412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02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Optimizar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un artefacto por chip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98620" y="5417820"/>
            <a:ext cx="106680" cy="0"/>
          </a:xfrm>
          <a:prstGeom prst="line">
            <a:avLst/>
          </a:prstGeom>
          <a:ln w="16764">
            <a:solidFill>
              <a:srgbClr val="6D28D9"/>
            </a:solidFill>
            <a:tailEnd type="triangle" w="med" len="med"/>
          </a:ln>
        </p:spPr>
      </p:cxnSp>
      <p:sp>
        <p:nvSpPr>
          <p:cNvPr id="59" name="Paso 3"/>
          <p:cNvSpPr/>
          <p:nvPr/>
        </p:nvSpPr>
        <p:spPr>
          <a:xfrm>
            <a:off x="432816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03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Empaquetar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componente Greengrass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42660" y="5417820"/>
            <a:ext cx="106680" cy="0"/>
          </a:xfrm>
          <a:prstGeom prst="line">
            <a:avLst/>
          </a:prstGeom>
          <a:ln w="16764">
            <a:solidFill>
              <a:srgbClr val="6D28D9"/>
            </a:solidFill>
            <a:tailEnd type="triangle" w="med" len="med"/>
          </a:ln>
        </p:spPr>
      </p:cxnSp>
      <p:sp>
        <p:nvSpPr>
          <p:cNvPr id="61" name="Paso 4"/>
          <p:cNvSpPr/>
          <p:nvPr/>
        </p:nvSpPr>
        <p:spPr>
          <a:xfrm>
            <a:off x="617220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04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Desplegar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rings · thing groups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886700" y="5417820"/>
            <a:ext cx="106680" cy="0"/>
          </a:xfrm>
          <a:prstGeom prst="line">
            <a:avLst/>
          </a:prstGeom>
          <a:ln w="16764">
            <a:solidFill>
              <a:srgbClr val="6D28D9"/>
            </a:solidFill>
            <a:tailEnd type="triangle" w="med" len="med"/>
          </a:ln>
        </p:spPr>
      </p:cxnSp>
      <p:sp>
        <p:nvSpPr>
          <p:cNvPr id="63" name="Paso 5"/>
          <p:cNvSpPr/>
          <p:nvPr/>
        </p:nvSpPr>
        <p:spPr>
          <a:xfrm>
            <a:off x="801624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05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Operar sin red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cola local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730740" y="5417820"/>
            <a:ext cx="106680" cy="0"/>
          </a:xfrm>
          <a:prstGeom prst="line">
            <a:avLst/>
          </a:prstGeom>
          <a:ln w="16764">
            <a:solidFill>
              <a:srgbClr val="6D28D9"/>
            </a:solidFill>
            <a:tailEnd type="triangle" w="med" len="med"/>
          </a:ln>
        </p:spPr>
      </p:cxnSp>
      <p:sp>
        <p:nvSpPr>
          <p:cNvPr id="65" name="Paso 6"/>
          <p:cNvSpPr/>
          <p:nvPr/>
        </p:nvSpPr>
        <p:spPr>
          <a:xfrm>
            <a:off x="9860280" y="4968240"/>
            <a:ext cx="1691640" cy="8991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D5DEEA"/>
            </a:solidFill>
          </a:ln>
        </p:spPr>
        <p:txBody>
          <a:bodyPr rtlCol="0" anchor="t" wrap="none" lIns="152400" tIns="144780" rIns="60960" bIns="0">
            <a:noAutofit/>
          </a:bodyPr>
          <a:lstStyle/>
          <a:p>
            <a:pPr algn="l"/>
            <a:r>
              <a:rPr sz="1200" b="1" lang="es-CO">
                <a:solidFill>
                  <a:srgbClr val="6D28D9"/>
                </a:solidFill>
                <a:latin typeface="Courier New"/>
              </a:rPr>
              <a:t>06</a:t>
            </a:r>
          </a:p>
          <a:p>
            <a:pPr algn="l">
              <a:spcBef>
                <a:spcPts val="240"/>
              </a:spcBef>
            </a:pPr>
            <a:r>
              <a:rPr sz="1739" b="1" lang="es-CO">
                <a:solidFill>
                  <a:srgbClr val="071329"/>
                </a:solidFill>
                <a:latin typeface="Calibri"/>
              </a:rPr>
              <a:t>Monitorear</a:t>
            </a:r>
          </a:p>
          <a:p>
            <a:pPr algn="l">
              <a:spcBef>
                <a:spcPts val="179"/>
              </a:spcBef>
            </a:pPr>
            <a:r>
              <a:rPr sz="1080" b="0" lang="es-CO">
                <a:solidFill>
                  <a:srgbClr val="475569"/>
                </a:solidFill>
                <a:latin typeface="Calibri"/>
              </a:rPr>
              <a:t>IoT Core · CloudWatch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entrenar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415540"/>
            <a:ext cx="2941320" cy="1691640"/>
          </a:xfrm>
          <a:prstGeom prst="rect">
            <a:avLst/>
          </a:prstGeom>
        </p:spPr>
      </p:pic>
      <p:pic>
        <p:nvPicPr>
          <p:cNvPr id="55" name="Capa on1" descr="iso_entrenar_01_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930" y="2415540"/>
            <a:ext cx="4057650" cy="1691640"/>
          </a:xfrm>
          <a:prstGeom prst="rect">
            <a:avLst/>
          </a:prstGeom>
        </p:spPr>
      </p:pic>
      <p:pic>
        <p:nvPicPr>
          <p:cNvPr id="56" name="Capa on2" descr="iso_entrenar_02_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2415540"/>
            <a:ext cx="3813810" cy="169164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1 ·</a:t>
            </a:r>
            <a:r>
              <a:rPr lang="es-CO"/>
              <a:t> Entrenar </a:t>
            </a:r>
            <a:r>
              <a:rPr b="1" lang="es-CO">
                <a:solidFill>
                  <a:srgbClr val="6D28D9"/>
                </a:solidFill>
              </a:rPr>
              <a:t>con sonido normal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optimizar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927860"/>
            <a:ext cx="2331720" cy="2346960"/>
          </a:xfrm>
          <a:prstGeom prst="rect">
            <a:avLst/>
          </a:prstGeom>
        </p:spPr>
      </p:pic>
      <p:pic>
        <p:nvPicPr>
          <p:cNvPr id="55" name="Capa on1" descr="iso_optimizar_01_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30" y="1927860"/>
            <a:ext cx="3036570" cy="2346960"/>
          </a:xfrm>
          <a:prstGeom prst="rect">
            <a:avLst/>
          </a:prstGeom>
        </p:spPr>
      </p:pic>
      <p:pic>
        <p:nvPicPr>
          <p:cNvPr id="56" name="Capa on2" descr="iso_optimizar_02_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660" y="1927860"/>
            <a:ext cx="5440680" cy="2346960"/>
          </a:xfrm>
          <a:prstGeom prst="rect">
            <a:avLst/>
          </a:prstGeom>
        </p:spPr>
      </p:pic>
      <p:pic>
        <p:nvPicPr>
          <p:cNvPr id="57" name="Capa on3" descr="iso_optimizar_03_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442460"/>
            <a:ext cx="10774680" cy="92964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2 ·</a:t>
            </a:r>
            <a:r>
              <a:rPr lang="es-CO"/>
              <a:t> Optimizar </a:t>
            </a:r>
            <a:r>
              <a:rPr b="1" lang="es-CO">
                <a:solidFill>
                  <a:srgbClr val="6D28D9"/>
                </a:solidFill>
              </a:rPr>
              <a:t>para cada chip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receta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775460"/>
            <a:ext cx="10774680" cy="3032760"/>
          </a:xfrm>
          <a:prstGeom prst="rect">
            <a:avLst/>
          </a:prstGeom>
        </p:spPr>
      </p:pic>
      <p:pic>
        <p:nvPicPr>
          <p:cNvPr id="55" name="Capa on1" descr="iso_receta_01_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737610"/>
            <a:ext cx="10660380" cy="1573530"/>
          </a:xfrm>
          <a:prstGeom prst="rect">
            <a:avLst/>
          </a:prstGeom>
        </p:spPr>
      </p:pic>
      <p:pic>
        <p:nvPicPr>
          <p:cNvPr id="56" name="Capa on2" descr="iso_receta_02_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2754630"/>
            <a:ext cx="7978140" cy="2556510"/>
          </a:xfrm>
          <a:prstGeom prst="rect">
            <a:avLst/>
          </a:prstGeom>
        </p:spPr>
      </p:pic>
      <p:pic>
        <p:nvPicPr>
          <p:cNvPr id="57" name="Capa on3" descr="iso_receta_03_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" y="2918460"/>
            <a:ext cx="7498080" cy="2392680"/>
          </a:xfrm>
          <a:prstGeom prst="rect">
            <a:avLst/>
          </a:prstGeom>
        </p:spPr>
      </p:pic>
      <p:pic>
        <p:nvPicPr>
          <p:cNvPr id="58" name="Capa on4" descr="iso_receta_04_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" y="3409950"/>
            <a:ext cx="10187940" cy="1901190"/>
          </a:xfrm>
          <a:prstGeom prst="rect">
            <a:avLst/>
          </a:prstGeom>
        </p:spPr>
      </p:pic>
      <p:pic>
        <p:nvPicPr>
          <p:cNvPr id="59" name="Capa base" descr="iso_receta_05_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" y="2305050"/>
            <a:ext cx="9886950" cy="227838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3 ·</a:t>
            </a:r>
            <a:r>
              <a:rPr lang="es-CO"/>
              <a:t> Empaquetar </a:t>
            </a:r>
            <a:r>
              <a:rPr b="1" lang="es-CO">
                <a:solidFill>
                  <a:srgbClr val="6D28D9"/>
                </a:solidFill>
              </a:rPr>
              <a:t>como componente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anillos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866900"/>
            <a:ext cx="3246120" cy="1600200"/>
          </a:xfrm>
          <a:prstGeom prst="rect">
            <a:avLst/>
          </a:prstGeom>
        </p:spPr>
      </p:pic>
      <p:pic>
        <p:nvPicPr>
          <p:cNvPr id="55" name="Capa on3" descr="iso_anillos_01_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2994660"/>
            <a:ext cx="1805940" cy="289560"/>
          </a:xfrm>
          <a:prstGeom prst="rect">
            <a:avLst/>
          </a:prstGeom>
        </p:spPr>
      </p:pic>
      <p:pic>
        <p:nvPicPr>
          <p:cNvPr id="56" name="Capa on1" descr="iso_anillos_02_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60" y="1866900"/>
            <a:ext cx="7574280" cy="1600200"/>
          </a:xfrm>
          <a:prstGeom prst="rect">
            <a:avLst/>
          </a:prstGeom>
        </p:spPr>
      </p:pic>
      <p:pic>
        <p:nvPicPr>
          <p:cNvPr id="57" name="Capa on2" descr="iso_anillos_03_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620" y="3695700"/>
            <a:ext cx="6903720" cy="1600200"/>
          </a:xfrm>
          <a:prstGeom prst="rect">
            <a:avLst/>
          </a:prstGeom>
        </p:spPr>
      </p:pic>
      <p:pic>
        <p:nvPicPr>
          <p:cNvPr id="58" name="Capa on3" descr="iso_anillos_04_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" y="2438400"/>
            <a:ext cx="3779520" cy="280797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4 ·</a:t>
            </a:r>
            <a:r>
              <a:rPr lang="es-CO"/>
              <a:t> Desplegar </a:t>
            </a:r>
            <a:r>
              <a:rPr b="1" lang="es-CO">
                <a:solidFill>
                  <a:srgbClr val="6D28D9"/>
                </a:solidFill>
              </a:rPr>
              <a:t>por rings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sinred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019300"/>
            <a:ext cx="10774680" cy="233172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5C7290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5 ·</a:t>
            </a:r>
            <a:r>
              <a:rPr lang="es-CO"/>
              <a:t> Operar </a:t>
            </a:r>
            <a:r>
              <a:rPr b="1" lang="es-CO">
                <a:solidFill>
                  <a:srgbClr val="6D28D9"/>
                </a:solidFill>
              </a:rPr>
              <a:t>sin 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monitoreo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783080"/>
            <a:ext cx="10500360" cy="861060"/>
          </a:xfrm>
          <a:prstGeom prst="rect">
            <a:avLst/>
          </a:prstGeom>
        </p:spPr>
      </p:pic>
      <p:pic>
        <p:nvPicPr>
          <p:cNvPr id="55" name="Capa on1" descr="iso_monitoreo_01_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903220"/>
            <a:ext cx="3459480" cy="1676400"/>
          </a:xfrm>
          <a:prstGeom prst="rect">
            <a:avLst/>
          </a:prstGeom>
        </p:spPr>
      </p:pic>
      <p:pic>
        <p:nvPicPr>
          <p:cNvPr id="56" name="Capa on2" descr="iso_monitoreo_02_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903220"/>
            <a:ext cx="3459480" cy="1676400"/>
          </a:xfrm>
          <a:prstGeom prst="rect">
            <a:avLst/>
          </a:prstGeom>
        </p:spPr>
      </p:pic>
      <p:pic>
        <p:nvPicPr>
          <p:cNvPr id="57" name="Capa on3" descr="iso_monitoreo_03_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860" y="2903220"/>
            <a:ext cx="3459480" cy="1676400"/>
          </a:xfrm>
          <a:prstGeom prst="rect">
            <a:avLst/>
          </a:prstGeom>
        </p:spPr>
      </p:pic>
      <p:sp>
        <p:nvSpPr>
          <p:cNvPr id="4" name="Espina 1"/>
          <p:cNvSpPr/>
          <p:nvPr/>
        </p:nvSpPr>
        <p:spPr>
          <a:xfrm>
            <a:off x="6400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13716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1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Entrenar</a:t>
            </a:r>
          </a:p>
        </p:txBody>
      </p:sp>
      <p:sp>
        <p:nvSpPr>
          <p:cNvPr id="5" name="Espina 2"/>
          <p:cNvSpPr/>
          <p:nvPr/>
        </p:nvSpPr>
        <p:spPr>
          <a:xfrm>
            <a:off x="245872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2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Optimizar</a:t>
            </a:r>
          </a:p>
        </p:txBody>
      </p:sp>
      <p:sp>
        <p:nvSpPr>
          <p:cNvPr id="6" name="Espina 3"/>
          <p:cNvSpPr/>
          <p:nvPr/>
        </p:nvSpPr>
        <p:spPr>
          <a:xfrm>
            <a:off x="427736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3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Empaquetar</a:t>
            </a:r>
          </a:p>
        </p:txBody>
      </p:sp>
      <p:sp>
        <p:nvSpPr>
          <p:cNvPr id="7" name="Espina 4"/>
          <p:cNvSpPr/>
          <p:nvPr/>
        </p:nvSpPr>
        <p:spPr>
          <a:xfrm>
            <a:off x="609600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4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Desplegar</a:t>
            </a:r>
          </a:p>
        </p:txBody>
      </p:sp>
      <p:sp>
        <p:nvSpPr>
          <p:cNvPr id="8" name="Espina 5"/>
          <p:cNvSpPr/>
          <p:nvPr/>
        </p:nvSpPr>
        <p:spPr>
          <a:xfrm>
            <a:off x="791464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F4F7FC"/>
          </a:solidFill>
          <a:ln w="11430">
            <a:solidFill>
              <a:srgbClr val="D5DEEA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6D28D9"/>
                </a:solidFill>
                <a:latin typeface="Courier New"/>
              </a:rPr>
              <a:t>5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alibri"/>
              </a:rPr>
              <a:t>Operar sin red</a:t>
            </a:r>
          </a:p>
        </p:txBody>
      </p:sp>
      <p:sp>
        <p:nvSpPr>
          <p:cNvPr id="9" name="Espina 6"/>
          <p:cNvSpPr/>
          <p:nvPr/>
        </p:nvSpPr>
        <p:spPr>
          <a:xfrm>
            <a:off x="9733280" y="5501640"/>
            <a:ext cx="1788160" cy="335280"/>
          </a:xfrm>
          <a:custGeom>
            <a:avLst/>
            <a:gdLst/>
            <a:ahLst/>
            <a:cxnLst/>
            <a:rect l="l" t="t" r="r" b="b"/>
            <a:pathLst>
              <a:path w="1788160" h="335280">
                <a:moveTo>
                  <a:pt x="0" y="0"/>
                </a:moveTo>
                <a:lnTo>
                  <a:pt x="1696720" y="0"/>
                </a:lnTo>
                <a:lnTo>
                  <a:pt x="1788160" y="167640"/>
                </a:lnTo>
                <a:lnTo>
                  <a:pt x="1696720" y="335280"/>
                </a:lnTo>
                <a:lnTo>
                  <a:pt x="0" y="335280"/>
                </a:lnTo>
                <a:lnTo>
                  <a:pt x="91440" y="167640"/>
                </a:lnTo>
                <a:close/>
              </a:path>
            </a:pathLst>
          </a:custGeom>
          <a:solidFill>
            <a:srgbClr val="6D28D9"/>
          </a:solidFill>
          <a:ln w="11430">
            <a:solidFill>
              <a:srgbClr val="6D28D9"/>
            </a:solidFill>
            <a:round/>
          </a:ln>
        </p:spPr>
        <p:txBody>
          <a:bodyPr rtlCol="0" anchor="ctr" wrap="none" lIns="228600" tIns="0" rIns="30480" bIns="0">
            <a:noAutofit/>
          </a:bodyPr>
          <a:lstStyle/>
          <a:p>
            <a:pPr algn="l"/>
            <a:r>
              <a:rPr sz="1140" b="1" lang="es-CO">
                <a:solidFill>
                  <a:srgbClr val="FFFFFF"/>
                </a:solidFill>
                <a:latin typeface="Courier New"/>
              </a:rPr>
              <a:t>6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 </a:t>
            </a:r>
            <a:r>
              <a:rPr sz="1140" b="1" lang="es-CO">
                <a:solidFill>
                  <a:srgbClr val="FFFFFF"/>
                </a:solidFill>
                <a:latin typeface="Calibri"/>
              </a:rPr>
              <a:t>Monitorear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LOS SEIS PASOS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Paso 6 ·</a:t>
            </a:r>
            <a:r>
              <a:rPr lang="es-CO"/>
              <a:t> Monitorear </a:t>
            </a:r>
            <a:r>
              <a:rPr b="1" lang="es-CO">
                <a:solidFill>
                  <a:srgbClr val="6D28D9"/>
                </a:solidFill>
              </a:rPr>
              <a:t>lo que decide el modelo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La evidencia en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8"/>
          </p:nvPr>
        </p:nvSpPr>
        <p:spPr/>
        <p:txBody>
          <a:bodyPr lIns="0"/>
          <a:lstStyle/>
          <a:p>
            <a:r>
              <a:rPr lang="es-CO"/>
              <a:t>Cinco bombas en AWS: una falla, un corte de red y una versión mala.</a:t>
            </a:r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poc_htm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320"/>
            <a:ext cx="12192000" cy="522732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Lo que </a:t>
            </a:r>
            <a:r>
              <a:rPr b="1" lang="es-CO">
                <a:solidFill>
                  <a:srgbClr val="6D28D9"/>
                </a:solidFill>
              </a:rPr>
              <a:t>monté y corrí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modelo, </a:t>
            </a:r>
            <a:r>
              <a:rPr b="1" lang="es-CO">
                <a:solidFill>
                  <a:srgbClr val="6D28D9"/>
                </a:solidFill>
              </a:rPr>
              <a:t>versionado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tura" descr="pair_artefacto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55063"/>
            <a:ext cx="5227320" cy="2824074"/>
          </a:xfrm>
          <a:prstGeom prst="rect">
            <a:avLst/>
          </a:prstGeom>
        </p:spPr>
      </p:pic>
      <p:sp>
        <p:nvSpPr>
          <p:cNvPr id="55" name="Pie"/>
          <p:cNvSpPr txBox="1"/>
          <p:nvPr/>
        </p:nvSpPr>
        <p:spPr>
          <a:xfrm>
            <a:off x="716280" y="4955337"/>
            <a:ext cx="522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19" b="0" lang="es-CO">
                <a:solidFill>
                  <a:srgbClr val="475569"/>
                </a:solidFill>
                <a:latin typeface="Calibri"/>
              </a:rPr>
              <a:t>S3 · una carpeta por versión</a:t>
            </a:r>
          </a:p>
        </p:txBody>
      </p:sp>
      <p:pic>
        <p:nvPicPr>
          <p:cNvPr id="56" name="Captura" descr="pair_artefact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3303"/>
            <a:ext cx="5227320" cy="3147593"/>
          </a:xfrm>
          <a:prstGeom prst="rect">
            <a:avLst/>
          </a:prstGeom>
        </p:spPr>
      </p:pic>
      <p:sp>
        <p:nvSpPr>
          <p:cNvPr id="57" name="Pie"/>
          <p:cNvSpPr txBox="1"/>
          <p:nvPr/>
        </p:nvSpPr>
        <p:spPr>
          <a:xfrm>
            <a:off x="6248400" y="5117097"/>
            <a:ext cx="522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19" b="0" lang="es-CO">
                <a:solidFill>
                  <a:srgbClr val="475569"/>
                </a:solidFill>
                <a:latin typeface="Calibri"/>
              </a:rPr>
              <a:t>IoT Greengrass · el componente y sus versiones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La flota, </a:t>
            </a:r>
            <a:r>
              <a:rPr b="1" lang="es-CO">
                <a:solidFill>
                  <a:srgbClr val="6D28D9"/>
                </a:solidFill>
              </a:rPr>
              <a:t>reportando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tura" descr="pair_flot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89" y="1676400"/>
            <a:ext cx="10457421" cy="3581400"/>
          </a:xfrm>
          <a:prstGeom prst="rect">
            <a:avLst/>
          </a:prstGeom>
        </p:spPr>
      </p:pic>
      <p:sp>
        <p:nvSpPr>
          <p:cNvPr id="55" name="Pie"/>
          <p:cNvSpPr txBox="1"/>
          <p:nvPr/>
        </p:nvSpPr>
        <p:spPr>
          <a:xfrm>
            <a:off x="867289" y="5334000"/>
            <a:ext cx="104574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19" b="0" lang="es-CO">
                <a:solidFill>
                  <a:srgbClr val="475569"/>
                </a:solidFill>
                <a:latin typeface="Calibri"/>
              </a:rPr>
              <a:t>CloudWatch · cinco equipos, dos rings, lo que decide el modelo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Acto 1 ·</a:t>
            </a:r>
            <a:r>
              <a:rPr lang="es-CO"/>
              <a:t> Escuchar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grpSp>
        <p:nvGrpSpPr>
          <p:cNvPr id="4" name="Captura de AWS"/>
          <p:cNvGrpSpPr/>
          <p:nvPr/>
        </p:nvGrpSpPr>
        <p:grpSpPr>
          <a:xfrm>
            <a:off x="1600200" y="2194560"/>
            <a:ext cx="8991600" cy="2941320"/>
            <a:chOff x="1600200" y="2194560"/>
            <a:chExt cx="8991600" cy="2941320"/>
          </a:xfrm>
        </p:grpSpPr>
        <p:sp>
          <p:nvSpPr>
            <p:cNvPr id="54" name="Ventana"/>
            <p:cNvSpPr/>
            <p:nvPr/>
          </p:nvSpPr>
          <p:spPr>
            <a:xfrm>
              <a:off x="1600200" y="2194560"/>
              <a:ext cx="8991600" cy="2941320"/>
            </a:xfrm>
            <a:prstGeom prst="roundRect">
              <a:avLst>
                <a:gd name="adj" fmla="val 3108"/>
              </a:avLst>
            </a:prstGeom>
            <a:solidFill>
              <a:srgbClr val="FFFFFF"/>
            </a:solidFill>
            <a:ln w="11430">
              <a:solidFill>
                <a:srgbClr val="D5DE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arra"/>
            <p:cNvSpPr/>
            <p:nvPr/>
          </p:nvSpPr>
          <p:spPr>
            <a:xfrm>
              <a:off x="1607820" y="2202180"/>
              <a:ext cx="8976360" cy="28194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unto"/>
            <p:cNvSpPr/>
            <p:nvPr/>
          </p:nvSpPr>
          <p:spPr>
            <a:xfrm>
              <a:off x="1722120" y="229743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unto"/>
            <p:cNvSpPr/>
            <p:nvPr/>
          </p:nvSpPr>
          <p:spPr>
            <a:xfrm>
              <a:off x="1866900" y="229743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unto"/>
            <p:cNvSpPr/>
            <p:nvPr/>
          </p:nvSpPr>
          <p:spPr>
            <a:xfrm>
              <a:off x="2011680" y="229743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uta"/>
            <p:cNvSpPr txBox="1"/>
            <p:nvPr/>
          </p:nvSpPr>
          <p:spPr>
            <a:xfrm>
              <a:off x="2255520" y="2194560"/>
              <a:ext cx="8229600" cy="289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./demo/watch.sh pump-03 · </a:t>
              </a:r>
              <a:r>
                <a:rPr sz="960" b="1" lang="es-CO">
                  <a:solidFill>
                    <a:srgbClr val="6D28D9"/>
                  </a:solidFill>
                  <a:latin typeface="Courier New"/>
                </a:rPr>
                <a:t>de normal a ALERT</a:t>
              </a:r>
            </a:p>
          </p:txBody>
        </p:sp>
        <p:pic>
          <p:nvPicPr>
            <p:cNvPr id="60" name="Captura" descr="shot_acto1_0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200" y="2484120"/>
              <a:ext cx="8991600" cy="2651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Acto 2 ·</a:t>
            </a:r>
            <a:r>
              <a:rPr lang="es-CO"/>
              <a:t> Sin red, y una deriva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grpSp>
        <p:nvGrpSpPr>
          <p:cNvPr id="4" name="Captura de AWS"/>
          <p:cNvGrpSpPr/>
          <p:nvPr/>
        </p:nvGrpSpPr>
        <p:grpSpPr>
          <a:xfrm>
            <a:off x="685800" y="1946910"/>
            <a:ext cx="10820400" cy="3436620"/>
            <a:chOff x="685800" y="1946910"/>
            <a:chExt cx="10820400" cy="3436620"/>
          </a:xfrm>
        </p:grpSpPr>
        <p:sp>
          <p:nvSpPr>
            <p:cNvPr id="54" name="Ventana"/>
            <p:cNvSpPr/>
            <p:nvPr/>
          </p:nvSpPr>
          <p:spPr>
            <a:xfrm>
              <a:off x="685800" y="1946910"/>
              <a:ext cx="10820400" cy="3436620"/>
            </a:xfrm>
            <a:prstGeom prst="roundRect">
              <a:avLst>
                <a:gd name="adj" fmla="val 2660"/>
              </a:avLst>
            </a:prstGeom>
            <a:solidFill>
              <a:srgbClr val="FFFFFF"/>
            </a:solidFill>
            <a:ln w="11430">
              <a:solidFill>
                <a:srgbClr val="D5DE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arra"/>
            <p:cNvSpPr/>
            <p:nvPr/>
          </p:nvSpPr>
          <p:spPr>
            <a:xfrm>
              <a:off x="693420" y="1954530"/>
              <a:ext cx="10805160" cy="28194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unto"/>
            <p:cNvSpPr/>
            <p:nvPr/>
          </p:nvSpPr>
          <p:spPr>
            <a:xfrm>
              <a:off x="807720" y="20497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unto"/>
            <p:cNvSpPr/>
            <p:nvPr/>
          </p:nvSpPr>
          <p:spPr>
            <a:xfrm>
              <a:off x="952500" y="20497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unto"/>
            <p:cNvSpPr/>
            <p:nvPr/>
          </p:nvSpPr>
          <p:spPr>
            <a:xfrm>
              <a:off x="1097280" y="20497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uta"/>
            <p:cNvSpPr txBox="1"/>
            <p:nvPr/>
          </p:nvSpPr>
          <p:spPr>
            <a:xfrm>
              <a:off x="1341120" y="1946910"/>
              <a:ext cx="10058400" cy="289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./demo/watch.sh y el dashboard · </a:t>
              </a:r>
              <a:r>
                <a:rPr sz="960" b="1" lang="es-CO">
                  <a:solidFill>
                    <a:srgbClr val="6D28D9"/>
                  </a:solidFill>
                  <a:latin typeface="Courier New"/>
                </a:rPr>
                <a:t>sin red y deriva</a:t>
              </a:r>
            </a:p>
          </p:txBody>
        </p:sp>
        <p:pic>
          <p:nvPicPr>
            <p:cNvPr id="60" name="Captura" descr="shot_acto2_0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236470"/>
              <a:ext cx="10820400" cy="31470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LA EVIDENCIA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>
                <a:solidFill>
                  <a:srgbClr val="2448FF"/>
                </a:solidFill>
              </a:rPr>
              <a:t>Acto 3 ·</a:t>
            </a:r>
            <a:r>
              <a:rPr lang="es-CO"/>
              <a:t> Ring deployment </a:t>
            </a:r>
            <a:r>
              <a:rPr b="1" lang="es-CO">
                <a:solidFill>
                  <a:srgbClr val="6D28D9"/>
                </a:solidFill>
              </a:rPr>
              <a:t>y rollback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grpSp>
        <p:nvGrpSpPr>
          <p:cNvPr id="4" name="Captura de AWS"/>
          <p:cNvGrpSpPr/>
          <p:nvPr/>
        </p:nvGrpSpPr>
        <p:grpSpPr>
          <a:xfrm>
            <a:off x="1371600" y="2472690"/>
            <a:ext cx="9448800" cy="2385060"/>
            <a:chOff x="1371600" y="2472690"/>
            <a:chExt cx="9448800" cy="2385060"/>
          </a:xfrm>
        </p:grpSpPr>
        <p:sp>
          <p:nvSpPr>
            <p:cNvPr id="54" name="Ventana"/>
            <p:cNvSpPr/>
            <p:nvPr/>
          </p:nvSpPr>
          <p:spPr>
            <a:xfrm>
              <a:off x="1371600" y="2472690"/>
              <a:ext cx="9448800" cy="2385060"/>
            </a:xfrm>
            <a:prstGeom prst="roundRect">
              <a:avLst>
                <a:gd name="adj" fmla="val 3833"/>
              </a:avLst>
            </a:prstGeom>
            <a:solidFill>
              <a:srgbClr val="FFFFFF"/>
            </a:solidFill>
            <a:ln w="11430">
              <a:solidFill>
                <a:srgbClr val="D5DE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arra"/>
            <p:cNvSpPr/>
            <p:nvPr/>
          </p:nvSpPr>
          <p:spPr>
            <a:xfrm>
              <a:off x="1379220" y="2480310"/>
              <a:ext cx="9433560" cy="28194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unto"/>
            <p:cNvSpPr/>
            <p:nvPr/>
          </p:nvSpPr>
          <p:spPr>
            <a:xfrm>
              <a:off x="1493520" y="257556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unto"/>
            <p:cNvSpPr/>
            <p:nvPr/>
          </p:nvSpPr>
          <p:spPr>
            <a:xfrm>
              <a:off x="1638300" y="257556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unto"/>
            <p:cNvSpPr/>
            <p:nvPr/>
          </p:nvSpPr>
          <p:spPr>
            <a:xfrm>
              <a:off x="1783080" y="257556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uta"/>
            <p:cNvSpPr txBox="1"/>
            <p:nvPr/>
          </p:nvSpPr>
          <p:spPr>
            <a:xfrm>
              <a:off x="2026920" y="2472690"/>
              <a:ext cx="8686800" cy="289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la línea de tiempo · </a:t>
              </a:r>
              <a:r>
                <a:rPr sz="960" b="1" lang="es-CO">
                  <a:solidFill>
                    <a:srgbClr val="6D28D9"/>
                  </a:solidFill>
                  <a:latin typeface="Courier New"/>
                </a:rPr>
                <a:t>de la v2 al rollback</a:t>
              </a:r>
            </a:p>
          </p:txBody>
        </p:sp>
        <p:pic>
          <p:nvPicPr>
            <p:cNvPr id="60" name="Captura" descr="shot_acto3_0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2762250"/>
              <a:ext cx="9448800" cy="2095500"/>
            </a:xfrm>
            <a:prstGeom prst="rect">
              <a:avLst/>
            </a:prstGeom>
          </p:spPr>
        </p:pic>
      </p:grpSp>
      <p:grpSp>
        <p:nvGrpSpPr>
          <p:cNvPr id="5" name="Captura de AWS"/>
          <p:cNvGrpSpPr/>
          <p:nvPr/>
        </p:nvGrpSpPr>
        <p:grpSpPr>
          <a:xfrm>
            <a:off x="0" y="1447800"/>
            <a:ext cx="12192000" cy="4053840"/>
            <a:chOff x="0" y="1447800"/>
            <a:chExt cx="12192000" cy="4053840"/>
          </a:xfrm>
        </p:grpSpPr>
        <p:sp>
          <p:nvSpPr>
            <p:cNvPr id="61" name="Velo"/>
            <p:cNvSpPr/>
            <p:nvPr/>
          </p:nvSpPr>
          <p:spPr>
            <a:xfrm>
              <a:off x="0" y="1447800"/>
              <a:ext cx="12192000" cy="4053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Ventana"/>
            <p:cNvSpPr/>
            <p:nvPr/>
          </p:nvSpPr>
          <p:spPr>
            <a:xfrm>
              <a:off x="3472815" y="1676400"/>
              <a:ext cx="5246370" cy="359664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11430">
              <a:solidFill>
                <a:srgbClr val="D5DE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Barra"/>
            <p:cNvSpPr/>
            <p:nvPr/>
          </p:nvSpPr>
          <p:spPr>
            <a:xfrm>
              <a:off x="3480435" y="1684020"/>
              <a:ext cx="5231130" cy="28194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unto"/>
            <p:cNvSpPr/>
            <p:nvPr/>
          </p:nvSpPr>
          <p:spPr>
            <a:xfrm>
              <a:off x="3594735" y="177927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unto"/>
            <p:cNvSpPr/>
            <p:nvPr/>
          </p:nvSpPr>
          <p:spPr>
            <a:xfrm>
              <a:off x="3739515" y="177927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unto"/>
            <p:cNvSpPr/>
            <p:nvPr/>
          </p:nvSpPr>
          <p:spPr>
            <a:xfrm>
              <a:off x="3884295" y="177927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uta"/>
            <p:cNvSpPr txBox="1"/>
            <p:nvPr/>
          </p:nvSpPr>
          <p:spPr>
            <a:xfrm>
              <a:off x="4128135" y="1676400"/>
              <a:ext cx="4484370" cy="289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consola de AWS · alarma </a:t>
              </a:r>
              <a:r>
                <a:rPr sz="960" b="1" lang="es-CO">
                  <a:solidFill>
                    <a:srgbClr val="6D28D9"/>
                  </a:solidFill>
                  <a:latin typeface="Courier New"/>
                </a:rPr>
                <a:t>station-missed-faults</a:t>
              </a:r>
            </a:p>
          </p:txBody>
        </p:sp>
        <p:pic>
          <p:nvPicPr>
            <p:cNvPr id="68" name="Captura" descr="shot_acto3_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2815" y="1965960"/>
              <a:ext cx="5246370" cy="3307080"/>
            </a:xfrm>
            <a:prstGeom prst="rect">
              <a:avLst/>
            </a:prstGeom>
          </p:spPr>
        </p:pic>
      </p:grpSp>
      <p:grpSp>
        <p:nvGrpSpPr>
          <p:cNvPr id="6" name="Captura de AWS"/>
          <p:cNvGrpSpPr/>
          <p:nvPr/>
        </p:nvGrpSpPr>
        <p:grpSpPr>
          <a:xfrm>
            <a:off x="0" y="1447800"/>
            <a:ext cx="12192000" cy="4053840"/>
            <a:chOff x="0" y="1447800"/>
            <a:chExt cx="12192000" cy="4053840"/>
          </a:xfrm>
        </p:grpSpPr>
        <p:sp>
          <p:nvSpPr>
            <p:cNvPr id="69" name="Velo"/>
            <p:cNvSpPr/>
            <p:nvPr/>
          </p:nvSpPr>
          <p:spPr>
            <a:xfrm>
              <a:off x="0" y="1447800"/>
              <a:ext cx="12192000" cy="4053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Ventana"/>
            <p:cNvSpPr/>
            <p:nvPr/>
          </p:nvSpPr>
          <p:spPr>
            <a:xfrm>
              <a:off x="3108960" y="1985010"/>
              <a:ext cx="5974080" cy="2979420"/>
            </a:xfrm>
            <a:prstGeom prst="roundRect">
              <a:avLst>
                <a:gd name="adj" fmla="val 3069"/>
              </a:avLst>
            </a:prstGeom>
            <a:solidFill>
              <a:srgbClr val="FFFFFF"/>
            </a:solidFill>
            <a:ln w="11430">
              <a:solidFill>
                <a:srgbClr val="D5DEE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Barra"/>
            <p:cNvSpPr/>
            <p:nvPr/>
          </p:nvSpPr>
          <p:spPr>
            <a:xfrm>
              <a:off x="3116580" y="1992630"/>
              <a:ext cx="5958840" cy="28194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unto"/>
            <p:cNvSpPr/>
            <p:nvPr/>
          </p:nvSpPr>
          <p:spPr>
            <a:xfrm>
              <a:off x="3230880" y="20878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unto"/>
            <p:cNvSpPr/>
            <p:nvPr/>
          </p:nvSpPr>
          <p:spPr>
            <a:xfrm>
              <a:off x="3375660" y="20878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unto"/>
            <p:cNvSpPr/>
            <p:nvPr/>
          </p:nvSpPr>
          <p:spPr>
            <a:xfrm>
              <a:off x="3520440" y="2087880"/>
              <a:ext cx="83820" cy="83820"/>
            </a:xfrm>
            <a:prstGeom prst="roundRect">
              <a:avLst>
                <a:gd name="adj" fmla="val 50000"/>
              </a:avLst>
            </a:prstGeom>
            <a:solidFill>
              <a:srgbClr val="D5DE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uta"/>
            <p:cNvSpPr txBox="1"/>
            <p:nvPr/>
          </p:nvSpPr>
          <p:spPr>
            <a:xfrm>
              <a:off x="3764280" y="1985010"/>
              <a:ext cx="5212080" cy="289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consola de AWS · </a:t>
              </a:r>
              <a:r>
                <a:rPr sz="960" b="1" lang="es-CO">
                  <a:solidFill>
                    <a:srgbClr val="6D28D9"/>
                  </a:solidFill>
                  <a:latin typeface="Courier New"/>
                </a:rPr>
                <a:t>despliegues</a:t>
              </a:r>
              <a:r>
                <a:rPr sz="960" b="0" lang="es-CO">
                  <a:solidFill>
                    <a:srgbClr val="475569"/>
                  </a:solidFill>
                  <a:latin typeface="Courier New"/>
                </a:rPr>
                <a:t>: el ring 0 en rollback</a:t>
              </a:r>
            </a:p>
          </p:txBody>
        </p:sp>
        <p:pic>
          <p:nvPicPr>
            <p:cNvPr id="76" name="Captura" descr="shot_acto3_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8960" y="2274570"/>
              <a:ext cx="5974080" cy="2689860"/>
            </a:xfrm>
            <a:prstGeom prst="rect">
              <a:avLst/>
            </a:prstGeom>
          </p:spPr>
        </p:pic>
      </p:grpSp>
      <p:sp>
        <p:nvSpPr>
          <p:cNvPr id="77" name="Remate"/>
          <p:cNvSpPr txBox="1"/>
          <p:nvPr/>
        </p:nvSpPr>
        <p:spPr>
          <a:xfrm>
            <a:off x="640080" y="5547360"/>
            <a:ext cx="10911840" cy="290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80" b="0" lang="es-CO">
                <a:solidFill>
                  <a:srgbClr val="071329"/>
                </a:solidFill>
                <a:latin typeface="Calibri"/>
              </a:rPr>
              <a:t>Greengrass revierte despliegues fallidos, </a:t>
            </a:r>
            <a:r>
              <a:rPr sz="1680" b="1" lang="es-CO">
                <a:solidFill>
                  <a:srgbClr val="6D28D9"/>
                </a:solidFill>
                <a:latin typeface="Calibri"/>
              </a:rPr>
              <a:t>no modelos equivocados</a:t>
            </a:r>
            <a:r>
              <a:rPr sz="1680" b="0" lang="es-CO">
                <a:solidFill>
                  <a:srgbClr val="071329"/>
                </a:solidFill>
                <a:latin typeface="Calibri"/>
              </a:rPr>
              <a:t>: ese gate lo pones tú.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CONCLUSIONES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Cinco </a:t>
            </a:r>
            <a:r>
              <a:rPr b="1" lang="es-CO">
                <a:solidFill>
                  <a:srgbClr val="6D28D9"/>
                </a:solidFill>
              </a:rPr>
              <a:t>recomendaciones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8686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40" y="1798320"/>
            <a:ext cx="98602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20" b="0" lang="es-CO">
                <a:solidFill>
                  <a:srgbClr val="071329"/>
                </a:solidFill>
                <a:latin typeface="Calibri"/>
              </a:rPr>
              <a:t>El modelo es un artefacto: </a:t>
            </a:r>
            <a:r>
              <a:rPr sz="1920" b="1" lang="es-CO">
                <a:solidFill>
                  <a:srgbClr val="071329"/>
                </a:solidFill>
                <a:latin typeface="Calibri"/>
              </a:rPr>
              <a:t>versión, huella y firma</a:t>
            </a:r>
            <a:r>
              <a:rPr sz="1920" b="0" lang="es-CO">
                <a:solidFill>
                  <a:srgbClr val="071329"/>
                </a:solidFill>
                <a:latin typeface="Calibri"/>
              </a:rPr>
              <a:t>, sobre un equipo seguro.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240792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40080" y="2407920"/>
            <a:ext cx="8686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1640" y="2407920"/>
            <a:ext cx="98602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20" b="0" lang="es-CO">
                <a:solidFill>
                  <a:srgbClr val="071329"/>
                </a:solidFill>
                <a:latin typeface="Calibri"/>
              </a:rPr>
              <a:t>Mide en el chip de verdad, </a:t>
            </a:r>
            <a:r>
              <a:rPr sz="1920" b="1" lang="es-CO">
                <a:solidFill>
                  <a:srgbClr val="071329"/>
                </a:solidFill>
                <a:latin typeface="Calibri"/>
              </a:rPr>
              <a:t>con batería baja y con calor</a:t>
            </a:r>
            <a:r>
              <a:rPr sz="1920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0080" y="301752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0080" y="3017520"/>
            <a:ext cx="8686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1640" y="3017520"/>
            <a:ext cx="98602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20" b="0" lang="es-CO">
                <a:solidFill>
                  <a:srgbClr val="071329"/>
                </a:solidFill>
                <a:latin typeface="Calibri"/>
              </a:rPr>
              <a:t>Despliega por rings, con un gate que </a:t>
            </a:r>
            <a:r>
              <a:rPr sz="1920" b="1" lang="es-CO">
                <a:solidFill>
                  <a:srgbClr val="071329"/>
                </a:solidFill>
                <a:latin typeface="Calibri"/>
              </a:rPr>
              <a:t>mire al modelo</a:t>
            </a:r>
            <a:r>
              <a:rPr sz="1920" b="0" lang="es-CO">
                <a:solidFill>
                  <a:srgbClr val="071329"/>
                </a:solidFill>
                <a:latin typeface="Calibri"/>
              </a:rPr>
              <a:t> y no solo al proceso.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362712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40080" y="3627120"/>
            <a:ext cx="8686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91640" y="3627120"/>
            <a:ext cx="98602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20" b="0" lang="es-CO">
                <a:solidFill>
                  <a:srgbClr val="071329"/>
                </a:solidFill>
                <a:latin typeface="Calibri"/>
              </a:rPr>
              <a:t>Diseña para estar sin red: </a:t>
            </a:r>
            <a:r>
              <a:rPr sz="1920" b="1" lang="es-CO">
                <a:solidFill>
                  <a:srgbClr val="071329"/>
                </a:solidFill>
                <a:latin typeface="Calibri"/>
              </a:rPr>
              <a:t>cola local y decisiones locales</a:t>
            </a:r>
            <a:r>
              <a:rPr sz="1920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423672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4236720"/>
            <a:ext cx="8686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4236720"/>
            <a:ext cx="986028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20" b="0" lang="es-CO">
                <a:solidFill>
                  <a:srgbClr val="071329"/>
                </a:solidFill>
                <a:latin typeface="Calibri"/>
              </a:rPr>
              <a:t>Vigila tres señales: </a:t>
            </a:r>
            <a:r>
              <a:rPr sz="1920" b="1" lang="es-CO">
                <a:solidFill>
                  <a:srgbClr val="6D28D9"/>
                </a:solidFill>
                <a:latin typeface="Calibri"/>
              </a:rPr>
              <a:t>entrada, salida y autenticidad</a:t>
            </a:r>
            <a:r>
              <a:rPr sz="1920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 animBg="1"/>
      <p:bldP spid="60" grpId="0"/>
      <p:bldP spid="61" grpId="0"/>
      <p:bldP spid="62" grpId="0" animBg="1"/>
      <p:bldP spid="63" grpId="0"/>
      <p:bldP spid="64" grpId="0"/>
      <p:bldP spid="65" grpId="0" animBg="1"/>
      <p:bldP spid="66" grpId="0"/>
      <p:bldP spid="67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6"/>
          </p:nvPr>
        </p:nvSpPr>
        <p:spPr>
          <a:xfrm>
            <a:off x="640080" y="1263396"/>
            <a:ext cx="10911840" cy="681228"/>
          </a:xfrm>
        </p:spPr>
        <p:txBody>
          <a:bodyPr lIns="0" rIns="0" tIns="0" bIns="0"/>
          <a:lstStyle/>
          <a:p>
            <a:r>
              <a:rPr sz="4200" lang="es-CO"/>
              <a:t>¿Esta bomba está </a:t>
            </a:r>
            <a:r>
              <a:rPr sz="4200" b="1" lang="es-CO">
                <a:solidFill>
                  <a:srgbClr val="6D28D9"/>
                </a:solidFill>
              </a:rPr>
              <a:t>fallando</a:t>
            </a:r>
            <a:r>
              <a:rPr sz="4200" lang="es-CO"/>
              <a:t>?</a:t>
            </a:r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3" name="Audio bomba A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3440" y="2255520"/>
            <a:ext cx="60960" cy="121920"/>
          </a:xfrm>
          <a:prstGeom prst="rect">
            <a:avLst/>
          </a:prstGeom>
        </p:spPr>
      </p:pic>
      <p:grpSp>
        <p:nvGrpSpPr>
          <p:cNvPr id="3" name="Botón A"/>
          <p:cNvGrpSpPr/>
          <p:nvPr/>
        </p:nvGrpSpPr>
        <p:grpSpPr>
          <a:xfrm>
            <a:off x="640080" y="2103120"/>
            <a:ext cx="1534478" cy="426720"/>
            <a:chOff x="640080" y="2103120"/>
            <a:chExt cx="1534478" cy="426720"/>
          </a:xfrm>
        </p:grpSpPr>
        <p:sp>
          <p:nvSpPr>
            <p:cNvPr id="54" name="Fondo"/>
            <p:cNvSpPr/>
            <p:nvPr/>
          </p:nvSpPr>
          <p:spPr>
            <a:xfrm>
              <a:off x="640080" y="2103120"/>
              <a:ext cx="1534478" cy="42672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riángulo"/>
            <p:cNvSpPr/>
            <p:nvPr/>
          </p:nvSpPr>
          <p:spPr>
            <a:xfrm>
              <a:off x="929640" y="2225040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80" h="182880">
                  <a:moveTo>
                    <a:pt x="0" y="0"/>
                  </a:moveTo>
                  <a:lnTo>
                    <a:pt x="14478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ótulo"/>
            <p:cNvSpPr txBox="1"/>
            <p:nvPr/>
          </p:nvSpPr>
          <p:spPr>
            <a:xfrm>
              <a:off x="1196340" y="2103120"/>
              <a:ext cx="902018" cy="426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1500" b="1" lang="es-CO">
                  <a:solidFill>
                    <a:srgbClr val="FFFFFF"/>
                  </a:solidFill>
                  <a:latin typeface="Calibri"/>
                </a:rPr>
                <a:t>Bomba A</a:t>
              </a:r>
            </a:p>
          </p:txBody>
        </p:sp>
      </p:grpSp>
      <p:pic>
        <p:nvPicPr>
          <p:cNvPr id="56" name="Audio bomba B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70798" y="2255520"/>
            <a:ext cx="60960" cy="121920"/>
          </a:xfrm>
          <a:prstGeom prst="rect">
            <a:avLst/>
          </a:prstGeom>
        </p:spPr>
      </p:pic>
      <p:grpSp>
        <p:nvGrpSpPr>
          <p:cNvPr id="5" name="Botón B"/>
          <p:cNvGrpSpPr/>
          <p:nvPr/>
        </p:nvGrpSpPr>
        <p:grpSpPr>
          <a:xfrm>
            <a:off x="2357438" y="2103120"/>
            <a:ext cx="1525786" cy="426720"/>
            <a:chOff x="2357438" y="2103120"/>
            <a:chExt cx="1525786" cy="426720"/>
          </a:xfrm>
        </p:grpSpPr>
        <p:sp>
          <p:nvSpPr>
            <p:cNvPr id="57" name="Fondo"/>
            <p:cNvSpPr/>
            <p:nvPr/>
          </p:nvSpPr>
          <p:spPr>
            <a:xfrm>
              <a:off x="2357438" y="2103120"/>
              <a:ext cx="1525786" cy="42672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riángulo"/>
            <p:cNvSpPr/>
            <p:nvPr/>
          </p:nvSpPr>
          <p:spPr>
            <a:xfrm>
              <a:off x="2646998" y="2225040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80" h="182880">
                  <a:moveTo>
                    <a:pt x="0" y="0"/>
                  </a:moveTo>
                  <a:lnTo>
                    <a:pt x="14478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ótulo"/>
            <p:cNvSpPr txBox="1"/>
            <p:nvPr/>
          </p:nvSpPr>
          <p:spPr>
            <a:xfrm>
              <a:off x="2913698" y="2103120"/>
              <a:ext cx="893326" cy="426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sz="1500" b="1" lang="es-CO">
                  <a:solidFill>
                    <a:srgbClr val="FFFFFF"/>
                  </a:solidFill>
                  <a:latin typeface="Calibri"/>
                </a:rPr>
                <a:t>Bomba B</a:t>
              </a:r>
            </a:p>
          </p:txBody>
        </p:sp>
      </p:grpSp>
      <p:sp>
        <p:nvSpPr>
          <p:cNvPr id="59" name="Marca"/>
          <p:cNvSpPr/>
          <p:nvPr/>
        </p:nvSpPr>
        <p:spPr>
          <a:xfrm>
            <a:off x="640080" y="2834640"/>
            <a:ext cx="228600" cy="1127760"/>
          </a:xfrm>
          <a:prstGeom prst="roundRect">
            <a:avLst>
              <a:gd name="adj" fmla="val 33333"/>
            </a:avLst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vento"/>
          <p:cNvSpPr/>
          <p:nvPr/>
        </p:nvSpPr>
        <p:spPr>
          <a:xfrm>
            <a:off x="685800" y="2834640"/>
            <a:ext cx="10866120" cy="1127760"/>
          </a:xfrm>
          <a:prstGeom prst="roundRect">
            <a:avLst>
              <a:gd name="adj" fmla="val 6756"/>
            </a:avLst>
          </a:prstGeom>
          <a:solidFill>
            <a:srgbClr val="F4F7FC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640" y="2998470"/>
            <a:ext cx="9906000" cy="167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LO QUE SALE DE LA ESTACIÓN · BOMBA 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640" y="3257245"/>
            <a:ext cx="1051560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ourier New"/>
              </a:rPr>
              <a:t>pump-03</a:t>
            </a:r>
            <a:r>
              <a:rPr sz="1800" b="0" lang="es-CO">
                <a:solidFill>
                  <a:srgbClr val="5C7290"/>
                </a:solidFill>
                <a:latin typeface="Courier New"/>
              </a:rPr>
              <a:t> ·</a:t>
            </a:r>
            <a:r>
              <a:rPr sz="1800" b="0" lang="es-CO">
                <a:solidFill>
                  <a:srgbClr val="071329"/>
                </a:solidFill>
                <a:latin typeface="Courier New"/>
              </a:rPr>
              <a:t> v1.0.0</a:t>
            </a:r>
            <a:r>
              <a:rPr sz="1800" b="0" lang="es-CO">
                <a:solidFill>
                  <a:srgbClr val="5C7290"/>
                </a:solidFill>
                <a:latin typeface="Courier New"/>
              </a:rPr>
              <a:t> ·</a:t>
            </a:r>
            <a:r>
              <a:rPr sz="1800" b="1" lang="es-CO">
                <a:solidFill>
                  <a:srgbClr val="6D28D9"/>
                </a:solidFill>
                <a:latin typeface="Courier New"/>
              </a:rPr>
              <a:t> ALERT</a:t>
            </a:r>
            <a:r>
              <a:rPr sz="1800" b="0" lang="es-CO">
                <a:solidFill>
                  <a:srgbClr val="5C7290"/>
                </a:solidFill>
                <a:latin typeface="Courier New"/>
              </a:rPr>
              <a:t> ·</a:t>
            </a:r>
            <a:r>
              <a:rPr sz="1800" b="0" lang="es-CO">
                <a:solidFill>
                  <a:srgbClr val="071329"/>
                </a:solidFill>
                <a:latin typeface="Courier New"/>
              </a:rPr>
              <a:t> score 0.42 (threshold 0.34)</a:t>
            </a:r>
            <a:r>
              <a:rPr sz="1800" b="0" lang="es-CO">
                <a:solidFill>
                  <a:srgbClr val="5C7290"/>
                </a:solidFill>
                <a:latin typeface="Courier New"/>
              </a:rPr>
              <a:t> ·</a:t>
            </a:r>
            <a:r>
              <a:rPr sz="1800" b="0" lang="es-CO">
                <a:solidFill>
                  <a:srgbClr val="071329"/>
                </a:solidFill>
                <a:latin typeface="Courier New"/>
              </a:rPr>
              <a:t> input 0.7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640" y="3607765"/>
            <a:ext cx="10515600" cy="204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320" b="0" lang="es-CO">
                <a:solidFill>
                  <a:srgbClr val="475569"/>
                </a:solidFill>
                <a:latin typeface="Calibri"/>
              </a:rPr>
              <a:t>Unos cientos de bytes. El audio se quedó en la estación.</a:t>
            </a:r>
          </a:p>
        </p:txBody>
      </p:sp>
      <p:sp>
        <p:nvSpPr>
          <p:cNvPr id="64" name="Frase"/>
          <p:cNvSpPr txBox="1"/>
          <p:nvPr/>
        </p:nvSpPr>
        <p:spPr>
          <a:xfrm>
            <a:off x="640080" y="4522622"/>
            <a:ext cx="10911840" cy="11228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3400"/>
              </a:lnSpc>
            </a:pPr>
            <a:r>
              <a:rPr sz="3719" b="1" lang="es-CO">
                <a:solidFill>
                  <a:srgbClr val="071329"/>
                </a:solidFill>
                <a:latin typeface="Calibri"/>
              </a:rPr>
              <a:t>No necesitas </a:t>
            </a:r>
            <a:r>
              <a:rPr sz="3719" b="1" lang="es-CO">
                <a:solidFill>
                  <a:srgbClr val="6D28D9"/>
                </a:solidFill>
                <a:latin typeface="Calibri"/>
              </a:rPr>
              <a:t>ver</a:t>
            </a:r>
            <a:r>
              <a:rPr sz="3719" b="1" lang="es-CO">
                <a:solidFill>
                  <a:srgbClr val="071329"/>
                </a:solidFill>
                <a:latin typeface="Calibri"/>
              </a:rPr>
              <a:t> el modelo.</a:t>
            </a:r>
            <a:br/>
            <a:r>
              <a:rPr sz="3719" b="1" lang="es-CO">
                <a:solidFill>
                  <a:srgbClr val="071329"/>
                </a:solidFill>
                <a:latin typeface="Calibri"/>
              </a:rPr>
              <a:t>Necesitas que </a:t>
            </a:r>
            <a:r>
              <a:rPr sz="3719" b="1" lang="es-CO">
                <a:solidFill>
                  <a:srgbClr val="6D28D9"/>
                </a:solidFill>
                <a:latin typeface="Calibri"/>
              </a:rPr>
              <a:t>te cuente</a:t>
            </a:r>
            <a:r>
              <a:rPr sz="3719" b="1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Lst>
                  <p:cond evt="onEnd" delay="0">
                    <p:rtn val="all"/>
                  </p:cond>
                </p:endSyncLst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</p:bldLst>
  </p:timing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RECURSOS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Recursos </a:t>
            </a:r>
            <a:r>
              <a:rPr b="1" lang="es-CO">
                <a:solidFill>
                  <a:srgbClr val="6D28D9"/>
                </a:solidFill>
              </a:rPr>
              <a:t>y contacto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965960"/>
            <a:ext cx="312420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20" b="1" lang="es-CO">
                <a:solidFill>
                  <a:srgbClr val="071329"/>
                </a:solidFill>
                <a:latin typeface="Calibri"/>
              </a:rPr>
              <a:t>Código de la demo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1965960"/>
            <a:ext cx="475488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20" b="0" lang="es-CO">
                <a:solidFill>
                  <a:srgbClr val="1F6C93"/>
                </a:solidFill>
                <a:latin typeface="Courier New"/>
              </a:rPr>
              <a:t>github.com/alejandro945/mlops-a-ciegas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2529840"/>
            <a:ext cx="795528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40080" y="2834640"/>
            <a:ext cx="312420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20" b="1" lang="es-CO">
                <a:solidFill>
                  <a:srgbClr val="071329"/>
                </a:solidFill>
                <a:latin typeface="Calibri"/>
              </a:rPr>
              <a:t>Láminas y guion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2834640"/>
            <a:ext cx="475488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20" b="0" lang="es-CO">
                <a:solidFill>
                  <a:srgbClr val="1F6C93"/>
                </a:solidFill>
                <a:latin typeface="Courier New"/>
              </a:rPr>
              <a:t>github.com/alejandro945/mlops-a-ciegas · talk/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0080" y="3398520"/>
            <a:ext cx="795528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0080" y="3703320"/>
            <a:ext cx="312420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20" b="1" lang="es-CO">
                <a:solidFill>
                  <a:srgbClr val="071329"/>
                </a:solidFill>
                <a:latin typeface="Calibri"/>
              </a:rPr>
              <a:t>Dónde encontrarme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703320"/>
            <a:ext cx="4754880" cy="563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20" b="0" lang="es-CO">
                <a:solidFill>
                  <a:srgbClr val="1F6C93"/>
                </a:solidFill>
                <a:latin typeface="Courier New"/>
              </a:rPr>
              <a:t>linkedin.com/in/alejandro-varela-fr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4267200"/>
            <a:ext cx="795528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3" name="Marco QR"/>
          <p:cNvSpPr/>
          <p:nvPr/>
        </p:nvSpPr>
        <p:spPr>
          <a:xfrm>
            <a:off x="9052560" y="1965960"/>
            <a:ext cx="2499360" cy="2499360"/>
          </a:xfrm>
          <a:prstGeom prst="rect">
            <a:avLst/>
          </a:prstGeom>
          <a:solidFill>
            <a:srgbClr val="F4F7FC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QR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20" y="2179320"/>
            <a:ext cx="2072640" cy="2072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052560" y="4572000"/>
            <a:ext cx="249936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80" b="0" lang="es-CO">
                <a:solidFill>
                  <a:srgbClr val="475569"/>
                </a:solidFill>
                <a:latin typeface="Calibri"/>
              </a:rPr>
              <a:t>El repo, con el paso a paso de la demo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 lIns="0"/>
          <a:lstStyle/>
          <a:p>
            <a:r>
              <a:rPr lang="es-CO"/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 lIns="0"/>
          <a:lstStyle/>
          <a:p>
            <a:r>
              <a:rPr sz="2220" b="1" lang="es-CO">
                <a:solidFill>
                  <a:srgbClr val="071329"/>
                </a:solidFill>
              </a:rPr>
              <a:t>¿Preguntas?</a:t>
            </a:r>
          </a:p>
          <a:p>
            <a:r>
              <a:rPr sz="1019" lang="es-CO"/>
              <a:t> </a:t>
            </a:r>
          </a:p>
          <a:p>
            <a:r>
              <a:rPr sz="1680" lang="es-CO">
                <a:solidFill>
                  <a:srgbClr val="475569"/>
                </a:solidFill>
              </a:rPr>
              <a:t>Alejandro Varela</a:t>
            </a:r>
          </a:p>
          <a:p>
            <a:r>
              <a:rPr sz="1200" lang="es-CO">
                <a:solidFill>
                  <a:srgbClr val="1F6C93"/>
                </a:solidFill>
                <a:latin typeface="Courier New"/>
              </a:rPr>
              <a:t>linkedin.com/in/alejandro-varela-fr</a:t>
            </a:r>
          </a:p>
          <a:p>
            <a:r>
              <a:rPr sz="1200" lang="es-CO">
                <a:solidFill>
                  <a:srgbClr val="1F6C93"/>
                </a:solidFill>
                <a:latin typeface="Courier New"/>
              </a:rPr>
              <a:t>github.com/alejandro945/mlops-a-ciegas</a:t>
            </a:r>
          </a:p>
          <a:p>
            <a:r>
              <a:rPr sz="719" lang="es-CO"/>
              <a:t> </a:t>
            </a:r>
          </a:p>
          <a:p>
            <a:r>
              <a:rPr sz="1200" b="1" lang="es-CO">
                <a:solidFill>
                  <a:srgbClr val="6D28D9"/>
                </a:solidFill>
              </a:rPr>
              <a:t>#DevOpsDaysBogota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evento de la demo, </a:t>
            </a:r>
            <a:r>
              <a:rPr b="1" lang="es-CO">
                <a:solidFill>
                  <a:srgbClr val="6D28D9"/>
                </a:solidFill>
              </a:rPr>
              <a:t>campo por campo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3775862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CAMPO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68342" y="1798320"/>
            <a:ext cx="6831178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QUÉ GUARDA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20574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40080" y="2141220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device · model_version · sha256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8342" y="2141220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Quién decidió, con qué versión y la huella exacta de </a:t>
            </a:r>
            <a:r>
              <a:rPr sz="1080" b="0" lang="es-CO">
                <a:solidFill>
                  <a:srgbClr val="071329"/>
                </a:solidFill>
                <a:latin typeface="Courier New"/>
              </a:rPr>
              <a:t>model.onnx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0080" y="2426208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0080" y="2510028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seq · 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8342" y="2510028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Número de evento y el instante, en milisegundos, en que el equipo decidió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2795016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40080" y="2878836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clip · domain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8342" y="2878836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Qué audio escuchó y de qué dominio venía: </a:t>
            </a:r>
            <a:r>
              <a:rPr sz="1080" b="0" lang="es-CO">
                <a:solidFill>
                  <a:srgbClr val="071329"/>
                </a:solidFill>
                <a:latin typeface="Courier New"/>
              </a:rPr>
              <a:t>source</a:t>
            </a:r>
            <a:r>
              <a:rPr sz="1200" b="0" lang="es-CO">
                <a:solidFill>
                  <a:srgbClr val="071329"/>
                </a:solidFill>
                <a:latin typeface="Calibri"/>
              </a:rPr>
              <a:t> o </a:t>
            </a:r>
            <a:r>
              <a:rPr sz="1080" b="0" lang="es-CO">
                <a:solidFill>
                  <a:srgbClr val="071329"/>
                </a:solidFill>
                <a:latin typeface="Courier New"/>
              </a:rPr>
              <a:t>target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316382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3247644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score · threshold · alert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68342" y="3247644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El error de reconstrucción, el umbral de esa versión y la decisión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40080" y="3532632"/>
            <a:ext cx="10911840" cy="0"/>
          </a:xfrm>
          <a:prstGeom prst="line">
            <a:avLst/>
          </a:prstGeom>
          <a:ln w="15240">
            <a:solidFill>
              <a:srgbClr val="6D28D9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40080" y="3616452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input_z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8342" y="3616452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La entrada, resumida: distancia media a la huella de lo normal. El audio no sale del equipo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40080" y="390144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40080" y="3985260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latency_ms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342" y="3985260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En cuánto tiempo decidió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40080" y="4270248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40080" y="4354068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truth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68342" y="4354068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Solo en la demo, porque sabemos qué audio suena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40080" y="4639056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640080" y="4722876"/>
            <a:ext cx="377586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19" b="0" lang="es-CO">
                <a:solidFill>
                  <a:srgbClr val="1F6C93"/>
                </a:solidFill>
                <a:latin typeface="Courier New"/>
              </a:rPr>
              <a:t>arrived_ts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68342" y="4722876"/>
            <a:ext cx="683117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0" lang="es-CO">
                <a:solidFill>
                  <a:srgbClr val="071329"/>
                </a:solidFill>
                <a:latin typeface="Calibri"/>
              </a:rPr>
              <a:t>Lo suma la regla de IoT al llegar. Su diferencia con </a:t>
            </a:r>
            <a:r>
              <a:rPr sz="1080" b="0" lang="es-CO">
                <a:solidFill>
                  <a:srgbClr val="071329"/>
                </a:solidFill>
                <a:latin typeface="Courier New"/>
              </a:rPr>
              <a:t>ts</a:t>
            </a:r>
            <a:r>
              <a:rPr sz="1200" b="0" lang="es-CO">
                <a:solidFill>
                  <a:srgbClr val="071329"/>
                </a:solidFill>
                <a:latin typeface="Calibri"/>
              </a:rPr>
              <a:t> es el tiempo que la estación estuvo sin red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40080" y="500786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81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poc-devopsdays/component/inference.py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Paso 0" descr="a2_htm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12192000" cy="443484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El rollback automático, </a:t>
            </a:r>
            <a:r>
              <a:rPr b="1" lang="es-CO">
                <a:solidFill>
                  <a:srgbClr val="6D28D9"/>
                </a:solidFill>
              </a:rPr>
              <a:t>paso a paso</a:t>
            </a:r>
          </a:p>
        </p:txBody>
      </p:sp>
      <p:sp>
        <p:nvSpPr>
          <p:cNvPr id="55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poc-devopsdays/cloud · poc-devopsdays/demo/deploy.sh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¿Qué revierte Greengrass </a:t>
            </a:r>
            <a:r>
              <a:rPr b="1" lang="es-CO">
                <a:solidFill>
                  <a:srgbClr val="6D28D9"/>
                </a:solidFill>
              </a:rPr>
              <a:t>solo</a:t>
            </a:r>
            <a:r>
              <a:rPr lang="es-CO"/>
              <a:t>?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3339389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QUÉ PASA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31869" y="1798320"/>
            <a:ext cx="3121152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¿GREENGRASS VUELVE ATRÁS?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5421" y="1798320"/>
            <a:ext cx="3994099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CON QUÉ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20574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2179320"/>
            <a:ext cx="333938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El artefacto en S3 cambió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31869" y="2179320"/>
            <a:ext cx="3121152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Sí: el despliegue falla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5421" y="2179320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El digest que calcula al crear la versión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0080" y="2522525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40080" y="2644445"/>
            <a:ext cx="333938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El componente no instala o no arranca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31869" y="2644445"/>
            <a:ext cx="3121152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Sí: vuelve a la anterior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5421" y="2644445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ourier New"/>
              </a:rPr>
              <a:t>failureHandlingPolicy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 = </a:t>
            </a:r>
            <a:r>
              <a:rPr sz="1080" b="0" lang="es-CO">
                <a:solidFill>
                  <a:srgbClr val="071329"/>
                </a:solidFill>
                <a:latin typeface="Courier New"/>
              </a:rPr>
              <a:t>ROLLBACK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 (por defecto)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298765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3109570"/>
            <a:ext cx="333938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Fallan muchos equipos del ring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31869" y="3109570"/>
            <a:ext cx="3121152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Sí: cancela el despliegue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5421" y="3109570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ourier New"/>
              </a:rPr>
              <a:t>abortConfig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: FAILED · REJECTED · TIMED_OUT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0080" y="3452774"/>
            <a:ext cx="10911840" cy="0"/>
          </a:xfrm>
          <a:prstGeom prst="line">
            <a:avLst/>
          </a:prstGeom>
          <a:ln w="15240">
            <a:solidFill>
              <a:srgbClr val="6D28D9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40080" y="3574694"/>
            <a:ext cx="333938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6D28D9"/>
                </a:solidFill>
                <a:latin typeface="Calibri"/>
              </a:rPr>
              <a:t>Corre bien y decide mal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31869" y="3574694"/>
            <a:ext cx="3121152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6D28D9"/>
                </a:solidFill>
                <a:latin typeface="Calibri"/>
              </a:rPr>
              <a:t>No: para Greengrass salió bien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5421" y="3574694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Los eventos del modelo y una alarma que los mire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0080" y="3917899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Permisos </a:t>
            </a:r>
            <a:r>
              <a:rPr b="1" lang="es-CO">
                <a:solidFill>
                  <a:srgbClr val="6D28D9"/>
                </a:solidFill>
              </a:rPr>
              <a:t>y costo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2793797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ROL O POLÍTICA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6277" y="1798320"/>
            <a:ext cx="2139086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PARA QUÉ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77763" y="1798320"/>
            <a:ext cx="2793797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EN LA POC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1798320"/>
            <a:ext cx="257556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EN PRODUCCIÓN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080" y="20574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40080" y="2141220"/>
            <a:ext cx="2793797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GreengrassV2TokenExchangeRole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6277" y="2141220"/>
            <a:ext cx="2139086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El equipo baja artefactos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7763" y="2141220"/>
            <a:ext cx="2793797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60" b="0" lang="es-CO">
                <a:solidFill>
                  <a:srgbClr val="071329"/>
                </a:solidFill>
                <a:latin typeface="Courier New"/>
              </a:rPr>
              <a:t>s3:GetObject</a:t>
            </a:r>
            <a:r>
              <a:rPr sz="1080" b="0" lang="es-CO">
                <a:solidFill>
                  <a:srgbClr val="071329"/>
                </a:solidFill>
                <a:latin typeface="Calibri"/>
              </a:rPr>
              <a:t> sobre el bucket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2141220"/>
            <a:ext cx="257556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Igual, acotado por prefijo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2406091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40080" y="2489911"/>
            <a:ext cx="2793797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StationThingPolicy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86277" y="2489911"/>
            <a:ext cx="2139086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El equipo habla MQTT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77763" y="2489911"/>
            <a:ext cx="2793797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Conectar como </a:t>
            </a:r>
            <a:r>
              <a:rPr sz="960" b="0" lang="es-CO">
                <a:solidFill>
                  <a:srgbClr val="071329"/>
                </a:solidFill>
                <a:latin typeface="Courier New"/>
              </a:rPr>
              <a:t>pump-*</a:t>
            </a:r>
            <a:r>
              <a:rPr sz="1080" b="0" lang="es-CO">
                <a:solidFill>
                  <a:srgbClr val="071329"/>
                </a:solidFill>
                <a:latin typeface="Calibri"/>
              </a:rPr>
              <a:t> y publicar solo en </a:t>
            </a:r>
            <a:r>
              <a:rPr sz="960" b="0" lang="es-CO">
                <a:solidFill>
                  <a:srgbClr val="071329"/>
                </a:solidFill>
                <a:latin typeface="Courier New"/>
              </a:rPr>
              <a:t>station/events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2489911"/>
            <a:ext cx="2575560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Igual, una identidad por equipo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40080" y="293583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40080" y="3019654"/>
            <a:ext cx="2793797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Rol de la regla station_events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86277" y="3019654"/>
            <a:ext cx="2139086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La regla escribe en Logs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77763" y="3019654"/>
            <a:ext cx="2793797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60" b="0" lang="es-CO">
                <a:solidFill>
                  <a:srgbClr val="071329"/>
                </a:solidFill>
                <a:latin typeface="Courier New"/>
              </a:rPr>
              <a:t>logs:PutLogEvents</a:t>
            </a:r>
            <a:r>
              <a:rPr sz="1080" b="0" lang="es-CO">
                <a:solidFill>
                  <a:srgbClr val="071329"/>
                </a:solidFill>
                <a:latin typeface="Calibri"/>
              </a:rPr>
              <a:t> sobre </a:t>
            </a:r>
            <a:r>
              <a:rPr sz="960" b="0" lang="es-CO">
                <a:solidFill>
                  <a:srgbClr val="071329"/>
                </a:solidFill>
                <a:latin typeface="Courier New"/>
              </a:rPr>
              <a:t>/station/events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3960" y="3019654"/>
            <a:ext cx="257556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Igual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0080" y="3284525"/>
            <a:ext cx="10911840" cy="0"/>
          </a:xfrm>
          <a:prstGeom prst="line">
            <a:avLst/>
          </a:prstGeom>
          <a:ln w="15240">
            <a:solidFill>
              <a:srgbClr val="6D28D9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640080" y="3368345"/>
            <a:ext cx="2793797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Rol de la Lambda station-rollback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86277" y="3368345"/>
            <a:ext cx="2139086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La Lambda despliega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77763" y="3368345"/>
            <a:ext cx="2793797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60" b="1" lang="es-CO">
                <a:solidFill>
                  <a:srgbClr val="6D28D9"/>
                </a:solidFill>
                <a:latin typeface="Courier New"/>
              </a:rPr>
              <a:t>CreateDeployment</a:t>
            </a:r>
            <a:r>
              <a:rPr sz="1080" b="1" lang="es-CO">
                <a:solidFill>
                  <a:srgbClr val="6D28D9"/>
                </a:solidFill>
                <a:latin typeface="Calibri"/>
              </a:rPr>
              <a:t>, las acciones de IoT que ese despliegue usa y </a:t>
            </a:r>
            <a:r>
              <a:rPr sz="960" b="1" lang="es-CO">
                <a:solidFill>
                  <a:srgbClr val="6D28D9"/>
                </a:solidFill>
                <a:latin typeface="Courier New"/>
              </a:rPr>
              <a:t>ssm:GetParameter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3368345"/>
            <a:ext cx="2575560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0" lang="es-CO">
                <a:solidFill>
                  <a:srgbClr val="071329"/>
                </a:solidFill>
                <a:latin typeface="Calibri"/>
              </a:rPr>
              <a:t>Igual, acotado a los thing groups de la flota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40080" y="3814267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9" name="TextBox 78"/>
          <p:cNvSpPr txBox="1"/>
          <p:nvPr/>
        </p:nvSpPr>
        <p:spPr>
          <a:xfrm>
            <a:off x="640080" y="4042867"/>
            <a:ext cx="10911840" cy="46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Lo que cobra: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 la EC2 que hospeda las cinco bombas, los mensajes de IoT Core, los core devices de IoT Greengrass, CloudWatch y Lambda. </a:t>
            </a:r>
            <a:r>
              <a:rPr sz="1320" b="1" lang="es-CO">
                <a:solidFill>
                  <a:srgbClr val="071329"/>
                </a:solidFill>
                <a:latin typeface="Calibri"/>
              </a:rPr>
              <a:t>Para dejar de pagar: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 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infra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 → Run workflow → </a:t>
            </a:r>
            <a:r>
              <a:rPr sz="1140" b="0" lang="es-CO">
                <a:solidFill>
                  <a:srgbClr val="071329"/>
                </a:solidFill>
                <a:latin typeface="Courier New"/>
              </a:rPr>
              <a:t>destroy</a:t>
            </a:r>
            <a:r>
              <a:rPr sz="1320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  <p:sp>
        <p:nvSpPr>
          <p:cNvPr id="80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poc-devopsdays/cloud · poc-devopsdays/fleet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De la demo </a:t>
            </a:r>
            <a:r>
              <a:rPr b="1" lang="es-CO">
                <a:solidFill>
                  <a:srgbClr val="6D28D9"/>
                </a:solidFill>
              </a:rPr>
              <a:t>a producción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EN LA DEMO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0080" y="1798320"/>
            <a:ext cx="685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EN PRODUCCIÓN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20574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40080" y="2209800"/>
            <a:ext cx="320040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Un evento por clip escuchado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220980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5C7290"/>
                </a:solidFill>
                <a:latin typeface="Calibr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50080" y="2209800"/>
            <a:ext cx="710184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Un resumen por minuto + el detalle cuando algo cambia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2641092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40080" y="2793492"/>
            <a:ext cx="320040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Cola en memoria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2793492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5C7290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50080" y="2793492"/>
            <a:ext cx="710184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Cola en disco (DiskSpooler), con tope y prioridad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40080" y="322478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40080" y="3377184"/>
            <a:ext cx="320040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El nucleus en un contenedor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0" y="3377184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5C7290"/>
                </a:solidFill>
                <a:latin typeface="Calibri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0080" y="3377184"/>
            <a:ext cx="710184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Nucleus lite en el equipo pequeño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40080" y="3808476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40080" y="3960876"/>
            <a:ext cx="320040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Un ring de una estación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3960876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5C7290"/>
                </a:solidFill>
                <a:latin typeface="Calibr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50080" y="3960876"/>
            <a:ext cx="710184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Gate: canary contra ring, pasa si el modelo sigue oyendo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40080" y="4392168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40080" y="4544568"/>
            <a:ext cx="320040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071329"/>
                </a:solidFill>
                <a:latin typeface="Calibri"/>
              </a:rPr>
              <a:t>Sabemos qué audio suena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4544568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0" lang="es-CO">
                <a:solidFill>
                  <a:srgbClr val="5C7290"/>
                </a:solidFill>
                <a:latin typeface="Calibri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50080" y="4544568"/>
            <a:ext cx="7101840" cy="2788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Etiquetas tardías: la orden de mantenimiento dice cuándo fue falla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¿Qué método de drift </a:t>
            </a:r>
            <a:r>
              <a:rPr b="1" lang="es-CO">
                <a:solidFill>
                  <a:srgbClr val="6D28D9"/>
                </a:solidFill>
              </a:rPr>
              <a:t>uso</a:t>
            </a:r>
            <a:r>
              <a:rPr lang="es-CO"/>
              <a:t>?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98320"/>
            <a:ext cx="2248205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MÉTODO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0685" y="1798320"/>
            <a:ext cx="4212336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PARA QUÉ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5421" y="1798320"/>
            <a:ext cx="3994099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CUIDADO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0080" y="20574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40080" y="2179320"/>
            <a:ext cx="2248205" cy="4425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PSI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40685" y="2179320"/>
            <a:ext cx="4212336" cy="4425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Variables por rangos o categorías; muy usado en riesgo de crédito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5421" y="2179320"/>
            <a:ext cx="3994099" cy="4425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Los umbrales 0,1 y 0,25 son costumbre, no estadística; se rompe con rangos vacíos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0080" y="274381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40080" y="2865730"/>
            <a:ext cx="2248205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Kolmogorov-Smirnov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0685" y="2865730"/>
            <a:ext cx="4212336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Variables numéricas, muestras pequeñas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5421" y="2865730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Con muchos datos da falsas alarmas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320893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3330854"/>
            <a:ext cx="2248205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071329"/>
                </a:solidFill>
                <a:latin typeface="Calibri"/>
              </a:rPr>
              <a:t>Wasserstein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0685" y="3330854"/>
            <a:ext cx="4212336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Variables numéricas, muestras grandes: cuánto se movió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5421" y="3330854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Sensible a valores extremos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0080" y="3674059"/>
            <a:ext cx="10911840" cy="0"/>
          </a:xfrm>
          <a:prstGeom prst="line">
            <a:avLst/>
          </a:prstGeom>
          <a:ln w="15240">
            <a:solidFill>
              <a:srgbClr val="6D28D9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40080" y="3795979"/>
            <a:ext cx="2248205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1" lang="es-CO">
                <a:solidFill>
                  <a:srgbClr val="6D28D9"/>
                </a:solidFill>
                <a:latin typeface="Calibri"/>
              </a:rPr>
              <a:t>Jensen-Shannon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0685" y="3795979"/>
            <a:ext cx="4212336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Numéricas y categóricas; acotada entre 0 y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5421" y="3795979"/>
            <a:ext cx="3994099" cy="221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20" b="0" lang="es-CO">
                <a:solidFill>
                  <a:srgbClr val="071329"/>
                </a:solidFill>
                <a:latin typeface="Calibri"/>
              </a:rPr>
              <a:t>No distingue un drift fuerte de uno extremo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0080" y="413918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4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Documentación de Evidently (métodos de data drift) y NannyML (comparación de métodos univariados) · crítica a los umbrales del PSI: arXiv:2303.01227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Regulación: ¿quién más te va a pedir </a:t>
            </a:r>
            <a:r>
              <a:rPr b="1" lang="es-CO">
                <a:solidFill>
                  <a:srgbClr val="6D28D9"/>
                </a:solidFill>
              </a:rPr>
              <a:t>cuentas</a:t>
            </a:r>
            <a:r>
              <a:rPr lang="es-CO"/>
              <a:t>?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40080" y="1828800"/>
            <a:ext cx="3474720" cy="2819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440" y="201168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lang="es-CO">
                <a:solidFill>
                  <a:srgbClr val="6D28D9"/>
                </a:solidFill>
                <a:latin typeface="Courier New"/>
              </a:rPr>
              <a:t>UNIÓN EUROPEA · AI 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3440" y="2255520"/>
            <a:ext cx="3048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800" b="1" lang="es-CO">
                <a:solidFill>
                  <a:srgbClr val="071329"/>
                </a:solidFill>
                <a:latin typeface="Calibri"/>
              </a:rPr>
              <a:t>Registros automáticos </a:t>
            </a:r>
            <a:r>
              <a:rPr sz="1800" b="1" lang="es-CO">
                <a:solidFill>
                  <a:srgbClr val="6D28D9"/>
                </a:solidFill>
                <a:latin typeface="Calibri"/>
              </a:rPr>
              <a:t>durante toda la vida</a:t>
            </a:r>
            <a:r>
              <a:rPr sz="1800" b="1" lang="es-CO">
                <a:solidFill>
                  <a:srgbClr val="071329"/>
                </a:solidFill>
                <a:latin typeface="Calibri"/>
              </a:rPr>
              <a:t> del sistema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53440" y="292608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853440" y="299466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Art. 12 · el sistema registra eventos solo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3440" y="326136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853440" y="332994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Art. 19 · se guardan al menos seis meses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3440" y="359664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853440" y="3665220"/>
            <a:ext cx="3048000" cy="39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Art. 72 · monitoreo después de salir al mercado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3440" y="431292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60" b="0" lang="es-CO">
                <a:solidFill>
                  <a:srgbClr val="5C7290"/>
                </a:solidFill>
                <a:latin typeface="Calibri"/>
              </a:rPr>
              <a:t>Alto riesgo: dic. 2027 (Anexo III) · ago. 2028 (Anexo I)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1828800"/>
            <a:ext cx="3474720" cy="2819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201168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lang="es-CO">
                <a:solidFill>
                  <a:srgbClr val="6D28D9"/>
                </a:solidFill>
                <a:latin typeface="Courier New"/>
              </a:rPr>
              <a:t>NIST · AI RMF 1.0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2255520"/>
            <a:ext cx="3048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800" b="1" lang="es-CO">
                <a:solidFill>
                  <a:srgbClr val="071329"/>
                </a:solidFill>
                <a:latin typeface="Calibri"/>
              </a:rPr>
              <a:t>Gobernar, mapear, </a:t>
            </a:r>
            <a:r>
              <a:rPr sz="1800" b="1" lang="es-CO">
                <a:solidFill>
                  <a:srgbClr val="6D28D9"/>
                </a:solidFill>
                <a:latin typeface="Calibri"/>
              </a:rPr>
              <a:t>medir</a:t>
            </a:r>
            <a:r>
              <a:rPr sz="1800" b="1" lang="es-CO">
                <a:solidFill>
                  <a:srgbClr val="071329"/>
                </a:solidFill>
                <a:latin typeface="Calibri"/>
              </a:rPr>
              <a:t> y gestionar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72000" y="292608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4572000" y="299466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Voluntario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72000" y="326136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4572000" y="332994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El idioma común del riesgo en 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431292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60" b="0" lang="es-CO">
                <a:solidFill>
                  <a:srgbClr val="5C7290"/>
                </a:solidFill>
                <a:latin typeface="Calibri"/>
              </a:rPr>
              <a:t>NIST AI 100-1 · enero 2023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1828800"/>
            <a:ext cx="3474720" cy="28194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0560" y="201168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lang="es-CO">
                <a:solidFill>
                  <a:srgbClr val="6D28D9"/>
                </a:solidFill>
                <a:latin typeface="Courier New"/>
              </a:rPr>
              <a:t>ISO/IEC 42001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90560" y="2255520"/>
            <a:ext cx="30480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800" b="1" lang="es-CO">
                <a:solidFill>
                  <a:srgbClr val="071329"/>
                </a:solidFill>
                <a:latin typeface="Calibri"/>
              </a:rPr>
              <a:t>Un sistema de gestión de IA, </a:t>
            </a:r>
            <a:r>
              <a:rPr sz="1800" b="1" lang="es-CO">
                <a:solidFill>
                  <a:srgbClr val="6D28D9"/>
                </a:solidFill>
                <a:latin typeface="Calibri"/>
              </a:rPr>
              <a:t>certificable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290560" y="292608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8290560" y="299466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La lógica de ISO 27001, aplicada a la IA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290560" y="3261360"/>
            <a:ext cx="304800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8290560" y="3329940"/>
            <a:ext cx="30480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60" b="0" lang="es-CO">
                <a:solidFill>
                  <a:srgbClr val="475569"/>
                </a:solidFill>
                <a:latin typeface="Calibri"/>
              </a:rPr>
              <a:t>Auditoría externa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90560" y="4312920"/>
            <a:ext cx="30480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60" b="0" lang="es-CO">
                <a:solidFill>
                  <a:srgbClr val="5C7290"/>
                </a:solidFill>
                <a:latin typeface="Calibri"/>
              </a:rPr>
              <a:t>ISO/IEC 42001:2023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953000"/>
            <a:ext cx="1091184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39" b="0" lang="es-CO">
                <a:solidFill>
                  <a:srgbClr val="071329"/>
                </a:solidFill>
                <a:latin typeface="Calibri"/>
              </a:rPr>
              <a:t>Piden lo mismo que necesitas para operar: </a:t>
            </a:r>
            <a:r>
              <a:rPr sz="2039" b="1" lang="es-CO">
                <a:solidFill>
                  <a:srgbClr val="6D28D9"/>
                </a:solidFill>
                <a:latin typeface="Calibri"/>
              </a:rPr>
              <a:t>qué corre, qué decidió y cómo volver</a:t>
            </a:r>
            <a:r>
              <a:rPr sz="2039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  <p:sp>
        <p:nvSpPr>
          <p:cNvPr id="81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Reglamento (UE) 2024/1689, arts. 12, 19 y 72, con las fechas del Reglamento (UE) 2026/1744 · NIST AI 100-1 · ISO/IEC 42001:2023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 animBg="1"/>
      <p:bldP spid="68" grpId="0"/>
      <p:bldP spid="69" grpId="0" animBg="1"/>
      <p:bldP spid="70" grpId="0"/>
      <p:bldP spid="71" grpId="0"/>
      <p:bldP spid="72" grpId="0"/>
      <p:bldP spid="73" grpId="0"/>
      <p:bldP spid="74" grpId="0"/>
      <p:bldP spid="75" grpId="0" animBg="1"/>
      <p:bldP spid="76" grpId="0"/>
      <p:bldP spid="77" grpId="0" animBg="1"/>
      <p:bldP spid="78" grpId="0"/>
      <p:bldP spid="79" grpId="0"/>
      <p:bldP spid="80" grpId="0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Fuentes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40080" y="1722120"/>
            <a:ext cx="464881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QUÉ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1290" y="1722120"/>
            <a:ext cx="595823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1" spc="90" lang="es-CO">
                <a:solidFill>
                  <a:srgbClr val="5C7290"/>
                </a:solidFill>
                <a:latin typeface="Calibri"/>
              </a:rPr>
              <a:t>DÓNDE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198120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40080" y="2065020"/>
            <a:ext cx="4648810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MIMII DUE · Tanabe et al., Hitachi (2021) · bombas, </a:t>
            </a:r>
            <a:r>
              <a:rPr sz="960" b="1" lang="es-CO">
                <a:solidFill>
                  <a:srgbClr val="071329"/>
                </a:solidFill>
                <a:latin typeface="Courier New"/>
              </a:rPr>
              <a:t>dev_data_pump</a:t>
            </a:r>
            <a:r>
              <a:rPr sz="1080" b="1" lang="es-CO">
                <a:solidFill>
                  <a:srgbClr val="071329"/>
                </a:solidFill>
                <a:latin typeface="Calibri"/>
              </a:rPr>
              <a:t> · CC BY-NC-SA 4.0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1290" y="2065020"/>
            <a:ext cx="5958230" cy="3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arxiv.org/abs/2105.02702 · doi.org/10.5281/zenodo.4740355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0080" y="2510942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0080" y="2594762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Gartner · PC con IA (28 ago 2025)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1290" y="2594762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gartner.com/en/newsroom · 2025-08-28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0080" y="2859634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40080" y="2943454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Métodos de drift · Evidently · NannyML · crítica al PSI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1290" y="2943454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docs.evidentlyai.com · nannyml.readthedocs.io · arxiv.org/abs/2303.01227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0080" y="3208325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40080" y="3292145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AI Act (UE 2024/1689) · Digital Omnibus (UE 2026/1744)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41290" y="3292145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eur-lex.europa.eu · artificialintelligenceact.eu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40080" y="3557016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40080" y="3640836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NIST AI RMF · ISO/IEC 42001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41290" y="3640836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nist.gov/itl/ai-risk-management-framework · iso.org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40080" y="3905707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40080" y="3989527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Face ID: los datos no salen del equipo · Secure Enclave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41290" y="3989527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support.apple.com/102381 · Apple Platform Security Guide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40080" y="4254398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40080" y="4338218"/>
            <a:ext cx="464881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080" b="1" lang="es-CO">
                <a:solidFill>
                  <a:srgbClr val="071329"/>
                </a:solidFill>
                <a:latin typeface="Calibri"/>
              </a:rPr>
              <a:t>Greengrass con HSM/TPM (PKCS#11) · OpenSSF Model Signing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1290" y="4338218"/>
            <a:ext cx="5958230" cy="1810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900" b="0" lang="es-CO">
                <a:solidFill>
                  <a:srgbClr val="1F6C93"/>
                </a:solidFill>
                <a:latin typeface="Courier New"/>
              </a:rPr>
              <a:t>docs.aws.amazon.com/greengrass/v2 · github.com/sigstore/model-transparency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40080" y="4603090"/>
            <a:ext cx="10911840" cy="0"/>
          </a:xfrm>
          <a:prstGeom prst="line">
            <a:avLst/>
          </a:prstGeom>
          <a:ln w="11430">
            <a:solidFill>
              <a:srgbClr val="D5DEEA"/>
            </a:solidFill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54" name="Capa base" descr="iso_senales_00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" y="1882140"/>
            <a:ext cx="10401300" cy="3680460"/>
          </a:xfrm>
          <a:prstGeom prst="rect">
            <a:avLst/>
          </a:prstGeom>
        </p:spPr>
      </p:pic>
      <p:sp>
        <p:nvSpPr>
          <p:cNvPr id="55" name="Subtítulo"/>
          <p:cNvSpPr txBox="1"/>
          <p:nvPr/>
        </p:nvSpPr>
        <p:spPr>
          <a:xfrm>
            <a:off x="640080" y="1569720"/>
            <a:ext cx="10911840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439" b="0" lang="es-CO">
                <a:solidFill>
                  <a:srgbClr val="475569"/>
                </a:solidFill>
                <a:latin typeface="Calibri"/>
              </a:rPr>
              <a:t>Las de un servicio ya las conocemos: latencia · tráfico · errores · saturación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Las golden signals </a:t>
            </a:r>
            <a:r>
              <a:rPr b="1" lang="es-CO">
                <a:solidFill>
                  <a:srgbClr val="6D28D9"/>
                </a:solidFill>
              </a:rPr>
              <a:t>de un modelo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Audio crudo contra </a:t>
            </a:r>
            <a:r>
              <a:rPr b="1" lang="es-CO">
                <a:solidFill>
                  <a:srgbClr val="6D28D9"/>
                </a:solidFill>
              </a:rPr>
              <a:t>eventos</a:t>
            </a:r>
            <a:r>
              <a:rPr lang="es-CO"/>
              <a:t>, con mil bombas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cxnSp>
        <p:nvCxnSpPr>
          <p:cNvPr id="54" name="Connector 53"/>
          <p:cNvCxnSpPr/>
          <p:nvPr/>
        </p:nvCxnSpPr>
        <p:spPr>
          <a:xfrm>
            <a:off x="640080" y="2011680"/>
            <a:ext cx="3434080" cy="0"/>
          </a:xfrm>
          <a:prstGeom prst="line">
            <a:avLst/>
          </a:prstGeom>
          <a:ln w="30480">
            <a:solidFill>
              <a:srgbClr val="071329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40080" y="2194560"/>
            <a:ext cx="3434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140" b="1" spc="46" lang="es-CO">
                <a:solidFill>
                  <a:srgbClr val="2448FF"/>
                </a:solidFill>
                <a:latin typeface="Courier New"/>
              </a:rPr>
              <a:t>AUDIO CRUDO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2416912"/>
            <a:ext cx="3738880" cy="10411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6720" b="1" spc="-132" lang="es-CO">
                <a:solidFill>
                  <a:srgbClr val="071329"/>
                </a:solidFill>
                <a:latin typeface="Calibri"/>
              </a:rPr>
              <a:t>2,76 TB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3470910"/>
            <a:ext cx="3434080" cy="2602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80" b="0" lang="es-CO">
                <a:solidFill>
                  <a:srgbClr val="475569"/>
                </a:solidFill>
                <a:latin typeface="Calibri"/>
              </a:rPr>
              <a:t>al día, con mil bombas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378960" y="2011680"/>
            <a:ext cx="3434080" cy="0"/>
          </a:xfrm>
          <a:prstGeom prst="line">
            <a:avLst/>
          </a:prstGeom>
          <a:ln w="30480">
            <a:solidFill>
              <a:srgbClr val="071329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4378960" y="2194560"/>
            <a:ext cx="3434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140" b="1" spc="46" lang="es-CO">
                <a:solidFill>
                  <a:srgbClr val="2448FF"/>
                </a:solidFill>
                <a:latin typeface="Courier New"/>
              </a:rPr>
              <a:t>UN EVENTO CADA 10 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8960" y="2416912"/>
            <a:ext cx="3738880" cy="10411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6720" b="1" spc="-132" lang="es-CO">
                <a:solidFill>
                  <a:srgbClr val="071329"/>
                </a:solidFill>
                <a:latin typeface="Calibri"/>
              </a:rPr>
              <a:t>8,64 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8960" y="3470910"/>
            <a:ext cx="3434080" cy="2602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80" b="0" lang="es-CO">
                <a:solidFill>
                  <a:srgbClr val="475569"/>
                </a:solidFill>
                <a:latin typeface="Calibri"/>
              </a:rPr>
              <a:t>mensajes al día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117840" y="2011680"/>
            <a:ext cx="3434080" cy="0"/>
          </a:xfrm>
          <a:prstGeom prst="line">
            <a:avLst/>
          </a:prstGeom>
          <a:ln w="30480">
            <a:solidFill>
              <a:srgbClr val="6D28D9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8117840" y="2194560"/>
            <a:ext cx="3434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140" b="1" spc="46" lang="es-CO">
                <a:solidFill>
                  <a:srgbClr val="2448FF"/>
                </a:solidFill>
                <a:latin typeface="Courier New"/>
              </a:rPr>
              <a:t>UN RESUMEN POR MINUTO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17840" y="2416912"/>
            <a:ext cx="3738880" cy="10411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6720" b="1" spc="-132" lang="es-CO">
                <a:solidFill>
                  <a:srgbClr val="6D28D9"/>
                </a:solidFill>
                <a:latin typeface="Calibri"/>
              </a:rPr>
              <a:t>1,44 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7840" y="3470910"/>
            <a:ext cx="3434080" cy="2602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80" b="0" lang="es-CO">
                <a:solidFill>
                  <a:srgbClr val="475569"/>
                </a:solidFill>
                <a:latin typeface="Calibri"/>
              </a:rPr>
              <a:t>mensajes al día</a:t>
            </a:r>
          </a:p>
        </p:txBody>
      </p:sp>
      <p:sp>
        <p:nvSpPr>
          <p:cNvPr id="66" name="Remate"/>
          <p:cNvSpPr txBox="1"/>
          <p:nvPr/>
        </p:nvSpPr>
        <p:spPr>
          <a:xfrm>
            <a:off x="640080" y="4480560"/>
            <a:ext cx="10911840" cy="3465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39" b="0" lang="es-CO">
                <a:solidFill>
                  <a:srgbClr val="071329"/>
                </a:solidFill>
                <a:latin typeface="Calibri"/>
              </a:rPr>
              <a:t>El audio se queda en la estación. Sale un evento de </a:t>
            </a:r>
            <a:r>
              <a:rPr sz="2039" b="1" lang="es-CO">
                <a:solidFill>
                  <a:srgbClr val="6D28D9"/>
                </a:solidFill>
                <a:latin typeface="Calibri"/>
              </a:rPr>
              <a:t>unos cientos de bytes</a:t>
            </a:r>
            <a:r>
              <a:rPr sz="2039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  <p:sp>
        <p:nvSpPr>
          <p:cNvPr id="67" name="Fuente"/>
          <p:cNvSpPr txBox="1"/>
          <p:nvPr/>
        </p:nvSpPr>
        <p:spPr>
          <a:xfrm>
            <a:off x="640080" y="5654040"/>
            <a:ext cx="1091184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5C7290"/>
                </a:solidFill>
                <a:latin typeface="Calibri"/>
              </a:rPr>
              <a:t>Cálculo: 16 000 muestras/s × 2 B = 32 000 B/s ≈ 115 MB/h ≈ 2,76 GB/día por bomba · eventos: 86 400 s ÷ 10 s = 8 640/día por bomba · resumen: 1 440 min/día · todo × 1 000 bombas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/>
      <p:bldP spid="60" grpId="0"/>
      <p:bldP spid="61" grpId="0"/>
      <p:bldP spid="62" grpId="0" animBg="1"/>
      <p:bldP spid="63" grpId="0"/>
      <p:bldP spid="64" grpId="0"/>
      <p:bldP spid="65" grpId="0"/>
      <p:bldP spid="66" grpId="0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es-CO"/>
              <a:t>ANEXO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es-CO"/>
              <a:t>Antes de proteger el modelo, </a:t>
            </a:r>
            <a:r>
              <a:rPr b="1" lang="es-CO">
                <a:solidFill>
                  <a:srgbClr val="6D28D9"/>
                </a:solidFill>
              </a:rPr>
              <a:t>protege el equipo</a:t>
            </a: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640080" y="1798320"/>
            <a:ext cx="25679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200" y="1996440"/>
            <a:ext cx="21717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2438400"/>
            <a:ext cx="217170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Arranque seguro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200" y="2834640"/>
            <a:ext cx="217170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320" b="0" lang="es-CO">
                <a:solidFill>
                  <a:srgbClr val="475569"/>
                </a:solidFill>
                <a:latin typeface="Calibri"/>
              </a:rPr>
              <a:t>Solo arranca software firmado.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3749040"/>
            <a:ext cx="21717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1F6C93"/>
                </a:solidFill>
                <a:latin typeface="Courier New"/>
              </a:rPr>
              <a:t>secure boot · UEFI, HAB en ARM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21380" y="1798320"/>
            <a:ext cx="25679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19500" y="1996440"/>
            <a:ext cx="21717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9500" y="2438400"/>
            <a:ext cx="217170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Llave protegida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19500" y="2834640"/>
            <a:ext cx="217170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320" b="0" lang="es-CO">
                <a:solidFill>
                  <a:srgbClr val="475569"/>
                </a:solidFill>
                <a:latin typeface="Calibri"/>
              </a:rPr>
              <a:t>La identidad del equipo no se copia de la tarjeta SD.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9500" y="3749040"/>
            <a:ext cx="21717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1F6C93"/>
                </a:solidFill>
                <a:latin typeface="Courier New"/>
              </a:rPr>
              <a:t>TPM · PKCS#11 en Greengrass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02680" y="1798320"/>
            <a:ext cx="25679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D5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1996440"/>
            <a:ext cx="21717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400" b="1" lang="es-CO">
                <a:solidFill>
                  <a:srgbClr val="2448FF"/>
                </a:solidFill>
                <a:latin typeface="Courier New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2438400"/>
            <a:ext cx="217170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Updates verificados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2834640"/>
            <a:ext cx="217170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320" b="0" lang="es-CO">
                <a:solidFill>
                  <a:srgbClr val="475569"/>
                </a:solidFill>
                <a:latin typeface="Calibri"/>
              </a:rPr>
              <a:t>Solo instala lo que trae la huella correcta.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3749040"/>
            <a:ext cx="21717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1F6C93"/>
                </a:solidFill>
                <a:latin typeface="Courier New"/>
              </a:rPr>
              <a:t>digest · mTLS · firma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83980" y="1798320"/>
            <a:ext cx="25679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6D28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2100" y="1996440"/>
            <a:ext cx="21717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400" b="1" lang="es-CO">
                <a:solidFill>
                  <a:srgbClr val="6D28D9"/>
                </a:solidFill>
                <a:latin typeface="Courier New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2100" y="2438400"/>
            <a:ext cx="217170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lang="es-CO">
                <a:solidFill>
                  <a:srgbClr val="071329"/>
                </a:solidFill>
                <a:latin typeface="Calibri"/>
              </a:rPr>
              <a:t>Datos privados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82100" y="2834640"/>
            <a:ext cx="2171700" cy="472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800"/>
              </a:lnSpc>
            </a:pPr>
            <a:r>
              <a:rPr sz="1320" b="0" lang="es-CO">
                <a:solidFill>
                  <a:srgbClr val="475569"/>
                </a:solidFill>
                <a:latin typeface="Calibri"/>
              </a:rPr>
              <a:t>El audio no sale y se cifra en el disco.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2100" y="3749040"/>
            <a:ext cx="21717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00" b="0" lang="es-CO">
                <a:solidFill>
                  <a:srgbClr val="1F6C93"/>
                </a:solidFill>
                <a:latin typeface="Courier New"/>
              </a:rPr>
              <a:t>solo salen eventos</a:t>
            </a:r>
          </a:p>
        </p:txBody>
      </p:sp>
      <p:sp>
        <p:nvSpPr>
          <p:cNvPr id="74" name="Remate"/>
          <p:cNvSpPr txBox="1"/>
          <p:nvPr/>
        </p:nvSpPr>
        <p:spPr>
          <a:xfrm>
            <a:off x="640080" y="4556760"/>
            <a:ext cx="10911840" cy="3465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39" b="0" lang="es-CO">
                <a:solidFill>
                  <a:srgbClr val="071329"/>
                </a:solidFill>
                <a:latin typeface="Calibri"/>
              </a:rPr>
              <a:t>Sin esto, nadie necesita engañar a tu modelo: </a:t>
            </a:r>
            <a:r>
              <a:rPr sz="2039" b="1" lang="es-CO">
                <a:solidFill>
                  <a:srgbClr val="6D28D9"/>
                </a:solidFill>
                <a:latin typeface="Calibri"/>
              </a:rPr>
              <a:t>le basta con reemplazarlo</a:t>
            </a:r>
            <a:r>
              <a:rPr sz="2039" b="0" lang="es-CO">
                <a:solidFill>
                  <a:srgbClr val="07132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theme/theme1.xml><?xml version="1.0" encoding="utf-8"?>
<a:theme xmlns:a="http://schemas.openxmlformats.org/drawingml/2006/main" name="DevOpsDays Bogota 2026">
  <a:themeElements>
    <a:clrScheme name="DevOpsDays Bogota 2026">
      <a:dk1>
        <a:srgbClr val="071329"/>
      </a:dk1>
      <a:lt1>
        <a:srgbClr val="FFFFFF"/>
      </a:lt1>
      <a:dk2>
        <a:srgbClr val="475569"/>
      </a:dk2>
      <a:lt2>
        <a:srgbClr val="F4F7FC"/>
      </a:lt2>
      <a:accent1>
        <a:srgbClr val="6D28D9"/>
      </a:accent1>
      <a:accent2>
        <a:srgbClr val="F000A8"/>
      </a:accent2>
      <a:accent3>
        <a:srgbClr val="00BCEB"/>
      </a:accent3>
      <a:accent4>
        <a:srgbClr val="2448FF"/>
      </a:accent4>
      <a:accent5>
        <a:srgbClr val="6D28D9"/>
      </a:accent5>
      <a:accent6>
        <a:srgbClr val="009CB0"/>
      </a:accent6>
      <a:hlink>
        <a:srgbClr val="1F6C93"/>
      </a:hlink>
      <a:folHlink>
        <a:srgbClr val="6D28D9"/>
      </a:folHlink>
    </a:clrScheme>
    <a:fontScheme name="DevOpsDays Bogot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DevOpsDays Bogota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a ciegas · DevOpsDays Bogotá 2026</dc:title>
  <dc:subject>Plantilla maestra para speakers</dc:subject>
  <dc:creator>Alejandro Varela</dc:creator>
  <cp:lastModifiedBy>DevOpsDays Bogota 2026</cp:lastModifiedBy>
  <cp:revision>1</cp:revision>
  <dcterms:created xsi:type="dcterms:W3CDTF">2026-10-07T02:37:51Z</dcterms:created>
  <dcterms:modified xsi:type="dcterms:W3CDTF">2026-10-07T02:37:51Z</dcterms:modified>
</cp:coreProperties>
</file>