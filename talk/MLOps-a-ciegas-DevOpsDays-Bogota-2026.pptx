
<file path=[Content_Types].xml><?xml version="1.0" encoding="utf-8"?>
<Types xmlns="http://schemas.openxmlformats.org/package/2006/content-types">
  <Default Extension="gif" ContentType="image/gif"/>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02047C3-6C71-415B-B971-E1F06B2A1115}">
          <p14:sldIdLst>
            <p14:sldId id="256"/>
            <p14:sldId id="257"/>
            <p14:sldId id="258"/>
            <p14:sldId id="259"/>
            <p14:sldId id="260"/>
            <p14:sldId id="261"/>
          </p14:sldIdLst>
        </p14:section>
        <p14:section name="01 · El problema" id="{AB4487D2-F4F3-4E20-9E24-84E6A90CD187}">
          <p14:sldIdLst>
            <p14:sldId id="262"/>
            <p14:sldId id="263"/>
            <p14:sldId id="264"/>
            <p14:sldId id="265"/>
            <p14:sldId id="266"/>
          </p14:sldIdLst>
        </p14:section>
        <p14:section name="02 · El patrón" id="{B8DCD5C0-588F-46C0-AE69-D4F591CE4683}">
          <p14:sldIdLst>
            <p14:sldId id="267"/>
            <p14:sldId id="268"/>
            <p14:sldId id="269"/>
            <p14:sldId id="270"/>
          </p14:sldIdLst>
        </p14:section>
        <p14:section name="03 · Los seis pasos" id="{1BA6DF17-A746-4A5F-83F5-B2FF60FC6567}">
          <p14:sldIdLst>
            <p14:sldId id="271"/>
            <p14:sldId id="272"/>
            <p14:sldId id="273"/>
            <p14:sldId id="274"/>
            <p14:sldId id="275"/>
            <p14:sldId id="276"/>
            <p14:sldId id="277"/>
            <p14:sldId id="278"/>
          </p14:sldIdLst>
        </p14:section>
        <p14:section name="04 · Demostración" id="{614E45B0-0755-4F01-BB97-4517FAB6DA5B}">
          <p14:sldIdLst>
            <p14:sldId id="279"/>
            <p14:sldId id="280"/>
            <p14:sldId id="281"/>
          </p14:sldIdLst>
        </p14:section>
        <p14:section name="Cierre" id="{98E63BBA-73B0-4952-807C-9C8B614DFFD3}">
          <p14:sldIdLst>
            <p14:sldId id="282"/>
            <p14:sldId id="283"/>
            <p14:sldId id="284"/>
            <p14:sldId id="285"/>
          </p14:sldIdLst>
        </p14:section>
        <p14:section name="Anexos" id="{6FC28760-EA14-4545-B7C1-306C7BDE02DB}">
          <p14:sldIdLst>
            <p14:sldId id="286"/>
            <p14:sldId id="287"/>
            <p14:sldId id="288"/>
            <p14:sldId id="289"/>
            <p14:sldId id="290"/>
            <p14:sldId id="291"/>
            <p14:sldId id="292"/>
            <p14:sldId id="293"/>
            <p14:sldId id="294"/>
            <p14:sldId id="295"/>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 MLOPS A CIEGAS</a:t>
            </a:r>
          </a:p>
          <a:p/>
          <a:p>
            <a:r>
              <a:t>0:10 · sin clics</a:t>
            </a:r>
          </a:p>
          <a:p/>
          <a:p>
            <a:r>
              <a:t>*En pantalla mientras te presentan. Cuando te den la palabra, no saludes todavía: pasa a la lámina 2 y pon la bomba A. Antes de subir, prueba que el audio del deck sale por los parlantes de la sala.*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 ¿ESTA BOMBA ESTÁ FALLANDO?</a:t>
            </a:r>
          </a:p>
          <a:p/>
          <a:p>
            <a:r>
              <a:t>1:15 · 1 clic · *lo primero que oye la sala es una bomba*</a:t>
            </a:r>
          </a:p>
          <a:p/>
          <a:p>
            <a:r>
              <a:t>'Les voy a poner dos audios. Esta es la bomba A.' *(▶ A, cinco segundos, la detienes)*</a:t>
            </a:r>
          </a:p>
          <a:p/>
          <a:p>
            <a:r>
              <a:t>'Y esta es la bomba B.' *(▶ B, cinco segundos)*</a:t>
            </a:r>
          </a:p>
          <a:p/>
          <a:p>
            <a:r>
              <a:t>'Pregunta: ¿alguna de las dos está fallando?'</a:t>
            </a:r>
          </a:p>
          <a:p/>
          <a:p>
            <a:r>
              <a:t>▶ CLIC 'Levanten la mano. ¿La A?' *(cuenta en voz alta: «unos cinco…»)* '¿La B?' *(cuenta)* '¿Las dos?' *(cuenta)* 'Interesante. No les voy a decir todavía; eso lo vemos en vivo.'</a:t>
            </a:r>
          </a:p>
          <a:p/>
          <a:p>
            <a:r>
              <a:t>'Los sonidos son reales, los grabó Hitachi en una planta. Lo que sí me inventé es la empresa: un acueducto con estaciones de bombeo en veredas, donde la señal va y viene y no hay nadie cerca. En cada estación hay un equipito que escucha las bombas, y un modelo que avisa cuando una empieza a sonar raro.'</a:t>
            </a:r>
          </a:p>
          <a:p/>
          <a:p>
            <a:r>
              <a:t>'Lo que ustedes acaban de hacer es justo lo que hace ese modelo: oír y decidir. La diferencia es que ustedes estaban aquí. Desde la nube, nadie oyó nada.' *(pausa)*</a:t>
            </a:r>
          </a:p>
          <a:p/>
          <a:p>
            <a:r>
              <a:t>'Por eso le puse a esta charla «MLOps a ciegas». Hoy les quiero mostrar cómo se maneja un modelo que corre allá, donde uno no lo ve: cómo le llega una versión nueva, cómo se devuelve si sale mala y cómo nos cuenta lo que decide. Sin que el audio salga nunca de la estación.'</a:t>
            </a:r>
          </a:p>
          <a:p/>
          <a:p>
            <a:r>
              <a:t>*En PowerPoint, un clic en «Escuchar» (o en la onda) reproduce el audio; al cambiar de lámina se detiene. Si los botones dicen «audio pendiente», faltaban talk/assets/audio/pump-a.wav y pump-b.wav cuando se armó el PowerPoint: ponlos y vuelve a generarlo. La atribución de MIMII DUE está al pie.*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 LA IA YA CORRE EN EL DISPOSITIVO</a:t>
            </a:r>
          </a:p>
          <a:p/>
          <a:p>
            <a:r>
              <a:t>0:35 · 2 clics</a:t>
            </a:r>
          </a:p>
          <a:p/>
          <a:p>
            <a:r>
              <a:t>'Y ustedes dirán: bueno, ¿y a mí qué me importa un modelo en una bomba? Les cuento por qué: los modelos se están bajando de la nube a los dispositivos. Un ejemplo con números de Gartner, los PC.'</a:t>
            </a:r>
          </a:p>
          <a:p/>
          <a:p>
            <a:r>
              <a:t>'En 2024, de cada cien PC nuevos, dieciséis traían un chip para correr IA.'</a:t>
            </a:r>
          </a:p>
          <a:p/>
          <a:p>
            <a:r>
              <a:t>▶ CLIC 'En 2025, treinta y uno.'</a:t>
            </a:r>
          </a:p>
          <a:p/>
          <a:p>
            <a:r>
              <a:t>▶ CLIC 'Y para este año proyectaban cincuenta y cinco. Más de la mitad. Y no son solo los PC: el celular de ustedes, los carros, las cámaras, los equipos de una planta… todos ya traen hardware para correr modelos ahí mismo.'</a:t>
            </a:r>
          </a:p>
          <a:p/>
          <a:p>
            <a:r>
              <a:t>*Fuente: Gartner, 28 de agosto de 2025, «AI PCs»: 15,6 % (2024), 31 % (2025), 54,7 % (2026, proyección). La cifra es solo de PC; lo demás dilo sin números. Si ya salió la cifra real de 2026, úsala.*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 POR QUÉ EL MODELO BAJA AL DISPOSITIVO</a:t>
            </a:r>
          </a:p>
          <a:p/>
          <a:p>
            <a:r>
              <a:t>0:50 · 2 clics · *deja que se rían antes de seguir. En cada meme, a la izquierda el modelo corre en la nube y a la derecha en el equipo*</a:t>
            </a:r>
          </a:p>
          <a:p/>
          <a:p>
            <a:r>
              <a:t>'¿Y por qué se baja? Se los explico como explicamos todo los ingenieros: con memes.'</a:t>
            </a:r>
          </a:p>
          <a:p/>
          <a:p>
            <a:r>
              <a:t>*Meme 1.* 'El carro autónomo, frente a un cono: 'dame un segundo, que le pregunto al modelo en la nube'.' *(pausa, risas)* 'Cuando hay que frenar ya, la ida y vuelta no alcanza.'</a:t>
            </a:r>
          </a:p>
          <a:p/>
          <a:p>
            <a:r>
              <a:t>▶ CLIC *Meme 2.* 'El técnico a las tres de la mañana en la planta: '¿cómo cambio este rodamiento?'. Y el asistente, que tiene el modelo en la nube: 'Sin conexión, intente más tarde'.' *(risas)* 'Con el modelo en el equipo, le responde igual. Y en una vereda, sin señal, pasa exactamente lo mismo.'</a:t>
            </a:r>
          </a:p>
          <a:p/>
          <a:p>
            <a:r>
              <a:t>▶ CLIC *Meme 3.* 'Y mi favorito: el reloj mandándole tus latidos, cada segundo, a un modelo en la nube. Si el modelo corre en el reloj, lo único que sale es la alerta.'</a:t>
            </a:r>
          </a:p>
          <a:p/>
          <a:p>
            <a:r>
              <a:t>'Ahora piensen en la bomba. Un micrófono son ciento quince megas por hora. Por bomba. Por la red de una vereda. No cabe, y además es el sonido de una instalación de la empresa: no tiene por qué salir de ahí.'</a:t>
            </a:r>
          </a:p>
          <a:p/>
          <a:p>
            <a:r>
              <a:t>*Cuenta: 16 000 muestras por segundo × 2 bytes ≈ 115 MB por hora.*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 SOBRE MÍ</a:t>
            </a:r>
          </a:p>
          <a:p/>
          <a:p>
            <a:r>
              <a:t>0:35 · sin clics</a:t>
            </a:r>
          </a:p>
          <a:p/>
          <a:p>
            <a:r>
              <a:t>'Ahora sí, mucho gusto. Soy Alejandro Varela, Senior Cloud Engineer en EPAM. Mi trabajo es justamente este: llevar modelos de IA de la nube a equipos en campo.'</a:t>
            </a:r>
          </a:p>
          <a:p/>
          <a:p>
            <a:r>
              <a:t>'Tengo unas certificaciones por ahí, pero les confieso algo: lo que van a ver hoy no salió de un examen. Lo monté, lo rompí y lo arreglé esta misma semana.'</a:t>
            </a:r>
          </a:p>
          <a:p/>
          <a:p>
            <a:r>
              <a:t>'Y fuera del trabajo me encuentran con una raqueta en la mano, la que sea: tenis de mesa, tenis, pádel. O aprendiendo algo nuevo, o de viaje.'</a:t>
            </a:r>
          </a:p>
          <a:p/>
          <a:p>
            <a:r>
              <a:t>*La foto sale de talk/assets/photo.jpeg (recortada en cuadrado). El LinkedIn sale de la variable LINKEDIN al generar el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 CONTENIDO DE LA SESIÓN</a:t>
            </a:r>
          </a:p>
          <a:p/>
          <a:p>
            <a:r>
              <a:t>0:15 · sin clics</a:t>
            </a:r>
          </a:p>
          <a:p/>
          <a:p>
            <a:r>
              <a:t>'Vamos a ir en cuatro partes: primero el problema, después el patrón para resolverlo, luego los seis pasos, y al final lo vemos funcionando en vivo.'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 · 01 · EL PROBLEMA</a:t>
            </a:r>
          </a:p>
          <a:p/>
          <a:p>
            <a:r>
              <a:t>0:05 · *divisor: no lo leas* · *reloj: 3:40*</a:t>
            </a:r>
          </a:p>
          <a:p/>
          <a:p>
            <a:r>
              <a:t>'Arranquemos por el problema.'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 · MLOPS EN LA NUBE: UN LOOP CERRADO</a:t>
            </a:r>
          </a:p>
          <a:p/>
          <a:p>
            <a:r>
              <a:t>0:25 · sin clics · *los puntos recorren el loop*</a:t>
            </a:r>
          </a:p>
          <a:p/>
          <a:p>
            <a:r>
              <a:t>'Cuando el modelo vive en la nube, la verdad, esto está bastante resuelto. Todas las peticiones pasan por un endpoint: uno las guarda, las compara con lo que vio el modelo al entrenar, si algo cambia salta una alerta y se reentrena.'</a:t>
            </a:r>
          </a:p>
          <a:p/>
          <a:p>
            <a:r>
              <a:t>'¿Y por qué funciona tan bien?' *(señala la frase de la izquierda)* 'Porque todo pasa por ahí. Uno lo ve todo.'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 · LAS RESTRICCIONES DE LA ESTACIÓN</a:t>
            </a:r>
          </a:p>
          <a:p/>
          <a:p>
            <a:r>
              <a:t>0:45 · 3 clics · *una restricción por clic*</a:t>
            </a:r>
          </a:p>
          <a:p/>
          <a:p>
            <a:r>
              <a:t>'Ahora bajemos ese modelo a la estación, al lado de la bomba. Mismo loop… pero ya no hay un endpoint por donde pase todo.'</a:t>
            </a:r>
          </a:p>
          <a:p/>
          <a:p>
            <a:r>
              <a:t>▶ CLIC 'Primero, los equipos no son iguales. Una estación tiene un equipo ARM, otra uno x86 que ya tiene sus años, y la nueva trae NPU. El mismo modelo no corre igual en los tres.'</a:t>
            </a:r>
          </a:p>
          <a:p/>
          <a:p>
            <a:r>
              <a:t>▶ CLIC 'Segundo, la red. Se va la señal en la vereda y se apaga todo el loop de la nube.'</a:t>
            </a:r>
          </a:p>
          <a:p/>
          <a:p>
            <a:r>
              <a:t>▶ CLIC 'Y tercero, el audio no puede salir de ahí. Ni cabe, ni debe.'</a:t>
            </a:r>
          </a:p>
          <a:p/>
          <a:p>
            <a:r>
              <a:t>'O sea: todo lo que uno hacía en la nube asume que las cosas pasan por uno. Aquí no pasa nada por uno.'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 · UN PANEL EN VERDE NO MIDE EL MODELO</a:t>
            </a:r>
          </a:p>
          <a:p/>
          <a:p>
            <a:r>
              <a:t>1:15 · 3 clics · *el mito central de la charla: ve despacio*</a:t>
            </a:r>
          </a:p>
          <a:p/>
          <a:p>
            <a:r>
              <a:t>'Entonces, ¿cómo sabe uno si el modelo de la estación está bien? Lo de siempre: abrimos el panel.'</a:t>
            </a:r>
          </a:p>
          <a:p/>
          <a:p>
            <a:r>
              <a:t>▶ CLIC 'Servicio del modelo, arriba. CPU, normal. Memoria, normal. Todo en verde.'</a:t>
            </a:r>
          </a:p>
          <a:p/>
          <a:p>
            <a:r>
              <a:t>*Cambia la voz:* 'Y llega el jefe: '¿y el modelo de la estación cómo va?' — 'Todo verde, jefe'.' *(risas)*</a:t>
            </a:r>
          </a:p>
          <a:p/>
          <a:p>
            <a:r>
              <a:t>▶ CLIC 'Pero la pregunta de verdad es otra: ¿el modelo todavía distingue una bomba sana de una que está fallando? Eso se mide con algo que se llama AUC. Para los que no son de datos: uno es perfecto, y cero coma cinco es lo mismo que lanzar una moneda.'</a:t>
            </a:r>
          </a:p>
          <a:p/>
          <a:p>
            <a:r>
              <a:t>'Con la velocidad con la que se entrenó, este modelo da cero coma sesenta y nueve. Ahora alguien le cambia la velocidad a la bomba… y baja a cero coma cincuenta y siete.' *(pausa)* 'Casi una moneda. Y las falsas alarmas pasan de 6 a 18 por ciento.'</a:t>
            </a:r>
          </a:p>
          <a:p/>
          <a:p>
            <a:r>
              <a:t>▶ CLIC 'Y lo más bonito: ni un error. El equipo está sano. El modelo casi no distingue.' *(pausa larga)*</a:t>
            </a:r>
          </a:p>
          <a:p/>
          <a:p>
            <a:r>
              <a:t>'Y esto no es teoría: lo medí con el mismo audio de las bombas que van a oír en un rato. Un servicio caído hace ruido. Un modelo que dejó de oír sigue respondiendo a tiempo, con un 200 OK.'</a:t>
            </a:r>
          </a:p>
          <a:p/>
          <a:p>
            <a:r>
              <a:t>*Por qué AUC y no «fallas detectadas»: con la otra velocidad todos los scores suben, y la detección puede subir junto con las falsas alarmas. La AUC mide si el modelo separa una bomba sana de una que falla, sin depender del umbral.*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 · MONITOREAR LA INFRAESTRUCTURA NO ES MONITOREAR EL MODELO</a:t>
            </a:r>
          </a:p>
          <a:p/>
          <a:p>
            <a:r>
              <a:t>0:30 · sin clics</a:t>
            </a:r>
          </a:p>
          <a:p/>
          <a:p>
            <a:r>
              <a:t>'Las preguntas de siempre siguen sirviendo: ¿el servicio está arriba?, ¿cuánta CPU gasta?, ¿hay errores? Pero ninguna dice nada del modelo.'</a:t>
            </a:r>
          </a:p>
          <a:p/>
          <a:p>
            <a:r>
              <a:t>'Al modelo hay que preguntarle otras cosas.' *(señala, una por una)* '¿Sigue distinguiendo bien? ¿Le cambiaron los datos? ¿Se le dispararon los falsos positivos o los falsos negativos? Y la más difícil: ¿lo que predice todavía le sirve a alguien?'</a:t>
            </a:r>
          </a:p>
          <a:p/>
          <a:p>
            <a:r>
              <a:t>'Esa última solo la responde el negocio, cuando el de mantenimiento llega y dice si la alerta era real o no. Las otras tres, ya las van a ver en la demo.'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 · 02 · EL PATRÓN</a:t>
            </a:r>
          </a:p>
          <a:p/>
          <a:p>
            <a:r>
              <a:t>0:05 · *divisor* · *reloj: 6:40*</a:t>
            </a:r>
          </a:p>
          <a:p/>
          <a:p>
            <a:r>
              <a:t>'Bueno, ¿y cómo se gobierna esto? Abramos el equipo.'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 · ARQUITECTURA DEL EQUIPO EN LA ESTACIÓN</a:t>
            </a:r>
          </a:p>
          <a:p/>
          <a:p>
            <a:r>
              <a:t>0:45 · 3 clics · *una capa por clic*</a:t>
            </a:r>
          </a:p>
          <a:p/>
          <a:p>
            <a:r>
              <a:t>'Abajo está el micrófono sobre la bomba y el modelo con su runtime. Decide en milisegundos, haya red o no. El audio entra… y ahí se queda.'</a:t>
            </a:r>
          </a:p>
          <a:p/>
          <a:p>
            <a:r>
              <a:t>▶ CLIC 'Encima, el modelo no llega como un archivo suelto que alguien copió. Llega como un artefacto con versión y con su huella. Si alguien lo toca, no se instala.'</a:t>
            </a:r>
          </a:p>
          <a:p/>
          <a:p>
            <a:r>
              <a:t>▶ CLIC 'Después, un agente. A la estación nadie le empuja nada; es el agente el que, cuando hay red, va y pregunta qué debería tener.'</a:t>
            </a:r>
          </a:p>
          <a:p/>
          <a:p>
            <a:r>
              <a:t>▶ CLIC 'Y arriba, lo que casi nadie pone: una cola de eventos. Cada decisión se guarda hasta que vuelva la señal.'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 · CINCO PIEZAS PARA GOBERNARLO</a:t>
            </a:r>
          </a:p>
          <a:p/>
          <a:p>
            <a:r>
              <a:t>1:10 · 6 clics · *una pieza por clic; la leyenda se enciende con cada una*</a:t>
            </a:r>
          </a:p>
          <a:p/>
          <a:p>
            <a:r>
              <a:t>*Paso 0, «copiar el modelo… y cruzar los dedos».* 'Seamos sinceros: así se despliegan modelos en muchos lados. Uno copia el archivo al equipo… y cruza los dedos.' *(cruza los dedos)* 'Yo lo he hecho, no me da pena.' *(risas)*</a:t>
            </a:r>
          </a:p>
          <a:p/>
          <a:p>
            <a:r>
              <a:t>▶ CLIC 'La primera pieza es optimizar para cada chip: se entrena una vez y se prepara para cada tipo de hardware.'</a:t>
            </a:r>
          </a:p>
          <a:p/>
          <a:p>
            <a:r>
              <a:t>▶ CLIC 'La segunda, un artefacto verificable: cada versión con su huella, en un registro donde nada se sobrescribe.'</a:t>
            </a:r>
          </a:p>
          <a:p/>
          <a:p>
            <a:r>
              <a:t>▶ CLIC 'La tercera, el desired state: la central dice qué debería tener cada equipo, y el equipo lo trae cuando puede.'</a:t>
            </a:r>
          </a:p>
          <a:p/>
          <a:p>
            <a:r>
              <a:t>▶ CLIC 'La cuarta, que el modelo deje constancia de cada decisión. Si no hay red, se encola.'</a:t>
            </a:r>
          </a:p>
          <a:p/>
          <a:p>
            <a:r>
              <a:t>▶ CLIC 'Y la quinta, el gate: algo que mira esas decisiones y resuelve solo si seguimos o nos devolvemos. Eso es el loop rápido, de minutos.'</a:t>
            </a:r>
          </a:p>
          <a:p/>
          <a:p>
            <a:r>
              <a:t>▶ CLIC 'Con esas mismas decisiones se reentrena; ese es el loop lento, de días. Y por debajo de todo, lo de siempre: identidad, mínimo privilegio, cifrado y auditoría. Nada de esto depende de una nube en particular.'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 EL MISMO PATRÓN EN AWS</a:t>
            </a:r>
          </a:p>
          <a:p/>
          <a:p>
            <a:r>
              <a:t>0:50 · 6 clics · *misma geometría; ve a buen ritmo, los pasos que vienen abren cada casilla*</a:t>
            </a:r>
          </a:p>
          <a:p/>
          <a:p>
            <a:r>
              <a:t>'Ahora el mismo dibujo, pero en AWS. Cada casilla ya tiene nombre.'</a:t>
            </a:r>
          </a:p>
          <a:p/>
          <a:p>
            <a:r>
              <a:t>▶ CLIC 'SageMaker AI entrena.' ▶ CLIC 'S3 guarda cada versión e IoT Greengrass la empaca como componente.' ▶ CLIC 'El desired state es un despliegue de Greengrass, que le llega a cada equipo por IoT Core, con su propio certificado.'</a:t>
            </a:r>
          </a:p>
          <a:p/>
          <a:p>
            <a:r>
              <a:t>▶ CLIC 'Cada decisión vuelve por IoT Core y una regla la deja en CloudWatch.' ▶ CLIC 'El gate es una alarma que llama a una Lambda, y la Lambda vuelve a poner la última versión buena.' ▶ CLIC 'Y abajo, IAM, certificados, KMS y CloudTrail.'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 · 03 · LOS SEIS PASOS</a:t>
            </a:r>
          </a:p>
          <a:p/>
          <a:p>
            <a:r>
              <a:t>0:10 · *divisor con la espina* · *reloj: 9:30*</a:t>
            </a:r>
          </a:p>
          <a:p/>
          <a:p>
            <a:r>
              <a:t>'Vamos paso por paso: entrenar, optimizar, empaquetar, desplegar, operar sin red y monitorear. Y en cada paso, la bomba.'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 · PASO 1 · ENTRENAR CON SONIDO NORMAL</a:t>
            </a:r>
          </a:p>
          <a:p/>
          <a:p>
            <a:r>
              <a:t>1:00 · 3 clics</a:t>
            </a:r>
          </a:p>
          <a:p/>
          <a:p>
            <a:r>
              <a:t>'Paso uno, entrenar. Y aquí hay un detalle bonito: este modelo se entrena solo con bombas sanas.'</a:t>
            </a:r>
          </a:p>
          <a:p/>
          <a:p>
            <a:r>
              <a:t>▶ CLIC 'Es un autoencoder: una red que aprende a reconstruir el sonido normal. Cuando no lo puede reconstruir, es porque algo cambió. Es como el mecánico que de tanto oír el motor sano, nota cualquier ruido raro.'</a:t>
            </a:r>
          </a:p>
          <a:p/>
          <a:p>
            <a:r>
              <a:t>▶ CLIC 'Lo que sale va a S3, cada versión en su propia carpeta. Versión nueva, carpeta nueva; nunca se pisa la anterior.'</a:t>
            </a:r>
          </a:p>
          <a:p/>
          <a:p>
            <a:r>
              <a:t>▶ CLIC '¿Y qué sale exactamente? Cuatro archivos: el modelo en ONNX, que es como el contrato con el equipo; la huella del sonido normal con el umbral; el preprocesamiento del audio, y el código que escucha y decide.'</a:t>
            </a:r>
          </a:p>
          <a:p/>
          <a:p>
            <a:r>
              <a:t>'¿Y por qué mandar el preprocesamiento con el modelo? Porque el error más común es entrenar con un preprocesamiento y servir con otro. No explota nada. El modelo simplemente oye distinto, y nadie se entera.'</a:t>
            </a:r>
          </a:p>
          <a:p/>
          <a:p>
            <a:r>
              <a:t>*En la PoC la fábrica es model/train.py en mi portátil, no SageMaker AI. Lo dices en la lámina 25.*</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 · PASO 2 · OPTIMIZAR PARA CADA CHIP</a:t>
            </a:r>
          </a:p>
          <a:p/>
          <a:p>
            <a:r>
              <a:t>1:10 · 3 clics</a:t>
            </a:r>
          </a:p>
          <a:p/>
          <a:p>
            <a:r>
              <a:t>'Paso dos. Uno entrena una vez, en 32 bits, y sale un archivo ONNX.'</a:t>
            </a:r>
          </a:p>
          <a:p/>
          <a:p>
            <a:r>
              <a:t>▶ CLIC 'Para que eso quepa en un equipo pequeño se cuantiza a 8 bits, se simplifica y se compila para el chip. Esa compilación la hace la herramienta de cada fabricante.'</a:t>
            </a:r>
          </a:p>
          <a:p/>
          <a:p>
            <a:r>
              <a:t>▶ CLIC 'Y aquí está la trampa: no sale un artefacto, sale uno por cada tipo de chip. Y el que manda es la memoria: si no cabe, no corre.'</a:t>
            </a:r>
          </a:p>
          <a:p/>
          <a:p>
            <a:r>
              <a:t>▶ CLIC 'Esta es la bomba, medida en el equipo de la demo. De 32 a 8 bits, el archivo baja de 464 a 127 kilobytes, cada clip pasa de 14,4 a 12,7 milisegundos, y toma la misma decisión en el 98 por ciento de los casos.'</a:t>
            </a:r>
          </a:p>
          <a:p/>
          <a:p>
            <a:r>
              <a:t>'Ahora, un dato curioso: en mi portátil la mejora era casi el doble. En el equipo, la mayor parte del tiempo se va preparando el audio, no en el modelo. Por eso hay que medir en el chip de verdad, no en el computador de uno.'</a:t>
            </a:r>
          </a:p>
          <a:p/>
          <a:p>
            <a:r>
              <a:t>*Portátil (M3 Pro): 2,6 → 2,0 ms. La pérdida de AUC del INT8 es de −0,001. Si preguntan por herramientas: LiteRT y Qualcomm QNN para NPU, TensorRT para GPU de NVIDIA, ONNX Runtime y OpenVINO para CPU. Sobre SageMaker Neo, ver «Preguntas difíciles».*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 · PASO 3 · EMPAQUETAR COMO COMPONENTE</a:t>
            </a:r>
          </a:p>
          <a:p/>
          <a:p>
            <a:r>
              <a:t>1:00 · 4 clics · *una anotación por clic*</a:t>
            </a:r>
          </a:p>
          <a:p/>
          <a:p>
            <a:r>
              <a:t>'Paso tres. En IoT Greengrass, el software se empaca como un componente, y esta es la receta de la demo, un poco recortada.'</a:t>
            </a:r>
          </a:p>
          <a:p/>
          <a:p>
            <a:r>
              <a:t>▶ CLIC 'Los archivos vienen de S3. Ojo que la receta no trae el digest: Greengrass lo calcula cuando uno publica la versión y lo verifica en el equipo antes de instalar.'</a:t>
            </a:r>
          </a:p>
          <a:p/>
          <a:p>
            <a:r>
              <a:t>▶ CLIC 'Cuando arranca, no instala nada. Las dependencias ya vienen en el equipo. Si su componente baja librerías de internet al arrancar… en una vereda sin señal, no arranca.'</a:t>
            </a:r>
          </a:p>
          <a:p/>
          <a:p>
            <a:r>
              <a:t>▶ CLIC 'El umbral es configuración. Si hay que moverlo, se manda un despliegue; no hay que reentrenar.'</a:t>
            </a:r>
          </a:p>
          <a:p/>
          <a:p>
            <a:r>
              <a:t>▶ CLIC 'Y los permisos: este componente solo puede publicar en un tema, station/events. Nada más.'</a:t>
            </a:r>
          </a:p>
          <a:p/>
          <a:p>
            <a:r>
              <a:t>'Y una regla que aprendí a las malas: una versión publicada no se toca. Si uno cambia un archivo en S3 sin cambiar la versión, el digest ya no cuadra y el despliegue falla.'</a:t>
            </a:r>
          </a:p>
          <a:p/>
          <a:p>
            <a:r>
              <a:t>*Fuente del digest: referencia de recetas de Greengrass, campo Digest de Artifacts. https://docs.aws.amazon.com/greengrass/v2/developerguide/component-recipe-reference.html*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 PASO 4 · DESPLEGAR POR RINGS</a:t>
            </a:r>
          </a:p>
          <a:p/>
          <a:p>
            <a:r>
              <a:t>1:05 · 3 clics</a:t>
            </a:r>
          </a:p>
          <a:p/>
          <a:p>
            <a:r>
              <a:t>'Paso cuatro. ¿Cómo le llega una versión nueva a mil equipos sin dañarlos todos un martes por la tarde? Con despliegues de Greengrass, por rings: cada ring es un thing group.'</a:t>
            </a:r>
          </a:p>
          <a:p/>
          <a:p>
            <a:r>
              <a:t>'El ring 0 es una sola estación, el canary. Es la que recibe la versión nueva primero.'</a:t>
            </a:r>
          </a:p>
          <a:p/>
          <a:p>
            <a:r>
              <a:t>▶ CLIC 'Si pasa el gate, sigue el ring 1, el resto de la flota, y no de golpe: por waves que van creciendo.'</a:t>
            </a:r>
          </a:p>
          <a:p/>
          <a:p>
            <a:r>
              <a:t>▶ CLIC 'Y el despliegue ya trae dos protecciones: si fallan muchos equipos, se cancela; y si un equipo no logra arrancar la versión nueva, vuelve solito a la que tenía.'</a:t>
            </a:r>
          </a:p>
          <a:p/>
          <a:p>
            <a:r>
              <a:t>▶ CLIC 'Y el rollback que armé yo: una alarma ve fallas que nadie oyó y vuelve a poner la última versión buena. El ring 1 nunca recibe la mala.'</a:t>
            </a:r>
          </a:p>
          <a:p/>
          <a:p>
            <a:r>
              <a:t>'Seguro alguno está pensando: 'pero si Greengrass ya hace rollback'. Sí… pero de despliegues que fallan. Un modelo que se instala perfecto y oye mal, para Greengrass, es un despliegue exitoso.'</a:t>
            </a:r>
          </a:p>
          <a:p/>
          <a:p>
            <a:r>
              <a:t>*Fuentes: failureHandlingPolicy = ROLLBACK por defecto, https://docs.aws.amazon.com/greengrass/v2/APIReference/API_DeploymentPolicies.html · abortConfig y jobExecutionsRolloutConfig, https://docs.aws.amazon.com/cli/latest/reference/greengrassv2/create-deployment.html*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 PASO 5 · OPERAR SIN RED</a:t>
            </a:r>
          </a:p>
          <a:p/>
          <a:p>
            <a:r>
              <a:t>0:50 · 2 clics</a:t>
            </a:r>
          </a:p>
          <a:p/>
          <a:p>
            <a:r>
              <a:t>'Paso cinco: ¿qué pasa cuando se va la señal?'</a:t>
            </a:r>
          </a:p>
          <a:p/>
          <a:p>
            <a:r>
              <a:t>'En un equipo pequeño, Greengrass guarda los eventos en una cola local hasta que vuelve la red. Y si el equipo tiene muy poca memoria, existe una versión liviana del agente, escrita en C.'</a:t>
            </a:r>
          </a:p>
          <a:p/>
          <a:p>
            <a:r>
              <a:t>▶ CLIC 'Si la estación es más bien una planta grande, está Outposts con EKS local: el plano de control corre ahí mismo y sigue funcionando sin la región.'</a:t>
            </a:r>
          </a:p>
          <a:p/>
          <a:p>
            <a:r>
              <a:t>▶ CLIC 'En los dos casos, la estación sigue escuchando y alertando. Lo que necesita para decidir ya lo tiene adentro.'</a:t>
            </a:r>
          </a:p>
          <a:p/>
          <a:p>
            <a:r>
              <a:t>'Ahora, un ojo con la cola: cuando se llena, empieza a rechazar mensajes. Si la red se va por horas, esa cola tiene que ir a disco.'</a:t>
            </a:r>
          </a:p>
          <a:p/>
          <a:p>
            <a:r>
              <a:t>*Fuentes: cola mqtt.spooler de 2,5 MB en memoria, https://docs.aws.amazon.com/greengrass/v2/developerguide/greengrass-nucleus-component.html · cola en disco, https://docs.aws.amazon.com/greengrass/v2/developerguide/disk-spooler-component.html · nucleus lite (5 MB de almacenamiento, menos de 15 MB de RAM), https://docs.aws.amazon.com/greengrass/v2/developerguide/greengrass-nucleus-lite-component.html · EKS local sin red, https://docs.aws.amazon.com/eks/latest/userguide/eks-outposts-network-disconnects.html*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 · PASO 6 · MONITOREAR LO QUE DECIDE EL MODELO</a:t>
            </a:r>
          </a:p>
          <a:p/>
          <a:p>
            <a:r>
              <a:t>1:05 · 5 clics · *un tramo de la tubería por clic*</a:t>
            </a:r>
          </a:p>
          <a:p/>
          <a:p>
            <a:r>
              <a:t>'Y el paso seis: desde la nube no vemos el audio, vemos lo que el modelo nos cuenta. Un mensajito por cada clip, de unos cientos de bytes, que llega a IoT Core.'</a:t>
            </a:r>
          </a:p>
          <a:p/>
          <a:p>
            <a:r>
              <a:t>▶ CLIC 'Una regla de IoT lo recibe y le pega la hora de llegada. La diferencia entre la hora en que la bomba decidió y la hora en que llegó es justo el tiempo que estuvo sin red.'</a:t>
            </a:r>
          </a:p>
          <a:p/>
          <a:p>
            <a:r>
              <a:t>▶ CLIC 'Eso cae en CloudWatch Logs.'</a:t>
            </a:r>
          </a:p>
          <a:p/>
          <a:p>
            <a:r>
              <a:t>▶ CLIC 'Un filtro cuenta lo que nos importa. En la demo es este: la bomba estaba fallando y el modelo no avisó. Fallas que nadie oyó.'</a:t>
            </a:r>
          </a:p>
          <a:p/>
          <a:p>
            <a:r>
              <a:t>▶ CLIC 'Una alarma vigila ese número.'</a:t>
            </a:r>
          </a:p>
          <a:p/>
          <a:p>
            <a:r>
              <a:t>▶ CLIC 'Y cuando salta, llama a la Lambda, que devuelve el ring 0 a la última versión buena.'</a:t>
            </a:r>
          </a:p>
          <a:p/>
          <a:p>
            <a:r>
              <a:t>'Aquí está el error de siempre: poner la alarma sobre CPU y errores. Ya vimos que eso se queda en verde. El gate tiene que mirar al modelo.'</a:t>
            </a:r>
          </a:p>
          <a:p/>
          <a:p>
            <a:r>
              <a:t>*Si alguien pregunta cómo se sabe en producción si la bomba fallaba: ese campo solo existe en la demo. En producción la confirmación llega tarde, con la orden de mantenimiento, y mientras tanto se compara el canary contra el resto.*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 · A MANO ALZADA</a:t>
            </a:r>
          </a:p>
          <a:p/>
          <a:p>
            <a:r>
              <a:t>0:35 · 1 clic · *la barra cuenta cinco segundos*</a:t>
            </a:r>
          </a:p>
          <a:p/>
          <a:p>
            <a:r>
              <a:t>'Una pregunta antes de la demo: ¿ustedes saben qué versión del modelo está corriendo en cada uno de sus equipos?' *(espera manos)* 'Ahora bajen la mano los que tuvieron que pensarlo.' *(risas)*</a:t>
            </a:r>
          </a:p>
          <a:p/>
          <a:p>
            <a:r>
              <a:t>▶ CLIC 'Aquí la respuesta sale de la nube, sin entrar a ningún equipo: el ring 0, la bomba 1, versión 1.0.0, activo. El ring 1, de la 2 a la 5, la misma.'</a:t>
            </a:r>
          </a:p>
          <a:p/>
          <a:p>
            <a:r>
              <a:t>*Así lo devolvió aws greengrassv2 list-deployments en el ensayo: un despliegue a un thing group queda ACTIVE. Detalle de un equipo, si lo piden: aws greengrassv2 list-installed-components --core-device-thing-name pump-01. Antes de subir, confirma que la flota está así.*</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 · 04 · DEMOSTRACIÓN</a:t>
            </a:r>
          </a:p>
          <a:p/>
          <a:p>
            <a:r>
              <a:t>0:05 · *divisor* · *reloj: 16:25*</a:t>
            </a:r>
          </a:p>
          <a:p/>
          <a:p>
            <a:r>
              <a:t>'Bueno, suficiente teoría. Vamos para la estación.'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 ARQUITECTURA DE LA DEMOSTRACIÓN</a:t>
            </a:r>
          </a:p>
          <a:p/>
          <a:p>
            <a:r>
              <a:t>0:40 · sin clics</a:t>
            </a:r>
          </a:p>
          <a:p/>
          <a:p>
            <a:r>
              <a:t>'Les cuento qué monté, porque no me traje bombas en la maleta.' *(risas)* 'Cada bomba es un contenedor en una EC2, con el agente real de Greengrass adentro. Son cinco: la 1 es el ring 0, el canary, y de la 2 a la 5 son el ring 1.'</a:t>
            </a:r>
          </a:p>
          <a:p/>
          <a:p>
            <a:r>
              <a:t>'El audio es real, y todo lo demás es AWS de verdad, montado con Terraform desde GitHub Actions.'</a:t>
            </a:r>
          </a:p>
          <a:p/>
          <a:p>
            <a:r>
              <a:t>'Lo único de mentiras es el equipo físico… y la fábrica del modelo, que es un script en mi portátil y no SageMaker.'</a:t>
            </a:r>
          </a:p>
          <a:p/>
          <a:p>
            <a:r>
              <a:t>*Si preguntan: las cinco bombas salen de tres secciones de MIMII DUE; la 1 y la 4 comparten sección, y la 2 y la 5 también, con clips distintos. Cada nucleus es una JVM: en el ensayo, unos 220 MB por bomba.*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26 · DEMOSTRACIÓN EN TRES ACTOS</a:t>
            </a:r>
          </a:p>
          <a:p/>
          <a:p>
            <a:r>
              <a:t>6:00 · 2 clics en la lámina, después las terminales · *la lámina es el mapa; lo de verdad está en la terminal*</a:t>
            </a:r>
          </a:p>
          <a:p/>
          <a:p>
            <a:r>
              <a:t>*En la lámina (0:20).* 'Van a ser tres actos. En el primero, la bomba 3 va a sonar como la B del principio.'</a:t>
            </a:r>
          </a:p>
          <a:p/>
          <a:p>
            <a:r>
              <a:t>▶ CLIC 'En el segundo, la dejamos sin señal.'</a:t>
            </a:r>
          </a:p>
          <a:p/>
          <a:p>
            <a:r>
              <a:t>▶ CLIC 'Y en el tercero, mandamos una versión nueva por rings… y vemos qué pasa.' *(señala la frase de abajo)* 'Esa frase de abajo es el final de la película, así que no la lean todavía.' *(risas)*</a:t>
            </a:r>
          </a:p>
          <a:p/>
          <a:p>
            <a:r>
              <a:t>*Cambia a las terminales: ./demo/watch.sh a la izquierda; arriba a la derecha, el dashboard station; abajo a la derecha, la terminal de Session Manager en la EC2. Letra grande.*</a:t>
            </a:r>
          </a:p>
          <a:p/>
          <a:p>
            <a:r>
              <a:t>'Esto que ven aquí es la estación en vivo. Cada línea es un clip que una bomba escuchó y decidió: qué bomba, qué versión, si alertó, el score contra el umbral, cómo venía el audio y cuánto se demoró. Esas son las golden signals de un modelo. Y fíjense que el audio no aparece por ningún lado.'</a:t>
            </a:r>
          </a:p>
          <a:p/>
          <a:p>
            <a:r>
              <a:t>Acto 1 · Escuchar (1:00)</a:t>
            </a:r>
          </a:p>
          <a:p/>
          <a:p>
            <a:r>
              <a:t>*Escribe* ./demo/fault.sh pump-03 — 'Le voy a decir a la bomba 3 que suene como la B.'</a:t>
            </a:r>
          </a:p>
          <a:p/>
          <a:p>
            <a:r>
              <a:t>*Cuando aparezca pump-03 v1.0.0 ALERT (en el ensayo salió al siguiente clip):* '¡Ahí está! Alerta: el score pasó el umbral.'</a:t>
            </a:r>
          </a:p>
          <a:p/>
          <a:p>
            <a:r>
              <a:t>'Y aquí está la respuesta de la pregunta del principio: la que estaba fallando era la B. ¿Quién votó por la B?' *(manos)* 'Ustedes tienen oído de mecánico. Los de la A, tranquilos, para eso está el modelo.' *(risas)*</a:t>
            </a:r>
          </a:p>
          <a:p/>
          <a:p>
            <a:r>
              <a:t>'Y ojo: el audio no salió de la estación. Lo único que salió fue esta línea.'</a:t>
            </a:r>
          </a:p>
          <a:p/>
          <a:p>
            <a:r>
              <a:t>*No apagues la falla de la 3: en el acto 2, lo que llega tarde tienen que ser alertas.*</a:t>
            </a:r>
          </a:p>
          <a:p/>
          <a:p>
            <a:r>
              <a:t>Acto 2 · Sin red (1:20)</a:t>
            </a:r>
          </a:p>
          <a:p/>
          <a:p>
            <a:r>
              <a:t>*Escribe* ./demo/network.sh off pump-03 — 'Ahora le quito la red a la bomba 3. Como cuando se va la señal en la vereda.'</a:t>
            </a:r>
          </a:p>
          <a:p/>
          <a:p>
            <a:r>
              <a:t>*Mientras esperas, lanza el despliegue del acto 3:* ./demo/deploy.sh 2.0.0 ring-0 — 'Y mientras tanto, aprovecho y le mando una versión nueva a una sola estación. Ya volvemos a eso.'</a:t>
            </a:r>
          </a:p>
          <a:p/>
          <a:p>
            <a:r>
              <a:t>*A los 40 o 50 s:* 'Miren: la 3 se calló, y las otras cuatro siguen como si nada. ¿Se dañó? No. Sigue escuchando, sigue alertando, y va guardando todo en su cola. La nube no sabe nada; la estación sí.'</a:t>
            </a:r>
          </a:p>
          <a:p/>
          <a:p>
            <a:r>
              <a:t>*Escribe* ./demo/network.sh on pump-03 — *en el ensayo se reconectó en unos 5 s.* 'Y ahí llegan, de golpe. Llegaron tarde, pero llegaron todas: ese 'arrived late' es el tiempo que la bomba estuvo sin señal. No se perdió ninguna alerta.'</a:t>
            </a:r>
          </a:p>
          <a:p/>
          <a:p>
            <a:r>
              <a:t>*Escribe* ./demo/fault.sh pump-03 off</a:t>
            </a:r>
          </a:p>
          <a:p/>
          <a:p>
            <a:r>
              <a:t>Acto 3 · Ring deployment y rollback (3:05)</a:t>
            </a:r>
          </a:p>
          <a:p/>
          <a:p>
            <a:r>
              <a:t>*Señala la bomba 1, que ya corre v2.0.0 (en el ensayo llegó en 13 a 20 s); de la 2 a la 5 siguen en v1.0.0.* 'La versión nueva se entrenó con más audio. Y más datos es mejor modelo, ¿cierto?' *(pausa)* 'Además da menos alertas, en operación están felices. Llegó solo al ring 0, sin errores, con la misma latencia. Para Greengrass, todo perfecto.'</a:t>
            </a:r>
          </a:p>
          <a:p/>
          <a:p>
            <a:r>
              <a:t>*Escribe* ./demo/fault.sh pump-01 — 'Ahora pongamos a fallar la bomba 1.'</a:t>
            </a:r>
          </a:p>
          <a:p/>
          <a:p>
            <a:r>
              <a:t>*Cuando aparezca pump-01 v2.0.0 normal … · missed fault:* 'La bomba está fallando… y la versión nueva dice 'normal'. Una falla que nadie oyó.' *(pausa)*</a:t>
            </a:r>
          </a:p>
          <a:p/>
          <a:p>
            <a:r>
              <a:t>'¿Qué pasó? Ese audio extra incluía la semana en que una bomba ya venía fallando, y nadie lo revisó. El modelo aprendió que fallar es lo normal. No da errores, da menos alertas… y no oye las fallas.'</a:t>
            </a:r>
          </a:p>
          <a:p/>
          <a:p>
            <a:r>
              <a:t>*Mientras la alarma junta datos:* 'Y ahora no voy a tocar nada. Dejemos que el gate haga su trabajo.' *Salta al anexo A2: escribe 32 y Enter. Cuenta la secuencia con la nota de A2 (un minuto). Para volver aquí, escribe 26 y Enter.*</a:t>
            </a:r>
          </a:p>
          <a:p/>
          <a:p>
            <a:r>
              <a:t>*Vuelve a watch.sh. Cuando la 1 salga en v1.0.0 con ALERT:* 'Ahí volvió: versión 1.0.0, y alerta otra vez. Nadie entró al equipo, y el ring 1 nunca recibió la versión mala.'</a:t>
            </a:r>
          </a:p>
          <a:p/>
          <a:p>
            <a:r>
              <a:t>*Escribe* ./demo/fault.sh pump-01 off</a:t>
            </a:r>
          </a:p>
          <a:p/>
          <a:p>
            <a:r>
              <a:t>*Vuelve a esta lámina y dilo mirando a la sala, despacio:* 'Greengrass revierte despliegues fallidos, pero no modelos equivocados. Ese gate lo tiene que poner uno.'</a:t>
            </a:r>
          </a:p>
          <a:p/>
          <a:p>
            <a:r>
              <a:t>*Tiempos medidos en los ensayos del 12 de octubre: de fault.sh pump-01 a la v1 otra vez, entre 90 y 135 s. Depende de en qué segundo del minuto cae la falla. Si a los tres minutos la 1 no ha vuelto, no esperes más: «La alarma va a su ritmo; para no robarles tiempo, les muestro cómo termina», y pon el video desde el rollback.*</a:t>
            </a:r>
          </a:p>
          <a:p/>
          <a:p>
            <a:r>
              <a:t>*Plan B, si la red del evento falla (watch.sh sin líneas en 30 s o la EC2 no responde): pon el video de respaldo y dilo con humor: «El wifi de un evento es el peor lugar del mundo para depender de MQTT. Por eso traje la grabación del ensayo.» Narra encima con este mismo guion.*</a:t>
            </a:r>
          </a:p>
          <a:p/>
          <a:p>
            <a:r>
              <a:t>*Si preguntan si la v2 es mala en general o solo en la demo: en todo el set de prueba, con fallas que no vio al entrenar, la v1 detecta el 21 % de las fallas y la v2 el 16 %; la v1 alerta en el 13 % de los clips y la v2 en el 10 %. Los clips de la flota se eligen para que la demo sea repetible.*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 · CINCO RECOMENDACIONES</a:t>
            </a:r>
          </a:p>
          <a:p/>
          <a:p>
            <a:r>
              <a:t>1:05 · 4 clics · *reloj: 23:10 al entrar*</a:t>
            </a:r>
          </a:p>
          <a:p/>
          <a:p>
            <a:r>
              <a:t>'Me quedan unos minutos, así que les dejo cinco cosas. Y les advierto: casi nadie las hace el lunes. Pero los que las hacen duermen más tranquilos.'</a:t>
            </a:r>
          </a:p>
          <a:p/>
          <a:p>
            <a:r>
              <a:t>'La primera: traten el modelo como cualquier otro artefacto, con versión, digest y receta.'</a:t>
            </a:r>
          </a:p>
          <a:p/>
          <a:p>
            <a:r>
              <a:t>▶ CLIC 'La segunda: optimicen para cada chip, y midan en el chip de verdad.'</a:t>
            </a:r>
          </a:p>
          <a:p/>
          <a:p>
            <a:r>
              <a:t>▶ CLIC 'La tercera: desplieguen por rings, con un gate que mire al modelo, no solo al proceso.'</a:t>
            </a:r>
          </a:p>
          <a:p/>
          <a:p>
            <a:r>
              <a:t>▶ CLIC 'La cuarta: diseñen pensando en que no va a haber red. Cola local y decisiones locales.'</a:t>
            </a:r>
          </a:p>
          <a:p/>
          <a:p>
            <a:r>
              <a:t>▶ CLIC 'Y la quinta: que el modelo les cuente lo que decide, pero que el dato crudo se quede en el equipo.'</a:t>
            </a:r>
          </a:p>
          <a:p/>
          <a:p>
            <a:r>
              <a:t>*Si el reloj marca 23:35 o menos al llegar aquí (+0:25), cuenta lo que pasó en el primer ensayo, que es real: «¿Saben qué fue lo primero que se me dañó? La primera vez que monté esto en AWS, ninguna bomba arrancaba. Horas buscando, y era que el instalador de Greengrass decide el formato del archivo de configuración por la extensión… y mi archivo no tenía extensión. Una línea. Por eso se ensaya en el equipo de verdad.»*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28 · LA FRASE FINAL: ¿ESTA BOMBA ESTÁ FALLANDO?</a:t>
            </a:r>
          </a:p>
          <a:p/>
          <a:p>
            <a:r>
              <a:t>0:45 · 2 clics · *cierre circular: vuelven los audios del principio*</a:t>
            </a:r>
          </a:p>
          <a:p/>
          <a:p>
            <a:r>
              <a:t>'¿Se acuerdan de la pregunta del principio?' *(señala)* '¿Esta bomba está fallando?'</a:t>
            </a:r>
          </a:p>
          <a:p/>
          <a:p>
            <a:r>
              <a:t>*(▶ bomba B, tres o cuatro segundos, la detienes)*</a:t>
            </a:r>
          </a:p>
          <a:p/>
          <a:p>
            <a:r>
              <a:t>'Ustedes la oyeron. Desde la nube, nadie la oyó… y no hacía falta.'</a:t>
            </a:r>
          </a:p>
          <a:p/>
          <a:p>
            <a:r>
              <a:t>▶ CLIC 'Esto fue lo único que salió de la estación: la bomba 3, versión 1.0.0, alerta, con el score por encima del umbral. Unos cientos de bytes. El audio se quedó allá.'</a:t>
            </a:r>
          </a:p>
          <a:p/>
          <a:p>
            <a:r>
              <a:t>▶ CLIC 'Porque uno no necesita ver el modelo. Necesita que el modelo le cuente.' *(pausa)*</a:t>
            </a:r>
          </a:p>
          <a:p/>
          <a:p>
            <a:r>
              <a:t>'Y les dejo una última pregunta. Si mañana uno de sus modelos deja de oír… ¿quién se va a enterar primero? ¿Ustedes… o la vereda que se quedó sin agua?' *(pausa larga antes de pasar)*</a:t>
            </a:r>
          </a:p>
          <a:p/>
          <a:p>
            <a:r>
              <a:t>*La línea de la lámina es la que imprimió la terminal en el ensayo: score 0.42 contra un umbral de 0.34.*</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29 · RECURSOS Y CONTACTO</a:t>
            </a:r>
          </a:p>
          <a:p/>
          <a:p>
            <a:r>
              <a:t>0:15 · sin clics</a:t>
            </a:r>
          </a:p>
          <a:p/>
          <a:p>
            <a:r>
              <a:t>'Todo lo que vieron está en el repo de ese QR: la demo con el paso a paso, las láminas y este guion. Tómenle foto.'</a:t>
            </a:r>
          </a:p>
          <a:p/>
          <a:p>
            <a:r>
              <a:t>*El QR lleva a https://github.com/alejandro945/mlops-a-ciegas (público desde el 12 de octubre; verificado leyendo el QR de la lámina). Si lo necesitas suelto, está en talk/assets/qr-repo.png y qr-repo.svg.*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 GRACIAS</a:t>
            </a:r>
          </a:p>
          <a:p/>
          <a:p>
            <a:r>
              <a:t>0:15 · sin clics</a:t>
            </a:r>
          </a:p>
          <a:p/>
          <a:p>
            <a:r>
              <a:t>'Muchas gracias.' *(espera el aplauso)* 'Con todo gusto respondo sus preguntas.'</a:t>
            </a:r>
          </a:p>
          <a:p/>
          <a:p>
            <a:r>
              <a:t>*Anexos: en PowerPoint escribe el número de la lámina y Enter (A1 = 31 … A8 = 38); para volver, el de la lámina donde estabas. A1 el evento, A2 el rollback paso a paso, A3 qué revierte Greengrass solo, A4 permisos y costo, A5 de la demo a producción, A6 qué método de drift, A7 regulación, A8 fuentes, A9 golden signals, A10 audio crudo contra eventos. Más respuestas en «Preguntas difíciles», al final de este archivo.*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 EL EVENTO DE LA DEMO, CAMPO POR CAMPO</a:t>
            </a:r>
          </a:p>
          <a:p/>
          <a:p>
            <a:r>
              <a:t>*Si preguntan qué lleva exactamente el evento. M para volver.*</a:t>
            </a:r>
          </a:p>
          <a:p/>
          <a:p>
            <a:r>
              <a:t>'Cada mensaje dice qué bomba decidió, con qué versión del modelo y la huella exacta de ese modelo. Trae un número de secuencia y la hora en que decidió. Qué audio escuchó, el score, el umbral de esa versión y si alertó o no. Un resumen de cómo venía la entrada, la latencia… y la verdad del clip, que solo existe en la demo.'</a:t>
            </a:r>
          </a:p>
          <a:p/>
          <a:p>
            <a:r>
              <a:t>'La hora de llegada la pone la regla de IoT. Si le restan la hora de la decisión, sale lo que la estación estuvo sin red.'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 EL ROLLBACK AUTOMÁTICO, PASO A PASO</a:t>
            </a:r>
          </a:p>
          <a:p/>
          <a:p>
            <a:r>
              <a:t>*Úsalo mientras esperas la alarma del acto 3. Dura un minuto. M te devuelve a la demo.*</a:t>
            </a:r>
          </a:p>
          <a:p/>
          <a:p>
            <a:r>
              <a:t>'Mientras esperamos, les cuento qué está pasando ahora mismo, sin que yo toque nada.'</a:t>
            </a:r>
          </a:p>
          <a:p/>
          <a:p>
            <a:r>
              <a:t>'Yo mandé la 2.0.0 al ring 0. La bomba 1 se trajo su desired state, bajó los archivos de S3, revisó el digest e instaló. Para Greengrass, todo salió bien.'</a:t>
            </a:r>
          </a:p>
          <a:p/>
          <a:p>
            <a:r>
              <a:t>'Pero la bomba suena con falla y la versión nueva no avisa. Cada uno de esos mensajes pasa por la regla, cae en CloudWatch, y el filtro va contando: una falla que nadie oyó, otra, otra…'</a:t>
            </a:r>
          </a:p>
          <a:p/>
          <a:p>
            <a:r>
              <a:t>'Cuando en un minuto se juntan ocho, salta la alarma y llama a la Lambda. La Lambda le pregunta a Parameter Store cuál fue la última versión buena, le responde 1.0.0, y la vuelve a desplegar solo en el ring 0.'</a:t>
            </a:r>
          </a:p>
          <a:p/>
          <a:p>
            <a:r>
              <a:t>'Fíjense que yo solo aparezco en el primer paso. De ahí en adelante, nadie toca nada.'</a:t>
            </a:r>
          </a:p>
          <a:p/>
          <a:p>
            <a:r>
              <a:t>*El umbral de la alarma (fallas no oídas por minuto) es la variable de Terraform alarm_threshold, que en Actions viene de la variable del repo ALARM_THRESHOLD (8 por defecto). Con estos clips, la v2 deja pasar unas 12 por minuto. La alarma solo actúa cuando cambia de estado: antes de subir, tiene que estar en OK.*</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 ¿QUÉ REVIERTE GREENGRASS SOLO?</a:t>
            </a:r>
          </a:p>
          <a:p/>
          <a:p>
            <a:r>
              <a:t>*Si preguntan por qué hace falta el gate si Greengrass ya revierte.*</a:t>
            </a:r>
          </a:p>
          <a:p/>
          <a:p>
            <a:r>
              <a:t>'Greengrass sí se devuelve solo en tres casos: si alguien cambió un archivo en S3 y el digest no cuadra; si el componente no instala o no arranca, porque por defecto hace rollback; y si fallan muchos equipos del ring, porque cancela el despliegue.'</a:t>
            </a:r>
          </a:p>
          <a:p/>
          <a:p>
            <a:r>
              <a:t>'Pero hay un caso que no ve: un modelo que corre perfecto y decide mal. Para Greengrass eso salió bien. Ese caso solo lo ven los eventos del modelo y una alarma que los mire.'</a:t>
            </a:r>
          </a:p>
          <a:p/>
          <a:p>
            <a:r>
              <a:t>*Fuentes: https://docs.aws.amazon.com/greengrass/v2/developerguide/component-recipe-reference.html (Digest) · https://docs.aws.amazon.com/greengrass/v2/APIReference/API_DeploymentPolicies.html (ROLLBACK por defecto) · https://docs.aws.amazon.com/cli/latest/reference/greengrassv2/create-deployment.html (abortConfig).*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 PERMISOS Y COSTO</a:t>
            </a:r>
          </a:p>
          <a:p/>
          <a:p>
            <a:r>
              <a:t>*Si preguntan por permisos o por cuánto cuesta.*</a:t>
            </a:r>
          </a:p>
          <a:p/>
          <a:p>
            <a:r>
              <a:t>'Cada pieza tiene lo mínimo. La bomba solo puede leer su bucket y solo puede publicar en su tema, con su propia identidad. La regla solo escribe en sus logs. Y la Lambda solo puede crear el despliegue y leer el parámetro.'</a:t>
            </a:r>
          </a:p>
          <a:p/>
          <a:p>
            <a:r>
              <a:t>'¿Y cuánto cuesta? Lo que más pesa es la EC2 que hospeda las cinco bombas; después vienen los mensajes de IoT Core, Greengrass, CloudWatch y Lambda. La cifra exacta la saco de Cost Explorer. Y para no pagar de más, todo se baja con un destroy desde GitHub Actions.'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 DE LA DEMO A PRODUCCIÓN</a:t>
            </a:r>
          </a:p>
          <a:p/>
          <a:p>
            <a:r>
              <a:t>*Si preguntan qué cambia para una flota real.*</a:t>
            </a:r>
          </a:p>
          <a:p/>
          <a:p>
            <a:r>
              <a:t>'Cambiarían cinco cosas. En vez de un mensaje por clip, un resumen por minuto, y el detalle solo cuando algo cambia. La cola se va a disco. El agente pasa a la versión liviana en los equipos pequeños. El canary deja de ser una sola estación y se compara contra el ring. Y la verdad del clip, que aquí ya la sabemos, en producción llega tarde, con la orden de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 ¿QUÉ MÉTODO DE DRIFT USO?</a:t>
            </a:r>
          </a:p>
          <a:p/>
          <a:p>
            <a:r>
              <a:t>*Si preguntan cómo medir el drift.*</a:t>
            </a:r>
          </a:p>
          <a:p/>
          <a:p>
            <a:r>
              <a:t>'Depende del dato. PSI sirve para rangos o categorías, pero sus umbrales son más costumbre que estadística. Kolmogorov-Smirnov sirve con pocas muestras; con muchas, da falsas alarmas. Wasserstein dice cuánto se movió la distribución. Y Jensen-Shannon queda siempre entre cero y uno, que es cómodo para alertar.'</a:t>
            </a:r>
          </a:p>
          <a:p/>
          <a:p>
            <a:r>
              <a:t>'En la demo uso algo más sencillo: qué tan lejos está cada clip de la huella del sonido normal. Con la otra velocidad, en el set de prueba, pasa de 0,76 a 1,07.'</a:t>
            </a:r>
          </a:p>
          <a:p/>
          <a:p>
            <a:r>
              <a:t>*En el ensayo, con ./demo/domain.sh pump-05 shifted, la entrada de la bomba 5 subió de ~0,8 a entre 1,6 y 2,2 desde el primer clip, y aparecieron alertas falsas. En el dashboard, el widget de la entrada muestra el promedio de la flota y la peor bomba: la deriva de una sola bomba se ve en la segunda serie.*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 REGULACIÓN</a:t>
            </a:r>
          </a:p>
          <a:p/>
          <a:p>
            <a:r>
              <a:t>3 clics · *si preguntan quién más va a pedir cuentas*</a:t>
            </a:r>
          </a:p>
          <a:p/>
          <a:p>
            <a:r>
              <a:t>'En Europa, el AI Act les pide a los sistemas de alto riesgo que registren eventos solos durante toda su vida, que los guarden al menos seis meses y que los sigan monitoreando después de salir al mercado. Para alto riesgo aplica desde diciembre de 2027 o agosto de 2028, según el caso.'</a:t>
            </a:r>
          </a:p>
          <a:p/>
          <a:p>
            <a:r>
              <a:t>▶ CLIC 'En Estados Unidos está el marco de riesgo de IA del NIST. Es voluntario, pero se volvió el idioma común.'</a:t>
            </a:r>
          </a:p>
          <a:p/>
          <a:p>
            <a:r>
              <a:t>▶ CLIC 'Y la ISO 42001, que es como la 27001 pero para IA, y se puede certificar.'</a:t>
            </a:r>
          </a:p>
          <a:p/>
          <a:p>
            <a:r>
              <a:t>▶ CLIC 'Y si se fijan, todos piden lo mismo que uno necesita para operar: saber qué corre, qué decidió y cómo devolverse.'</a:t>
            </a:r>
          </a:p>
          <a:p/>
          <a:p>
            <a:r>
              <a:t>*Si preguntan por Colombia: el AI Act se aplica a lo que se pone en el mercado de la UE, se fabrique donde se fabrique. Verifica en EUR-Lex el número y las fechas del Reglamento (UE) 2026/1744 antes de subir.*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 FUENTES</a:t>
            </a:r>
          </a:p>
          <a:p/>
          <a:p>
            <a:r>
              <a:t>*Si piden los papers y los datos. Los audios y las cifras salen de MIMII DUE (Tanabe et al., Hitachi, 2021), bombas, licencia CC BY-NC-SA 4.0. Las fuentes de AWS no van en láminas: están en este guion y en el README de la PoC.*</a:t>
            </a:r>
          </a:p>
          <a:p/>
          <a:p>
            <a:r>
              <a:t>'Todo está aquí y en el repo. Los audios son de MIMII DUE, de Hitachi, con licencia abierta no comercial.'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 LAS GOLDEN SIGNALS DE UN MODELO</a:t>
            </a:r>
          </a:p>
          <a:p/>
          <a:p>
            <a:r>
              <a:t>*Si preguntan qué mirar en el dashboard.*</a:t>
            </a:r>
          </a:p>
          <a:p/>
          <a:p>
            <a:r>
              <a:t>'Los que venimos de SRE conocemos las golden signals de un servicio: latencia, tráfico, errores y saturación. Las de un modelo, con la bomba, serían: ¿qué está decidiendo? ¿Con cuánta seguridad? ¿Lo que le llega se parece a lo que aprendió? ¿Y qué versión corre dónde? Ninguna sola alcanza; hay que mirarlas juntas.'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 AUDIO CRUDO CONTRA EVENTOS, CON MIL BOMBAS</a:t>
            </a:r>
          </a:p>
          <a:p/>
          <a:p>
            <a:r>
              <a:t>2 clics · *si preguntan por qué no mandar el audio a la nube*</a:t>
            </a:r>
          </a:p>
          <a:p/>
          <a:p>
            <a:r>
              <a:t>'Si mandáramos el audio crudo de mil bombas, serían 2,76 terabytes al día.'</a:t>
            </a:r>
          </a:p>
          <a:p/>
          <a:p>
            <a:r>
              <a:t>▶ CLIC 'Un mensaje cada 10 segundos por bomba: 8,64 millones de mensajes al día.'</a:t>
            </a:r>
          </a:p>
          <a:p/>
          <a:p>
            <a:r>
              <a:t>▶ CLIC 'Y un resumen por minuto: 1,44 millones. Y el audio, quietico en la estación.'</a:t>
            </a:r>
          </a:p>
          <a:p/>
          <a:p>
            <a:r>
              <a:t>*La PoC manda un evento por clip, cada 3 s, porque son cinco bombas. Las cuentas están al pie de la lámina.*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mage-1003-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image" Target="../media/image-1005-2.png"/><Relationship Id="rId3"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mage-1006-1.png"/><Relationship Id="rId2" Type="http://schemas.openxmlformats.org/officeDocument/2006/relationships/image" Target="../media/image-1006-2.png"/><Relationship Id="rId3"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mage-1007-1.png"/><Relationship Id="rId2" Type="http://schemas.openxmlformats.org/officeDocument/2006/relationships/image" Target="../media/image-1007-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rgbClr val="FFFFFF"/>
        </a:solidFill>
      </p:bgPr>
    </p:bg>
    <p:spTree>
      <p:nvGrpSpPr>
        <p:cNvPr id="1" name=""/>
        <p:cNvGrpSpPr/>
        <p:nvPr/>
      </p:nvGrpSpPr>
      <p:grpSpPr>
        <a:xfrm>
          <a:off x="0" y="0"/>
          <a:ext cx="0" cy="0"/>
          <a:chOff x="0" y="0"/>
          <a:chExt cx="0" cy="0"/>
        </a:xfrm>
      </p:grpSpPr>
      <p:pic>
        <p:nvPicPr>
          <p:cNvPr id="2" name="degradado" descr="/tmp/claude-0/-home-claude/5ec21709-fc46-5733-a412-4634ee5d7730/scratchpad/ppt/img/fondo-portada.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ortada.png">    </p:cNvPr>
          <p:cNvPicPr>
            <a:picLocks noChangeAspect="1"/>
          </p:cNvPicPr>
          <p:nvPr/>
        </p:nvPicPr>
        <p:blipFill>
          <a:blip r:embed="rId2"/>
          <a:stretch>
            <a:fillRect/>
          </a:stretch>
        </p:blipFill>
        <p:spPr>
          <a:xfrm>
            <a:off x="640080" y="658368"/>
            <a:ext cx="2651760" cy="1170432"/>
          </a:xfrm>
          <a:prstGeom prst="rect">
            <a:avLst/>
          </a:prstGeom>
        </p:spPr>
      </p:pic>
      <p:pic>
        <p:nvPicPr>
          <p:cNvPr id="4" name="abrazo" descr="/tmp/claude-0/-home-claude/5ec21709-fc46-5733-a412-4634ee5d7730/scratchpad/ppt/img/abrazo-devy-oso.png">    </p:cNvPr>
          <p:cNvPicPr>
            <a:picLocks noChangeAspect="1"/>
          </p:cNvPicPr>
          <p:nvPr/>
        </p:nvPicPr>
        <p:blipFill>
          <a:blip r:embed="rId3"/>
          <a:stretch>
            <a:fillRect/>
          </a:stretch>
        </p:blipFill>
        <p:spPr>
          <a:xfrm>
            <a:off x="8622792" y="2807208"/>
            <a:ext cx="2926080" cy="3088843"/>
          </a:xfrm>
          <a:prstGeom prst="rect">
            <a:avLst/>
          </a:prstGeom>
        </p:spPr>
      </p:pic>
      <p:sp>
        <p:nvSpPr>
          <p:cNvPr id="5" name="Text 0"/>
          <p:cNvSpPr/>
          <p:nvPr>
            <p:ph idx="103" type="title" hasCustomPrompt="1"/>
          </p:nvPr>
        </p:nvSpPr>
        <p:spPr>
          <a:xfrm>
            <a:off x="640080" y="2468880"/>
            <a:ext cx="7863840" cy="1783080"/>
          </a:xfrm>
          <a:prstGeom prst="rect">
            <a:avLst/>
          </a:prstGeom>
          <a:noFill/>
          <a:ln/>
        </p:spPr>
        <p:txBody>
          <a:bodyPr wrap="square" rtlCol="0"/>
          <a:lstStyle>
            <a:lvl1pPr algn="l" indent="0" marL="0">
              <a:buNone/>
              <a:defRPr lang="en-US" sz="4200" b="1" dirty="0">
                <a:solidFill>
                  <a:srgbClr val="071329"/>
                </a:solidFill>
              </a:defRPr>
            </a:lvl1pPr>
          </a:lstStyle>
          <a:p>
            <a:pPr algn="l" indent="0" marL="0">
              <a:buNone/>
            </a:pPr>
            <a:r>
              <a:rPr lang="en-US" sz="4200" b="1" dirty="0">
                <a:solidFill>
                  <a:srgbClr val="071329"/>
                </a:solidFill>
              </a:rPr>
              <a:t>Título de tu charla</a:t>
            </a:r>
            <a:endParaRPr lang="en-US" sz="4200" dirty="0"/>
          </a:p>
        </p:txBody>
      </p:sp>
      <p:sp>
        <p:nvSpPr>
          <p:cNvPr id="6" name="Text 0"/>
          <p:cNvSpPr/>
          <p:nvPr>
            <p:ph idx="104" type="body" hasCustomPrompt="1"/>
          </p:nvPr>
        </p:nvSpPr>
        <p:spPr>
          <a:xfrm>
            <a:off x="640080" y="4389120"/>
            <a:ext cx="7863840" cy="685800"/>
          </a:xfrm>
          <a:prstGeom prst="rect">
            <a:avLst/>
          </a:prstGeom>
          <a:noFill/>
          <a:ln/>
        </p:spPr>
        <p:txBody>
          <a:bodyPr wrap="square" rtlCol="0"/>
          <a:lstStyle>
            <a:lvl1pPr algn="l" indent="0" marL="0">
              <a:buNone/>
              <a:defRPr lang="en-US" sz="1800" dirty="0">
                <a:solidFill>
                  <a:srgbClr val="475569"/>
                </a:solidFill>
              </a:defRPr>
            </a:lvl1pPr>
          </a:lstStyle>
          <a:p>
            <a:pPr algn="l" indent="0" marL="0">
              <a:buNone/>
            </a:pPr>
            <a:r>
              <a:rPr lang="en-US" sz="1800" dirty="0">
                <a:solidFill>
                  <a:srgbClr val="475569"/>
                </a:solidFill>
              </a:rPr>
              <a:t>Nombre Apellido  ·  Cargo, Empresa</a:t>
            </a:r>
            <a:endParaRPr lang="en-US" sz="1800" dirty="0"/>
          </a:p>
        </p:txBody>
      </p:sp>
      <p:sp>
        <p:nvSpPr>
          <p:cNvPr id="7" name="datos-evento"/>
          <p:cNvSpPr txBox="1"/>
          <p:nvPr/>
        </p:nvSpPr>
        <p:spPr>
          <a:xfrm>
            <a:off x="640080" y="5440680"/>
            <a:ext cx="7863840" cy="411480"/>
          </a:xfrm>
          <a:prstGeom prst="rect">
            <a:avLst/>
          </a:prstGeom>
          <a:noFill/>
          <a:ln/>
        </p:spPr>
        <p:txBody>
          <a:bodyPr wrap="square" lIns="0" tIns="0" rIns="0" bIns="0" rtlCol="0" anchor="ctr"/>
          <a:lstStyle/>
          <a:p>
            <a:pPr indent="0" marL="0">
              <a:buNone/>
            </a:pPr>
            <a:r>
              <a:rPr lang="en-US" sz="2000" b="1" dirty="0">
                <a:solidFill>
                  <a:srgbClr val="071329"/>
                </a:solidFill>
              </a:rPr>
              <a:t>23 · 10 · 2026   ·   Compensar Av. 68   ·   Bogotá</a:t>
            </a:r>
            <a:endParaRPr lang="en-US" sz="2000" dirty="0"/>
          </a:p>
        </p:txBody>
      </p:sp>
      <p:sp>
        <p:nvSpPr>
          <p:cNvPr id="8" name="hashtag"/>
          <p:cNvSpPr txBox="1"/>
          <p:nvPr/>
        </p:nvSpPr>
        <p:spPr>
          <a:xfrm>
            <a:off x="640080" y="5925312"/>
            <a:ext cx="7863840" cy="274320"/>
          </a:xfrm>
          <a:prstGeom prst="rect">
            <a:avLst/>
          </a:prstGeom>
          <a:noFill/>
          <a:ln/>
        </p:spPr>
        <p:txBody>
          <a:bodyPr wrap="square" lIns="0" tIns="0" rIns="0" bIns="0" rtlCol="0" anchor="ctr"/>
          <a:lstStyle/>
          <a:p>
            <a:pPr indent="0" marL="0">
              <a:buNone/>
            </a:pPr>
            <a:r>
              <a:rPr lang="en-US" sz="1100" spc="60" kern="0" dirty="0">
                <a:solidFill>
                  <a:srgbClr val="6D28D9"/>
                </a:solidFill>
                <a:latin typeface="Courier New" pitchFamily="34" charset="0"/>
                <a:ea typeface="Courier New" pitchFamily="34" charset="-122"/>
                <a:cs typeface="Courier New" pitchFamily="34" charset="-120"/>
              </a:rPr>
              <a:t>#DevOpsDaysBogota</a:t>
            </a:r>
            <a:endParaRPr lang="en-US" sz="11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IERRE">
    <p:bg>
      <p:bgPr>
        <a:solidFill>
          <a:srgbClr val="FFFFFF"/>
        </a:solidFill>
      </p:bgPr>
    </p:bg>
    <p:spTree>
      <p:nvGrpSpPr>
        <p:cNvPr id="1" name=""/>
        <p:cNvGrpSpPr/>
        <p:nvPr/>
      </p:nvGrpSpPr>
      <p:grpSpPr>
        <a:xfrm>
          <a:off x="0" y="0"/>
          <a:ext cx="0" cy="0"/>
          <a:chOff x="0" y="0"/>
          <a:chExt cx="0" cy="0"/>
        </a:xfrm>
      </p:grpSpPr>
      <p:pic>
        <p:nvPicPr>
          <p:cNvPr id="2" name="panel" descr="/tmp/claude-0/-home-claude/5ec21709-fc46-5733-a412-4634ee5d7730/scratchpad/ppt/img/panel-cierre.png">    </p:cNvPr>
          <p:cNvPicPr>
            <a:picLocks noChangeAspect="1"/>
          </p:cNvPicPr>
          <p:nvPr/>
        </p:nvPicPr>
        <p:blipFill>
          <a:blip r:embed="rId1"/>
          <a:stretch>
            <a:fillRect/>
          </a:stretch>
        </p:blipFill>
        <p:spPr>
          <a:xfrm>
            <a:off x="4572000" y="0"/>
            <a:ext cx="7619695" cy="6858000"/>
          </a:xfrm>
          <a:prstGeom prst="rect">
            <a:avLst/>
          </a:prstGeom>
        </p:spPr>
      </p:pic>
      <p:pic>
        <p:nvPicPr>
          <p:cNvPr id="3" name="amigos" descr="/tmp/claude-0/-home-claude/5ec21709-fc46-5733-a412-4634ee5d7730/scratchpad/ppt/img/grupo-amigos.png">    </p:cNvPr>
          <p:cNvPicPr>
            <a:picLocks noChangeAspect="1"/>
          </p:cNvPicPr>
          <p:nvPr/>
        </p:nvPicPr>
        <p:blipFill>
          <a:blip r:embed="rId2"/>
          <a:stretch>
            <a:fillRect/>
          </a:stretch>
        </p:blipFill>
        <p:spPr>
          <a:xfrm>
            <a:off x="4773168" y="969264"/>
            <a:ext cx="7223760" cy="5663794"/>
          </a:xfrm>
          <a:prstGeom prst="rect">
            <a:avLst/>
          </a:prstGeom>
        </p:spPr>
      </p:pic>
      <p:pic>
        <p:nvPicPr>
          <p:cNvPr id="4" name="logo" descr="/tmp/claude-0/-home-claude/5ec21709-fc46-5733-a412-4634ee5d7730/scratchpad/ppt/img/logo-pie.png">    </p:cNvPr>
          <p:cNvPicPr>
            <a:picLocks noChangeAspect="1"/>
          </p:cNvPicPr>
          <p:nvPr/>
        </p:nvPicPr>
        <p:blipFill>
          <a:blip r:embed="rId3"/>
          <a:stretch>
            <a:fillRect/>
          </a:stretch>
        </p:blipFill>
        <p:spPr>
          <a:xfrm>
            <a:off x="640080" y="566928"/>
            <a:ext cx="1920240" cy="847649"/>
          </a:xfrm>
          <a:prstGeom prst="rect">
            <a:avLst/>
          </a:prstGeom>
        </p:spPr>
      </p:pic>
      <p:sp>
        <p:nvSpPr>
          <p:cNvPr id="5"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CIERRE</a:t>
            </a:r>
            <a:endParaRPr lang="en-US" sz="1200" dirty="0"/>
          </a:p>
        </p:txBody>
      </p:sp>
      <p:sp>
        <p:nvSpPr>
          <p:cNvPr id="6" name="Text 1"/>
          <p:cNvSpPr/>
          <p:nvPr>
            <p:ph idx="104"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7" name="Text 1"/>
          <p:cNvSpPr/>
          <p:nvPr>
            <p:ph idx="105"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8"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FOTO">
    <p:bg>
      <p:bgPr>
        <a:solidFill>
          <a:srgbClr val="FFFFFF"/>
        </a:solidFill>
      </p:bgPr>
    </p:bg>
    <p:spTree>
      <p:nvGrpSpPr>
        <p:cNvPr id="1" name=""/>
        <p:cNvGrpSpPr/>
        <p:nvPr/>
      </p:nvGrpSpPr>
      <p:grpSpPr>
        <a:xfrm>
          <a:off x="0" y="0"/>
          <a:ext cx="0" cy="0"/>
          <a:chOff x="0" y="0"/>
          <a:chExt cx="0" cy="0"/>
        </a:xfrm>
      </p:grpSpPr>
      <p:pic>
        <p:nvPicPr>
          <p:cNvPr id="2" name="velo" descr="/tmp/claude-0/-home-claude/5ec21709-fc46-5733-a412-4634ee5d7730/scratchpad/ppt/img/velo-cierre.png">    </p:cNvPr>
          <p:cNvPicPr>
            <a:picLocks noChangeAspect="1"/>
          </p:cNvPicPr>
          <p:nvPr/>
        </p:nvPicPr>
        <p:blipFill>
          <a:blip r:embed="rId1"/>
          <a:stretch>
            <a:fillRect/>
          </a:stretch>
        </p:blipFill>
        <p:spPr>
          <a:xfrm>
            <a:off x="0" y="0"/>
            <a:ext cx="12191695" cy="6858000"/>
          </a:xfrm>
          <a:prstGeom prst="rect">
            <a:avLst/>
          </a:prstGeom>
        </p:spPr>
      </p:pic>
      <p:pic>
        <p:nvPicPr>
          <p:cNvPr id="3" name="logo" descr="/tmp/claude-0/-home-claude/5ec21709-fc46-5733-a412-4634ee5d7730/scratchpad/ppt/img/logo-pie.png">    </p:cNvPr>
          <p:cNvPicPr>
            <a:picLocks noChangeAspect="1"/>
          </p:cNvPicPr>
          <p:nvPr/>
        </p:nvPicPr>
        <p:blipFill>
          <a:blip r:embed="rId2"/>
          <a:stretch>
            <a:fillRect/>
          </a:stretch>
        </p:blipFill>
        <p:spPr>
          <a:xfrm>
            <a:off x="640080" y="566928"/>
            <a:ext cx="1920240" cy="847649"/>
          </a:xfrm>
          <a:prstGeom prst="rect">
            <a:avLst/>
          </a:prstGeom>
        </p:spPr>
      </p:pic>
      <p:sp>
        <p:nvSpPr>
          <p:cNvPr id="4" name="antetitulo"/>
          <p:cNvSpPr txBox="1"/>
          <p:nvPr/>
        </p:nvSpPr>
        <p:spPr>
          <a:xfrm>
            <a:off x="640080" y="1810512"/>
            <a:ext cx="3291840" cy="274320"/>
          </a:xfrm>
          <a:prstGeom prst="rect">
            <a:avLst/>
          </a:prstGeom>
          <a:noFill/>
          <a:ln/>
        </p:spPr>
        <p:txBody>
          <a:bodyPr wrap="square" lIns="0" tIns="0" rIns="0" bIns="0" rtlCol="0" anchor="ctr"/>
          <a:lstStyle/>
          <a:p>
            <a:pPr indent="0" marL="0">
              <a:buNone/>
            </a:pPr>
            <a:r>
              <a:rPr lang="en-US" sz="1200" b="1" spc="140" kern="0" dirty="0">
                <a:solidFill>
                  <a:srgbClr val="6D28D9"/>
                </a:solidFill>
              </a:rPr>
              <a:t>CLOSING</a:t>
            </a:r>
            <a:endParaRPr lang="en-US" sz="1200" dirty="0"/>
          </a:p>
        </p:txBody>
      </p:sp>
      <p:sp>
        <p:nvSpPr>
          <p:cNvPr id="5" name="Text 1"/>
          <p:cNvSpPr/>
          <p:nvPr>
            <p:ph idx="103" type="title" hasCustomPrompt="1"/>
          </p:nvPr>
        </p:nvSpPr>
        <p:spPr>
          <a:xfrm>
            <a:off x="640080" y="2176272"/>
            <a:ext cx="3566160" cy="868680"/>
          </a:xfrm>
          <a:prstGeom prst="rect">
            <a:avLst/>
          </a:prstGeom>
          <a:noFill/>
          <a:ln/>
        </p:spPr>
        <p:txBody>
          <a:bodyPr wrap="square" rtlCol="0"/>
          <a:lstStyle>
            <a:lvl1pPr algn="l" indent="0" marL="0">
              <a:buNone/>
              <a:defRPr lang="en-US" sz="4400" b="1" dirty="0">
                <a:solidFill>
                  <a:srgbClr val="071329"/>
                </a:solidFill>
              </a:defRPr>
            </a:lvl1pPr>
          </a:lstStyle>
          <a:p>
            <a:pPr algn="l" indent="0" marL="0">
              <a:buNone/>
            </a:pPr>
            <a:r>
              <a:rPr lang="en-US" sz="4400" b="1" dirty="0">
                <a:solidFill>
                  <a:srgbClr val="071329"/>
                </a:solidFill>
              </a:rPr>
              <a:t>Gracias</a:t>
            </a:r>
            <a:endParaRPr lang="en-US" sz="4400" dirty="0"/>
          </a:p>
        </p:txBody>
      </p:sp>
      <p:sp>
        <p:nvSpPr>
          <p:cNvPr id="6" name="Text 1"/>
          <p:cNvSpPr/>
          <p:nvPr>
            <p:ph idx="104" type="body" hasCustomPrompt="1"/>
          </p:nvPr>
        </p:nvSpPr>
        <p:spPr>
          <a:xfrm>
            <a:off x="640080" y="3218688"/>
            <a:ext cx="3566160" cy="210312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Cierre</a:t>
            </a:r>
            <a:endParaRPr lang="en-US" sz="1700" dirty="0"/>
          </a:p>
        </p:txBody>
      </p:sp>
      <p:sp>
        <p:nvSpPr>
          <p:cNvPr id="7" name="datos"/>
          <p:cNvSpPr txBox="1"/>
          <p:nvPr/>
        </p:nvSpPr>
        <p:spPr>
          <a:xfrm>
            <a:off x="640080" y="5989320"/>
            <a:ext cx="3657600" cy="274320"/>
          </a:xfrm>
          <a:prstGeom prst="rect">
            <a:avLst/>
          </a:prstGeom>
          <a:noFill/>
          <a:ln/>
        </p:spPr>
        <p:txBody>
          <a:bodyPr wrap="square" lIns="0" tIns="0" rIns="0" bIns="0" rtlCol="0" anchor="ctr"/>
          <a:lstStyle/>
          <a:p>
            <a:pPr indent="0" marL="0">
              <a:buNone/>
            </a:pPr>
            <a:r>
              <a:rPr lang="en-US" sz="1000" spc="80" kern="0" dirty="0">
                <a:solidFill>
                  <a:srgbClr val="5C7290"/>
                </a:solidFill>
                <a:latin typeface="Courier New" pitchFamily="34" charset="0"/>
                <a:ea typeface="Courier New" pitchFamily="34" charset="-122"/>
                <a:cs typeface="Courier New" pitchFamily="34" charset="-120"/>
              </a:rPr>
              <a:t>23 OCT 2026   ·   COMPENSAR AV. 68</a:t>
            </a:r>
            <a:endParaRPr lang="en-US" sz="1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IDO">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1115568" y="457200"/>
            <a:ext cx="6858000" cy="274320"/>
          </a:xfrm>
          <a:prstGeom prst="rect">
            <a:avLst/>
          </a:prstGeom>
          <a:noFill/>
          <a:ln/>
        </p:spPr>
        <p:txBody>
          <a:bodyPr wrap="square" rtlCol="0"/>
          <a:lstStyle>
            <a:lvl1pPr indent="0" marL="0">
              <a:buNone/>
              <a:defRPr lang="en-US" sz="1200" b="1" spc="140" kern="0" dirty="0">
                <a:solidFill>
                  <a:srgbClr val="6D28D9"/>
                </a:solidFill>
              </a:defRPr>
            </a:lvl1pPr>
          </a:lstStyle>
          <a:p>
            <a:pPr indent="0" marL="0">
              <a:buNone/>
            </a:pPr>
            <a:r>
              <a:rPr lang="en-US" sz="1200" b="1" spc="140" kern="0" dirty="0">
                <a:solidFill>
                  <a:srgbClr val="6D28D9"/>
                </a:solidFill>
              </a:rPr>
              <a:t>EYEBROW</a:t>
            </a:r>
            <a:endParaRPr lang="en-US" sz="1200" dirty="0"/>
          </a:p>
        </p:txBody>
      </p:sp>
      <p:sp>
        <p:nvSpPr>
          <p:cNvPr id="9" name="Text 4"/>
          <p:cNvSpPr/>
          <p:nvPr>
            <p:ph idx="107"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MPLE">
    <p:bg>
      <p:bgPr>
        <a:solidFill>
          <a:srgbClr val="FFFFFF"/>
        </a:solidFill>
      </p:bgPr>
    </p:bg>
    <p:spTree>
      <p:nvGrpSpPr>
        <p:cNvPr id="1" name=""/>
        <p:cNvGrpSpPr/>
        <p:nvPr/>
      </p:nvGrpSpPr>
      <p:grpSpPr>
        <a:xfrm>
          <a:off x="0" y="0"/>
          <a:ext cx="0" cy="0"/>
          <a:chOff x="0" y="0"/>
          <a:chExt cx="0" cy="0"/>
        </a:xfrm>
      </p:grpSpPr>
      <p:pic>
        <p:nvPicPr>
          <p:cNvPr id="2" name="onda-pie" descr="/tmp/claude-0/-home-claude/5ec21709-fc46-5733-a412-4634ee5d7730/scratchpad/ppt/img/onda-pie.png">    </p:cNvPr>
          <p:cNvPicPr>
            <a:picLocks noChangeAspect="1"/>
          </p:cNvPicPr>
          <p:nvPr/>
        </p:nvPicPr>
        <p:blipFill>
          <a:blip r:embed="rId1"/>
          <a:stretch>
            <a:fillRect/>
          </a:stretch>
        </p:blipFill>
        <p:spPr>
          <a:xfrm>
            <a:off x="0" y="5905195"/>
            <a:ext cx="12191695" cy="952805"/>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512064"/>
            <a:ext cx="91440" cy="91440"/>
          </a:xfrm>
          <a:prstGeom prst="rect">
            <a:avLst/>
          </a:prstGeom>
          <a:solidFill>
            <a:srgbClr val="2448FF"/>
          </a:solidFill>
          <a:ln w="12700">
            <a:solidFill>
              <a:srgbClr val="2448FF"/>
            </a:solidFill>
            <a:prstDash val="solid"/>
          </a:ln>
        </p:spPr>
      </p:sp>
      <p:sp>
        <p:nvSpPr>
          <p:cNvPr id="6" name="Shape 2"/>
          <p:cNvSpPr/>
          <p:nvPr/>
        </p:nvSpPr>
        <p:spPr>
          <a:xfrm>
            <a:off x="772668" y="512064"/>
            <a:ext cx="91440" cy="91440"/>
          </a:xfrm>
          <a:prstGeom prst="rect">
            <a:avLst/>
          </a:prstGeom>
          <a:solidFill>
            <a:srgbClr val="6D28D9"/>
          </a:solidFill>
          <a:ln w="12700">
            <a:solidFill>
              <a:srgbClr val="6D28D9"/>
            </a:solidFill>
            <a:prstDash val="solid"/>
          </a:ln>
        </p:spPr>
      </p:sp>
      <p:sp>
        <p:nvSpPr>
          <p:cNvPr id="7" name="Shape 3"/>
          <p:cNvSpPr/>
          <p:nvPr/>
        </p:nvSpPr>
        <p:spPr>
          <a:xfrm>
            <a:off x="905256" y="512064"/>
            <a:ext cx="91440" cy="91440"/>
          </a:xfrm>
          <a:prstGeom prst="rect">
            <a:avLst/>
          </a:prstGeom>
          <a:solidFill>
            <a:srgbClr val="00BCEB"/>
          </a:solidFill>
          <a:ln w="12700">
            <a:solidFill>
              <a:srgbClr val="00BCEB"/>
            </a:solidFill>
            <a:prstDash val="solid"/>
          </a:ln>
        </p:spPr>
      </p:sp>
      <p:sp>
        <p:nvSpPr>
          <p:cNvPr id="8" name="Text 4"/>
          <p:cNvSpPr/>
          <p:nvPr>
            <p:ph idx="106" type="title" hasCustomPrompt="1"/>
          </p:nvPr>
        </p:nvSpPr>
        <p:spPr>
          <a:xfrm>
            <a:off x="640080" y="841248"/>
            <a:ext cx="10911535" cy="713232"/>
          </a:xfrm>
          <a:prstGeom prst="rect">
            <a:avLst/>
          </a:prstGeom>
          <a:noFill/>
          <a:ln/>
        </p:spPr>
        <p:txBody>
          <a:bodyPr wrap="square" rtlCol="0"/>
          <a:lstStyle>
            <a:lvl1pPr algn="l" indent="0" marL="0">
              <a:buNone/>
              <a:defRPr lang="en-US" sz="3200" b="1" dirty="0">
                <a:solidFill>
                  <a:srgbClr val="071329"/>
                </a:solidFill>
              </a:defRPr>
            </a:lvl1pPr>
          </a:lstStyle>
          <a:p>
            <a:pPr algn="l" indent="0" marL="0">
              <a:buNone/>
            </a:pPr>
            <a:r>
              <a:rPr lang="en-US" sz="3200" b="1" dirty="0">
                <a:solidFill>
                  <a:srgbClr val="071329"/>
                </a:solidFill>
              </a:rPr>
              <a:t>Título de la lámina</a:t>
            </a:r>
            <a:endParaRPr lang="en-US" sz="32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1006</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SOR">
    <p:bg>
      <p:bgPr>
        <a:solidFill>
          <a:srgbClr val="F4F7FC"/>
        </a:solidFill>
      </p:bgPr>
    </p:bg>
    <p:spTree>
      <p:nvGrpSpPr>
        <p:cNvPr id="1" name=""/>
        <p:cNvGrpSpPr/>
        <p:nvPr/>
      </p:nvGrpSpPr>
      <p:grpSpPr>
        <a:xfrm>
          <a:off x="0" y="0"/>
          <a:ext cx="0" cy="0"/>
          <a:chOff x="0" y="0"/>
          <a:chExt cx="0" cy="0"/>
        </a:xfrm>
      </p:grpSpPr>
      <p:pic>
        <p:nvPicPr>
          <p:cNvPr id="2" name="ondas" descr="/tmp/claude-0/-home-claude/5ec21709-fc46-5733-a412-4634ee5d7730/scratchpad/ppt/img/fondo-divisor.png">    </p:cNvPr>
          <p:cNvPicPr>
            <a:picLocks noChangeAspect="1"/>
          </p:cNvPicPr>
          <p:nvPr/>
        </p:nvPicPr>
        <p:blipFill>
          <a:blip r:embed="rId1"/>
          <a:stretch>
            <a:fillRect/>
          </a:stretch>
        </p:blipFill>
        <p:spPr>
          <a:xfrm>
            <a:off x="0" y="0"/>
            <a:ext cx="12191695" cy="6858000"/>
          </a:xfrm>
          <a:prstGeom prst="rect">
            <a:avLst/>
          </a:prstGeom>
        </p:spPr>
      </p:pic>
      <p:pic>
        <p:nvPicPr>
          <p:cNvPr id="3" name="logo-pie" descr="/tmp/claude-0/-home-claude/5ec21709-fc46-5733-a412-4634ee5d7730/scratchpad/ppt/img/logo-pie.png">    </p:cNvPr>
          <p:cNvPicPr>
            <a:picLocks noChangeAspect="1"/>
          </p:cNvPicPr>
          <p:nvPr/>
        </p:nvPicPr>
        <p:blipFill>
          <a:blip r:embed="rId2"/>
          <a:stretch>
            <a:fillRect/>
          </a:stretch>
        </p:blipFill>
        <p:spPr>
          <a:xfrm>
            <a:off x="640080" y="6199632"/>
            <a:ext cx="1078992" cy="475488"/>
          </a:xfrm>
          <a:prstGeom prst="rect">
            <a:avLst/>
          </a:prstGeom>
        </p:spPr>
      </p:pic>
      <p:sp>
        <p:nvSpPr>
          <p:cNvPr id="4" name="pie-url"/>
          <p:cNvSpPr txBox="1"/>
          <p:nvPr/>
        </p:nvSpPr>
        <p:spPr>
          <a:xfrm>
            <a:off x="8625535" y="6309360"/>
            <a:ext cx="2926080" cy="256032"/>
          </a:xfrm>
          <a:prstGeom prst="rect">
            <a:avLst/>
          </a:prstGeom>
          <a:noFill/>
          <a:ln/>
        </p:spPr>
        <p:txBody>
          <a:bodyPr wrap="square" lIns="0" tIns="0" rIns="0" bIns="0" rtlCol="0" anchor="ctr"/>
          <a:lstStyle/>
          <a:p>
            <a:pPr algn="r" indent="0" marL="0">
              <a:buNone/>
            </a:pPr>
            <a:r>
              <a:rPr lang="en-US" sz="1000" dirty="0">
                <a:solidFill>
                  <a:srgbClr val="475569"/>
                </a:solidFill>
                <a:latin typeface="Courier New" pitchFamily="34" charset="0"/>
                <a:ea typeface="Courier New" pitchFamily="34" charset="-122"/>
                <a:cs typeface="Courier New" pitchFamily="34" charset="-120"/>
              </a:rPr>
              <a:t>devopsdaysbogota.org</a:t>
            </a:r>
            <a:endParaRPr lang="en-US" sz="1000" dirty="0"/>
          </a:p>
        </p:txBody>
      </p:sp>
      <p:sp>
        <p:nvSpPr>
          <p:cNvPr id="5" name="Shape 1"/>
          <p:cNvSpPr/>
          <p:nvPr/>
        </p:nvSpPr>
        <p:spPr>
          <a:xfrm>
            <a:off x="640080" y="2084832"/>
            <a:ext cx="146304" cy="146304"/>
          </a:xfrm>
          <a:prstGeom prst="rect">
            <a:avLst/>
          </a:prstGeom>
          <a:solidFill>
            <a:srgbClr val="2448FF"/>
          </a:solidFill>
          <a:ln w="12700">
            <a:solidFill>
              <a:srgbClr val="2448FF"/>
            </a:solidFill>
            <a:prstDash val="solid"/>
          </a:ln>
        </p:spPr>
      </p:sp>
      <p:sp>
        <p:nvSpPr>
          <p:cNvPr id="6" name="Shape 2"/>
          <p:cNvSpPr/>
          <p:nvPr/>
        </p:nvSpPr>
        <p:spPr>
          <a:xfrm>
            <a:off x="827532" y="2084832"/>
            <a:ext cx="146304" cy="146304"/>
          </a:xfrm>
          <a:prstGeom prst="rect">
            <a:avLst/>
          </a:prstGeom>
          <a:solidFill>
            <a:srgbClr val="6D28D9"/>
          </a:solidFill>
          <a:ln w="12700">
            <a:solidFill>
              <a:srgbClr val="6D28D9"/>
            </a:solidFill>
            <a:prstDash val="solid"/>
          </a:ln>
        </p:spPr>
      </p:sp>
      <p:sp>
        <p:nvSpPr>
          <p:cNvPr id="7" name="Shape 3"/>
          <p:cNvSpPr/>
          <p:nvPr/>
        </p:nvSpPr>
        <p:spPr>
          <a:xfrm>
            <a:off x="1014984" y="2084832"/>
            <a:ext cx="146304" cy="146304"/>
          </a:xfrm>
          <a:prstGeom prst="rect">
            <a:avLst/>
          </a:prstGeom>
          <a:solidFill>
            <a:srgbClr val="00BCEB"/>
          </a:solidFill>
          <a:ln w="12700">
            <a:solidFill>
              <a:srgbClr val="00BCEB"/>
            </a:solidFill>
            <a:prstDash val="solid"/>
          </a:ln>
        </p:spPr>
      </p:sp>
      <p:sp>
        <p:nvSpPr>
          <p:cNvPr id="8" name="Text 4"/>
          <p:cNvSpPr/>
          <p:nvPr>
            <p:ph idx="106" type="body" hasCustomPrompt="1"/>
          </p:nvPr>
        </p:nvSpPr>
        <p:spPr>
          <a:xfrm>
            <a:off x="640080" y="2395728"/>
            <a:ext cx="2743200" cy="1005840"/>
          </a:xfrm>
          <a:prstGeom prst="rect">
            <a:avLst/>
          </a:prstGeom>
          <a:noFill/>
          <a:ln/>
        </p:spPr>
        <p:txBody>
          <a:bodyPr wrap="square" rtlCol="0"/>
          <a:lstStyle>
            <a:lvl1pPr indent="0" marL="0">
              <a:buNone/>
              <a:defRPr lang="en-US" sz="6400" b="1" dirty="0">
                <a:solidFill>
                  <a:srgbClr val="2448FF"/>
                </a:solidFill>
              </a:defRPr>
            </a:lvl1pPr>
          </a:lstStyle>
          <a:p>
            <a:pPr indent="0" marL="0">
              <a:buNone/>
            </a:pPr>
            <a:r>
              <a:rPr lang="en-US" sz="6400" b="1" dirty="0">
                <a:solidFill>
                  <a:srgbClr val="2448FF"/>
                </a:solidFill>
              </a:rPr>
              <a:t>01</a:t>
            </a:r>
            <a:endParaRPr lang="en-US" sz="6400" dirty="0"/>
          </a:p>
        </p:txBody>
      </p:sp>
      <p:sp>
        <p:nvSpPr>
          <p:cNvPr id="9" name="Text 4"/>
          <p:cNvSpPr/>
          <p:nvPr>
            <p:ph idx="107" type="title" hasCustomPrompt="1"/>
          </p:nvPr>
        </p:nvSpPr>
        <p:spPr>
          <a:xfrm>
            <a:off x="640080" y="3456432"/>
            <a:ext cx="8595360" cy="914400"/>
          </a:xfrm>
          <a:prstGeom prst="rect">
            <a:avLst/>
          </a:prstGeom>
          <a:noFill/>
          <a:ln/>
        </p:spPr>
        <p:txBody>
          <a:bodyPr wrap="square" rtlCol="0"/>
          <a:lstStyle>
            <a:lvl1pPr algn="l" indent="0" marL="0">
              <a:buNone/>
              <a:defRPr lang="en-US" sz="3800" b="1" dirty="0">
                <a:solidFill>
                  <a:srgbClr val="071329"/>
                </a:solidFill>
              </a:defRPr>
            </a:lvl1pPr>
          </a:lstStyle>
          <a:p>
            <a:pPr algn="l" indent="0" marL="0">
              <a:buNone/>
            </a:pPr>
            <a:r>
              <a:rPr lang="en-US" sz="3800" b="1" dirty="0">
                <a:solidFill>
                  <a:srgbClr val="071329"/>
                </a:solidFill>
              </a:rPr>
              <a:t>Nombre de la sección</a:t>
            </a:r>
            <a:endParaRPr lang="en-US" sz="3800" dirty="0"/>
          </a:p>
        </p:txBody>
      </p:sp>
      <p:sp>
        <p:nvSpPr>
          <p:cNvPr id="10" name="Text 4"/>
          <p:cNvSpPr/>
          <p:nvPr>
            <p:ph idx="108" type="body" hasCustomPrompt="1"/>
          </p:nvPr>
        </p:nvSpPr>
        <p:spPr>
          <a:xfrm>
            <a:off x="640080" y="4407408"/>
            <a:ext cx="7498080" cy="640080"/>
          </a:xfrm>
          <a:prstGeom prst="rect">
            <a:avLst/>
          </a:prstGeom>
          <a:noFill/>
          <a:ln/>
        </p:spPr>
        <p:txBody>
          <a:bodyPr wrap="square" rtlCol="0"/>
          <a:lstStyle>
            <a:lvl1pPr algn="l" indent="0" marL="0">
              <a:buNone/>
              <a:defRPr lang="en-US" sz="1700" dirty="0">
                <a:solidFill>
                  <a:srgbClr val="475569"/>
                </a:solidFill>
              </a:defRPr>
            </a:lvl1pPr>
          </a:lstStyle>
          <a:p>
            <a:pPr algn="l" indent="0" marL="0">
              <a:buNone/>
            </a:pPr>
            <a:r>
              <a:rPr lang="en-US" sz="1700" dirty="0">
                <a:solidFill>
                  <a:srgbClr val="475569"/>
                </a:solidFill>
              </a:rPr>
              <a:t>Una línea que anticipa de qué va esta parte.</a:t>
            </a:r>
            <a:endParaRPr lang="en-US" sz="1700" dirty="0"/>
          </a:p>
        </p:txBody>
      </p:sp>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1007</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image" Target="../media/image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gif"/><Relationship Id="rId3" Type="http://schemas.openxmlformats.org/officeDocument/2006/relationships/image" Target="../media/image7.gif"/><Relationship Id="rId4" Type="http://schemas.openxmlformats.org/officeDocument/2006/relationships/image" Target="../media/image8.gif"/><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9.jp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14.png"/><Relationship Id="rId8" Type="http://schemas.openxmlformats.org/officeDocument/2006/relationships/image" Target="../media/image15.png"/><Relationship Id="rId9" Type="http://schemas.openxmlformats.org/officeDocument/2006/relationships/image" Target="../media/image16.png"/><Relationship Id="rId10" Type="http://schemas.openxmlformats.org/officeDocument/2006/relationships/image" Target="../media/image17.png"/><Relationship Id="rId11" Type="http://schemas.openxmlformats.org/officeDocument/2006/relationships/image" Target="../media/image18.png"/><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48.png"/><Relationship Id="rId7" Type="http://schemas.openxmlformats.org/officeDocument/2006/relationships/image" Target="../media/image49.png"/><Relationship Id="rId8" Type="http://schemas.openxmlformats.org/officeDocument/2006/relationships/image" Target="../media/image50.png"/><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0.png"/><Relationship Id="rId3" Type="http://schemas.openxmlformats.org/officeDocument/2006/relationships/image" Target="../media/image71.png"/><Relationship Id="rId4" Type="http://schemas.openxmlformats.org/officeDocument/2006/relationships/image" Target="../media/image72.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3.png"/><Relationship Id="rId3" Type="http://schemas.openxmlformats.org/officeDocument/2006/relationships/image" Target="../media/image74.png"/><Relationship Id="rId4" Type="http://schemas.openxmlformats.org/officeDocument/2006/relationships/image" Target="../media/image75.png"/><Relationship Id="rId5" Type="http://schemas.openxmlformats.org/officeDocument/2006/relationships/image" Target="../media/image76.png"/><Relationship Id="rId6" Type="http://schemas.openxmlformats.org/officeDocument/2006/relationships/image" Target="../media/image77.png"/><Relationship Id="rId7" Type="http://schemas.openxmlformats.org/officeDocument/2006/relationships/image" Target="../media/image78.png"/><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80.png"/><Relationship Id="rId5" Type="http://schemas.microsoft.com/office/2007/relationships/media" Target="../media/media2.mp4"/><Relationship Id="rId6" Type="http://schemas.openxmlformats.org/officeDocument/2006/relationships/video" Target="../media/media2.mp4"/><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8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3"/>
          </p:nvPr>
        </p:nvSpPr>
        <p:spPr/>
        <p:txBody>
          <a:bodyPr lIns="0"/>
          <a:lstStyle/>
          <a:p>
            <a:r>
              <a:rPr lang="es-CO"/>
              <a:t>MLOps </a:t>
            </a:r>
            <a:r>
              <a:rPr lang="es-CO">
                <a:solidFill>
                  <a:srgbClr val="6D28D9"/>
                </a:solidFill>
              </a:rPr>
              <a:t>a ciegas</a:t>
            </a:r>
          </a:p>
          <a:p>
            <a:pPr>
              <a:spcBef>
                <a:spcPts val="800"/>
              </a:spcBef>
            </a:pPr>
            <a:r>
              <a:rPr sz="1800" b="0" lang="es-CO">
                <a:solidFill>
                  <a:srgbClr val="071329"/>
                </a:solidFill>
              </a:rPr>
              <a:t>Gobernar modelos de IA que se ejecutan donde no llega el plano de control</a:t>
            </a:r>
          </a:p>
        </p:txBody>
      </p:sp>
      <p:sp>
        <p:nvSpPr>
          <p:cNvPr id="3" name="Text Placeholder 2"/>
          <p:cNvSpPr>
            <a:spLocks noGrp="1"/>
          </p:cNvSpPr>
          <p:nvPr>
            <p:ph type="body" idx="104"/>
          </p:nvPr>
        </p:nvSpPr>
        <p:spPr/>
        <p:txBody>
          <a:bodyPr lIns="0"/>
          <a:lstStyle/>
          <a:p>
            <a:r>
              <a:rPr lang="es-CO"/>
              <a:t>Alejandro Varela · Senior Cloud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ESCUCHA</a:t>
            </a:r>
          </a:p>
        </p:txBody>
      </p:sp>
      <p:sp>
        <p:nvSpPr>
          <p:cNvPr id="3" name="Title 2"/>
          <p:cNvSpPr>
            <a:spLocks noGrp="1"/>
          </p:cNvSpPr>
          <p:nvPr>
            <p:ph type="title" idx="107"/>
          </p:nvPr>
        </p:nvSpPr>
        <p:spPr/>
        <p:txBody>
          <a:bodyPr lIns="0"/>
          <a:lstStyle/>
          <a:p>
            <a:r>
              <a:rPr lang="es-CO"/>
              <a:t>¿Esta bomba está </a:t>
            </a:r>
            <a:r>
              <a:rPr b="1" lang="es-CO">
                <a:solidFill>
                  <a:srgbClr val="6D28D9"/>
                </a:solidFill>
              </a:rPr>
              <a:t>fallando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arjeta A"/>
          <p:cNvSpPr/>
          <p:nvPr/>
        </p:nvSpPr>
        <p:spPr>
          <a:xfrm>
            <a:off x="6400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55" name="Rótulo A"/>
          <p:cNvSpPr txBox="1"/>
          <p:nvPr/>
        </p:nvSpPr>
        <p:spPr>
          <a:xfrm>
            <a:off x="8496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A</a:t>
            </a:r>
          </a:p>
        </p:txBody>
      </p:sp>
      <p:pic>
        <p:nvPicPr>
          <p:cNvPr id="56"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49630" y="2415540"/>
            <a:ext cx="4876800" cy="1219200"/>
          </a:xfrm>
          <a:prstGeom prst="rect">
            <a:avLst/>
          </a:prstGeom>
        </p:spPr>
      </p:pic>
      <p:grpSp>
        <p:nvGrpSpPr>
          <p:cNvPr id="4" name="Botón A"/>
          <p:cNvGrpSpPr/>
          <p:nvPr/>
        </p:nvGrpSpPr>
        <p:grpSpPr>
          <a:xfrm>
            <a:off x="849630" y="3787140"/>
            <a:ext cx="4853940" cy="487680"/>
            <a:chOff x="849630" y="3787140"/>
            <a:chExt cx="4853940" cy="487680"/>
          </a:xfrm>
        </p:grpSpPr>
        <p:sp>
          <p:nvSpPr>
            <p:cNvPr id="57" name="Fondo"/>
            <p:cNvSpPr/>
            <p:nvPr/>
          </p:nvSpPr>
          <p:spPr>
            <a:xfrm>
              <a:off x="849630" y="3787140"/>
              <a:ext cx="4853940" cy="487680"/>
            </a:xfrm>
            <a:prstGeom prst="roundRect">
              <a:avLst>
                <a:gd name="adj" fmla="val 50000"/>
              </a:avLst>
            </a:prstGeom>
            <a:solidFill>
              <a:srgbClr val="6D28D9"/>
            </a:solidFill>
            <a:ln>
              <a:noFill/>
            </a:ln>
          </p:spPr>
          <p:txBody>
            <a:bodyPr rtlCol="0" anchor="ctr"/>
            <a:lstStyle/>
            <a:p>
              <a:pPr algn="ctr"/>
            </a:p>
          </p:txBody>
        </p:sp>
        <p:sp>
          <p:nvSpPr>
            <p:cNvPr id="5" name="Triángulo"/>
            <p:cNvSpPr/>
            <p:nvPr/>
          </p:nvSpPr>
          <p:spPr>
            <a:xfrm>
              <a:off x="27835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30502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59" name="Tarjeta B"/>
          <p:cNvSpPr/>
          <p:nvPr/>
        </p:nvSpPr>
        <p:spPr>
          <a:xfrm>
            <a:off x="6278880" y="1828800"/>
            <a:ext cx="5273040" cy="2655570"/>
          </a:xfrm>
          <a:prstGeom prst="roundRect">
            <a:avLst>
              <a:gd name="adj" fmla="val 4017"/>
            </a:avLst>
          </a:prstGeom>
          <a:solidFill>
            <a:srgbClr val="FFFFFF"/>
          </a:solidFill>
          <a:ln w="11430">
            <a:solidFill>
              <a:srgbClr val="D5DEEA"/>
            </a:solidFill>
          </a:ln>
        </p:spPr>
        <p:txBody>
          <a:bodyPr rtlCol="0" anchor="ctr"/>
          <a:lstStyle/>
          <a:p>
            <a:pPr algn="ctr"/>
          </a:p>
        </p:txBody>
      </p:sp>
      <p:sp>
        <p:nvSpPr>
          <p:cNvPr id="60" name="Rótulo B"/>
          <p:cNvSpPr txBox="1"/>
          <p:nvPr/>
        </p:nvSpPr>
        <p:spPr>
          <a:xfrm>
            <a:off x="6488430" y="1992325"/>
            <a:ext cx="3810000" cy="316078"/>
          </a:xfrm>
          <a:prstGeom prst="rect">
            <a:avLst/>
          </a:prstGeom>
          <a:noFill/>
        </p:spPr>
        <p:txBody>
          <a:bodyPr wrap="square" lIns="0" tIns="0" rIns="0" bIns="0" anchor="t">
            <a:noAutofit/>
          </a:bodyPr>
          <a:lstStyle/>
          <a:p>
            <a:r>
              <a:rPr sz="2039" b="1" lang="es-CO">
                <a:solidFill>
                  <a:srgbClr val="071329"/>
                </a:solidFill>
                <a:latin typeface="Calibri"/>
              </a:rPr>
              <a:t>Bomba B</a:t>
            </a:r>
          </a:p>
        </p:txBody>
      </p:sp>
      <p:pic>
        <p:nvPicPr>
          <p:cNvPr id="61"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7"/>
          <a:stretch>
            <a:fillRect/>
          </a:stretch>
        </p:blipFill>
        <p:spPr>
          <a:xfrm>
            <a:off x="6488430" y="2415540"/>
            <a:ext cx="4876800" cy="1219200"/>
          </a:xfrm>
          <a:prstGeom prst="rect">
            <a:avLst/>
          </a:prstGeom>
        </p:spPr>
      </p:pic>
      <p:grpSp>
        <p:nvGrpSpPr>
          <p:cNvPr id="6" name="Botón B"/>
          <p:cNvGrpSpPr/>
          <p:nvPr/>
        </p:nvGrpSpPr>
        <p:grpSpPr>
          <a:xfrm>
            <a:off x="6488430" y="3787140"/>
            <a:ext cx="4853940" cy="487680"/>
            <a:chOff x="6488430" y="3787140"/>
            <a:chExt cx="4853940" cy="487680"/>
          </a:xfrm>
        </p:grpSpPr>
        <p:sp>
          <p:nvSpPr>
            <p:cNvPr id="62" name="Fondo"/>
            <p:cNvSpPr/>
            <p:nvPr/>
          </p:nvSpPr>
          <p:spPr>
            <a:xfrm>
              <a:off x="6488430" y="3787140"/>
              <a:ext cx="4853940" cy="487680"/>
            </a:xfrm>
            <a:prstGeom prst="roundRect">
              <a:avLst>
                <a:gd name="adj" fmla="val 50000"/>
              </a:avLst>
            </a:prstGeom>
            <a:solidFill>
              <a:srgbClr val="6D28D9"/>
            </a:solidFill>
            <a:ln>
              <a:noFill/>
            </a:ln>
          </p:spPr>
          <p:txBody>
            <a:bodyPr rtlCol="0" anchor="ctr"/>
            <a:lstStyle/>
            <a:p>
              <a:pPr algn="ctr"/>
            </a:p>
          </p:txBody>
        </p:sp>
        <p:sp>
          <p:nvSpPr>
            <p:cNvPr id="7" name="Triángulo"/>
            <p:cNvSpPr/>
            <p:nvPr/>
          </p:nvSpPr>
          <p:spPr>
            <a:xfrm>
              <a:off x="8422303" y="39395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63" name="Rótulo"/>
            <p:cNvSpPr txBox="1"/>
            <p:nvPr/>
          </p:nvSpPr>
          <p:spPr>
            <a:xfrm>
              <a:off x="8689003" y="3787140"/>
              <a:ext cx="932855" cy="487680"/>
            </a:xfrm>
            <a:prstGeom prst="rect">
              <a:avLst/>
            </a:prstGeom>
            <a:noFill/>
          </p:spPr>
          <p:txBody>
            <a:bodyPr wrap="square" lIns="0" tIns="0" rIns="0" bIns="0" anchor="ctr">
              <a:noAutofit/>
            </a:bodyPr>
            <a:lstStyle/>
            <a:p>
              <a:r>
                <a:rPr sz="1620" b="1" lang="es-CO">
                  <a:solidFill>
                    <a:srgbClr val="FFFFFF"/>
                  </a:solidFill>
                  <a:latin typeface="Calibri"/>
                </a:rPr>
                <a:t>Escuchar</a:t>
              </a:r>
            </a:p>
          </p:txBody>
        </p:sp>
      </p:grpSp>
      <p:sp>
        <p:nvSpPr>
          <p:cNvPr id="64" name="Pregunta"/>
          <p:cNvSpPr txBox="1"/>
          <p:nvPr/>
        </p:nvSpPr>
        <p:spPr>
          <a:xfrm>
            <a:off x="640080" y="4789322"/>
            <a:ext cx="10911840" cy="539191"/>
          </a:xfrm>
          <a:prstGeom prst="rect">
            <a:avLst/>
          </a:prstGeom>
          <a:noFill/>
        </p:spPr>
        <p:txBody>
          <a:bodyPr wrap="square" lIns="0" tIns="0" rIns="0" bIns="0" anchor="t">
            <a:noAutofit/>
          </a:bodyPr>
          <a:lstStyle/>
          <a:p>
            <a:r>
              <a:rPr sz="3479" b="1" lang="es-CO">
                <a:solidFill>
                  <a:srgbClr val="071329"/>
                </a:solidFill>
                <a:latin typeface="Calibri"/>
              </a:rPr>
              <a:t>Levanten la mano: ¿</a:t>
            </a:r>
            <a:r>
              <a:rPr sz="3479" b="1" lang="es-CO">
                <a:solidFill>
                  <a:srgbClr val="6D28D9"/>
                </a:solidFill>
                <a:latin typeface="Calibri"/>
              </a:rPr>
              <a:t>A</a:t>
            </a:r>
            <a:r>
              <a:rPr sz="3479" b="1" lang="es-CO">
                <a:solidFill>
                  <a:srgbClr val="071329"/>
                </a:solidFill>
                <a:latin typeface="Calibri"/>
              </a:rPr>
              <a:t>, </a:t>
            </a:r>
            <a:r>
              <a:rPr sz="3479" b="1" lang="es-CO">
                <a:solidFill>
                  <a:srgbClr val="6D28D9"/>
                </a:solidFill>
                <a:latin typeface="Calibri"/>
              </a:rPr>
              <a:t>B</a:t>
            </a:r>
            <a:r>
              <a:rPr sz="3479" b="1" lang="es-CO">
                <a:solidFill>
                  <a:srgbClr val="071329"/>
                </a:solidFill>
                <a:latin typeface="Calibri"/>
              </a:rPr>
              <a:t> o </a:t>
            </a:r>
            <a:r>
              <a:rPr sz="3479" b="1" lang="es-CO">
                <a:solidFill>
                  <a:srgbClr val="6D28D9"/>
                </a:solidFill>
                <a:latin typeface="Calibri"/>
              </a:rPr>
              <a:t>las dos</a:t>
            </a:r>
            <a:r>
              <a:rPr sz="3479" b="1" lang="es-CO">
                <a:solidFill>
                  <a:srgbClr val="071329"/>
                </a:solidFill>
                <a:latin typeface="Calibri"/>
              </a:rPr>
              <a:t>?</a:t>
            </a:r>
          </a:p>
        </p:txBody>
      </p:sp>
      <p:sp>
        <p:nvSpPr>
          <p:cNvPr id="6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Sonidos reales de bombas industriales · MIMII DUE, Hitachi · CC BY-NC-SA 4.0</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8" restart="whenNotActive" fill="hold" evtFilter="cancelBubble" nodeType="interactiveSeq">
                <p:stCondLst>
                  <p:cond evt="onClick" delay="0">
                    <p:tgtEl>
                      <p:spTgt spid="4"/>
                    </p:tgtEl>
                  </p:cond>
                </p:stCondLst>
                <p:endSyncLst>
                  <p:cond evt="onEnd" delay="0">
                    <p:rtn val="all"/>
                  </p:cond>
                </p:endSyncLst>
                <p:childTnLst>
                  <p:par>
                    <p:cTn id="9" fill="hold">
                      <p:stCondLst>
                        <p:cond delay="0"/>
                      </p:stCondLst>
                      <p:childTnLst>
                        <p:par>
                          <p:cTn id="10" fill="hold">
                            <p:stCondLst>
                              <p:cond delay="0"/>
                            </p:stCondLst>
                            <p:childTnLst>
                              <p:par>
                                <p:cTn id="11" presetID="1" presetClass="mediacall" presetSubtype="0" fill="hold" nodeType="clickEffect">
                                  <p:stCondLst>
                                    <p:cond delay="0"/>
                                  </p:stCondLst>
                                  <p:childTnLst>
                                    <p:cmd type="call" cmd="playFrom(0.0)">
                                      <p:cBhvr>
                                        <p:cTn id="12" dur="1" fill="hold"/>
                                        <p:tgtEl>
                                          <p:spTgt spid="56"/>
                                        </p:tgtEl>
                                      </p:cBhvr>
                                    </p:cmd>
                                  </p:childTnLst>
                                </p:cTn>
                              </p:par>
                            </p:childTnLst>
                          </p:cTn>
                        </p:par>
                      </p:childTnLst>
                    </p:cTn>
                  </p:par>
                </p:childTnLst>
              </p:cTn>
              <p:nextCondLst>
                <p:cond evt="onClick" delay="0">
                  <p:tgtEl>
                    <p:spTgt spid="4"/>
                  </p:tgtEl>
                </p:cond>
              </p:nextCondLst>
            </p:seq>
            <p:seq concurrent="1" nextAc="seek">
              <p:cTn id="13" restart="whenNotActive" fill="hold" evtFilter="cancelBubble" nodeType="interactiveSeq">
                <p:stCondLst>
                  <p:cond evt="onClick" delay="0">
                    <p:tgtEl>
                      <p:spTgt spid="56"/>
                    </p:tgtEl>
                  </p:cond>
                </p:stCondLst>
                <p:endSyncLst>
                  <p:cond evt="onEnd" delay="0">
                    <p:rtn val="all"/>
                  </p:cond>
                </p:endSyncLst>
                <p:childTnLst>
                  <p:par>
                    <p:cTn id="14" fill="hold">
                      <p:stCondLst>
                        <p:cond delay="0"/>
                      </p:stCondLst>
                      <p:childTnLst>
                        <p:par>
                          <p:cTn id="15" fill="hold">
                            <p:stCondLst>
                              <p:cond delay="0"/>
                            </p:stCondLst>
                            <p:childTnLst>
                              <p:par>
                                <p:cTn id="16" presetID="1" presetClass="mediacall" presetSubtype="0" fill="hold" nodeType="clickEffect">
                                  <p:stCondLst>
                                    <p:cond delay="0"/>
                                  </p:stCondLst>
                                  <p:childTnLst>
                                    <p:cmd type="call" cmd="playFrom(0.0)">
                                      <p:cBhvr>
                                        <p:cTn id="17" dur="1" fill="hold"/>
                                        <p:tgtEl>
                                          <p:spTgt spid="56"/>
                                        </p:tgtEl>
                                      </p:cBhvr>
                                    </p:cmd>
                                  </p:childTnLst>
                                </p:cTn>
                              </p:par>
                            </p:childTnLst>
                          </p:cTn>
                        </p:par>
                      </p:childTnLst>
                    </p:cTn>
                  </p:par>
                </p:childTnLst>
              </p:cTn>
              <p:nextCondLst>
                <p:cond evt="onClick" delay="0">
                  <p:tgtEl>
                    <p:spTgt spid="56"/>
                  </p:tgtEl>
                </p:cond>
              </p:nextCondLst>
            </p:seq>
            <p:seq concurrent="1" nextAc="seek">
              <p:cTn id="18" restart="whenNotActive" fill="hold" evtFilter="cancelBubble" nodeType="interactiveSeq">
                <p:stCondLst>
                  <p:cond evt="onClick" delay="0">
                    <p:tgtEl>
                      <p:spTgt spid="6"/>
                    </p:tgtEl>
                  </p:cond>
                </p:stCondLst>
                <p:endSyncLst>
                  <p:cond evt="onEnd" delay="0">
                    <p:rtn val="all"/>
                  </p:cond>
                </p:endSyncLst>
                <p:childTnLst>
                  <p:par>
                    <p:cTn id="19" fill="hold">
                      <p:stCondLst>
                        <p:cond delay="0"/>
                      </p:stCondLst>
                      <p:childTnLst>
                        <p:par>
                          <p:cTn id="20" fill="hold">
                            <p:stCondLst>
                              <p:cond delay="0"/>
                            </p:stCondLst>
                            <p:childTnLst>
                              <p:par>
                                <p:cTn id="21" presetID="1" presetClass="mediacall" presetSubtype="0" fill="hold" nodeType="clickEffect">
                                  <p:stCondLst>
                                    <p:cond delay="0"/>
                                  </p:stCondLst>
                                  <p:childTnLst>
                                    <p:cmd type="call" cmd="playFrom(0.0)">
                                      <p:cBhvr>
                                        <p:cTn id="22" dur="1" fill="hold"/>
                                        <p:tgtEl>
                                          <p:spTgt spid="61"/>
                                        </p:tgtEl>
                                      </p:cBhvr>
                                    </p:cmd>
                                  </p:childTnLst>
                                </p:cTn>
                              </p:par>
                            </p:childTnLst>
                          </p:cTn>
                        </p:par>
                      </p:childTnLst>
                    </p:cTn>
                  </p:par>
                </p:childTnLst>
              </p:cTn>
              <p:nextCondLst>
                <p:cond evt="onClick" delay="0">
                  <p:tgtEl>
                    <p:spTgt spid="6"/>
                  </p:tgtEl>
                </p:cond>
              </p:nextCondLst>
            </p:seq>
            <p:seq concurrent="1" nextAc="seek">
              <p:cTn id="23" restart="whenNotActive" fill="hold" evtFilter="cancelBubble" nodeType="interactiveSeq">
                <p:stCondLst>
                  <p:cond evt="onClick" delay="0">
                    <p:tgtEl>
                      <p:spTgt spid="61"/>
                    </p:tgtEl>
                  </p:cond>
                </p:stCondLst>
                <p:endSyncLst>
                  <p:cond evt="onEnd" delay="0">
                    <p:rtn val="all"/>
                  </p:cond>
                </p:endSyncLst>
                <p:childTnLst>
                  <p:par>
                    <p:cTn id="24" fill="hold">
                      <p:stCondLst>
                        <p:cond delay="0"/>
                      </p:stCondLst>
                      <p:childTnLst>
                        <p:par>
                          <p:cTn id="25" fill="hold">
                            <p:stCondLst>
                              <p:cond delay="0"/>
                            </p:stCondLst>
                            <p:childTnLst>
                              <p:par>
                                <p:cTn id="26" presetID="1" presetClass="mediacall" presetSubtype="0" fill="hold" nodeType="clickEffect">
                                  <p:stCondLst>
                                    <p:cond delay="0"/>
                                  </p:stCondLst>
                                  <p:childTnLst>
                                    <p:cmd type="call" cmd="playFrom(0.0)">
                                      <p:cBhvr>
                                        <p:cTn id="27" dur="1" fill="hold"/>
                                        <p:tgtEl>
                                          <p:spTgt spid="61"/>
                                        </p:tgtEl>
                                      </p:cBhvr>
                                    </p:cmd>
                                  </p:childTnLst>
                                </p:cTn>
                              </p:par>
                            </p:childTnLst>
                          </p:cTn>
                        </p:par>
                      </p:childTnLst>
                    </p:cTn>
                  </p:par>
                </p:childTnLst>
              </p:cTn>
              <p:nextCondLst>
                <p:cond evt="onClick" delay="0">
                  <p:tgtEl>
                    <p:spTgt spid="61"/>
                  </p:tgtEl>
                </p:cond>
              </p:nextCondLst>
            </p:seq>
          </p:childTnLst>
        </p:cTn>
      </p:par>
    </p:tnLst>
    <p:bldLst>
      <p:bldP spid="64" grpId="0"/>
    </p:bldLst>
  </p:timing>
  <p:timing>
    <p:tnLst>
      <p:par>
        <p:cTn id="1" dur="indefinite" restart="never" nodeType="tmRoot">
          <p:childTnLst>
            <p:video>
              <p:cMediaNode vol="80000">
                <p:cTn id="2" fill="hold" display="0">
                  <p:stCondLst>
                    <p:cond delay="indefinite"/>
                  </p:stCondLst>
                </p:cTn>
                <p:tgtEl>
                  <p:spTgt spid="56"/>
                </p:tgtEl>
              </p:cMediaNode>
            </p:video>
            <p:video>
              <p:cMediaNode vol="80000">
                <p:cTn id="3" fill="hold" display="0">
                  <p:stCondLst>
                    <p:cond delay="indefinite"/>
                  </p:stCondLst>
                </p:cTn>
                <p:tgtEl>
                  <p:spTgt spid="61"/>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La IA ya corre </a:t>
            </a:r>
            <a:r>
              <a:rPr b="1" lang="es-CO">
                <a:solidFill>
                  <a:srgbClr val="6D28D9"/>
                </a:solidFill>
              </a:rPr>
              <a:t>en el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cien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cien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cien_s2.png"/>
          <p:cNvPicPr>
            <a:picLocks noChangeAspect="1"/>
          </p:cNvPicPr>
          <p:nvPr/>
        </p:nvPicPr>
        <p:blipFill>
          <a:blip r:embed="rId4"/>
          <a:stretch>
            <a:fillRect/>
          </a:stretch>
        </p:blipFill>
        <p:spPr>
          <a:xfrm>
            <a:off x="640080" y="1691640"/>
            <a:ext cx="10911840" cy="3931920"/>
          </a:xfrm>
          <a:prstGeom prst="rect">
            <a:avLst/>
          </a:prstGeom>
        </p:spPr>
      </p:pic>
      <p:sp>
        <p:nvSpPr>
          <p:cNvPr id="5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Gartner, agosto 2025: PC con IA · 2026 es proyección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CONTEXTO</a:t>
            </a:r>
          </a:p>
        </p:txBody>
      </p:sp>
      <p:sp>
        <p:nvSpPr>
          <p:cNvPr id="3" name="Title 2"/>
          <p:cNvSpPr>
            <a:spLocks noGrp="1"/>
          </p:cNvSpPr>
          <p:nvPr>
            <p:ph type="title" idx="107"/>
          </p:nvPr>
        </p:nvSpPr>
        <p:spPr/>
        <p:txBody>
          <a:bodyPr lIns="0"/>
          <a:lstStyle/>
          <a:p>
            <a:r>
              <a:rPr lang="es-CO"/>
              <a:t>Por qué el modelo </a:t>
            </a:r>
            <a:r>
              <a:rPr b="1" lang="es-CO">
                <a:solidFill>
                  <a:srgbClr val="6D28D9"/>
                </a:solidFill>
              </a:rPr>
              <a:t>baja al dispositivo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memes_s0.gif"/>
          <p:cNvPicPr>
            <a:picLocks noChangeAspect="1"/>
          </p:cNvPicPr>
          <p:nvPr/>
        </p:nvPicPr>
        <p:blipFill>
          <a:blip r:embed="rId2"/>
          <a:stretch>
            <a:fillRect/>
          </a:stretch>
        </p:blipFill>
        <p:spPr>
          <a:xfrm>
            <a:off x="640080" y="1569720"/>
            <a:ext cx="10911840" cy="4251960"/>
          </a:xfrm>
          <a:prstGeom prst="rect">
            <a:avLst/>
          </a:prstGeom>
        </p:spPr>
      </p:pic>
      <p:pic>
        <p:nvPicPr>
          <p:cNvPr id="55" name="Paso 1" descr="memes_s1.gif"/>
          <p:cNvPicPr>
            <a:picLocks noChangeAspect="1"/>
          </p:cNvPicPr>
          <p:nvPr/>
        </p:nvPicPr>
        <p:blipFill>
          <a:blip r:embed="rId3"/>
          <a:stretch>
            <a:fillRect/>
          </a:stretch>
        </p:blipFill>
        <p:spPr>
          <a:xfrm>
            <a:off x="640080" y="1569720"/>
            <a:ext cx="10911840" cy="4251960"/>
          </a:xfrm>
          <a:prstGeom prst="rect">
            <a:avLst/>
          </a:prstGeom>
        </p:spPr>
      </p:pic>
      <p:pic>
        <p:nvPicPr>
          <p:cNvPr id="56" name="Paso 2" descr="memes_s2.gif"/>
          <p:cNvPicPr>
            <a:picLocks noChangeAspect="1"/>
          </p:cNvPicPr>
          <p:nvPr/>
        </p:nvPicPr>
        <p:blipFill>
          <a:blip r:embed="rId4"/>
          <a:stretch>
            <a:fillRect/>
          </a:stretch>
        </p:blipFill>
        <p:spPr>
          <a:xfrm>
            <a:off x="640080" y="1569720"/>
            <a:ext cx="10911840" cy="425196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PONENTE</a:t>
            </a:r>
          </a:p>
        </p:txBody>
      </p:sp>
      <p:sp>
        <p:nvSpPr>
          <p:cNvPr id="3" name="Title 2"/>
          <p:cNvSpPr>
            <a:spLocks noGrp="1"/>
          </p:cNvSpPr>
          <p:nvPr>
            <p:ph type="title" idx="107"/>
          </p:nvPr>
        </p:nvSpPr>
        <p:spPr/>
        <p:txBody>
          <a:bodyPr lIns="0"/>
          <a:lstStyle/>
          <a:p>
            <a:r>
              <a:rPr lang="es-CO"/>
              <a:t>Sobre </a:t>
            </a:r>
            <a:r>
              <a:rPr b="1" lang="es-CO">
                <a:solidFill>
                  <a:srgbClr val="6D28D9"/>
                </a:solidFill>
              </a:rPr>
              <a:t>mí</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Foto" descr="photo.jpg"/>
          <p:cNvPicPr>
            <a:picLocks noChangeAspect="1"/>
          </p:cNvPicPr>
          <p:nvPr/>
        </p:nvPicPr>
        <p:blipFill>
          <a:blip r:embed="rId2"/>
          <a:stretch>
            <a:fillRect/>
          </a:stretch>
        </p:blipFill>
        <p:spPr>
          <a:xfrm>
            <a:off x="640080" y="1874520"/>
            <a:ext cx="3200400" cy="3200400"/>
          </a:xfrm>
          <a:prstGeom prst="rect">
            <a:avLst/>
          </a:prstGeom>
        </p:spPr>
      </p:pic>
      <p:sp>
        <p:nvSpPr>
          <p:cNvPr id="55" name="TextBox 54"/>
          <p:cNvSpPr txBox="1"/>
          <p:nvPr/>
        </p:nvSpPr>
        <p:spPr>
          <a:xfrm>
            <a:off x="4206240" y="1874520"/>
            <a:ext cx="6858000" cy="396240"/>
          </a:xfrm>
          <a:prstGeom prst="rect">
            <a:avLst/>
          </a:prstGeom>
          <a:noFill/>
        </p:spPr>
        <p:txBody>
          <a:bodyPr wrap="square" lIns="0" tIns="0" rIns="0" bIns="0" anchor="t">
            <a:noAutofit/>
          </a:bodyPr>
          <a:lstStyle/>
          <a:p>
            <a:r>
              <a:rPr sz="2580" b="1" lang="es-CO">
                <a:solidFill>
                  <a:srgbClr val="071329"/>
                </a:solidFill>
                <a:latin typeface="Calibri"/>
              </a:rPr>
              <a:t>Alejandro Varela</a:t>
            </a:r>
          </a:p>
        </p:txBody>
      </p:sp>
      <p:sp>
        <p:nvSpPr>
          <p:cNvPr id="56" name="TextBox 55"/>
          <p:cNvSpPr txBox="1"/>
          <p:nvPr/>
        </p:nvSpPr>
        <p:spPr>
          <a:xfrm>
            <a:off x="4206240" y="2301240"/>
            <a:ext cx="6858000" cy="259080"/>
          </a:xfrm>
          <a:prstGeom prst="rect">
            <a:avLst/>
          </a:prstGeom>
          <a:noFill/>
        </p:spPr>
        <p:txBody>
          <a:bodyPr wrap="square" lIns="0" tIns="0" rIns="0" bIns="0" anchor="t">
            <a:noAutofit/>
          </a:bodyPr>
          <a:lstStyle/>
          <a:p>
            <a:r>
              <a:rPr sz="1500" b="0" lang="es-CO">
                <a:solidFill>
                  <a:srgbClr val="6D28D9"/>
                </a:solidFill>
                <a:latin typeface="Calibri"/>
              </a:rPr>
              <a:t>Senior Cloud Engineer</a:t>
            </a:r>
          </a:p>
        </p:txBody>
      </p:sp>
      <p:pic>
        <p:nvPicPr>
          <p:cNvPr id="57" name="Logo empresa" descr="epam.png"/>
          <p:cNvPicPr>
            <a:picLocks noChangeAspect="1"/>
          </p:cNvPicPr>
          <p:nvPr/>
        </p:nvPicPr>
        <p:blipFill>
          <a:blip r:embed="rId3"/>
          <a:stretch>
            <a:fillRect/>
          </a:stretch>
        </p:blipFill>
        <p:spPr>
          <a:xfrm>
            <a:off x="6051232" y="2301240"/>
            <a:ext cx="495300" cy="259080"/>
          </a:xfrm>
          <a:prstGeom prst="rect">
            <a:avLst/>
          </a:prstGeom>
        </p:spPr>
      </p:pic>
      <p:sp>
        <p:nvSpPr>
          <p:cNvPr id="58" name="TextBox 57"/>
          <p:cNvSpPr txBox="1"/>
          <p:nvPr/>
        </p:nvSpPr>
        <p:spPr>
          <a:xfrm>
            <a:off x="4206240" y="2712720"/>
            <a:ext cx="6858000" cy="579120"/>
          </a:xfrm>
          <a:prstGeom prst="rect">
            <a:avLst/>
          </a:prstGeom>
          <a:noFill/>
        </p:spPr>
        <p:txBody>
          <a:bodyPr wrap="square" lIns="0" tIns="0" rIns="0" bIns="0" anchor="t">
            <a:noAutofit/>
          </a:bodyPr>
          <a:lstStyle/>
          <a:p>
            <a:pPr>
              <a:lnSpc>
                <a:spcPct val="114800"/>
              </a:lnSpc>
            </a:pPr>
            <a:r>
              <a:rPr sz="1500" b="0" lang="es-CO">
                <a:solidFill>
                  <a:srgbClr val="475569"/>
                </a:solidFill>
                <a:latin typeface="Calibri"/>
              </a:rPr>
              <a:t>Llevo modelos de IA de la nube a equipos en campo: inferencia en el edge e IoT industrial sobre AWS, Azure y GCP.</a:t>
            </a:r>
          </a:p>
        </p:txBody>
      </p:sp>
      <p:sp>
        <p:nvSpPr>
          <p:cNvPr id="59" name="Certificaciones"/>
          <p:cNvSpPr txBox="1"/>
          <p:nvPr/>
        </p:nvSpPr>
        <p:spPr>
          <a:xfrm>
            <a:off x="420624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5 </a:t>
            </a:r>
            <a:r>
              <a:rPr sz="1200" b="1" lang="es-CO">
                <a:solidFill>
                  <a:srgbClr val="071329"/>
                </a:solidFill>
                <a:latin typeface="Calibri"/>
              </a:rPr>
              <a:t>certificaciones de AWS</a:t>
            </a:r>
          </a:p>
        </p:txBody>
      </p:sp>
      <p:pic>
        <p:nvPicPr>
          <p:cNvPr id="60" name="AWS Certified Solutions Architect – Professional" descr="aws-sap-solutions-architect-professional.png"/>
          <p:cNvPicPr>
            <a:picLocks noChangeAspect="1"/>
          </p:cNvPicPr>
          <p:nvPr/>
        </p:nvPicPr>
        <p:blipFill>
          <a:blip r:embed="rId4"/>
          <a:stretch>
            <a:fillRect/>
          </a:stretch>
        </p:blipFill>
        <p:spPr>
          <a:xfrm>
            <a:off x="4206240" y="3771900"/>
            <a:ext cx="701040" cy="701040"/>
          </a:xfrm>
          <a:prstGeom prst="rect">
            <a:avLst/>
          </a:prstGeom>
        </p:spPr>
      </p:pic>
      <p:pic>
        <p:nvPicPr>
          <p:cNvPr id="61" name="AWS Certified DevOps Engineer – Professional" descr="aws-dop-devops-engineer-professional.png"/>
          <p:cNvPicPr>
            <a:picLocks noChangeAspect="1"/>
          </p:cNvPicPr>
          <p:nvPr/>
        </p:nvPicPr>
        <p:blipFill>
          <a:blip r:embed="rId5"/>
          <a:stretch>
            <a:fillRect/>
          </a:stretch>
        </p:blipFill>
        <p:spPr>
          <a:xfrm>
            <a:off x="4983480" y="3771900"/>
            <a:ext cx="701040" cy="701040"/>
          </a:xfrm>
          <a:prstGeom prst="rect">
            <a:avLst/>
          </a:prstGeom>
        </p:spPr>
      </p:pic>
      <p:pic>
        <p:nvPicPr>
          <p:cNvPr id="62" name="AWS Certified Advanced Networking – Specialty" descr="aws-ans-advanced-networking-specialty.png"/>
          <p:cNvPicPr>
            <a:picLocks noChangeAspect="1"/>
          </p:cNvPicPr>
          <p:nvPr/>
        </p:nvPicPr>
        <p:blipFill>
          <a:blip r:embed="rId6"/>
          <a:stretch>
            <a:fillRect/>
          </a:stretch>
        </p:blipFill>
        <p:spPr>
          <a:xfrm>
            <a:off x="5760720" y="3771900"/>
            <a:ext cx="701040" cy="701040"/>
          </a:xfrm>
          <a:prstGeom prst="rect">
            <a:avLst/>
          </a:prstGeom>
        </p:spPr>
      </p:pic>
      <p:pic>
        <p:nvPicPr>
          <p:cNvPr id="63" name="AWS Certified Security – Specialty" descr="aws-scs-security-specialty.png"/>
          <p:cNvPicPr>
            <a:picLocks noChangeAspect="1"/>
          </p:cNvPicPr>
          <p:nvPr/>
        </p:nvPicPr>
        <p:blipFill>
          <a:blip r:embed="rId7"/>
          <a:stretch>
            <a:fillRect/>
          </a:stretch>
        </p:blipFill>
        <p:spPr>
          <a:xfrm>
            <a:off x="6537960" y="3771900"/>
            <a:ext cx="701040" cy="701040"/>
          </a:xfrm>
          <a:prstGeom prst="rect">
            <a:avLst/>
          </a:prstGeom>
        </p:spPr>
      </p:pic>
      <p:pic>
        <p:nvPicPr>
          <p:cNvPr id="64" name="AWS Certified Solutions Architect – Associate" descr="aws-saa-solutions-architect-associate.png"/>
          <p:cNvPicPr>
            <a:picLocks noChangeAspect="1"/>
          </p:cNvPicPr>
          <p:nvPr/>
        </p:nvPicPr>
        <p:blipFill>
          <a:blip r:embed="rId8"/>
          <a:stretch>
            <a:fillRect/>
          </a:stretch>
        </p:blipFill>
        <p:spPr>
          <a:xfrm>
            <a:off x="7315200" y="3771900"/>
            <a:ext cx="701040" cy="701040"/>
          </a:xfrm>
          <a:prstGeom prst="rect">
            <a:avLst/>
          </a:prstGeom>
        </p:spPr>
      </p:pic>
      <p:sp>
        <p:nvSpPr>
          <p:cNvPr id="65" name="Certificaciones"/>
          <p:cNvSpPr txBox="1"/>
          <p:nvPr/>
        </p:nvSpPr>
        <p:spPr>
          <a:xfrm>
            <a:off x="8275320" y="3467100"/>
            <a:ext cx="3962400" cy="228600"/>
          </a:xfrm>
          <a:prstGeom prst="rect">
            <a:avLst/>
          </a:prstGeom>
          <a:noFill/>
        </p:spPr>
        <p:txBody>
          <a:bodyPr wrap="square" lIns="0" tIns="0" rIns="0" bIns="0" anchor="t">
            <a:noAutofit/>
          </a:bodyPr>
          <a:lstStyle/>
          <a:p>
            <a:r>
              <a:rPr sz="1200" b="1" lang="es-CO">
                <a:solidFill>
                  <a:srgbClr val="6D28D9"/>
                </a:solidFill>
                <a:latin typeface="Calibri"/>
              </a:rPr>
              <a:t>3 </a:t>
            </a:r>
            <a:r>
              <a:rPr sz="1200" b="1" lang="es-CO">
                <a:solidFill>
                  <a:srgbClr val="071329"/>
                </a:solidFill>
                <a:latin typeface="Calibri"/>
              </a:rPr>
              <a:t>certificaciones de Kubernetes</a:t>
            </a:r>
          </a:p>
        </p:txBody>
      </p:sp>
      <p:pic>
        <p:nvPicPr>
          <p:cNvPr id="66" name="Certified Kubernetes Administrator" descr="k8s-cka-administrator.png"/>
          <p:cNvPicPr>
            <a:picLocks noChangeAspect="1"/>
          </p:cNvPicPr>
          <p:nvPr/>
        </p:nvPicPr>
        <p:blipFill>
          <a:blip r:embed="rId9"/>
          <a:stretch>
            <a:fillRect/>
          </a:stretch>
        </p:blipFill>
        <p:spPr>
          <a:xfrm>
            <a:off x="8275320" y="3771900"/>
            <a:ext cx="701040" cy="701040"/>
          </a:xfrm>
          <a:prstGeom prst="rect">
            <a:avLst/>
          </a:prstGeom>
        </p:spPr>
      </p:pic>
      <p:pic>
        <p:nvPicPr>
          <p:cNvPr id="67" name="Certified Kubernetes Application Developer" descr="k8s-ckad-application-developer.png"/>
          <p:cNvPicPr>
            <a:picLocks noChangeAspect="1"/>
          </p:cNvPicPr>
          <p:nvPr/>
        </p:nvPicPr>
        <p:blipFill>
          <a:blip r:embed="rId10"/>
          <a:stretch>
            <a:fillRect/>
          </a:stretch>
        </p:blipFill>
        <p:spPr>
          <a:xfrm>
            <a:off x="9052560" y="3771900"/>
            <a:ext cx="701040" cy="701040"/>
          </a:xfrm>
          <a:prstGeom prst="rect">
            <a:avLst/>
          </a:prstGeom>
        </p:spPr>
      </p:pic>
      <p:pic>
        <p:nvPicPr>
          <p:cNvPr id="68" name="Certified Kubernetes Security Specialist" descr="k8s-cks-security-specialist.png"/>
          <p:cNvPicPr>
            <a:picLocks noChangeAspect="1"/>
          </p:cNvPicPr>
          <p:nvPr/>
        </p:nvPicPr>
        <p:blipFill>
          <a:blip r:embed="rId11"/>
          <a:stretch>
            <a:fillRect/>
          </a:stretch>
        </p:blipFill>
        <p:spPr>
          <a:xfrm>
            <a:off x="9829800" y="3771900"/>
            <a:ext cx="701040" cy="701040"/>
          </a:xfrm>
          <a:prstGeom prst="rect">
            <a:avLst/>
          </a:prstGeom>
        </p:spPr>
      </p:pic>
      <p:sp>
        <p:nvSpPr>
          <p:cNvPr id="69" name="Fuera del trabajo"/>
          <p:cNvSpPr txBox="1"/>
          <p:nvPr/>
        </p:nvSpPr>
        <p:spPr>
          <a:xfrm>
            <a:off x="4206240" y="4762500"/>
            <a:ext cx="6858000" cy="493776"/>
          </a:xfrm>
          <a:prstGeom prst="rect">
            <a:avLst/>
          </a:prstGeom>
          <a:noFill/>
        </p:spPr>
        <p:txBody>
          <a:bodyPr wrap="square" lIns="0" tIns="0" rIns="0" bIns="0" anchor="t">
            <a:noAutofit/>
          </a:bodyPr>
          <a:lstStyle/>
          <a:p>
            <a:pPr>
              <a:lnSpc>
                <a:spcPct val="114800"/>
              </a:lnSpc>
            </a:pPr>
            <a:r>
              <a:rPr sz="1260" b="1" lang="es-CO">
                <a:solidFill>
                  <a:srgbClr val="071329"/>
                </a:solidFill>
                <a:latin typeface="Calibri"/>
              </a:rPr>
              <a:t>Fuera del trabajo:</a:t>
            </a:r>
            <a:r>
              <a:rPr sz="1260" b="0" lang="es-CO">
                <a:solidFill>
                  <a:srgbClr val="475569"/>
                </a:solidFill>
                <a:latin typeface="Calibri"/>
              </a:rPr>
              <a:t> cualquier deporte de raqueta (tenis de mesa, tenis, pádel…), aprender algo nuevo para estar a la vanguardia y viajar.</a:t>
            </a:r>
          </a:p>
        </p:txBody>
      </p:sp>
      <p:sp>
        <p:nvSpPr>
          <p:cNvPr id="70" name="TextBox 69"/>
          <p:cNvSpPr txBox="1"/>
          <p:nvPr/>
        </p:nvSpPr>
        <p:spPr>
          <a:xfrm>
            <a:off x="4206240" y="5379720"/>
            <a:ext cx="6858000" cy="228600"/>
          </a:xfrm>
          <a:prstGeom prst="rect">
            <a:avLst/>
          </a:prstGeom>
          <a:noFill/>
        </p:spPr>
        <p:txBody>
          <a:bodyPr wrap="square" lIns="0" tIns="0" rIns="0" bIns="0" anchor="t">
            <a:noAutofit/>
          </a:bodyPr>
          <a:lstStyle/>
          <a:p>
            <a:r>
              <a:rPr sz="1200" b="0" lang="es-CO">
                <a:solidFill>
                  <a:srgbClr val="1F6C93"/>
                </a:solidFill>
                <a:latin typeface="Courier New"/>
              </a:rPr>
              <a:t>linkedin.com/in/alejandro-varela-fr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AGENDA</a:t>
            </a:r>
          </a:p>
        </p:txBody>
      </p:sp>
      <p:sp>
        <p:nvSpPr>
          <p:cNvPr id="3" name="Title 2"/>
          <p:cNvSpPr>
            <a:spLocks noGrp="1"/>
          </p:cNvSpPr>
          <p:nvPr>
            <p:ph type="title" idx="107"/>
          </p:nvPr>
        </p:nvSpPr>
        <p:spPr/>
        <p:txBody>
          <a:bodyPr lIns="0"/>
          <a:lstStyle/>
          <a:p>
            <a:r>
              <a:rPr lang="es-CO"/>
              <a:t>Contenido </a:t>
            </a:r>
            <a:r>
              <a:rPr b="1" lang="es-CO">
                <a:solidFill>
                  <a:srgbClr val="6D28D9"/>
                </a:solidFill>
              </a:rPr>
              <a:t>de la sesión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20240"/>
            <a:ext cx="838200" cy="74676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508760" y="1920240"/>
            <a:ext cx="3962400" cy="746760"/>
          </a:xfrm>
          <a:prstGeom prst="rect">
            <a:avLst/>
          </a:prstGeom>
          <a:noFill/>
        </p:spPr>
        <p:txBody>
          <a:bodyPr wrap="square" lIns="0" tIns="0" rIns="0" bIns="0" anchor="ctr">
            <a:noAutofit/>
          </a:bodyPr>
          <a:lstStyle/>
          <a:p>
            <a:r>
              <a:rPr sz="1920" b="1" lang="es-CO">
                <a:solidFill>
                  <a:srgbClr val="071329"/>
                </a:solidFill>
                <a:latin typeface="Calibri"/>
              </a:rPr>
              <a:t>El problema</a:t>
            </a:r>
          </a:p>
        </p:txBody>
      </p:sp>
      <p:sp>
        <p:nvSpPr>
          <p:cNvPr id="56" name="TextBox 55"/>
          <p:cNvSpPr txBox="1"/>
          <p:nvPr/>
        </p:nvSpPr>
        <p:spPr>
          <a:xfrm>
            <a:off x="5532120" y="1920240"/>
            <a:ext cx="6019800" cy="746760"/>
          </a:xfrm>
          <a:prstGeom prst="rect">
            <a:avLst/>
          </a:prstGeom>
          <a:noFill/>
        </p:spPr>
        <p:txBody>
          <a:bodyPr wrap="square" lIns="0" tIns="0" rIns="0" bIns="0" anchor="ctr">
            <a:noAutofit/>
          </a:bodyPr>
          <a:lstStyle/>
          <a:p>
            <a:r>
              <a:rPr sz="1500" b="0" lang="es-CO">
                <a:solidFill>
                  <a:srgbClr val="475569"/>
                </a:solidFill>
                <a:latin typeface="Calibri"/>
              </a:rPr>
              <a:t>Operar un modelo fuera de la nube: sin red y sin acceso al equipo.</a:t>
            </a:r>
          </a:p>
        </p:txBody>
      </p:sp>
      <p:cxnSp>
        <p:nvCxnSpPr>
          <p:cNvPr id="57" name="Connector 56"/>
          <p:cNvCxnSpPr/>
          <p:nvPr/>
        </p:nvCxnSpPr>
        <p:spPr>
          <a:xfrm>
            <a:off x="640080" y="2667000"/>
            <a:ext cx="10911840" cy="0"/>
          </a:xfrm>
          <a:prstGeom prst="line">
            <a:avLst/>
          </a:prstGeom>
          <a:ln w="11430">
            <a:solidFill>
              <a:srgbClr val="D5DEEA"/>
            </a:solidFill>
          </a:ln>
        </p:spPr>
      </p:cxnSp>
      <p:sp>
        <p:nvSpPr>
          <p:cNvPr id="58" name="TextBox 57"/>
          <p:cNvSpPr txBox="1"/>
          <p:nvPr/>
        </p:nvSpPr>
        <p:spPr>
          <a:xfrm>
            <a:off x="640080" y="2926080"/>
            <a:ext cx="838200" cy="74676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9" name="TextBox 58"/>
          <p:cNvSpPr txBox="1"/>
          <p:nvPr/>
        </p:nvSpPr>
        <p:spPr>
          <a:xfrm>
            <a:off x="1508760" y="2926080"/>
            <a:ext cx="3962400" cy="746760"/>
          </a:xfrm>
          <a:prstGeom prst="rect">
            <a:avLst/>
          </a:prstGeom>
          <a:noFill/>
        </p:spPr>
        <p:txBody>
          <a:bodyPr wrap="square" lIns="0" tIns="0" rIns="0" bIns="0" anchor="ctr">
            <a:noAutofit/>
          </a:bodyPr>
          <a:lstStyle/>
          <a:p>
            <a:r>
              <a:rPr sz="1920" b="1" lang="es-CO">
                <a:solidFill>
                  <a:srgbClr val="071329"/>
                </a:solidFill>
                <a:latin typeface="Calibri"/>
              </a:rPr>
              <a:t>El patrón</a:t>
            </a:r>
          </a:p>
        </p:txBody>
      </p:sp>
      <p:sp>
        <p:nvSpPr>
          <p:cNvPr id="60" name="TextBox 59"/>
          <p:cNvSpPr txBox="1"/>
          <p:nvPr/>
        </p:nvSpPr>
        <p:spPr>
          <a:xfrm>
            <a:off x="5532120" y="2926080"/>
            <a:ext cx="6019800" cy="746760"/>
          </a:xfrm>
          <a:prstGeom prst="rect">
            <a:avLst/>
          </a:prstGeom>
          <a:noFill/>
        </p:spPr>
        <p:txBody>
          <a:bodyPr wrap="square" lIns="0" tIns="0" rIns="0" bIns="0" anchor="ctr">
            <a:noAutofit/>
          </a:bodyPr>
          <a:lstStyle/>
          <a:p>
            <a:r>
              <a:rPr sz="1500" b="0" lang="es-CO">
                <a:solidFill>
                  <a:srgbClr val="475569"/>
                </a:solidFill>
                <a:latin typeface="Calibri"/>
              </a:rPr>
              <a:t>Las piezas para gobernarlo, primero en general y después en AWS.</a:t>
            </a:r>
          </a:p>
        </p:txBody>
      </p:sp>
      <p:cxnSp>
        <p:nvCxnSpPr>
          <p:cNvPr id="61" name="Connector 60"/>
          <p:cNvCxnSpPr/>
          <p:nvPr/>
        </p:nvCxnSpPr>
        <p:spPr>
          <a:xfrm>
            <a:off x="640080" y="3672840"/>
            <a:ext cx="10911840" cy="0"/>
          </a:xfrm>
          <a:prstGeom prst="line">
            <a:avLst/>
          </a:prstGeom>
          <a:ln w="11430">
            <a:solidFill>
              <a:srgbClr val="D5DEEA"/>
            </a:solidFill>
          </a:ln>
        </p:spPr>
      </p:cxnSp>
      <p:sp>
        <p:nvSpPr>
          <p:cNvPr id="62" name="TextBox 61"/>
          <p:cNvSpPr txBox="1"/>
          <p:nvPr/>
        </p:nvSpPr>
        <p:spPr>
          <a:xfrm>
            <a:off x="640080" y="3931920"/>
            <a:ext cx="838200" cy="74676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3" name="TextBox 62"/>
          <p:cNvSpPr txBox="1"/>
          <p:nvPr/>
        </p:nvSpPr>
        <p:spPr>
          <a:xfrm>
            <a:off x="1508760" y="3931920"/>
            <a:ext cx="3962400" cy="746760"/>
          </a:xfrm>
          <a:prstGeom prst="rect">
            <a:avLst/>
          </a:prstGeom>
          <a:noFill/>
        </p:spPr>
        <p:txBody>
          <a:bodyPr wrap="square" lIns="0" tIns="0" rIns="0" bIns="0" anchor="ctr">
            <a:noAutofit/>
          </a:bodyPr>
          <a:lstStyle/>
          <a:p>
            <a:r>
              <a:rPr sz="1920" b="1" lang="es-CO">
                <a:solidFill>
                  <a:srgbClr val="071329"/>
                </a:solidFill>
                <a:latin typeface="Calibri"/>
              </a:rPr>
              <a:t>Los seis pasos</a:t>
            </a:r>
          </a:p>
        </p:txBody>
      </p:sp>
      <p:sp>
        <p:nvSpPr>
          <p:cNvPr id="64" name="TextBox 63"/>
          <p:cNvSpPr txBox="1"/>
          <p:nvPr/>
        </p:nvSpPr>
        <p:spPr>
          <a:xfrm>
            <a:off x="5532120" y="3931920"/>
            <a:ext cx="6019800" cy="746760"/>
          </a:xfrm>
          <a:prstGeom prst="rect">
            <a:avLst/>
          </a:prstGeom>
          <a:noFill/>
        </p:spPr>
        <p:txBody>
          <a:bodyPr wrap="square" lIns="0" tIns="0" rIns="0" bIns="0" anchor="ctr">
            <a:noAutofit/>
          </a:bodyPr>
          <a:lstStyle/>
          <a:p>
            <a:r>
              <a:rPr sz="1500" b="0" lang="es-CO">
                <a:solidFill>
                  <a:srgbClr val="475569"/>
                </a:solidFill>
                <a:latin typeface="Calibri"/>
              </a:rPr>
              <a:t>Entrenar, optimizar, empaquetar, desplegar, operar sin red y monitorear.</a:t>
            </a:r>
          </a:p>
        </p:txBody>
      </p:sp>
      <p:cxnSp>
        <p:nvCxnSpPr>
          <p:cNvPr id="65" name="Connector 64"/>
          <p:cNvCxnSpPr/>
          <p:nvPr/>
        </p:nvCxnSpPr>
        <p:spPr>
          <a:xfrm>
            <a:off x="640080" y="4678680"/>
            <a:ext cx="10911840" cy="0"/>
          </a:xfrm>
          <a:prstGeom prst="line">
            <a:avLst/>
          </a:prstGeom>
          <a:ln w="11430">
            <a:solidFill>
              <a:srgbClr val="D5DEEA"/>
            </a:solidFill>
          </a:ln>
        </p:spPr>
      </p:cxnSp>
      <p:sp>
        <p:nvSpPr>
          <p:cNvPr id="66" name="TextBox 65"/>
          <p:cNvSpPr txBox="1"/>
          <p:nvPr/>
        </p:nvSpPr>
        <p:spPr>
          <a:xfrm>
            <a:off x="640080" y="4937760"/>
            <a:ext cx="838200" cy="74676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7" name="TextBox 66"/>
          <p:cNvSpPr txBox="1"/>
          <p:nvPr/>
        </p:nvSpPr>
        <p:spPr>
          <a:xfrm>
            <a:off x="1508760" y="4937760"/>
            <a:ext cx="3962400" cy="746760"/>
          </a:xfrm>
          <a:prstGeom prst="rect">
            <a:avLst/>
          </a:prstGeom>
          <a:noFill/>
        </p:spPr>
        <p:txBody>
          <a:bodyPr wrap="square" lIns="0" tIns="0" rIns="0" bIns="0" anchor="ctr">
            <a:noAutofit/>
          </a:bodyPr>
          <a:lstStyle/>
          <a:p>
            <a:r>
              <a:rPr sz="1920" b="1" lang="es-CO">
                <a:solidFill>
                  <a:srgbClr val="071329"/>
                </a:solidFill>
                <a:latin typeface="Calibri"/>
              </a:rPr>
              <a:t>Demostración</a:t>
            </a:r>
          </a:p>
        </p:txBody>
      </p:sp>
      <p:sp>
        <p:nvSpPr>
          <p:cNvPr id="68" name="TextBox 67"/>
          <p:cNvSpPr txBox="1"/>
          <p:nvPr/>
        </p:nvSpPr>
        <p:spPr>
          <a:xfrm>
            <a:off x="5532120" y="4937760"/>
            <a:ext cx="6019800" cy="746760"/>
          </a:xfrm>
          <a:prstGeom prst="rect">
            <a:avLst/>
          </a:prstGeom>
          <a:noFill/>
        </p:spPr>
        <p:txBody>
          <a:bodyPr wrap="square" lIns="0" tIns="0" rIns="0" bIns="0" anchor="ctr">
            <a:noAutofit/>
          </a:bodyPr>
          <a:lstStyle/>
          <a:p>
            <a:r>
              <a:rPr sz="1500" b="0" lang="es-CO">
                <a:solidFill>
                  <a:srgbClr val="475569"/>
                </a:solidFill>
                <a:latin typeface="Calibri"/>
              </a:rPr>
              <a:t>Cinco equipos con IoT Greengrass: una falla, un corte de red y una reversión automática.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01</a:t>
            </a:r>
          </a:p>
        </p:txBody>
      </p:sp>
      <p:sp>
        <p:nvSpPr>
          <p:cNvPr id="3" name="Title 2"/>
          <p:cNvSpPr>
            <a:spLocks noGrp="1"/>
          </p:cNvSpPr>
          <p:nvPr>
            <p:ph type="title" idx="107"/>
          </p:nvPr>
        </p:nvSpPr>
        <p:spPr/>
        <p:txBody>
          <a:bodyPr lIns="0"/>
          <a:lstStyle/>
          <a:p>
            <a:r>
              <a:rPr lang="es-CO"/>
              <a:t>El problema</a:t>
            </a:r>
          </a:p>
        </p:txBody>
      </p:sp>
      <p:sp>
        <p:nvSpPr>
          <p:cNvPr id="4" name="Text Placeholder 3"/>
          <p:cNvSpPr>
            <a:spLocks noGrp="1"/>
          </p:cNvSpPr>
          <p:nvPr>
            <p:ph type="body" idx="108"/>
          </p:nvPr>
        </p:nvSpPr>
        <p:spPr/>
        <p:txBody>
          <a:bodyPr lIns="0"/>
          <a:lstStyle/>
          <a:p>
            <a:r>
              <a:rPr lang="es-CO"/>
              <a:t>Un modelo que escucha bombas, sin red y sin nadie cerca.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nube_00_base.png"/>
          <p:cNvPicPr>
            <a:picLocks noChangeAspect="1"/>
          </p:cNvPicPr>
          <p:nvPr/>
        </p:nvPicPr>
        <p:blipFill>
          <a:blip r:embed="rId2"/>
          <a:stretch>
            <a:fillRect/>
          </a:stretch>
        </p:blipFill>
        <p:spPr>
          <a:xfrm>
            <a:off x="716280" y="2125980"/>
            <a:ext cx="10919460" cy="284988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MLOps en la nube: </a:t>
            </a:r>
            <a:r>
              <a:rPr b="1" lang="es-CO">
                <a:solidFill>
                  <a:srgbClr val="6D28D9"/>
                </a:solidFill>
              </a:rPr>
              <a:t>un loop cerrado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dge_00_base.png"/>
          <p:cNvPicPr>
            <a:picLocks noChangeAspect="1"/>
          </p:cNvPicPr>
          <p:nvPr/>
        </p:nvPicPr>
        <p:blipFill>
          <a:blip r:embed="rId2"/>
          <a:stretch>
            <a:fillRect/>
          </a:stretch>
        </p:blipFill>
        <p:spPr>
          <a:xfrm>
            <a:off x="1329690" y="2125980"/>
            <a:ext cx="10306050" cy="2849880"/>
          </a:xfrm>
          <a:prstGeom prst="rect">
            <a:avLst/>
          </a:prstGeom>
        </p:spPr>
      </p:pic>
      <p:pic>
        <p:nvPicPr>
          <p:cNvPr id="55" name="Capa on3" descr="iso_edge_01_on3.png"/>
          <p:cNvPicPr>
            <a:picLocks noChangeAspect="1"/>
          </p:cNvPicPr>
          <p:nvPr/>
        </p:nvPicPr>
        <p:blipFill>
          <a:blip r:embed="rId3"/>
          <a:stretch>
            <a:fillRect/>
          </a:stretch>
        </p:blipFill>
        <p:spPr>
          <a:xfrm>
            <a:off x="723900" y="2792730"/>
            <a:ext cx="3870960" cy="2933700"/>
          </a:xfrm>
          <a:prstGeom prst="rect">
            <a:avLst/>
          </a:prstGeom>
        </p:spPr>
      </p:pic>
      <p:pic>
        <p:nvPicPr>
          <p:cNvPr id="56" name="Capa base" descr="iso_edge_02_base.png"/>
          <p:cNvPicPr>
            <a:picLocks noChangeAspect="1"/>
          </p:cNvPicPr>
          <p:nvPr/>
        </p:nvPicPr>
        <p:blipFill>
          <a:blip r:embed="rId4"/>
          <a:stretch>
            <a:fillRect/>
          </a:stretch>
        </p:blipFill>
        <p:spPr>
          <a:xfrm>
            <a:off x="1687830" y="2186940"/>
            <a:ext cx="2903220" cy="2217420"/>
          </a:xfrm>
          <a:prstGeom prst="rect">
            <a:avLst/>
          </a:prstGeom>
        </p:spPr>
      </p:pic>
      <p:pic>
        <p:nvPicPr>
          <p:cNvPr id="57" name="Capa on1" descr="iso_edge_03_on1.png"/>
          <p:cNvPicPr>
            <a:picLocks noChangeAspect="1"/>
          </p:cNvPicPr>
          <p:nvPr/>
        </p:nvPicPr>
        <p:blipFill>
          <a:blip r:embed="rId5"/>
          <a:stretch>
            <a:fillRect/>
          </a:stretch>
        </p:blipFill>
        <p:spPr>
          <a:xfrm>
            <a:off x="723900" y="2659380"/>
            <a:ext cx="3185160" cy="2735580"/>
          </a:xfrm>
          <a:prstGeom prst="rect">
            <a:avLst/>
          </a:prstGeom>
        </p:spPr>
      </p:pic>
      <p:pic>
        <p:nvPicPr>
          <p:cNvPr id="58" name="Capa on3" descr="iso_edge_04_on3.png"/>
          <p:cNvPicPr>
            <a:picLocks noChangeAspect="1"/>
          </p:cNvPicPr>
          <p:nvPr/>
        </p:nvPicPr>
        <p:blipFill>
          <a:blip r:embed="rId6"/>
          <a:stretch>
            <a:fillRect/>
          </a:stretch>
        </p:blipFill>
        <p:spPr>
          <a:xfrm>
            <a:off x="2491740" y="2827020"/>
            <a:ext cx="1504950" cy="922020"/>
          </a:xfrm>
          <a:prstGeom prst="rect">
            <a:avLst/>
          </a:prstGeom>
        </p:spPr>
      </p:pic>
      <p:pic>
        <p:nvPicPr>
          <p:cNvPr id="59" name="Capa on2_fog" descr="iso_edge_05_on2_fog.png"/>
          <p:cNvPicPr>
            <a:picLocks noChangeAspect="1"/>
          </p:cNvPicPr>
          <p:nvPr/>
        </p:nvPicPr>
        <p:blipFill>
          <a:blip r:embed="rId7"/>
          <a:stretch>
            <a:fillRect/>
          </a:stretch>
        </p:blipFill>
        <p:spPr>
          <a:xfrm>
            <a:off x="5570220" y="1798320"/>
            <a:ext cx="6469380" cy="3383280"/>
          </a:xfrm>
          <a:prstGeom prst="rect">
            <a:avLst/>
          </a:prstGeom>
        </p:spPr>
      </p:pic>
      <p:pic>
        <p:nvPicPr>
          <p:cNvPr id="60" name="Capa on2" descr="iso_edge_06_on2.png"/>
          <p:cNvPicPr>
            <a:picLocks noChangeAspect="1"/>
          </p:cNvPicPr>
          <p:nvPr/>
        </p:nvPicPr>
        <p:blipFill>
          <a:blip r:embed="rId8"/>
          <a:stretch>
            <a:fillRect/>
          </a:stretch>
        </p:blipFill>
        <p:spPr>
          <a:xfrm>
            <a:off x="4419600" y="2213610"/>
            <a:ext cx="3455670" cy="3139440"/>
          </a:xfrm>
          <a:prstGeom prst="rect">
            <a:avLst/>
          </a:prstGeom>
        </p:spPr>
      </p:pic>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Las restricciones </a:t>
            </a:r>
            <a:r>
              <a:rPr b="1" lang="es-CO">
                <a:solidFill>
                  <a:srgbClr val="6D28D9"/>
                </a:solidFill>
              </a:rPr>
              <a:t>de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7"/>
                                        </p:tgtEl>
                                        <p:attrNameLst>
                                          <p:attrName>style.visibility</p:attrName>
                                        </p:attrNameLst>
                                      </p:cBhvr>
                                      <p:to>
                                        <p:strVal val="visible"/>
                                      </p:to>
                                    </p:set>
                                    <p:animEffect transition="in" filter="fade">
                                      <p:cBhvr>
                                        <p:cTn id="7" dur="400"/>
                                        <p:tgtEl>
                                          <p:spTgt spid="5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9"/>
                                        </p:tgtEl>
                                        <p:attrNameLst>
                                          <p:attrName>style.visibility</p:attrName>
                                        </p:attrNameLst>
                                      </p:cBhvr>
                                      <p:to>
                                        <p:strVal val="visible"/>
                                      </p:to>
                                    </p:set>
                                    <p:animEffect transition="in" filter="fade">
                                      <p:cBhvr>
                                        <p:cTn id="12" dur="400"/>
                                        <p:tgtEl>
                                          <p:spTgt spid="5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0"/>
                                        </p:tgtEl>
                                        <p:attrNameLst>
                                          <p:attrName>style.visibility</p:attrName>
                                        </p:attrNameLst>
                                      </p:cBhvr>
                                      <p:to>
                                        <p:strVal val="visible"/>
                                      </p:to>
                                    </p:set>
                                    <p:animEffect transition="in" filter="fade">
                                      <p:cBhvr>
                                        <p:cTn id="15" dur="400"/>
                                        <p:tgtEl>
                                          <p:spTgt spid="60"/>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5"/>
                                        </p:tgtEl>
                                        <p:attrNameLst>
                                          <p:attrName>style.visibility</p:attrName>
                                        </p:attrNameLst>
                                      </p:cBhvr>
                                      <p:to>
                                        <p:strVal val="visible"/>
                                      </p:to>
                                    </p:set>
                                    <p:animEffect transition="in" filter="fade">
                                      <p:cBhvr>
                                        <p:cTn id="20" dur="400"/>
                                        <p:tgtEl>
                                          <p:spTgt spid="5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58"/>
                                        </p:tgtEl>
                                        <p:attrNameLst>
                                          <p:attrName>style.visibility</p:attrName>
                                        </p:attrNameLst>
                                      </p:cBhvr>
                                      <p:to>
                                        <p:strVal val="visible"/>
                                      </p:to>
                                    </p:set>
                                    <p:animEffect transition="in" filter="fade">
                                      <p:cBhvr>
                                        <p:cTn id="23"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Un panel en verde </a:t>
            </a:r>
            <a:r>
              <a:rPr b="1" lang="es-CO">
                <a:solidFill>
                  <a:srgbClr val="6D28D9"/>
                </a:solidFill>
              </a:rPr>
              <a:t>no mide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tablero_s0.png"/>
          <p:cNvPicPr>
            <a:picLocks noChangeAspect="1"/>
          </p:cNvPicPr>
          <p:nvPr/>
        </p:nvPicPr>
        <p:blipFill>
          <a:blip r:embed="rId2"/>
          <a:stretch>
            <a:fillRect/>
          </a:stretch>
        </p:blipFill>
        <p:spPr>
          <a:xfrm>
            <a:off x="640080" y="1691640"/>
            <a:ext cx="10911840" cy="3931920"/>
          </a:xfrm>
          <a:prstGeom prst="rect">
            <a:avLst/>
          </a:prstGeom>
        </p:spPr>
      </p:pic>
      <p:pic>
        <p:nvPicPr>
          <p:cNvPr id="55" name="Paso 1" descr="tablero_s1.png"/>
          <p:cNvPicPr>
            <a:picLocks noChangeAspect="1"/>
          </p:cNvPicPr>
          <p:nvPr/>
        </p:nvPicPr>
        <p:blipFill>
          <a:blip r:embed="rId3"/>
          <a:stretch>
            <a:fillRect/>
          </a:stretch>
        </p:blipFill>
        <p:spPr>
          <a:xfrm>
            <a:off x="640080" y="1691640"/>
            <a:ext cx="10911840" cy="3931920"/>
          </a:xfrm>
          <a:prstGeom prst="rect">
            <a:avLst/>
          </a:prstGeom>
        </p:spPr>
      </p:pic>
      <p:pic>
        <p:nvPicPr>
          <p:cNvPr id="56" name="Paso 2" descr="tablero_s2.png"/>
          <p:cNvPicPr>
            <a:picLocks noChangeAspect="1"/>
          </p:cNvPicPr>
          <p:nvPr/>
        </p:nvPicPr>
        <p:blipFill>
          <a:blip r:embed="rId4"/>
          <a:stretch>
            <a:fillRect/>
          </a:stretch>
        </p:blipFill>
        <p:spPr>
          <a:xfrm>
            <a:off x="640080" y="1691640"/>
            <a:ext cx="10911840" cy="3931920"/>
          </a:xfrm>
          <a:prstGeom prst="rect">
            <a:avLst/>
          </a:prstGeom>
        </p:spPr>
      </p:pic>
      <p:pic>
        <p:nvPicPr>
          <p:cNvPr id="57" name="Paso 3" descr="tablero_s3.png"/>
          <p:cNvPicPr>
            <a:picLocks noChangeAspect="1"/>
          </p:cNvPicPr>
          <p:nvPr/>
        </p:nvPicPr>
        <p:blipFill>
          <a:blip r:embed="rId5"/>
          <a:stretch>
            <a:fillRect/>
          </a:stretch>
        </p:blipFill>
        <p:spPr>
          <a:xfrm>
            <a:off x="640080" y="1691640"/>
            <a:ext cx="10911840" cy="3931920"/>
          </a:xfrm>
          <a:prstGeom prst="rect">
            <a:avLst/>
          </a:prstGeom>
        </p:spPr>
      </p:pic>
      <p:sp>
        <p:nvSpPr>
          <p:cNvPr id="58"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Medido en la PoC con MIMII DUE (bombas, dominio de entrenamiento contra dominio nuevo)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EL PROBLEMA</a:t>
            </a:r>
          </a:p>
        </p:txBody>
      </p:sp>
      <p:sp>
        <p:nvSpPr>
          <p:cNvPr id="3" name="Title 2"/>
          <p:cNvSpPr>
            <a:spLocks noGrp="1"/>
          </p:cNvSpPr>
          <p:nvPr>
            <p:ph type="title" idx="107"/>
          </p:nvPr>
        </p:nvSpPr>
        <p:spPr/>
        <p:txBody>
          <a:bodyPr lIns="0"/>
          <a:lstStyle/>
          <a:p>
            <a:r>
              <a:rPr lang="es-CO"/>
              <a:t>Monitorear la infraestructura </a:t>
            </a:r>
            <a:r>
              <a:rPr b="1" lang="es-CO">
                <a:solidFill>
                  <a:srgbClr val="6D28D9"/>
                </a:solidFill>
              </a:rPr>
              <a:t>no es monitorear el modelo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10759440" cy="167640"/>
          </a:xfrm>
          <a:prstGeom prst="rect">
            <a:avLst/>
          </a:prstGeom>
          <a:noFill/>
        </p:spPr>
        <p:txBody>
          <a:bodyPr wrap="square" lIns="0" tIns="0" rIns="0" bIns="0" anchor="t">
            <a:noAutofit/>
          </a:bodyPr>
          <a:lstStyle/>
          <a:p>
            <a:r>
              <a:rPr sz="900" b="1" spc="90" lang="es-CO">
                <a:solidFill>
                  <a:srgbClr val="5C7290"/>
                </a:solidFill>
                <a:latin typeface="Calibri"/>
              </a:rPr>
              <a:t>MONITOREO DE ML / MLOPS</a:t>
            </a:r>
          </a:p>
        </p:txBody>
      </p:sp>
      <p:cxnSp>
        <p:nvCxnSpPr>
          <p:cNvPr id="55" name="Connector 54"/>
          <p:cNvCxnSpPr/>
          <p:nvPr/>
        </p:nvCxnSpPr>
        <p:spPr>
          <a:xfrm>
            <a:off x="640080" y="2057400"/>
            <a:ext cx="10911840" cy="0"/>
          </a:xfrm>
          <a:prstGeom prst="line">
            <a:avLst/>
          </a:prstGeom>
          <a:ln w="11430">
            <a:solidFill>
              <a:srgbClr val="D5DEEA"/>
            </a:solidFill>
          </a:ln>
        </p:spPr>
      </p:cxnSp>
      <p:sp>
        <p:nvSpPr>
          <p:cNvPr id="56" name="TextBox 55"/>
          <p:cNvSpPr txBox="1"/>
          <p:nvPr/>
        </p:nvSpPr>
        <p:spPr>
          <a:xfrm>
            <a:off x="640080" y="2179320"/>
            <a:ext cx="10759440"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modelo sigue distinguiendo correctamente?</a:t>
            </a:r>
          </a:p>
        </p:txBody>
      </p:sp>
      <p:cxnSp>
        <p:nvCxnSpPr>
          <p:cNvPr id="57" name="Connector 56"/>
          <p:cNvCxnSpPr/>
          <p:nvPr/>
        </p:nvCxnSpPr>
        <p:spPr>
          <a:xfrm>
            <a:off x="640080" y="2522525"/>
            <a:ext cx="10911840" cy="0"/>
          </a:xfrm>
          <a:prstGeom prst="line">
            <a:avLst/>
          </a:prstGeom>
          <a:ln w="11430">
            <a:solidFill>
              <a:srgbClr val="D5DEEA"/>
            </a:solidFill>
          </a:ln>
        </p:spPr>
      </p:cxnSp>
      <p:sp>
        <p:nvSpPr>
          <p:cNvPr id="58" name="TextBox 57"/>
          <p:cNvSpPr txBox="1"/>
          <p:nvPr/>
        </p:nvSpPr>
        <p:spPr>
          <a:xfrm>
            <a:off x="640080" y="2644445"/>
            <a:ext cx="10759440"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¿Cambió la distribución de los datos?</a:t>
            </a:r>
          </a:p>
        </p:txBody>
      </p:sp>
      <p:cxnSp>
        <p:nvCxnSpPr>
          <p:cNvPr id="59" name="Connector 58"/>
          <p:cNvCxnSpPr/>
          <p:nvPr/>
        </p:nvCxnSpPr>
        <p:spPr>
          <a:xfrm>
            <a:off x="640080" y="2987650"/>
            <a:ext cx="10911840" cy="0"/>
          </a:xfrm>
          <a:prstGeom prst="line">
            <a:avLst/>
          </a:prstGeom>
          <a:ln w="11430">
            <a:solidFill>
              <a:srgbClr val="D5DEEA"/>
            </a:solidFill>
          </a:ln>
        </p:spPr>
      </p:cxnSp>
      <p:sp>
        <p:nvSpPr>
          <p:cNvPr id="60" name="TextBox 59"/>
          <p:cNvSpPr txBox="1"/>
          <p:nvPr/>
        </p:nvSpPr>
        <p:spPr>
          <a:xfrm>
            <a:off x="640080" y="3109570"/>
            <a:ext cx="10759440"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¿Aumentaron los falsos positivos o negativos?</a:t>
            </a:r>
          </a:p>
        </p:txBody>
      </p:sp>
      <p:cxnSp>
        <p:nvCxnSpPr>
          <p:cNvPr id="61" name="Connector 60"/>
          <p:cNvCxnSpPr/>
          <p:nvPr/>
        </p:nvCxnSpPr>
        <p:spPr>
          <a:xfrm>
            <a:off x="640080" y="3452774"/>
            <a:ext cx="10911840" cy="0"/>
          </a:xfrm>
          <a:prstGeom prst="line">
            <a:avLst/>
          </a:prstGeom>
          <a:ln w="15240">
            <a:solidFill>
              <a:srgbClr val="6D28D9"/>
            </a:solidFill>
          </a:ln>
        </p:spPr>
      </p:cxnSp>
      <p:sp>
        <p:nvSpPr>
          <p:cNvPr id="62" name="TextBox 61"/>
          <p:cNvSpPr txBox="1"/>
          <p:nvPr/>
        </p:nvSpPr>
        <p:spPr>
          <a:xfrm>
            <a:off x="640080" y="3574694"/>
            <a:ext cx="10759440"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¿Las predicciones siguen siendo útiles?</a:t>
            </a:r>
          </a:p>
        </p:txBody>
      </p:sp>
      <p:cxnSp>
        <p:nvCxnSpPr>
          <p:cNvPr id="63" name="Connector 6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02</a:t>
            </a:r>
          </a:p>
        </p:txBody>
      </p:sp>
      <p:sp>
        <p:nvSpPr>
          <p:cNvPr id="3" name="Title 2"/>
          <p:cNvSpPr>
            <a:spLocks noGrp="1"/>
          </p:cNvSpPr>
          <p:nvPr>
            <p:ph type="title" idx="107"/>
          </p:nvPr>
        </p:nvSpPr>
        <p:spPr/>
        <p:txBody>
          <a:bodyPr lIns="0"/>
          <a:lstStyle/>
          <a:p>
            <a:r>
              <a:rPr lang="es-CO"/>
              <a:t>El patrón</a:t>
            </a:r>
          </a:p>
        </p:txBody>
      </p:sp>
      <p:sp>
        <p:nvSpPr>
          <p:cNvPr id="4" name="Text Placeholder 3"/>
          <p:cNvSpPr>
            <a:spLocks noGrp="1"/>
          </p:cNvSpPr>
          <p:nvPr>
            <p:ph type="body" idx="108"/>
          </p:nvPr>
        </p:nvSpPr>
        <p:spPr/>
        <p:txBody>
          <a:bodyPr lIns="0"/>
          <a:lstStyle/>
          <a:p>
            <a:r>
              <a:rPr lang="es-CO"/>
              <a:t>Qué lleva el equipo y qué hace falta para gobernarlo.</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quipo_00_base.png"/>
          <p:cNvPicPr>
            <a:picLocks noChangeAspect="1"/>
          </p:cNvPicPr>
          <p:nvPr/>
        </p:nvPicPr>
        <p:blipFill>
          <a:blip r:embed="rId2"/>
          <a:stretch>
            <a:fillRect/>
          </a:stretch>
        </p:blipFill>
        <p:spPr>
          <a:xfrm>
            <a:off x="3371850" y="2053590"/>
            <a:ext cx="3547110" cy="3333750"/>
          </a:xfrm>
          <a:prstGeom prst="rect">
            <a:avLst/>
          </a:prstGeom>
        </p:spPr>
      </p:pic>
      <p:pic>
        <p:nvPicPr>
          <p:cNvPr id="55" name="Capa on1" descr="iso_equipo_01_on1.png"/>
          <p:cNvPicPr>
            <a:picLocks noChangeAspect="1"/>
          </p:cNvPicPr>
          <p:nvPr/>
        </p:nvPicPr>
        <p:blipFill>
          <a:blip r:embed="rId3"/>
          <a:stretch>
            <a:fillRect/>
          </a:stretch>
        </p:blipFill>
        <p:spPr>
          <a:xfrm>
            <a:off x="6911340" y="3874770"/>
            <a:ext cx="1287780" cy="259080"/>
          </a:xfrm>
          <a:prstGeom prst="rect">
            <a:avLst/>
          </a:prstGeom>
        </p:spPr>
      </p:pic>
      <p:pic>
        <p:nvPicPr>
          <p:cNvPr id="56" name="Capa base" descr="iso_equipo_02_base.png"/>
          <p:cNvPicPr>
            <a:picLocks noChangeAspect="1"/>
          </p:cNvPicPr>
          <p:nvPr/>
        </p:nvPicPr>
        <p:blipFill>
          <a:blip r:embed="rId4"/>
          <a:stretch>
            <a:fillRect/>
          </a:stretch>
        </p:blipFill>
        <p:spPr>
          <a:xfrm>
            <a:off x="1493520" y="1847850"/>
            <a:ext cx="8427720" cy="3208020"/>
          </a:xfrm>
          <a:prstGeom prst="rect">
            <a:avLst/>
          </a:prstGeom>
        </p:spPr>
      </p:pic>
      <p:pic>
        <p:nvPicPr>
          <p:cNvPr id="57" name="Capa on1" descr="iso_equipo_03_on1.png"/>
          <p:cNvPicPr>
            <a:picLocks noChangeAspect="1"/>
          </p:cNvPicPr>
          <p:nvPr/>
        </p:nvPicPr>
        <p:blipFill>
          <a:blip r:embed="rId5"/>
          <a:stretch>
            <a:fillRect/>
          </a:stretch>
        </p:blipFill>
        <p:spPr>
          <a:xfrm>
            <a:off x="2198370" y="3627120"/>
            <a:ext cx="3543300" cy="361950"/>
          </a:xfrm>
          <a:prstGeom prst="rect">
            <a:avLst/>
          </a:prstGeom>
        </p:spPr>
      </p:pic>
      <p:pic>
        <p:nvPicPr>
          <p:cNvPr id="58" name="Capa on2" descr="iso_equipo_04_on2.png"/>
          <p:cNvPicPr>
            <a:picLocks noChangeAspect="1"/>
          </p:cNvPicPr>
          <p:nvPr/>
        </p:nvPicPr>
        <p:blipFill>
          <a:blip r:embed="rId6"/>
          <a:stretch>
            <a:fillRect/>
          </a:stretch>
        </p:blipFill>
        <p:spPr>
          <a:xfrm>
            <a:off x="6450330" y="2868930"/>
            <a:ext cx="3364230" cy="659130"/>
          </a:xfrm>
          <a:prstGeom prst="rect">
            <a:avLst/>
          </a:prstGeom>
        </p:spPr>
      </p:pic>
      <p:pic>
        <p:nvPicPr>
          <p:cNvPr id="59" name="Capa on3" descr="iso_equipo_05_on3.png"/>
          <p:cNvPicPr>
            <a:picLocks noChangeAspect="1"/>
          </p:cNvPicPr>
          <p:nvPr/>
        </p:nvPicPr>
        <p:blipFill>
          <a:blip r:embed="rId7"/>
          <a:stretch>
            <a:fillRect/>
          </a:stretch>
        </p:blipFill>
        <p:spPr>
          <a:xfrm>
            <a:off x="1935480" y="2114550"/>
            <a:ext cx="3806190" cy="36957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Arquitectura del </a:t>
            </a:r>
            <a:r>
              <a:rPr b="1" lang="es-CO">
                <a:solidFill>
                  <a:srgbClr val="6D28D9"/>
                </a:solidFill>
              </a:rPr>
              <a:t>equipo en la estación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8"/>
                                        </p:tgtEl>
                                        <p:attrNameLst>
                                          <p:attrName>style.visibility</p:attrName>
                                        </p:attrNameLst>
                                      </p:cBhvr>
                                      <p:to>
                                        <p:strVal val="visible"/>
                                      </p:to>
                                    </p:set>
                                    <p:animEffect transition="in" filter="fade">
                                      <p:cBhvr>
                                        <p:cTn id="15" dur="400"/>
                                        <p:tgtEl>
                                          <p:spTgt spid="58"/>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59"/>
                                        </p:tgtEl>
                                        <p:attrNameLst>
                                          <p:attrName>style.visibility</p:attrName>
                                        </p:attrNameLst>
                                      </p:cBhvr>
                                      <p:to>
                                        <p:strVal val="visible"/>
                                      </p:to>
                                    </p:set>
                                    <p:animEffect transition="in" filter="fade">
                                      <p:cBhvr>
                                        <p:cTn id="20"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flujo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flujo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flujo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flujo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flujo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flujo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flujo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Cinco piezas </a:t>
            </a:r>
            <a:r>
              <a:rPr b="1" lang="es-CO">
                <a:solidFill>
                  <a:srgbClr val="6D28D9"/>
                </a:solidFill>
              </a:rPr>
              <a:t>para gobernarlo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ws_html0.png"/>
          <p:cNvPicPr>
            <a:picLocks noChangeAspect="1"/>
          </p:cNvPicPr>
          <p:nvPr/>
        </p:nvPicPr>
        <p:blipFill>
          <a:blip r:embed="rId2"/>
          <a:stretch>
            <a:fillRect/>
          </a:stretch>
        </p:blipFill>
        <p:spPr>
          <a:xfrm>
            <a:off x="0" y="655320"/>
            <a:ext cx="12192000" cy="5227320"/>
          </a:xfrm>
          <a:prstGeom prst="rect">
            <a:avLst/>
          </a:prstGeom>
        </p:spPr>
      </p:pic>
      <p:pic>
        <p:nvPicPr>
          <p:cNvPr id="55" name="Paso 1" descr="aws_html1.png"/>
          <p:cNvPicPr>
            <a:picLocks noChangeAspect="1"/>
          </p:cNvPicPr>
          <p:nvPr/>
        </p:nvPicPr>
        <p:blipFill>
          <a:blip r:embed="rId3"/>
          <a:stretch>
            <a:fillRect/>
          </a:stretch>
        </p:blipFill>
        <p:spPr>
          <a:xfrm>
            <a:off x="0" y="655320"/>
            <a:ext cx="12192000" cy="5227320"/>
          </a:xfrm>
          <a:prstGeom prst="rect">
            <a:avLst/>
          </a:prstGeom>
        </p:spPr>
      </p:pic>
      <p:pic>
        <p:nvPicPr>
          <p:cNvPr id="56" name="Paso 2" descr="aws_html2.png"/>
          <p:cNvPicPr>
            <a:picLocks noChangeAspect="1"/>
          </p:cNvPicPr>
          <p:nvPr/>
        </p:nvPicPr>
        <p:blipFill>
          <a:blip r:embed="rId4"/>
          <a:stretch>
            <a:fillRect/>
          </a:stretch>
        </p:blipFill>
        <p:spPr>
          <a:xfrm>
            <a:off x="0" y="655320"/>
            <a:ext cx="12192000" cy="5227320"/>
          </a:xfrm>
          <a:prstGeom prst="rect">
            <a:avLst/>
          </a:prstGeom>
        </p:spPr>
      </p:pic>
      <p:pic>
        <p:nvPicPr>
          <p:cNvPr id="57" name="Paso 3" descr="aws_html3.png"/>
          <p:cNvPicPr>
            <a:picLocks noChangeAspect="1"/>
          </p:cNvPicPr>
          <p:nvPr/>
        </p:nvPicPr>
        <p:blipFill>
          <a:blip r:embed="rId5"/>
          <a:stretch>
            <a:fillRect/>
          </a:stretch>
        </p:blipFill>
        <p:spPr>
          <a:xfrm>
            <a:off x="0" y="655320"/>
            <a:ext cx="12192000" cy="5227320"/>
          </a:xfrm>
          <a:prstGeom prst="rect">
            <a:avLst/>
          </a:prstGeom>
        </p:spPr>
      </p:pic>
      <p:pic>
        <p:nvPicPr>
          <p:cNvPr id="58" name="Paso 4" descr="aws_html4.png"/>
          <p:cNvPicPr>
            <a:picLocks noChangeAspect="1"/>
          </p:cNvPicPr>
          <p:nvPr/>
        </p:nvPicPr>
        <p:blipFill>
          <a:blip r:embed="rId6"/>
          <a:stretch>
            <a:fillRect/>
          </a:stretch>
        </p:blipFill>
        <p:spPr>
          <a:xfrm>
            <a:off x="0" y="655320"/>
            <a:ext cx="12192000" cy="5227320"/>
          </a:xfrm>
          <a:prstGeom prst="rect">
            <a:avLst/>
          </a:prstGeom>
        </p:spPr>
      </p:pic>
      <p:pic>
        <p:nvPicPr>
          <p:cNvPr id="59" name="Paso 5" descr="aws_html5.png"/>
          <p:cNvPicPr>
            <a:picLocks noChangeAspect="1"/>
          </p:cNvPicPr>
          <p:nvPr/>
        </p:nvPicPr>
        <p:blipFill>
          <a:blip r:embed="rId7"/>
          <a:stretch>
            <a:fillRect/>
          </a:stretch>
        </p:blipFill>
        <p:spPr>
          <a:xfrm>
            <a:off x="0" y="655320"/>
            <a:ext cx="12192000" cy="5227320"/>
          </a:xfrm>
          <a:prstGeom prst="rect">
            <a:avLst/>
          </a:prstGeom>
        </p:spPr>
      </p:pic>
      <p:pic>
        <p:nvPicPr>
          <p:cNvPr id="60" name="Paso 6" descr="aws_html6.png"/>
          <p:cNvPicPr>
            <a:picLocks noChangeAspect="1"/>
          </p:cNvPicPr>
          <p:nvPr/>
        </p:nvPicPr>
        <p:blipFill>
          <a:blip r:embed="rId8"/>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EL PATRÓN</a:t>
            </a:r>
          </a:p>
        </p:txBody>
      </p:sp>
      <p:sp>
        <p:nvSpPr>
          <p:cNvPr id="3" name="Title 2"/>
          <p:cNvSpPr>
            <a:spLocks noGrp="1"/>
          </p:cNvSpPr>
          <p:nvPr>
            <p:ph type="title" idx="107"/>
          </p:nvPr>
        </p:nvSpPr>
        <p:spPr/>
        <p:txBody>
          <a:bodyPr lIns="0"/>
          <a:lstStyle/>
          <a:p>
            <a:r>
              <a:rPr lang="es-CO"/>
              <a:t>El mismo patrón </a:t>
            </a:r>
            <a:r>
              <a:rPr b="1" lang="es-CO">
                <a:solidFill>
                  <a:srgbClr val="6D28D9"/>
                </a:solidFill>
              </a:rPr>
              <a:t>en AWS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03</a:t>
            </a:r>
          </a:p>
        </p:txBody>
      </p:sp>
      <p:sp>
        <p:nvSpPr>
          <p:cNvPr id="3" name="Title 2"/>
          <p:cNvSpPr>
            <a:spLocks noGrp="1"/>
          </p:cNvSpPr>
          <p:nvPr>
            <p:ph type="title" idx="107"/>
          </p:nvPr>
        </p:nvSpPr>
        <p:spPr/>
        <p:txBody>
          <a:bodyPr lIns="0"/>
          <a:lstStyle/>
          <a:p>
            <a:r>
              <a:rPr lang="es-CO"/>
              <a:t>Los seis pasos</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5" name="Paso 1"/>
          <p:cNvSpPr/>
          <p:nvPr/>
        </p:nvSpPr>
        <p:spPr>
          <a:xfrm>
            <a:off x="640080" y="4968240"/>
            <a:ext cx="1691640" cy="899160"/>
          </a:xfrm>
          <a:prstGeom prst="roundRect">
            <a:avLst>
              <a:gd name="adj" fmla="val 10169"/>
            </a:avLst>
          </a:prstGeom>
          <a:solidFill>
            <a:srgbClr val="FFFFFF"/>
          </a:solidFill>
          <a:ln w="15240">
            <a:solidFill>
              <a:srgbClr val="6D28D9"/>
            </a:solidFill>
          </a:ln>
        </p:spPr>
        <p:txBody>
          <a:bodyPr rtlCol="0" anchor="t" wrap="none" lIns="152400" tIns="144780" rIns="60960" bIns="0">
            <a:noAutofit/>
          </a:bodyPr>
          <a:lstStyle/>
          <a:p>
            <a:pPr algn="l"/>
            <a:r>
              <a:rPr sz="1200" b="1" lang="es-CO">
                <a:solidFill>
                  <a:srgbClr val="6D28D9"/>
                </a:solidFill>
                <a:latin typeface="Courier New"/>
              </a:rPr>
              <a:t>01</a:t>
            </a:r>
          </a:p>
          <a:p>
            <a:pPr algn="l">
              <a:spcBef>
                <a:spcPts val="240"/>
              </a:spcBef>
            </a:pPr>
            <a:r>
              <a:rPr sz="1739" b="1" lang="es-CO">
                <a:solidFill>
                  <a:srgbClr val="071329"/>
                </a:solidFill>
                <a:latin typeface="Calibri"/>
              </a:rPr>
              <a:t>Entrenar</a:t>
            </a:r>
          </a:p>
          <a:p>
            <a:pPr algn="l">
              <a:spcBef>
                <a:spcPts val="179"/>
              </a:spcBef>
            </a:pPr>
            <a:r>
              <a:rPr sz="1080" b="0" lang="es-CO">
                <a:solidFill>
                  <a:srgbClr val="475569"/>
                </a:solidFill>
                <a:latin typeface="Calibri"/>
              </a:rPr>
              <a:t>SageMaker AI · S3</a:t>
            </a:r>
          </a:p>
        </p:txBody>
      </p:sp>
      <p:cxnSp>
        <p:nvCxnSpPr>
          <p:cNvPr id="56" name="Connector 55"/>
          <p:cNvCxnSpPr/>
          <p:nvPr/>
        </p:nvCxnSpPr>
        <p:spPr>
          <a:xfrm>
            <a:off x="2354580" y="5417820"/>
            <a:ext cx="106680" cy="0"/>
          </a:xfrm>
          <a:prstGeom prst="line">
            <a:avLst/>
          </a:prstGeom>
          <a:ln w="16764">
            <a:solidFill>
              <a:srgbClr val="6D28D9"/>
            </a:solidFill>
            <a:tailEnd type="triangle" w="med" len="med"/>
          </a:ln>
        </p:spPr>
      </p:cxnSp>
      <p:sp>
        <p:nvSpPr>
          <p:cNvPr id="57" name="Paso 2"/>
          <p:cNvSpPr/>
          <p:nvPr/>
        </p:nvSpPr>
        <p:spPr>
          <a:xfrm>
            <a:off x="248412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02</a:t>
            </a:r>
          </a:p>
          <a:p>
            <a:pPr algn="l">
              <a:spcBef>
                <a:spcPts val="240"/>
              </a:spcBef>
            </a:pPr>
            <a:r>
              <a:rPr sz="1739" b="1" lang="es-CO">
                <a:solidFill>
                  <a:srgbClr val="071329"/>
                </a:solidFill>
                <a:latin typeface="Calibri"/>
              </a:rPr>
              <a:t>Optimizar</a:t>
            </a:r>
          </a:p>
          <a:p>
            <a:pPr algn="l">
              <a:spcBef>
                <a:spcPts val="179"/>
              </a:spcBef>
            </a:pPr>
            <a:r>
              <a:rPr sz="1080" b="0" lang="es-CO">
                <a:solidFill>
                  <a:srgbClr val="475569"/>
                </a:solidFill>
                <a:latin typeface="Calibri"/>
              </a:rPr>
              <a:t>un artefacto por chip</a:t>
            </a:r>
          </a:p>
        </p:txBody>
      </p:sp>
      <p:cxnSp>
        <p:nvCxnSpPr>
          <p:cNvPr id="58" name="Connector 57"/>
          <p:cNvCxnSpPr/>
          <p:nvPr/>
        </p:nvCxnSpPr>
        <p:spPr>
          <a:xfrm>
            <a:off x="4198620" y="5417820"/>
            <a:ext cx="106680" cy="0"/>
          </a:xfrm>
          <a:prstGeom prst="line">
            <a:avLst/>
          </a:prstGeom>
          <a:ln w="16764">
            <a:solidFill>
              <a:srgbClr val="6D28D9"/>
            </a:solidFill>
            <a:tailEnd type="triangle" w="med" len="med"/>
          </a:ln>
        </p:spPr>
      </p:cxnSp>
      <p:sp>
        <p:nvSpPr>
          <p:cNvPr id="59" name="Paso 3"/>
          <p:cNvSpPr/>
          <p:nvPr/>
        </p:nvSpPr>
        <p:spPr>
          <a:xfrm>
            <a:off x="432816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03</a:t>
            </a:r>
          </a:p>
          <a:p>
            <a:pPr algn="l">
              <a:spcBef>
                <a:spcPts val="240"/>
              </a:spcBef>
            </a:pPr>
            <a:r>
              <a:rPr sz="1739" b="1" lang="es-CO">
                <a:solidFill>
                  <a:srgbClr val="071329"/>
                </a:solidFill>
                <a:latin typeface="Calibri"/>
              </a:rPr>
              <a:t>Empaquetar</a:t>
            </a:r>
          </a:p>
          <a:p>
            <a:pPr algn="l">
              <a:spcBef>
                <a:spcPts val="179"/>
              </a:spcBef>
            </a:pPr>
            <a:r>
              <a:rPr sz="1080" b="0" lang="es-CO">
                <a:solidFill>
                  <a:srgbClr val="475569"/>
                </a:solidFill>
                <a:latin typeface="Calibri"/>
              </a:rPr>
              <a:t>componente Greengrass</a:t>
            </a:r>
          </a:p>
        </p:txBody>
      </p:sp>
      <p:cxnSp>
        <p:nvCxnSpPr>
          <p:cNvPr id="60" name="Connector 59"/>
          <p:cNvCxnSpPr/>
          <p:nvPr/>
        </p:nvCxnSpPr>
        <p:spPr>
          <a:xfrm>
            <a:off x="6042660" y="5417820"/>
            <a:ext cx="106680" cy="0"/>
          </a:xfrm>
          <a:prstGeom prst="line">
            <a:avLst/>
          </a:prstGeom>
          <a:ln w="16764">
            <a:solidFill>
              <a:srgbClr val="6D28D9"/>
            </a:solidFill>
            <a:tailEnd type="triangle" w="med" len="med"/>
          </a:ln>
        </p:spPr>
      </p:cxnSp>
      <p:sp>
        <p:nvSpPr>
          <p:cNvPr id="61" name="Paso 4"/>
          <p:cNvSpPr/>
          <p:nvPr/>
        </p:nvSpPr>
        <p:spPr>
          <a:xfrm>
            <a:off x="617220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04</a:t>
            </a:r>
          </a:p>
          <a:p>
            <a:pPr algn="l">
              <a:spcBef>
                <a:spcPts val="240"/>
              </a:spcBef>
            </a:pPr>
            <a:r>
              <a:rPr sz="1739" b="1" lang="es-CO">
                <a:solidFill>
                  <a:srgbClr val="071329"/>
                </a:solidFill>
                <a:latin typeface="Calibri"/>
              </a:rPr>
              <a:t>Desplegar</a:t>
            </a:r>
          </a:p>
          <a:p>
            <a:pPr algn="l">
              <a:spcBef>
                <a:spcPts val="179"/>
              </a:spcBef>
            </a:pPr>
            <a:r>
              <a:rPr sz="1080" b="0" lang="es-CO">
                <a:solidFill>
                  <a:srgbClr val="475569"/>
                </a:solidFill>
                <a:latin typeface="Calibri"/>
              </a:rPr>
              <a:t>rings · thing groups</a:t>
            </a:r>
          </a:p>
        </p:txBody>
      </p:sp>
      <p:cxnSp>
        <p:nvCxnSpPr>
          <p:cNvPr id="62" name="Connector 61"/>
          <p:cNvCxnSpPr/>
          <p:nvPr/>
        </p:nvCxnSpPr>
        <p:spPr>
          <a:xfrm>
            <a:off x="7886700" y="5417820"/>
            <a:ext cx="106680" cy="0"/>
          </a:xfrm>
          <a:prstGeom prst="line">
            <a:avLst/>
          </a:prstGeom>
          <a:ln w="16764">
            <a:solidFill>
              <a:srgbClr val="6D28D9"/>
            </a:solidFill>
            <a:tailEnd type="triangle" w="med" len="med"/>
          </a:ln>
        </p:spPr>
      </p:cxnSp>
      <p:sp>
        <p:nvSpPr>
          <p:cNvPr id="63" name="Paso 5"/>
          <p:cNvSpPr/>
          <p:nvPr/>
        </p:nvSpPr>
        <p:spPr>
          <a:xfrm>
            <a:off x="801624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05</a:t>
            </a:r>
          </a:p>
          <a:p>
            <a:pPr algn="l">
              <a:spcBef>
                <a:spcPts val="240"/>
              </a:spcBef>
            </a:pPr>
            <a:r>
              <a:rPr sz="1739" b="1" lang="es-CO">
                <a:solidFill>
                  <a:srgbClr val="071329"/>
                </a:solidFill>
                <a:latin typeface="Calibri"/>
              </a:rPr>
              <a:t>Operar sin red</a:t>
            </a:r>
          </a:p>
          <a:p>
            <a:pPr algn="l">
              <a:spcBef>
                <a:spcPts val="179"/>
              </a:spcBef>
            </a:pPr>
            <a:r>
              <a:rPr sz="1080" b="0" lang="es-CO">
                <a:solidFill>
                  <a:srgbClr val="475569"/>
                </a:solidFill>
                <a:latin typeface="Calibri"/>
              </a:rPr>
              <a:t>cola local</a:t>
            </a:r>
          </a:p>
        </p:txBody>
      </p:sp>
      <p:cxnSp>
        <p:nvCxnSpPr>
          <p:cNvPr id="64" name="Connector 63"/>
          <p:cNvCxnSpPr/>
          <p:nvPr/>
        </p:nvCxnSpPr>
        <p:spPr>
          <a:xfrm>
            <a:off x="9730740" y="5417820"/>
            <a:ext cx="106680" cy="0"/>
          </a:xfrm>
          <a:prstGeom prst="line">
            <a:avLst/>
          </a:prstGeom>
          <a:ln w="16764">
            <a:solidFill>
              <a:srgbClr val="6D28D9"/>
            </a:solidFill>
            <a:tailEnd type="triangle" w="med" len="med"/>
          </a:ln>
        </p:spPr>
      </p:cxnSp>
      <p:sp>
        <p:nvSpPr>
          <p:cNvPr id="65" name="Paso 6"/>
          <p:cNvSpPr/>
          <p:nvPr/>
        </p:nvSpPr>
        <p:spPr>
          <a:xfrm>
            <a:off x="9860280" y="4968240"/>
            <a:ext cx="1691640" cy="899160"/>
          </a:xfrm>
          <a:prstGeom prst="roundRect">
            <a:avLst>
              <a:gd name="adj" fmla="val 10169"/>
            </a:avLst>
          </a:prstGeom>
          <a:solidFill>
            <a:srgbClr val="FFFFFF"/>
          </a:solidFill>
          <a:ln w="15240">
            <a:solidFill>
              <a:srgbClr val="D5DEEA"/>
            </a:solidFill>
          </a:ln>
        </p:spPr>
        <p:txBody>
          <a:bodyPr rtlCol="0" anchor="t" wrap="none" lIns="152400" tIns="144780" rIns="60960" bIns="0">
            <a:noAutofit/>
          </a:bodyPr>
          <a:lstStyle/>
          <a:p>
            <a:pPr algn="l"/>
            <a:r>
              <a:rPr sz="1200" b="1" lang="es-CO">
                <a:solidFill>
                  <a:srgbClr val="6D28D9"/>
                </a:solidFill>
                <a:latin typeface="Courier New"/>
              </a:rPr>
              <a:t>06</a:t>
            </a:r>
          </a:p>
          <a:p>
            <a:pPr algn="l">
              <a:spcBef>
                <a:spcPts val="240"/>
              </a:spcBef>
            </a:pPr>
            <a:r>
              <a:rPr sz="1739" b="1" lang="es-CO">
                <a:solidFill>
                  <a:srgbClr val="071329"/>
                </a:solidFill>
                <a:latin typeface="Calibri"/>
              </a:rPr>
              <a:t>Monitorear</a:t>
            </a:r>
          </a:p>
          <a:p>
            <a:pPr algn="l">
              <a:spcBef>
                <a:spcPts val="179"/>
              </a:spcBef>
            </a:pPr>
            <a:r>
              <a:rPr sz="1080" b="0" lang="es-CO">
                <a:solidFill>
                  <a:srgbClr val="475569"/>
                </a:solidFill>
                <a:latin typeface="Calibri"/>
              </a:rPr>
              <a:t>IoT Core · CloudWatch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entrenar_00_base.png"/>
          <p:cNvPicPr>
            <a:picLocks noChangeAspect="1"/>
          </p:cNvPicPr>
          <p:nvPr/>
        </p:nvPicPr>
        <p:blipFill>
          <a:blip r:embed="rId2"/>
          <a:stretch>
            <a:fillRect/>
          </a:stretch>
        </p:blipFill>
        <p:spPr>
          <a:xfrm>
            <a:off x="708660" y="1882140"/>
            <a:ext cx="2941320" cy="1691640"/>
          </a:xfrm>
          <a:prstGeom prst="rect">
            <a:avLst/>
          </a:prstGeom>
        </p:spPr>
      </p:pic>
      <p:pic>
        <p:nvPicPr>
          <p:cNvPr id="55" name="Capa on1" descr="iso_entrenar_01_on1.png"/>
          <p:cNvPicPr>
            <a:picLocks noChangeAspect="1"/>
          </p:cNvPicPr>
          <p:nvPr/>
        </p:nvPicPr>
        <p:blipFill>
          <a:blip r:embed="rId3"/>
          <a:stretch>
            <a:fillRect/>
          </a:stretch>
        </p:blipFill>
        <p:spPr>
          <a:xfrm>
            <a:off x="3630930" y="1882140"/>
            <a:ext cx="4057650" cy="1691640"/>
          </a:xfrm>
          <a:prstGeom prst="rect">
            <a:avLst/>
          </a:prstGeom>
        </p:spPr>
      </p:pic>
      <p:pic>
        <p:nvPicPr>
          <p:cNvPr id="56" name="Capa on2" descr="iso_entrenar_02_on2.png"/>
          <p:cNvPicPr>
            <a:picLocks noChangeAspect="1"/>
          </p:cNvPicPr>
          <p:nvPr/>
        </p:nvPicPr>
        <p:blipFill>
          <a:blip r:embed="rId4"/>
          <a:stretch>
            <a:fillRect/>
          </a:stretch>
        </p:blipFill>
        <p:spPr>
          <a:xfrm>
            <a:off x="7669530" y="1882140"/>
            <a:ext cx="3813810" cy="1691640"/>
          </a:xfrm>
          <a:prstGeom prst="rect">
            <a:avLst/>
          </a:prstGeom>
        </p:spPr>
      </p:pic>
      <p:pic>
        <p:nvPicPr>
          <p:cNvPr id="57" name="Capa on3" descr="iso_entrenar_03_on3.png"/>
          <p:cNvPicPr>
            <a:picLocks noChangeAspect="1"/>
          </p:cNvPicPr>
          <p:nvPr/>
        </p:nvPicPr>
        <p:blipFill>
          <a:blip r:embed="rId5"/>
          <a:stretch>
            <a:fillRect/>
          </a:stretch>
        </p:blipFill>
        <p:spPr>
          <a:xfrm>
            <a:off x="708660" y="3787140"/>
            <a:ext cx="10774680" cy="160020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6D28D9"/>
          </a:solidFill>
          <a:ln w="11430">
            <a:solidFill>
              <a:srgbClr val="6D28D9"/>
            </a:solidFill>
            <a:round/>
          </a:ln>
        </p:spPr>
        <p:txBody>
          <a:bodyPr rtlCol="0" anchor="ctr" wrap="none" lIns="137160" tIns="0" rIns="30480" bIns="0">
            <a:noAutofit/>
          </a:bodyPr>
          <a:lstStyle/>
          <a:p>
            <a:pPr algn="l"/>
            <a:r>
              <a:rPr sz="1140" b="1" lang="es-CO">
                <a:solidFill>
                  <a:srgbClr val="FFFFFF"/>
                </a:solidFill>
                <a:latin typeface="Courier New"/>
              </a:rPr>
              <a:t>1</a:t>
            </a:r>
            <a:r>
              <a:rPr sz="1140" b="0" lang="es-CO">
                <a:solidFill>
                  <a:srgbClr val="071329"/>
                </a:solidFill>
                <a:latin typeface="Courier New"/>
              </a:rPr>
              <a:t> </a:t>
            </a:r>
            <a:r>
              <a:rPr sz="1140" b="1" lang="es-CO">
                <a:solidFill>
                  <a:srgbClr val="FFFFFF"/>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5C7290"/>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1 ·</a:t>
            </a:r>
            <a:r>
              <a:rPr lang="es-CO"/>
              <a:t> Entrenar </a:t>
            </a:r>
            <a:r>
              <a:rPr b="1" lang="es-CO">
                <a:solidFill>
                  <a:srgbClr val="6D28D9"/>
                </a:solidFill>
              </a:rPr>
              <a:t>con sonido normal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optimizar_00_base.png"/>
          <p:cNvPicPr>
            <a:picLocks noChangeAspect="1"/>
          </p:cNvPicPr>
          <p:nvPr/>
        </p:nvPicPr>
        <p:blipFill>
          <a:blip r:embed="rId2"/>
          <a:stretch>
            <a:fillRect/>
          </a:stretch>
        </p:blipFill>
        <p:spPr>
          <a:xfrm>
            <a:off x="708660" y="1927860"/>
            <a:ext cx="2331720" cy="2346960"/>
          </a:xfrm>
          <a:prstGeom prst="rect">
            <a:avLst/>
          </a:prstGeom>
        </p:spPr>
      </p:pic>
      <p:pic>
        <p:nvPicPr>
          <p:cNvPr id="55" name="Capa on1" descr="iso_optimizar_01_on1.png"/>
          <p:cNvPicPr>
            <a:picLocks noChangeAspect="1"/>
          </p:cNvPicPr>
          <p:nvPr/>
        </p:nvPicPr>
        <p:blipFill>
          <a:blip r:embed="rId3"/>
          <a:stretch>
            <a:fillRect/>
          </a:stretch>
        </p:blipFill>
        <p:spPr>
          <a:xfrm>
            <a:off x="3021330" y="1927860"/>
            <a:ext cx="3036570" cy="2346960"/>
          </a:xfrm>
          <a:prstGeom prst="rect">
            <a:avLst/>
          </a:prstGeom>
        </p:spPr>
      </p:pic>
      <p:pic>
        <p:nvPicPr>
          <p:cNvPr id="56" name="Capa on2" descr="iso_optimizar_02_on2.png"/>
          <p:cNvPicPr>
            <a:picLocks noChangeAspect="1"/>
          </p:cNvPicPr>
          <p:nvPr/>
        </p:nvPicPr>
        <p:blipFill>
          <a:blip r:embed="rId4"/>
          <a:stretch>
            <a:fillRect/>
          </a:stretch>
        </p:blipFill>
        <p:spPr>
          <a:xfrm>
            <a:off x="6042660" y="1927860"/>
            <a:ext cx="5440680" cy="2346960"/>
          </a:xfrm>
          <a:prstGeom prst="rect">
            <a:avLst/>
          </a:prstGeom>
        </p:spPr>
      </p:pic>
      <p:pic>
        <p:nvPicPr>
          <p:cNvPr id="57" name="Capa on3" descr="iso_optimizar_03_on3.png"/>
          <p:cNvPicPr>
            <a:picLocks noChangeAspect="1"/>
          </p:cNvPicPr>
          <p:nvPr/>
        </p:nvPicPr>
        <p:blipFill>
          <a:blip r:embed="rId5"/>
          <a:stretch>
            <a:fillRect/>
          </a:stretch>
        </p:blipFill>
        <p:spPr>
          <a:xfrm>
            <a:off x="708660" y="4442460"/>
            <a:ext cx="10774680" cy="92964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2</a:t>
            </a:r>
            <a:r>
              <a:rPr sz="1140" b="0" lang="es-CO">
                <a:solidFill>
                  <a:srgbClr val="071329"/>
                </a:solidFill>
                <a:latin typeface="Courier New"/>
              </a:rPr>
              <a:t> </a:t>
            </a:r>
            <a:r>
              <a:rPr sz="1140" b="1" lang="es-CO">
                <a:solidFill>
                  <a:srgbClr val="FFFFFF"/>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5C7290"/>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2 ·</a:t>
            </a:r>
            <a:r>
              <a:rPr lang="es-CO"/>
              <a:t> Optimizar </a:t>
            </a:r>
            <a:r>
              <a:rPr b="1" lang="es-CO">
                <a:solidFill>
                  <a:srgbClr val="6D28D9"/>
                </a:solidFill>
              </a:rPr>
              <a:t>para cada chip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receta_00_base.png"/>
          <p:cNvPicPr>
            <a:picLocks noChangeAspect="1"/>
          </p:cNvPicPr>
          <p:nvPr/>
        </p:nvPicPr>
        <p:blipFill>
          <a:blip r:embed="rId2"/>
          <a:stretch>
            <a:fillRect/>
          </a:stretch>
        </p:blipFill>
        <p:spPr>
          <a:xfrm>
            <a:off x="708660" y="1775460"/>
            <a:ext cx="10774680" cy="3032760"/>
          </a:xfrm>
          <a:prstGeom prst="rect">
            <a:avLst/>
          </a:prstGeom>
        </p:spPr>
      </p:pic>
      <p:pic>
        <p:nvPicPr>
          <p:cNvPr id="55" name="Capa on1" descr="iso_receta_01_on1.png"/>
          <p:cNvPicPr>
            <a:picLocks noChangeAspect="1"/>
          </p:cNvPicPr>
          <p:nvPr/>
        </p:nvPicPr>
        <p:blipFill>
          <a:blip r:embed="rId3"/>
          <a:stretch>
            <a:fillRect/>
          </a:stretch>
        </p:blipFill>
        <p:spPr>
          <a:xfrm>
            <a:off x="723900" y="3737610"/>
            <a:ext cx="10660380" cy="1573530"/>
          </a:xfrm>
          <a:prstGeom prst="rect">
            <a:avLst/>
          </a:prstGeom>
        </p:spPr>
      </p:pic>
      <p:pic>
        <p:nvPicPr>
          <p:cNvPr id="56" name="Capa on2" descr="iso_receta_02_on2.png"/>
          <p:cNvPicPr>
            <a:picLocks noChangeAspect="1"/>
          </p:cNvPicPr>
          <p:nvPr/>
        </p:nvPicPr>
        <p:blipFill>
          <a:blip r:embed="rId4"/>
          <a:stretch>
            <a:fillRect/>
          </a:stretch>
        </p:blipFill>
        <p:spPr>
          <a:xfrm>
            <a:off x="3406140" y="2754630"/>
            <a:ext cx="7978140" cy="2556510"/>
          </a:xfrm>
          <a:prstGeom prst="rect">
            <a:avLst/>
          </a:prstGeom>
        </p:spPr>
      </p:pic>
      <p:pic>
        <p:nvPicPr>
          <p:cNvPr id="57" name="Capa on3" descr="iso_receta_03_on3.png"/>
          <p:cNvPicPr>
            <a:picLocks noChangeAspect="1"/>
          </p:cNvPicPr>
          <p:nvPr/>
        </p:nvPicPr>
        <p:blipFill>
          <a:blip r:embed="rId5"/>
          <a:stretch>
            <a:fillRect/>
          </a:stretch>
        </p:blipFill>
        <p:spPr>
          <a:xfrm>
            <a:off x="807720" y="2918460"/>
            <a:ext cx="7498080" cy="2392680"/>
          </a:xfrm>
          <a:prstGeom prst="rect">
            <a:avLst/>
          </a:prstGeom>
        </p:spPr>
      </p:pic>
      <p:pic>
        <p:nvPicPr>
          <p:cNvPr id="58" name="Capa on4" descr="iso_receta_04_on4.png"/>
          <p:cNvPicPr>
            <a:picLocks noChangeAspect="1"/>
          </p:cNvPicPr>
          <p:nvPr/>
        </p:nvPicPr>
        <p:blipFill>
          <a:blip r:embed="rId6"/>
          <a:stretch>
            <a:fillRect/>
          </a:stretch>
        </p:blipFill>
        <p:spPr>
          <a:xfrm>
            <a:off x="807720" y="3409950"/>
            <a:ext cx="10187940" cy="1901190"/>
          </a:xfrm>
          <a:prstGeom prst="rect">
            <a:avLst/>
          </a:prstGeom>
        </p:spPr>
      </p:pic>
      <p:pic>
        <p:nvPicPr>
          <p:cNvPr id="59" name="Capa base" descr="iso_receta_05_base.png"/>
          <p:cNvPicPr>
            <a:picLocks noChangeAspect="1"/>
          </p:cNvPicPr>
          <p:nvPr/>
        </p:nvPicPr>
        <p:blipFill>
          <a:blip r:embed="rId7"/>
          <a:stretch>
            <a:fillRect/>
          </a:stretch>
        </p:blipFill>
        <p:spPr>
          <a:xfrm>
            <a:off x="918210" y="2305050"/>
            <a:ext cx="9886950" cy="227838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3</a:t>
            </a:r>
            <a:r>
              <a:rPr sz="1140" b="0" lang="es-CO">
                <a:solidFill>
                  <a:srgbClr val="071329"/>
                </a:solidFill>
                <a:latin typeface="Courier New"/>
              </a:rPr>
              <a:t> </a:t>
            </a:r>
            <a:r>
              <a:rPr sz="1140" b="1" lang="es-CO">
                <a:solidFill>
                  <a:srgbClr val="FFFFFF"/>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5C7290"/>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3 ·</a:t>
            </a:r>
            <a:r>
              <a:rPr lang="es-CO"/>
              <a:t> Empaquetar </a:t>
            </a:r>
            <a:r>
              <a:rPr b="1" lang="es-CO">
                <a:solidFill>
                  <a:srgbClr val="6D28D9"/>
                </a:solidFill>
              </a:rPr>
              <a:t>como componente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anillos_00_base.png"/>
          <p:cNvPicPr>
            <a:picLocks noChangeAspect="1"/>
          </p:cNvPicPr>
          <p:nvPr/>
        </p:nvPicPr>
        <p:blipFill>
          <a:blip r:embed="rId2"/>
          <a:stretch>
            <a:fillRect/>
          </a:stretch>
        </p:blipFill>
        <p:spPr>
          <a:xfrm>
            <a:off x="708660" y="1866900"/>
            <a:ext cx="3246120" cy="1600200"/>
          </a:xfrm>
          <a:prstGeom prst="rect">
            <a:avLst/>
          </a:prstGeom>
        </p:spPr>
      </p:pic>
      <p:pic>
        <p:nvPicPr>
          <p:cNvPr id="55" name="Capa on3" descr="iso_anillos_01_on3.png"/>
          <p:cNvPicPr>
            <a:picLocks noChangeAspect="1"/>
          </p:cNvPicPr>
          <p:nvPr/>
        </p:nvPicPr>
        <p:blipFill>
          <a:blip r:embed="rId3"/>
          <a:stretch>
            <a:fillRect/>
          </a:stretch>
        </p:blipFill>
        <p:spPr>
          <a:xfrm>
            <a:off x="1394460" y="2994660"/>
            <a:ext cx="1805940" cy="289560"/>
          </a:xfrm>
          <a:prstGeom prst="rect">
            <a:avLst/>
          </a:prstGeom>
        </p:spPr>
      </p:pic>
      <p:pic>
        <p:nvPicPr>
          <p:cNvPr id="56" name="Capa on1" descr="iso_anillos_02_on1.png"/>
          <p:cNvPicPr>
            <a:picLocks noChangeAspect="1"/>
          </p:cNvPicPr>
          <p:nvPr/>
        </p:nvPicPr>
        <p:blipFill>
          <a:blip r:embed="rId4"/>
          <a:stretch>
            <a:fillRect/>
          </a:stretch>
        </p:blipFill>
        <p:spPr>
          <a:xfrm>
            <a:off x="3909060" y="1866900"/>
            <a:ext cx="7574280" cy="1600200"/>
          </a:xfrm>
          <a:prstGeom prst="rect">
            <a:avLst/>
          </a:prstGeom>
        </p:spPr>
      </p:pic>
      <p:pic>
        <p:nvPicPr>
          <p:cNvPr id="57" name="Capa on2" descr="iso_anillos_03_on2.png"/>
          <p:cNvPicPr>
            <a:picLocks noChangeAspect="1"/>
          </p:cNvPicPr>
          <p:nvPr/>
        </p:nvPicPr>
        <p:blipFill>
          <a:blip r:embed="rId5"/>
          <a:stretch>
            <a:fillRect/>
          </a:stretch>
        </p:blipFill>
        <p:spPr>
          <a:xfrm>
            <a:off x="4579620" y="3695700"/>
            <a:ext cx="6903720" cy="1600200"/>
          </a:xfrm>
          <a:prstGeom prst="rect">
            <a:avLst/>
          </a:prstGeom>
        </p:spPr>
      </p:pic>
      <p:pic>
        <p:nvPicPr>
          <p:cNvPr id="58" name="Capa on3" descr="iso_anillos_04_on3.png"/>
          <p:cNvPicPr>
            <a:picLocks noChangeAspect="1"/>
          </p:cNvPicPr>
          <p:nvPr/>
        </p:nvPicPr>
        <p:blipFill>
          <a:blip r:embed="rId6"/>
          <a:stretch>
            <a:fillRect/>
          </a:stretch>
        </p:blipFill>
        <p:spPr>
          <a:xfrm>
            <a:off x="716280" y="2438400"/>
            <a:ext cx="3779520" cy="280797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4</a:t>
            </a:r>
            <a:r>
              <a:rPr sz="1140" b="0" lang="es-CO">
                <a:solidFill>
                  <a:srgbClr val="071329"/>
                </a:solidFill>
                <a:latin typeface="Courier New"/>
              </a:rPr>
              <a:t> </a:t>
            </a:r>
            <a:r>
              <a:rPr sz="1140" b="1" lang="es-CO">
                <a:solidFill>
                  <a:srgbClr val="FFFFFF"/>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5C7290"/>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4 ·</a:t>
            </a:r>
            <a:r>
              <a:rPr lang="es-CO"/>
              <a:t> Desplegar </a:t>
            </a:r>
            <a:r>
              <a:rPr b="1" lang="es-CO">
                <a:solidFill>
                  <a:srgbClr val="6D28D9"/>
                </a:solidFill>
              </a:rPr>
              <a:t>por rings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fade">
                                      <p:cBhvr>
                                        <p:cTn id="12" dur="400"/>
                                        <p:tgtEl>
                                          <p:spTgt spid="5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fade">
                                      <p:cBhvr>
                                        <p:cTn id="17" dur="400"/>
                                        <p:tgtEl>
                                          <p:spTgt spid="5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58"/>
                                        </p:tgtEl>
                                        <p:attrNameLst>
                                          <p:attrName>style.visibility</p:attrName>
                                        </p:attrNameLst>
                                      </p:cBhvr>
                                      <p:to>
                                        <p:strVal val="visible"/>
                                      </p:to>
                                    </p:set>
                                    <p:animEffect transition="in" filter="fade">
                                      <p:cBhvr>
                                        <p:cTn id="20" dur="4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inred_00_base.png"/>
          <p:cNvPicPr>
            <a:picLocks noChangeAspect="1"/>
          </p:cNvPicPr>
          <p:nvPr/>
        </p:nvPicPr>
        <p:blipFill>
          <a:blip r:embed="rId2"/>
          <a:stretch>
            <a:fillRect/>
          </a:stretch>
        </p:blipFill>
        <p:spPr>
          <a:xfrm>
            <a:off x="708660" y="1805940"/>
            <a:ext cx="5227320" cy="2987040"/>
          </a:xfrm>
          <a:prstGeom prst="rect">
            <a:avLst/>
          </a:prstGeom>
        </p:spPr>
      </p:pic>
      <p:pic>
        <p:nvPicPr>
          <p:cNvPr id="55" name="Capa on1" descr="iso_sinred_01_on1.png"/>
          <p:cNvPicPr>
            <a:picLocks noChangeAspect="1"/>
          </p:cNvPicPr>
          <p:nvPr/>
        </p:nvPicPr>
        <p:blipFill>
          <a:blip r:embed="rId3"/>
          <a:stretch>
            <a:fillRect/>
          </a:stretch>
        </p:blipFill>
        <p:spPr>
          <a:xfrm>
            <a:off x="6256020" y="1805940"/>
            <a:ext cx="5227320" cy="2987040"/>
          </a:xfrm>
          <a:prstGeom prst="rect">
            <a:avLst/>
          </a:prstGeom>
        </p:spPr>
      </p:pic>
      <p:pic>
        <p:nvPicPr>
          <p:cNvPr id="56" name="Capa on2" descr="iso_sinred_02_on2.png"/>
          <p:cNvPicPr>
            <a:picLocks noChangeAspect="1"/>
          </p:cNvPicPr>
          <p:nvPr/>
        </p:nvPicPr>
        <p:blipFill>
          <a:blip r:embed="rId4"/>
          <a:stretch>
            <a:fillRect/>
          </a:stretch>
        </p:blipFill>
        <p:spPr>
          <a:xfrm>
            <a:off x="708660" y="4869180"/>
            <a:ext cx="10774680" cy="5029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5</a:t>
            </a:r>
            <a:r>
              <a:rPr sz="1140" b="0" lang="es-CO">
                <a:solidFill>
                  <a:srgbClr val="071329"/>
                </a:solidFill>
                <a:latin typeface="Courier New"/>
              </a:rPr>
              <a:t> </a:t>
            </a:r>
            <a:r>
              <a:rPr sz="1140" b="1" lang="es-CO">
                <a:solidFill>
                  <a:srgbClr val="FFFFFF"/>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FFFFF"/>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6</a:t>
            </a:r>
            <a:r>
              <a:rPr sz="1140" b="0" lang="es-CO">
                <a:solidFill>
                  <a:srgbClr val="071329"/>
                </a:solidFill>
                <a:latin typeface="Courier New"/>
              </a:rPr>
              <a:t> </a:t>
            </a:r>
            <a:r>
              <a:rPr sz="1140" b="0" lang="es-CO">
                <a:solidFill>
                  <a:srgbClr val="5C7290"/>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5 ·</a:t>
            </a:r>
            <a:r>
              <a:rPr lang="es-CO"/>
              <a:t> Operar </a:t>
            </a:r>
            <a:r>
              <a:rPr b="1" lang="es-CO">
                <a:solidFill>
                  <a:srgbClr val="6D28D9"/>
                </a:solidFill>
              </a:rPr>
              <a:t>sin 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monitoreo_00_base.png"/>
          <p:cNvPicPr>
            <a:picLocks noChangeAspect="1"/>
          </p:cNvPicPr>
          <p:nvPr/>
        </p:nvPicPr>
        <p:blipFill>
          <a:blip r:embed="rId2"/>
          <a:stretch>
            <a:fillRect/>
          </a:stretch>
        </p:blipFill>
        <p:spPr>
          <a:xfrm>
            <a:off x="754380" y="2011680"/>
            <a:ext cx="1108710" cy="1009650"/>
          </a:xfrm>
          <a:prstGeom prst="rect">
            <a:avLst/>
          </a:prstGeom>
        </p:spPr>
      </p:pic>
      <p:pic>
        <p:nvPicPr>
          <p:cNvPr id="55" name="Capa on1" descr="iso_monitoreo_01_on1.png"/>
          <p:cNvPicPr>
            <a:picLocks noChangeAspect="1"/>
          </p:cNvPicPr>
          <p:nvPr/>
        </p:nvPicPr>
        <p:blipFill>
          <a:blip r:embed="rId3"/>
          <a:stretch>
            <a:fillRect/>
          </a:stretch>
        </p:blipFill>
        <p:spPr>
          <a:xfrm>
            <a:off x="708660" y="2030730"/>
            <a:ext cx="5227320" cy="2686050"/>
          </a:xfrm>
          <a:prstGeom prst="rect">
            <a:avLst/>
          </a:prstGeom>
        </p:spPr>
      </p:pic>
      <p:pic>
        <p:nvPicPr>
          <p:cNvPr id="56" name="Capa on2" descr="iso_monitoreo_02_on2.png"/>
          <p:cNvPicPr>
            <a:picLocks noChangeAspect="1"/>
          </p:cNvPicPr>
          <p:nvPr/>
        </p:nvPicPr>
        <p:blipFill>
          <a:blip r:embed="rId4"/>
          <a:stretch>
            <a:fillRect/>
          </a:stretch>
        </p:blipFill>
        <p:spPr>
          <a:xfrm>
            <a:off x="3524250" y="2091690"/>
            <a:ext cx="2205990" cy="929640"/>
          </a:xfrm>
          <a:prstGeom prst="rect">
            <a:avLst/>
          </a:prstGeom>
        </p:spPr>
      </p:pic>
      <p:pic>
        <p:nvPicPr>
          <p:cNvPr id="57" name="Capa on3" descr="iso_monitoreo_03_on3.png"/>
          <p:cNvPicPr>
            <a:picLocks noChangeAspect="1"/>
          </p:cNvPicPr>
          <p:nvPr/>
        </p:nvPicPr>
        <p:blipFill>
          <a:blip r:embed="rId5"/>
          <a:stretch>
            <a:fillRect/>
          </a:stretch>
        </p:blipFill>
        <p:spPr>
          <a:xfrm>
            <a:off x="5414010" y="2011680"/>
            <a:ext cx="6069330" cy="2705100"/>
          </a:xfrm>
          <a:prstGeom prst="rect">
            <a:avLst/>
          </a:prstGeom>
        </p:spPr>
      </p:pic>
      <p:pic>
        <p:nvPicPr>
          <p:cNvPr id="58" name="Capa on4" descr="iso_monitoreo_04_on4.png"/>
          <p:cNvPicPr>
            <a:picLocks noChangeAspect="1"/>
          </p:cNvPicPr>
          <p:nvPr/>
        </p:nvPicPr>
        <p:blipFill>
          <a:blip r:embed="rId6"/>
          <a:stretch>
            <a:fillRect/>
          </a:stretch>
        </p:blipFill>
        <p:spPr>
          <a:xfrm>
            <a:off x="7303770" y="2030730"/>
            <a:ext cx="2396490" cy="975360"/>
          </a:xfrm>
          <a:prstGeom prst="rect">
            <a:avLst/>
          </a:prstGeom>
        </p:spPr>
      </p:pic>
      <p:pic>
        <p:nvPicPr>
          <p:cNvPr id="59" name="Capa on5" descr="iso_monitoreo_05_on5.png"/>
          <p:cNvPicPr>
            <a:picLocks noChangeAspect="1"/>
          </p:cNvPicPr>
          <p:nvPr/>
        </p:nvPicPr>
        <p:blipFill>
          <a:blip r:embed="rId7"/>
          <a:stretch>
            <a:fillRect/>
          </a:stretch>
        </p:blipFill>
        <p:spPr>
          <a:xfrm>
            <a:off x="708660" y="2011680"/>
            <a:ext cx="10774680" cy="3360420"/>
          </a:xfrm>
          <a:prstGeom prst="rect">
            <a:avLst/>
          </a:prstGeom>
        </p:spPr>
      </p:pic>
      <p:sp>
        <p:nvSpPr>
          <p:cNvPr id="4" name="Espina 1"/>
          <p:cNvSpPr/>
          <p:nvPr/>
        </p:nvSpPr>
        <p:spPr>
          <a:xfrm>
            <a:off x="640080" y="5501640"/>
            <a:ext cx="1788160" cy="335280"/>
          </a:xfrm>
          <a:custGeom>
            <a:avLst/>
            <a:gdLst/>
            <a:ahLst/>
            <a:cxnLst/>
            <a:rect l="l" t="t" r="r" b="b"/>
            <a:pathLst>
              <a:path w="1788160" h="335280">
                <a:moveTo>
                  <a:pt x="0" y="0"/>
                </a:moveTo>
                <a:lnTo>
                  <a:pt x="1696720" y="0"/>
                </a:lnTo>
                <a:lnTo>
                  <a:pt x="1788160" y="167640"/>
                </a:lnTo>
                <a:lnTo>
                  <a:pt x="1696720" y="335280"/>
                </a:lnTo>
                <a:lnTo>
                  <a:pt x="0" y="335280"/>
                </a:lnTo>
                <a:close/>
              </a:path>
            </a:pathLst>
          </a:custGeom>
          <a:solidFill>
            <a:srgbClr val="F4F7FC"/>
          </a:solidFill>
          <a:ln w="11430">
            <a:solidFill>
              <a:srgbClr val="D5DEEA"/>
            </a:solidFill>
            <a:round/>
          </a:ln>
        </p:spPr>
        <p:txBody>
          <a:bodyPr rtlCol="0" anchor="ctr" wrap="none" lIns="137160" tIns="0" rIns="30480" bIns="0">
            <a:noAutofit/>
          </a:bodyPr>
          <a:lstStyle/>
          <a:p>
            <a:pPr algn="l"/>
            <a:r>
              <a:rPr sz="1140" b="1" lang="es-CO">
                <a:solidFill>
                  <a:srgbClr val="6D28D9"/>
                </a:solidFill>
                <a:latin typeface="Courier New"/>
              </a:rPr>
              <a:t>1</a:t>
            </a:r>
            <a:r>
              <a:rPr sz="1140" b="0" lang="es-CO">
                <a:solidFill>
                  <a:srgbClr val="071329"/>
                </a:solidFill>
                <a:latin typeface="Courier New"/>
              </a:rPr>
              <a:t> </a:t>
            </a:r>
            <a:r>
              <a:rPr sz="1140" b="0" lang="es-CO">
                <a:solidFill>
                  <a:srgbClr val="071329"/>
                </a:solidFill>
                <a:latin typeface="Calibri"/>
              </a:rPr>
              <a:t>Entrenar</a:t>
            </a:r>
          </a:p>
        </p:txBody>
      </p:sp>
      <p:sp>
        <p:nvSpPr>
          <p:cNvPr id="5" name="Espina 2"/>
          <p:cNvSpPr/>
          <p:nvPr/>
        </p:nvSpPr>
        <p:spPr>
          <a:xfrm>
            <a:off x="245872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2</a:t>
            </a:r>
            <a:r>
              <a:rPr sz="1140" b="0" lang="es-CO">
                <a:solidFill>
                  <a:srgbClr val="071329"/>
                </a:solidFill>
                <a:latin typeface="Courier New"/>
              </a:rPr>
              <a:t> </a:t>
            </a:r>
            <a:r>
              <a:rPr sz="1140" b="0" lang="es-CO">
                <a:solidFill>
                  <a:srgbClr val="071329"/>
                </a:solidFill>
                <a:latin typeface="Calibri"/>
              </a:rPr>
              <a:t>Optimizar</a:t>
            </a:r>
          </a:p>
        </p:txBody>
      </p:sp>
      <p:sp>
        <p:nvSpPr>
          <p:cNvPr id="6" name="Espina 3"/>
          <p:cNvSpPr/>
          <p:nvPr/>
        </p:nvSpPr>
        <p:spPr>
          <a:xfrm>
            <a:off x="427736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3</a:t>
            </a:r>
            <a:r>
              <a:rPr sz="1140" b="0" lang="es-CO">
                <a:solidFill>
                  <a:srgbClr val="071329"/>
                </a:solidFill>
                <a:latin typeface="Courier New"/>
              </a:rPr>
              <a:t> </a:t>
            </a:r>
            <a:r>
              <a:rPr sz="1140" b="0" lang="es-CO">
                <a:solidFill>
                  <a:srgbClr val="071329"/>
                </a:solidFill>
                <a:latin typeface="Calibri"/>
              </a:rPr>
              <a:t>Empaquetar</a:t>
            </a:r>
          </a:p>
        </p:txBody>
      </p:sp>
      <p:sp>
        <p:nvSpPr>
          <p:cNvPr id="7" name="Espina 4"/>
          <p:cNvSpPr/>
          <p:nvPr/>
        </p:nvSpPr>
        <p:spPr>
          <a:xfrm>
            <a:off x="609600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4</a:t>
            </a:r>
            <a:r>
              <a:rPr sz="1140" b="0" lang="es-CO">
                <a:solidFill>
                  <a:srgbClr val="071329"/>
                </a:solidFill>
                <a:latin typeface="Courier New"/>
              </a:rPr>
              <a:t> </a:t>
            </a:r>
            <a:r>
              <a:rPr sz="1140" b="0" lang="es-CO">
                <a:solidFill>
                  <a:srgbClr val="071329"/>
                </a:solidFill>
                <a:latin typeface="Calibri"/>
              </a:rPr>
              <a:t>Desplegar</a:t>
            </a:r>
          </a:p>
        </p:txBody>
      </p:sp>
      <p:sp>
        <p:nvSpPr>
          <p:cNvPr id="8" name="Espina 5"/>
          <p:cNvSpPr/>
          <p:nvPr/>
        </p:nvSpPr>
        <p:spPr>
          <a:xfrm>
            <a:off x="791464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F4F7FC"/>
          </a:solidFill>
          <a:ln w="11430">
            <a:solidFill>
              <a:srgbClr val="D5DEEA"/>
            </a:solidFill>
            <a:round/>
          </a:ln>
        </p:spPr>
        <p:txBody>
          <a:bodyPr rtlCol="0" anchor="ctr" wrap="none" lIns="228600" tIns="0" rIns="30480" bIns="0">
            <a:noAutofit/>
          </a:bodyPr>
          <a:lstStyle/>
          <a:p>
            <a:pPr algn="l"/>
            <a:r>
              <a:rPr sz="1140" b="1" lang="es-CO">
                <a:solidFill>
                  <a:srgbClr val="6D28D9"/>
                </a:solidFill>
                <a:latin typeface="Courier New"/>
              </a:rPr>
              <a:t>5</a:t>
            </a:r>
            <a:r>
              <a:rPr sz="1140" b="0" lang="es-CO">
                <a:solidFill>
                  <a:srgbClr val="071329"/>
                </a:solidFill>
                <a:latin typeface="Courier New"/>
              </a:rPr>
              <a:t> </a:t>
            </a:r>
            <a:r>
              <a:rPr sz="1140" b="0" lang="es-CO">
                <a:solidFill>
                  <a:srgbClr val="071329"/>
                </a:solidFill>
                <a:latin typeface="Calibri"/>
              </a:rPr>
              <a:t>Operar sin red</a:t>
            </a:r>
          </a:p>
        </p:txBody>
      </p:sp>
      <p:sp>
        <p:nvSpPr>
          <p:cNvPr id="9" name="Espina 6"/>
          <p:cNvSpPr/>
          <p:nvPr/>
        </p:nvSpPr>
        <p:spPr>
          <a:xfrm>
            <a:off x="9733280" y="5501640"/>
            <a:ext cx="1788160" cy="335280"/>
          </a:xfrm>
          <a:custGeom>
            <a:avLst/>
            <a:gdLst/>
            <a:ahLst/>
            <a:cxnLst/>
            <a:rect l="l" t="t" r="r" b="b"/>
            <a:pathLst>
              <a:path w="1788160" h="335280">
                <a:moveTo>
                  <a:pt x="0" y="0"/>
                </a:moveTo>
                <a:lnTo>
                  <a:pt x="1696720" y="0"/>
                </a:lnTo>
                <a:lnTo>
                  <a:pt x="1788160" y="167640"/>
                </a:lnTo>
                <a:lnTo>
                  <a:pt x="1696720" y="335280"/>
                </a:lnTo>
                <a:lnTo>
                  <a:pt x="0" y="335280"/>
                </a:lnTo>
                <a:lnTo>
                  <a:pt x="91440" y="167640"/>
                </a:lnTo>
                <a:close/>
              </a:path>
            </a:pathLst>
          </a:custGeom>
          <a:solidFill>
            <a:srgbClr val="6D28D9"/>
          </a:solidFill>
          <a:ln w="11430">
            <a:solidFill>
              <a:srgbClr val="6D28D9"/>
            </a:solidFill>
            <a:round/>
          </a:ln>
        </p:spPr>
        <p:txBody>
          <a:bodyPr rtlCol="0" anchor="ctr" wrap="none" lIns="228600" tIns="0" rIns="30480" bIns="0">
            <a:noAutofit/>
          </a:bodyPr>
          <a:lstStyle/>
          <a:p>
            <a:pPr algn="l"/>
            <a:r>
              <a:rPr sz="1140" b="1" lang="es-CO">
                <a:solidFill>
                  <a:srgbClr val="FFFFFF"/>
                </a:solidFill>
                <a:latin typeface="Courier New"/>
              </a:rPr>
              <a:t>6</a:t>
            </a:r>
            <a:r>
              <a:rPr sz="1140" b="0" lang="es-CO">
                <a:solidFill>
                  <a:srgbClr val="071329"/>
                </a:solidFill>
                <a:latin typeface="Courier New"/>
              </a:rPr>
              <a:t> </a:t>
            </a:r>
            <a:r>
              <a:rPr sz="1140" b="1" lang="es-CO">
                <a:solidFill>
                  <a:srgbClr val="FFFFFF"/>
                </a:solidFill>
                <a:latin typeface="Calibri"/>
              </a:rPr>
              <a:t>Monitorear</a:t>
            </a:r>
          </a:p>
        </p:txBody>
      </p:sp>
      <p:sp>
        <p:nvSpPr>
          <p:cNvPr id="2" name="Text Placeholder 1"/>
          <p:cNvSpPr>
            <a:spLocks noGrp="1"/>
          </p:cNvSpPr>
          <p:nvPr>
            <p:ph type="body" idx="106"/>
          </p:nvPr>
        </p:nvSpPr>
        <p:spPr/>
        <p:txBody>
          <a:bodyPr lIns="0"/>
          <a:lstStyle/>
          <a:p>
            <a:r>
              <a:rPr lang="es-CO"/>
              <a:t>LOS SEIS PASOS</a:t>
            </a:r>
          </a:p>
        </p:txBody>
      </p:sp>
      <p:sp>
        <p:nvSpPr>
          <p:cNvPr id="3" name="Title 2"/>
          <p:cNvSpPr>
            <a:spLocks noGrp="1"/>
          </p:cNvSpPr>
          <p:nvPr>
            <p:ph type="title" idx="107"/>
          </p:nvPr>
        </p:nvSpPr>
        <p:spPr/>
        <p:txBody>
          <a:bodyPr lIns="0"/>
          <a:lstStyle/>
          <a:p>
            <a:r>
              <a:rPr lang="es-CO">
                <a:solidFill>
                  <a:srgbClr val="2448FF"/>
                </a:solidFill>
              </a:rPr>
              <a:t>Paso 6 ·</a:t>
            </a:r>
            <a:r>
              <a:rPr lang="es-CO"/>
              <a:t> Monitorear </a:t>
            </a:r>
            <a:r>
              <a:rPr b="1" lang="es-CO">
                <a:solidFill>
                  <a:srgbClr val="6D28D9"/>
                </a:solidFill>
              </a:rPr>
              <a:t>lo que decide el modelo</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5"/>
                                        </p:tgtEl>
                                        <p:attrNameLst>
                                          <p:attrName>style.visibility</p:attrName>
                                        </p:attrNameLst>
                                      </p:cBhvr>
                                      <p:to>
                                        <p:strVal val="visible"/>
                                      </p:to>
                                    </p:set>
                                    <p:animEffect transition="in" filter="fade">
                                      <p:cBhvr>
                                        <p:cTn id="7" dur="400"/>
                                        <p:tgtEl>
                                          <p:spTgt spid="5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56"/>
                                        </p:tgtEl>
                                        <p:attrNameLst>
                                          <p:attrName>style.visibility</p:attrName>
                                        </p:attrNameLst>
                                      </p:cBhvr>
                                      <p:to>
                                        <p:strVal val="visible"/>
                                      </p:to>
                                    </p:set>
                                    <p:animEffect transition="in" filter="fade">
                                      <p:cBhvr>
                                        <p:cTn id="12" dur="400"/>
                                        <p:tgtEl>
                                          <p:spTgt spid="5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7"/>
                                        </p:tgtEl>
                                        <p:attrNameLst>
                                          <p:attrName>style.visibility</p:attrName>
                                        </p:attrNameLst>
                                      </p:cBhvr>
                                      <p:to>
                                        <p:strVal val="visible"/>
                                      </p:to>
                                    </p:set>
                                    <p:animEffect transition="in" filter="fade">
                                      <p:cBhvr>
                                        <p:cTn id="17" dur="400"/>
                                        <p:tgtEl>
                                          <p:spTgt spid="5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58"/>
                                        </p:tgtEl>
                                        <p:attrNameLst>
                                          <p:attrName>style.visibility</p:attrName>
                                        </p:attrNameLst>
                                      </p:cBhvr>
                                      <p:to>
                                        <p:strVal val="visible"/>
                                      </p:to>
                                    </p:set>
                                    <p:animEffect transition="in" filter="fade">
                                      <p:cBhvr>
                                        <p:cTn id="22" dur="400"/>
                                        <p:tgtEl>
                                          <p:spTgt spid="5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9"/>
                                        </p:tgtEl>
                                        <p:attrNameLst>
                                          <p:attrName>style.visibility</p:attrName>
                                        </p:attrNameLst>
                                      </p:cBhvr>
                                      <p:to>
                                        <p:strVal val="visible"/>
                                      </p:to>
                                    </p:set>
                                    <p:animEffect transition="in" filter="fade">
                                      <p:cBhvr>
                                        <p:cTn id="27" dur="4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 MANO ALZADA</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Bloque"/>
          <p:cNvSpPr/>
          <p:nvPr/>
        </p:nvSpPr>
        <p:spPr>
          <a:xfrm>
            <a:off x="640080" y="1143000"/>
            <a:ext cx="10911840" cy="4267200"/>
          </a:xfrm>
          <a:prstGeom prst="rect">
            <a:avLst/>
          </a:prstGeom>
          <a:solidFill>
            <a:srgbClr val="F4F7FC"/>
          </a:solidFill>
          <a:ln w="11430">
            <a:solidFill>
              <a:srgbClr val="D5DEEA"/>
            </a:solidFill>
          </a:ln>
        </p:spPr>
        <p:txBody>
          <a:bodyPr rtlCol="0" anchor="ctr"/>
          <a:lstStyle/>
          <a:p>
            <a:pPr algn="ctr"/>
          </a:p>
        </p:txBody>
      </p:sp>
      <p:sp>
        <p:nvSpPr>
          <p:cNvPr id="55" name="Pregunta"/>
          <p:cNvSpPr txBox="1"/>
          <p:nvPr/>
        </p:nvSpPr>
        <p:spPr>
          <a:xfrm>
            <a:off x="1249680" y="2478176"/>
            <a:ext cx="9692640" cy="613562"/>
          </a:xfrm>
          <a:prstGeom prst="rect">
            <a:avLst/>
          </a:prstGeom>
          <a:noFill/>
        </p:spPr>
        <p:txBody>
          <a:bodyPr wrap="square" lIns="0" tIns="0" rIns="0" bIns="0" anchor="t">
            <a:noAutofit/>
          </a:bodyPr>
          <a:lstStyle/>
          <a:p>
            <a:r>
              <a:rPr sz="3960" b="1" lang="es-CO">
                <a:solidFill>
                  <a:srgbClr val="071329"/>
                </a:solidFill>
                <a:latin typeface="Calibri"/>
              </a:rPr>
              <a:t>¿Qué versión corre </a:t>
            </a:r>
            <a:r>
              <a:rPr sz="3960" b="1" lang="es-CO">
                <a:solidFill>
                  <a:srgbClr val="6D28D9"/>
                </a:solidFill>
                <a:latin typeface="Calibri"/>
              </a:rPr>
              <a:t>en cada equipo</a:t>
            </a:r>
            <a:r>
              <a:rPr sz="3960" b="1" lang="es-CO">
                <a:solidFill>
                  <a:srgbClr val="071329"/>
                </a:solidFill>
                <a:latin typeface="Calibri"/>
              </a:rPr>
              <a:t>?</a:t>
            </a:r>
          </a:p>
        </p:txBody>
      </p:sp>
      <p:sp>
        <p:nvSpPr>
          <p:cNvPr id="56" name="Frase"/>
          <p:cNvSpPr txBox="1"/>
          <p:nvPr/>
        </p:nvSpPr>
        <p:spPr>
          <a:xfrm>
            <a:off x="1249680" y="3295193"/>
            <a:ext cx="9692640" cy="327965"/>
          </a:xfrm>
          <a:prstGeom prst="rect">
            <a:avLst/>
          </a:prstGeom>
          <a:noFill/>
        </p:spPr>
        <p:txBody>
          <a:bodyPr wrap="square" lIns="0" tIns="0" rIns="0" bIns="0" anchor="t">
            <a:noAutofit/>
          </a:bodyPr>
          <a:lstStyle/>
          <a:p>
            <a:r>
              <a:rPr sz="1920" b="0" lang="es-CO">
                <a:solidFill>
                  <a:srgbClr val="475569"/>
                </a:solidFill>
                <a:latin typeface="Calibri"/>
              </a:rPr>
              <a:t>Levanten la mano… y bájenla si tuvieron que pensarlo.</a:t>
            </a:r>
          </a:p>
        </p:txBody>
      </p:sp>
      <p:sp>
        <p:nvSpPr>
          <p:cNvPr id="57" name="Fondo de la respuesta"/>
          <p:cNvSpPr/>
          <p:nvPr/>
        </p:nvSpPr>
        <p:spPr>
          <a:xfrm>
            <a:off x="914400" y="3200400"/>
            <a:ext cx="10363200" cy="1524000"/>
          </a:xfrm>
          <a:prstGeom prst="rect">
            <a:avLst/>
          </a:prstGeom>
          <a:solidFill>
            <a:srgbClr val="F4F7FC"/>
          </a:solidFill>
          <a:ln>
            <a:noFill/>
          </a:ln>
        </p:spPr>
        <p:txBody>
          <a:bodyPr rtlCol="0" anchor="ctr"/>
          <a:lstStyle/>
          <a:p>
            <a:pPr algn="ctr"/>
          </a:p>
        </p:txBody>
      </p:sp>
      <p:sp>
        <p:nvSpPr>
          <p:cNvPr id="58" name="TextBox 57"/>
          <p:cNvSpPr txBox="1"/>
          <p:nvPr/>
        </p:nvSpPr>
        <p:spPr>
          <a:xfrm>
            <a:off x="1249680" y="3291840"/>
            <a:ext cx="9692640" cy="223114"/>
          </a:xfrm>
          <a:prstGeom prst="rect">
            <a:avLst/>
          </a:prstGeom>
          <a:noFill/>
        </p:spPr>
        <p:txBody>
          <a:bodyPr wrap="square" lIns="0" tIns="0" rIns="0" bIns="0" anchor="t">
            <a:noAutofit/>
          </a:bodyPr>
          <a:lstStyle/>
          <a:p>
            <a:r>
              <a:rPr sz="1439" b="1" lang="es-CO">
                <a:solidFill>
                  <a:srgbClr val="6D28D9"/>
                </a:solidFill>
                <a:latin typeface="Calibri"/>
              </a:rPr>
              <a:t>La respuesta está en la nube: el estado del despliegue, por thing group</a:t>
            </a:r>
          </a:p>
        </p:txBody>
      </p:sp>
      <p:sp>
        <p:nvSpPr>
          <p:cNvPr id="59" name="TextBox 58"/>
          <p:cNvSpPr txBox="1"/>
          <p:nvPr/>
        </p:nvSpPr>
        <p:spPr>
          <a:xfrm>
            <a:off x="1249680" y="3621634"/>
            <a:ext cx="1905000" cy="121920"/>
          </a:xfrm>
          <a:prstGeom prst="rect">
            <a:avLst/>
          </a:prstGeom>
          <a:noFill/>
        </p:spPr>
        <p:txBody>
          <a:bodyPr wrap="square" lIns="0" tIns="0" rIns="0" bIns="0" anchor="t">
            <a:noAutofit/>
          </a:bodyPr>
          <a:lstStyle/>
          <a:p>
            <a:r>
              <a:rPr sz="840" b="1" spc="84" lang="es-CO">
                <a:solidFill>
                  <a:srgbClr val="5C7290"/>
                </a:solidFill>
                <a:latin typeface="Courier New"/>
              </a:rPr>
              <a:t>THING GROUP</a:t>
            </a:r>
          </a:p>
        </p:txBody>
      </p:sp>
      <p:sp>
        <p:nvSpPr>
          <p:cNvPr id="60" name="TextBox 59"/>
          <p:cNvSpPr txBox="1"/>
          <p:nvPr/>
        </p:nvSpPr>
        <p:spPr>
          <a:xfrm>
            <a:off x="3276600" y="3621634"/>
            <a:ext cx="2286000" cy="121920"/>
          </a:xfrm>
          <a:prstGeom prst="rect">
            <a:avLst/>
          </a:prstGeom>
          <a:noFill/>
        </p:spPr>
        <p:txBody>
          <a:bodyPr wrap="square" lIns="0" tIns="0" rIns="0" bIns="0" anchor="t">
            <a:noAutofit/>
          </a:bodyPr>
          <a:lstStyle/>
          <a:p>
            <a:r>
              <a:rPr sz="840" b="1" spc="84" lang="es-CO">
                <a:solidFill>
                  <a:srgbClr val="5C7290"/>
                </a:solidFill>
                <a:latin typeface="Courier New"/>
              </a:rPr>
              <a:t>EQUIPOS</a:t>
            </a:r>
          </a:p>
        </p:txBody>
      </p:sp>
      <p:sp>
        <p:nvSpPr>
          <p:cNvPr id="61" name="TextBox 60"/>
          <p:cNvSpPr txBox="1"/>
          <p:nvPr/>
        </p:nvSpPr>
        <p:spPr>
          <a:xfrm>
            <a:off x="5684520" y="3621634"/>
            <a:ext cx="3688080" cy="121920"/>
          </a:xfrm>
          <a:prstGeom prst="rect">
            <a:avLst/>
          </a:prstGeom>
          <a:noFill/>
        </p:spPr>
        <p:txBody>
          <a:bodyPr wrap="square" lIns="0" tIns="0" rIns="0" bIns="0" anchor="t">
            <a:noAutofit/>
          </a:bodyPr>
          <a:lstStyle/>
          <a:p>
            <a:r>
              <a:rPr sz="840" b="1" spc="84" lang="es-CO">
                <a:solidFill>
                  <a:srgbClr val="5C7290"/>
                </a:solidFill>
                <a:latin typeface="Courier New"/>
              </a:rPr>
              <a:t>COMPONENTE</a:t>
            </a:r>
          </a:p>
        </p:txBody>
      </p:sp>
      <p:sp>
        <p:nvSpPr>
          <p:cNvPr id="62" name="TextBox 61"/>
          <p:cNvSpPr txBox="1"/>
          <p:nvPr/>
        </p:nvSpPr>
        <p:spPr>
          <a:xfrm>
            <a:off x="9494520" y="3621634"/>
            <a:ext cx="1447800" cy="121920"/>
          </a:xfrm>
          <a:prstGeom prst="rect">
            <a:avLst/>
          </a:prstGeom>
          <a:noFill/>
        </p:spPr>
        <p:txBody>
          <a:bodyPr wrap="square" lIns="0" tIns="0" rIns="0" bIns="0" anchor="t">
            <a:noAutofit/>
          </a:bodyPr>
          <a:lstStyle/>
          <a:p>
            <a:r>
              <a:rPr sz="840" b="1" spc="84" lang="es-CO">
                <a:solidFill>
                  <a:srgbClr val="5C7290"/>
                </a:solidFill>
                <a:latin typeface="Courier New"/>
              </a:rPr>
              <a:t>ESTADO</a:t>
            </a:r>
          </a:p>
        </p:txBody>
      </p:sp>
      <p:cxnSp>
        <p:nvCxnSpPr>
          <p:cNvPr id="63" name="Connector 62"/>
          <p:cNvCxnSpPr/>
          <p:nvPr/>
        </p:nvCxnSpPr>
        <p:spPr>
          <a:xfrm>
            <a:off x="1249680" y="3803142"/>
            <a:ext cx="9692640" cy="0"/>
          </a:xfrm>
          <a:prstGeom prst="line">
            <a:avLst/>
          </a:prstGeom>
          <a:ln w="11430">
            <a:solidFill>
              <a:srgbClr val="D5DEEA"/>
            </a:solidFill>
          </a:ln>
        </p:spPr>
      </p:cxnSp>
      <p:sp>
        <p:nvSpPr>
          <p:cNvPr id="64" name="TextBox 63"/>
          <p:cNvSpPr txBox="1"/>
          <p:nvPr/>
        </p:nvSpPr>
        <p:spPr>
          <a:xfrm>
            <a:off x="1249680" y="3906012"/>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StationRing0</a:t>
            </a:r>
          </a:p>
        </p:txBody>
      </p:sp>
      <p:sp>
        <p:nvSpPr>
          <p:cNvPr id="65" name="TextBox 64"/>
          <p:cNvSpPr txBox="1"/>
          <p:nvPr/>
        </p:nvSpPr>
        <p:spPr>
          <a:xfrm>
            <a:off x="3276600" y="3906012"/>
            <a:ext cx="2286000" cy="213360"/>
          </a:xfrm>
          <a:prstGeom prst="rect">
            <a:avLst/>
          </a:prstGeom>
          <a:noFill/>
        </p:spPr>
        <p:txBody>
          <a:bodyPr wrap="square" lIns="0" tIns="0" rIns="0" bIns="0" anchor="t">
            <a:noAutofit/>
          </a:bodyPr>
          <a:lstStyle/>
          <a:p>
            <a:r>
              <a:rPr sz="1439" b="0" lang="es-CO">
                <a:solidFill>
                  <a:srgbClr val="071329"/>
                </a:solidFill>
                <a:latin typeface="Courier New"/>
              </a:rPr>
              <a:t>pump-01</a:t>
            </a:r>
          </a:p>
        </p:txBody>
      </p:sp>
      <p:sp>
        <p:nvSpPr>
          <p:cNvPr id="66" name="TextBox 65"/>
          <p:cNvSpPr txBox="1"/>
          <p:nvPr/>
        </p:nvSpPr>
        <p:spPr>
          <a:xfrm>
            <a:off x="5684520" y="3906012"/>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67" name="TextBox 66"/>
          <p:cNvSpPr txBox="1"/>
          <p:nvPr/>
        </p:nvSpPr>
        <p:spPr>
          <a:xfrm>
            <a:off x="9494520" y="3906012"/>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cxnSp>
        <p:nvCxnSpPr>
          <p:cNvPr id="68" name="Connector 67"/>
          <p:cNvCxnSpPr/>
          <p:nvPr/>
        </p:nvCxnSpPr>
        <p:spPr>
          <a:xfrm>
            <a:off x="1249680" y="4204106"/>
            <a:ext cx="9692640" cy="0"/>
          </a:xfrm>
          <a:prstGeom prst="line">
            <a:avLst/>
          </a:prstGeom>
          <a:ln w="11430">
            <a:solidFill>
              <a:srgbClr val="D5DEEA"/>
            </a:solidFill>
          </a:ln>
        </p:spPr>
      </p:cxnSp>
      <p:sp>
        <p:nvSpPr>
          <p:cNvPr id="69" name="TextBox 68"/>
          <p:cNvSpPr txBox="1"/>
          <p:nvPr/>
        </p:nvSpPr>
        <p:spPr>
          <a:xfrm>
            <a:off x="1249680" y="4306976"/>
            <a:ext cx="1905000" cy="213360"/>
          </a:xfrm>
          <a:prstGeom prst="rect">
            <a:avLst/>
          </a:prstGeom>
          <a:noFill/>
        </p:spPr>
        <p:txBody>
          <a:bodyPr wrap="square" lIns="0" tIns="0" rIns="0" bIns="0" anchor="t">
            <a:noAutofit/>
          </a:bodyPr>
          <a:lstStyle/>
          <a:p>
            <a:r>
              <a:rPr sz="1439" b="0" lang="es-CO">
                <a:solidFill>
                  <a:srgbClr val="071329"/>
                </a:solidFill>
                <a:latin typeface="Courier New"/>
              </a:rPr>
              <a:t>StationRing1</a:t>
            </a:r>
          </a:p>
        </p:txBody>
      </p:sp>
      <p:sp>
        <p:nvSpPr>
          <p:cNvPr id="70" name="TextBox 69"/>
          <p:cNvSpPr txBox="1"/>
          <p:nvPr/>
        </p:nvSpPr>
        <p:spPr>
          <a:xfrm>
            <a:off x="3276600" y="4306976"/>
            <a:ext cx="2286000" cy="213360"/>
          </a:xfrm>
          <a:prstGeom prst="rect">
            <a:avLst/>
          </a:prstGeom>
          <a:noFill/>
        </p:spPr>
        <p:txBody>
          <a:bodyPr wrap="square" lIns="0" tIns="0" rIns="0" bIns="0" anchor="t">
            <a:noAutofit/>
          </a:bodyPr>
          <a:lstStyle/>
          <a:p>
            <a:r>
              <a:rPr sz="1439" b="0" lang="es-CO">
                <a:solidFill>
                  <a:srgbClr val="071329"/>
                </a:solidFill>
                <a:latin typeface="Courier New"/>
              </a:rPr>
              <a:t>pump-02 a pump-05</a:t>
            </a:r>
          </a:p>
        </p:txBody>
      </p:sp>
      <p:sp>
        <p:nvSpPr>
          <p:cNvPr id="71" name="TextBox 70"/>
          <p:cNvSpPr txBox="1"/>
          <p:nvPr/>
        </p:nvSpPr>
        <p:spPr>
          <a:xfrm>
            <a:off x="5684520" y="4306976"/>
            <a:ext cx="3688080" cy="213360"/>
          </a:xfrm>
          <a:prstGeom prst="rect">
            <a:avLst/>
          </a:prstGeom>
          <a:noFill/>
        </p:spPr>
        <p:txBody>
          <a:bodyPr wrap="square" lIns="0" tIns="0" rIns="0" bIns="0" anchor="t">
            <a:noAutofit/>
          </a:bodyPr>
          <a:lstStyle/>
          <a:p>
            <a:r>
              <a:rPr sz="1439" b="0" lang="es-CO">
                <a:solidFill>
                  <a:srgbClr val="071329"/>
                </a:solidFill>
                <a:latin typeface="Courier New"/>
              </a:rPr>
              <a:t>com.station.Listener 1.0.0</a:t>
            </a:r>
          </a:p>
        </p:txBody>
      </p:sp>
      <p:sp>
        <p:nvSpPr>
          <p:cNvPr id="72" name="TextBox 71"/>
          <p:cNvSpPr txBox="1"/>
          <p:nvPr/>
        </p:nvSpPr>
        <p:spPr>
          <a:xfrm>
            <a:off x="9494520" y="4306976"/>
            <a:ext cx="1447800" cy="213360"/>
          </a:xfrm>
          <a:prstGeom prst="rect">
            <a:avLst/>
          </a:prstGeom>
          <a:noFill/>
        </p:spPr>
        <p:txBody>
          <a:bodyPr wrap="square" lIns="0" tIns="0" rIns="0" bIns="0" anchor="t">
            <a:noAutofit/>
          </a:bodyPr>
          <a:lstStyle/>
          <a:p>
            <a:r>
              <a:rPr sz="1439" b="1" lang="es-CO">
                <a:solidFill>
                  <a:srgbClr val="6D28D9"/>
                </a:solidFill>
                <a:latin typeface="Courier New"/>
              </a:rPr>
              <a:t>ACTIVE</a:t>
            </a:r>
          </a:p>
        </p:txBody>
      </p:sp>
      <p:sp>
        <p:nvSpPr>
          <p:cNvPr id="73" name="Barra"/>
          <p:cNvSpPr/>
          <p:nvPr/>
        </p:nvSpPr>
        <p:spPr>
          <a:xfrm>
            <a:off x="1249680" y="4770120"/>
            <a:ext cx="4267200" cy="45720"/>
          </a:xfrm>
          <a:prstGeom prst="rect">
            <a:avLst/>
          </a:prstGeom>
          <a:solidFill>
            <a:srgbClr val="D5DEEA"/>
          </a:solidFill>
          <a:ln>
            <a:noFill/>
          </a:ln>
        </p:spPr>
        <p:txBody>
          <a:bodyPr rtlCol="0" anchor="ctr"/>
          <a:lstStyle/>
          <a:p>
            <a:pPr algn="ctr"/>
          </a:p>
        </p:txBody>
      </p:sp>
      <p:sp>
        <p:nvSpPr>
          <p:cNvPr id="74" name="Barra 5 s"/>
          <p:cNvSpPr/>
          <p:nvPr/>
        </p:nvSpPr>
        <p:spPr>
          <a:xfrm>
            <a:off x="1249680" y="4770120"/>
            <a:ext cx="4267200" cy="45720"/>
          </a:xfrm>
          <a:prstGeom prst="rect">
            <a:avLst/>
          </a:prstGeom>
          <a:solidFill>
            <a:srgbClr val="6D28D9"/>
          </a:solidFill>
          <a:ln>
            <a:noFill/>
          </a:ln>
        </p:spPr>
        <p:txBody>
          <a:bodyPr rtlCol="0" anchor="ctr"/>
          <a:lstStyle/>
          <a:p>
            <a:pPr algn="ctr"/>
          </a:p>
        </p:txBody>
      </p:sp>
      <p:sp>
        <p:nvSpPr>
          <p:cNvPr id="75" name="TextBox 74"/>
          <p:cNvSpPr txBox="1"/>
          <p:nvPr/>
        </p:nvSpPr>
        <p:spPr>
          <a:xfrm>
            <a:off x="1249680" y="4953000"/>
            <a:ext cx="2286000" cy="182880"/>
          </a:xfrm>
          <a:prstGeom prst="rect">
            <a:avLst/>
          </a:prstGeom>
          <a:noFill/>
        </p:spPr>
        <p:txBody>
          <a:bodyPr wrap="square" lIns="0" tIns="0" rIns="0" bIns="0" anchor="t">
            <a:noAutofit/>
          </a:bodyPr>
          <a:lstStyle/>
          <a:p>
            <a:r>
              <a:rPr sz="960" b="0" lang="es-CO">
                <a:solidFill>
                  <a:srgbClr val="5C7290"/>
                </a:solidFill>
                <a:latin typeface="Courier New"/>
              </a:rPr>
              <a:t>5 segundos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80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5000"/>
                                        <p:tgtEl>
                                          <p:spTgt spid="7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xit" presetSubtype="0" fill="hold" grpId="1" nodeType="clickEffect">
                                  <p:stCondLst>
                                    <p:cond delay="0"/>
                                  </p:stCondLst>
                                  <p:childTnLst>
                                    <p:animEffect transition="out" filter="fade">
                                      <p:cBhvr>
                                        <p:cTn id="11" dur="400"/>
                                        <p:tgtEl>
                                          <p:spTgt spid="56"/>
                                        </p:tgtEl>
                                      </p:cBhvr>
                                    </p:animEffect>
                                    <p:set>
                                      <p:cBhvr>
                                        <p:cTn id="12" dur="1" fill="hold">
                                          <p:stCondLst>
                                            <p:cond delay="399"/>
                                          </p:stCondLst>
                                        </p:cTn>
                                        <p:tgtEl>
                                          <p:spTgt spid="56"/>
                                        </p:tgtEl>
                                        <p:attrNameLst>
                                          <p:attrName>style.visibility</p:attrName>
                                        </p:attrNameLst>
                                      </p:cBhvr>
                                      <p:to>
                                        <p:strVal val="hidden"/>
                                      </p:to>
                                    </p:set>
                                  </p:childTnLst>
                                </p:cTn>
                              </p:par>
                              <p:par>
                                <p:cTn id="13" presetID="10" presetClass="entr" presetSubtype="0" fill="hold" grpId="0" nodeType="withEffect">
                                  <p:stCondLst>
                                    <p:cond delay="0"/>
                                  </p:stCondLst>
                                  <p:childTnLst>
                                    <p:set>
                                      <p:cBhvr>
                                        <p:cTn id="14" dur="1" fill="hold">
                                          <p:stCondLst>
                                            <p:cond delay="0"/>
                                          </p:stCondLst>
                                        </p:cTn>
                                        <p:tgtEl>
                                          <p:spTgt spid="57"/>
                                        </p:tgtEl>
                                        <p:attrNameLst>
                                          <p:attrName>style.visibility</p:attrName>
                                        </p:attrNameLst>
                                      </p:cBhvr>
                                      <p:to>
                                        <p:strVal val="visible"/>
                                      </p:to>
                                    </p:set>
                                    <p:animEffect transition="in" filter="fade">
                                      <p:cBhvr>
                                        <p:cTn id="15" dur="400"/>
                                        <p:tgtEl>
                                          <p:spTgt spid="57"/>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58"/>
                                        </p:tgtEl>
                                        <p:attrNameLst>
                                          <p:attrName>style.visibility</p:attrName>
                                        </p:attrNameLst>
                                      </p:cBhvr>
                                      <p:to>
                                        <p:strVal val="visible"/>
                                      </p:to>
                                    </p:set>
                                    <p:animEffect transition="in" filter="fade">
                                      <p:cBhvr>
                                        <p:cTn id="18" dur="400"/>
                                        <p:tgtEl>
                                          <p:spTgt spid="58"/>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59"/>
                                        </p:tgtEl>
                                        <p:attrNameLst>
                                          <p:attrName>style.visibility</p:attrName>
                                        </p:attrNameLst>
                                      </p:cBhvr>
                                      <p:to>
                                        <p:strVal val="visible"/>
                                      </p:to>
                                    </p:set>
                                    <p:animEffect transition="in" filter="fade">
                                      <p:cBhvr>
                                        <p:cTn id="21" dur="400"/>
                                        <p:tgtEl>
                                          <p:spTgt spid="59"/>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0"/>
                                        </p:tgtEl>
                                        <p:attrNameLst>
                                          <p:attrName>style.visibility</p:attrName>
                                        </p:attrNameLst>
                                      </p:cBhvr>
                                      <p:to>
                                        <p:strVal val="visible"/>
                                      </p:to>
                                    </p:set>
                                    <p:animEffect transition="in" filter="fade">
                                      <p:cBhvr>
                                        <p:cTn id="24" dur="400"/>
                                        <p:tgtEl>
                                          <p:spTgt spid="6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1"/>
                                        </p:tgtEl>
                                        <p:attrNameLst>
                                          <p:attrName>style.visibility</p:attrName>
                                        </p:attrNameLst>
                                      </p:cBhvr>
                                      <p:to>
                                        <p:strVal val="visible"/>
                                      </p:to>
                                    </p:set>
                                    <p:animEffect transition="in" filter="fade">
                                      <p:cBhvr>
                                        <p:cTn id="27" dur="400"/>
                                        <p:tgtEl>
                                          <p:spTgt spid="6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2"/>
                                        </p:tgtEl>
                                        <p:attrNameLst>
                                          <p:attrName>style.visibility</p:attrName>
                                        </p:attrNameLst>
                                      </p:cBhvr>
                                      <p:to>
                                        <p:strVal val="visible"/>
                                      </p:to>
                                    </p:set>
                                    <p:animEffect transition="in" filter="fade">
                                      <p:cBhvr>
                                        <p:cTn id="30" dur="400"/>
                                        <p:tgtEl>
                                          <p:spTgt spid="6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400"/>
                                        <p:tgtEl>
                                          <p:spTgt spid="6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4"/>
                                        </p:tgtEl>
                                        <p:attrNameLst>
                                          <p:attrName>style.visibility</p:attrName>
                                        </p:attrNameLst>
                                      </p:cBhvr>
                                      <p:to>
                                        <p:strVal val="visible"/>
                                      </p:to>
                                    </p:set>
                                    <p:animEffect transition="in" filter="fade">
                                      <p:cBhvr>
                                        <p:cTn id="36" dur="400"/>
                                        <p:tgtEl>
                                          <p:spTgt spid="6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5"/>
                                        </p:tgtEl>
                                        <p:attrNameLst>
                                          <p:attrName>style.visibility</p:attrName>
                                        </p:attrNameLst>
                                      </p:cBhvr>
                                      <p:to>
                                        <p:strVal val="visible"/>
                                      </p:to>
                                    </p:set>
                                    <p:animEffect transition="in" filter="fade">
                                      <p:cBhvr>
                                        <p:cTn id="39" dur="400"/>
                                        <p:tgtEl>
                                          <p:spTgt spid="6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6"/>
                                        </p:tgtEl>
                                        <p:attrNameLst>
                                          <p:attrName>style.visibility</p:attrName>
                                        </p:attrNameLst>
                                      </p:cBhvr>
                                      <p:to>
                                        <p:strVal val="visible"/>
                                      </p:to>
                                    </p:set>
                                    <p:animEffect transition="in" filter="fade">
                                      <p:cBhvr>
                                        <p:cTn id="42" dur="400"/>
                                        <p:tgtEl>
                                          <p:spTgt spid="66"/>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67"/>
                                        </p:tgtEl>
                                        <p:attrNameLst>
                                          <p:attrName>style.visibility</p:attrName>
                                        </p:attrNameLst>
                                      </p:cBhvr>
                                      <p:to>
                                        <p:strVal val="visible"/>
                                      </p:to>
                                    </p:set>
                                    <p:animEffect transition="in" filter="fade">
                                      <p:cBhvr>
                                        <p:cTn id="45" dur="400"/>
                                        <p:tgtEl>
                                          <p:spTgt spid="67"/>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68"/>
                                        </p:tgtEl>
                                        <p:attrNameLst>
                                          <p:attrName>style.visibility</p:attrName>
                                        </p:attrNameLst>
                                      </p:cBhvr>
                                      <p:to>
                                        <p:strVal val="visible"/>
                                      </p:to>
                                    </p:set>
                                    <p:animEffect transition="in" filter="fade">
                                      <p:cBhvr>
                                        <p:cTn id="48" dur="400"/>
                                        <p:tgtEl>
                                          <p:spTgt spid="6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69"/>
                                        </p:tgtEl>
                                        <p:attrNameLst>
                                          <p:attrName>style.visibility</p:attrName>
                                        </p:attrNameLst>
                                      </p:cBhvr>
                                      <p:to>
                                        <p:strVal val="visible"/>
                                      </p:to>
                                    </p:set>
                                    <p:animEffect transition="in" filter="fade">
                                      <p:cBhvr>
                                        <p:cTn id="51" dur="400"/>
                                        <p:tgtEl>
                                          <p:spTgt spid="69"/>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0"/>
                                        </p:tgtEl>
                                        <p:attrNameLst>
                                          <p:attrName>style.visibility</p:attrName>
                                        </p:attrNameLst>
                                      </p:cBhvr>
                                      <p:to>
                                        <p:strVal val="visible"/>
                                      </p:to>
                                    </p:set>
                                    <p:animEffect transition="in" filter="fade">
                                      <p:cBhvr>
                                        <p:cTn id="54" dur="400"/>
                                        <p:tgtEl>
                                          <p:spTgt spid="70"/>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71"/>
                                        </p:tgtEl>
                                        <p:attrNameLst>
                                          <p:attrName>style.visibility</p:attrName>
                                        </p:attrNameLst>
                                      </p:cBhvr>
                                      <p:to>
                                        <p:strVal val="visible"/>
                                      </p:to>
                                    </p:set>
                                    <p:animEffect transition="in" filter="fade">
                                      <p:cBhvr>
                                        <p:cTn id="57" dur="400"/>
                                        <p:tgtEl>
                                          <p:spTgt spid="71"/>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72"/>
                                        </p:tgtEl>
                                        <p:attrNameLst>
                                          <p:attrName>style.visibility</p:attrName>
                                        </p:attrNameLst>
                                      </p:cBhvr>
                                      <p:to>
                                        <p:strVal val="visible"/>
                                      </p:to>
                                    </p:set>
                                    <p:animEffect transition="in" filter="fade">
                                      <p:cBhvr>
                                        <p:cTn id="6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p:bldP spid="56" grpId="1"/>
      <p:bldP spid="57" grpId="0"/>
      <p:bldP spid="58" grpId="0"/>
      <p:bldP spid="59" grpId="0"/>
      <p:bldP spid="60" grpId="0"/>
      <p:bldP spid="61" grpId="0"/>
      <p:bldP spid="62" grpId="0"/>
      <p:bldP spid="63" grpId="0" animBg="1"/>
      <p:bldP spid="64" grpId="0"/>
      <p:bldP spid="65" grpId="0"/>
      <p:bldP spid="66" grpId="0"/>
      <p:bldP spid="67" grpId="0"/>
      <p:bldP spid="68" grpId="0" animBg="1"/>
      <p:bldP spid="69" grpId="0"/>
      <p:bldP spid="70" grpId="0"/>
      <p:bldP spid="71" grpId="0"/>
      <p:bldP spid="72" grpId="0"/>
    </p:bld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04</a:t>
            </a:r>
          </a:p>
        </p:txBody>
      </p:sp>
      <p:sp>
        <p:nvSpPr>
          <p:cNvPr id="3" name="Title 2"/>
          <p:cNvSpPr>
            <a:spLocks noGrp="1"/>
          </p:cNvSpPr>
          <p:nvPr>
            <p:ph type="title" idx="107"/>
          </p:nvPr>
        </p:nvSpPr>
        <p:spPr/>
        <p:txBody>
          <a:bodyPr lIns="0"/>
          <a:lstStyle/>
          <a:p>
            <a:r>
              <a:rPr lang="es-CO"/>
              <a:t>Demostración</a:t>
            </a:r>
          </a:p>
        </p:txBody>
      </p:sp>
      <p:sp>
        <p:nvSpPr>
          <p:cNvPr id="4" name="Text Placeholder 3"/>
          <p:cNvSpPr>
            <a:spLocks noGrp="1"/>
          </p:cNvSpPr>
          <p:nvPr>
            <p:ph type="body" idx="108"/>
          </p:nvPr>
        </p:nvSpPr>
        <p:spPr/>
        <p:txBody>
          <a:bodyPr lIns="0"/>
          <a:lstStyle/>
          <a:p>
            <a:r>
              <a:rPr lang="es-CO"/>
              <a:t>Cinco bombas simuladas, una falla, un corte de red y una versión mala.</a:t>
            </a:r>
          </a:p>
        </p:txBody>
      </p:sp>
      <p:sp>
        <p:nvSpPr>
          <p:cNvPr id="54"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poc_html0.png"/>
          <p:cNvPicPr>
            <a:picLocks noChangeAspect="1"/>
          </p:cNvPicPr>
          <p:nvPr/>
        </p:nvPicPr>
        <p:blipFill>
          <a:blip r:embed="rId2"/>
          <a:stretch>
            <a:fillRect/>
          </a:stretch>
        </p:blipFill>
        <p:spPr>
          <a:xfrm>
            <a:off x="0" y="655320"/>
            <a:ext cx="12192000" cy="5227320"/>
          </a:xfrm>
          <a:prstGeom prst="rect">
            <a:avLst/>
          </a:prstGeom>
        </p:spPr>
      </p:pic>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Arquitectura </a:t>
            </a:r>
            <a:r>
              <a:rPr b="1" lang="es-CO">
                <a:solidFill>
                  <a:srgbClr val="6D28D9"/>
                </a:solidFill>
              </a:rPr>
              <a:t>de la demostración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DEMOSTRACIÓN</a:t>
            </a:r>
          </a:p>
        </p:txBody>
      </p:sp>
      <p:sp>
        <p:nvSpPr>
          <p:cNvPr id="3" name="Title 2"/>
          <p:cNvSpPr>
            <a:spLocks noGrp="1"/>
          </p:cNvSpPr>
          <p:nvPr>
            <p:ph type="title" idx="107"/>
          </p:nvPr>
        </p:nvSpPr>
        <p:spPr/>
        <p:txBody>
          <a:bodyPr lIns="0"/>
          <a:lstStyle/>
          <a:p>
            <a:r>
              <a:rPr lang="es-CO"/>
              <a:t>Demostración </a:t>
            </a:r>
            <a:r>
              <a:rPr b="1" lang="es-CO">
                <a:solidFill>
                  <a:srgbClr val="6D28D9"/>
                </a:solidFill>
              </a:rPr>
              <a:t>en tres actos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533400" cy="846582"/>
          </a:xfrm>
          <a:prstGeom prst="rect">
            <a:avLst/>
          </a:prstGeom>
          <a:noFill/>
        </p:spPr>
        <p:txBody>
          <a:bodyPr wrap="square" lIns="0" tIns="0" rIns="0" bIns="0" anchor="ctr">
            <a:noAutofit/>
          </a:bodyPr>
          <a:lstStyle/>
          <a:p>
            <a:r>
              <a:rPr sz="2640" b="1" lang="es-CO">
                <a:solidFill>
                  <a:srgbClr val="2448FF"/>
                </a:solidFill>
                <a:latin typeface="Courier New"/>
              </a:rPr>
              <a:t>1</a:t>
            </a:r>
          </a:p>
        </p:txBody>
      </p:sp>
      <p:sp>
        <p:nvSpPr>
          <p:cNvPr id="55" name="TextBox 54"/>
          <p:cNvSpPr txBox="1"/>
          <p:nvPr/>
        </p:nvSpPr>
        <p:spPr>
          <a:xfrm>
            <a:off x="1386840" y="1843735"/>
            <a:ext cx="5989320" cy="316078"/>
          </a:xfrm>
          <a:prstGeom prst="rect">
            <a:avLst/>
          </a:prstGeom>
          <a:noFill/>
        </p:spPr>
        <p:txBody>
          <a:bodyPr wrap="square" lIns="0" tIns="0" rIns="0" bIns="0" anchor="t">
            <a:noAutofit/>
          </a:bodyPr>
          <a:lstStyle/>
          <a:p>
            <a:r>
              <a:rPr sz="2039" b="1" lang="es-CO">
                <a:solidFill>
                  <a:srgbClr val="071329"/>
                </a:solidFill>
                <a:latin typeface="Calibri"/>
              </a:rPr>
              <a:t>Escuchar</a:t>
            </a:r>
          </a:p>
        </p:txBody>
      </p:sp>
      <p:sp>
        <p:nvSpPr>
          <p:cNvPr id="56" name="TextBox 55"/>
          <p:cNvSpPr txBox="1"/>
          <p:nvPr/>
        </p:nvSpPr>
        <p:spPr>
          <a:xfrm>
            <a:off x="1386840" y="2205228"/>
            <a:ext cx="5989320" cy="256794"/>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bomba 3 suena como la B del inicio y aparece la alerta.</a:t>
            </a:r>
          </a:p>
        </p:txBody>
      </p:sp>
      <p:sp>
        <p:nvSpPr>
          <p:cNvPr id="57" name="Comando"/>
          <p:cNvSpPr/>
          <p:nvPr/>
        </p:nvSpPr>
        <p:spPr>
          <a:xfrm>
            <a:off x="7589520" y="1993011"/>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pump-03</a:t>
            </a:r>
          </a:p>
        </p:txBody>
      </p:sp>
      <p:cxnSp>
        <p:nvCxnSpPr>
          <p:cNvPr id="58" name="Connector 57"/>
          <p:cNvCxnSpPr/>
          <p:nvPr/>
        </p:nvCxnSpPr>
        <p:spPr>
          <a:xfrm>
            <a:off x="640080" y="2568702"/>
            <a:ext cx="10911840" cy="0"/>
          </a:xfrm>
          <a:prstGeom prst="line">
            <a:avLst/>
          </a:prstGeom>
          <a:ln w="11430">
            <a:solidFill>
              <a:srgbClr val="D5DEEA"/>
            </a:solidFill>
          </a:ln>
        </p:spPr>
      </p:cxnSp>
      <p:sp>
        <p:nvSpPr>
          <p:cNvPr id="59" name="TextBox 58"/>
          <p:cNvSpPr txBox="1"/>
          <p:nvPr/>
        </p:nvSpPr>
        <p:spPr>
          <a:xfrm>
            <a:off x="640080" y="2568702"/>
            <a:ext cx="533400" cy="1072896"/>
          </a:xfrm>
          <a:prstGeom prst="rect">
            <a:avLst/>
          </a:prstGeom>
          <a:noFill/>
        </p:spPr>
        <p:txBody>
          <a:bodyPr wrap="square" lIns="0" tIns="0" rIns="0" bIns="0" anchor="ctr">
            <a:noAutofit/>
          </a:bodyPr>
          <a:lstStyle/>
          <a:p>
            <a:r>
              <a:rPr sz="2640" b="1" lang="es-CO">
                <a:solidFill>
                  <a:srgbClr val="2448FF"/>
                </a:solidFill>
                <a:latin typeface="Courier New"/>
              </a:rPr>
              <a:t>2</a:t>
            </a:r>
          </a:p>
        </p:txBody>
      </p:sp>
      <p:sp>
        <p:nvSpPr>
          <p:cNvPr id="60" name="TextBox 59"/>
          <p:cNvSpPr txBox="1"/>
          <p:nvPr/>
        </p:nvSpPr>
        <p:spPr>
          <a:xfrm>
            <a:off x="1386840" y="2690317"/>
            <a:ext cx="5989320" cy="316078"/>
          </a:xfrm>
          <a:prstGeom prst="rect">
            <a:avLst/>
          </a:prstGeom>
          <a:noFill/>
        </p:spPr>
        <p:txBody>
          <a:bodyPr wrap="square" lIns="0" tIns="0" rIns="0" bIns="0" anchor="t">
            <a:noAutofit/>
          </a:bodyPr>
          <a:lstStyle/>
          <a:p>
            <a:r>
              <a:rPr sz="2039" b="1" lang="es-CO">
                <a:solidFill>
                  <a:srgbClr val="071329"/>
                </a:solidFill>
                <a:latin typeface="Calibri"/>
              </a:rPr>
              <a:t>Sin red</a:t>
            </a:r>
          </a:p>
        </p:txBody>
      </p:sp>
      <p:sp>
        <p:nvSpPr>
          <p:cNvPr id="61" name="TextBox 60"/>
          <p:cNvSpPr txBox="1"/>
          <p:nvPr/>
        </p:nvSpPr>
        <p:spPr>
          <a:xfrm>
            <a:off x="1386840" y="3051810"/>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3 se calla y las otras cuatro siguen. Al volver la red, sus alertas llegan tarde y no se pierde ninguna.</a:t>
            </a:r>
          </a:p>
        </p:txBody>
      </p:sp>
      <p:sp>
        <p:nvSpPr>
          <p:cNvPr id="62" name="Comando"/>
          <p:cNvSpPr/>
          <p:nvPr/>
        </p:nvSpPr>
        <p:spPr>
          <a:xfrm>
            <a:off x="7589520" y="276987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off pump-03</a:t>
            </a:r>
          </a:p>
        </p:txBody>
      </p:sp>
      <p:sp>
        <p:nvSpPr>
          <p:cNvPr id="63" name="Comando"/>
          <p:cNvSpPr/>
          <p:nvPr/>
        </p:nvSpPr>
        <p:spPr>
          <a:xfrm>
            <a:off x="7589520" y="3135630"/>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./demo/network.sh on pump-03</a:t>
            </a:r>
          </a:p>
        </p:txBody>
      </p:sp>
      <p:cxnSp>
        <p:nvCxnSpPr>
          <p:cNvPr id="64" name="Connector 63"/>
          <p:cNvCxnSpPr/>
          <p:nvPr/>
        </p:nvCxnSpPr>
        <p:spPr>
          <a:xfrm>
            <a:off x="640080" y="3641598"/>
            <a:ext cx="10911840" cy="0"/>
          </a:xfrm>
          <a:prstGeom prst="line">
            <a:avLst/>
          </a:prstGeom>
          <a:ln w="11430">
            <a:solidFill>
              <a:srgbClr val="D5DEEA"/>
            </a:solidFill>
          </a:ln>
        </p:spPr>
      </p:cxnSp>
      <p:sp>
        <p:nvSpPr>
          <p:cNvPr id="65" name="TextBox 64"/>
          <p:cNvSpPr txBox="1"/>
          <p:nvPr/>
        </p:nvSpPr>
        <p:spPr>
          <a:xfrm>
            <a:off x="640080" y="3641598"/>
            <a:ext cx="533400" cy="1072896"/>
          </a:xfrm>
          <a:prstGeom prst="rect">
            <a:avLst/>
          </a:prstGeom>
          <a:noFill/>
        </p:spPr>
        <p:txBody>
          <a:bodyPr wrap="square" lIns="0" tIns="0" rIns="0" bIns="0" anchor="ctr">
            <a:noAutofit/>
          </a:bodyPr>
          <a:lstStyle/>
          <a:p>
            <a:r>
              <a:rPr sz="2640" b="1" lang="es-CO">
                <a:solidFill>
                  <a:srgbClr val="6D28D9"/>
                </a:solidFill>
                <a:latin typeface="Courier New"/>
              </a:rPr>
              <a:t>3</a:t>
            </a:r>
          </a:p>
        </p:txBody>
      </p:sp>
      <p:sp>
        <p:nvSpPr>
          <p:cNvPr id="66" name="TextBox 65"/>
          <p:cNvSpPr txBox="1"/>
          <p:nvPr/>
        </p:nvSpPr>
        <p:spPr>
          <a:xfrm>
            <a:off x="1386840" y="3763213"/>
            <a:ext cx="5989320" cy="316078"/>
          </a:xfrm>
          <a:prstGeom prst="rect">
            <a:avLst/>
          </a:prstGeom>
          <a:noFill/>
        </p:spPr>
        <p:txBody>
          <a:bodyPr wrap="square" lIns="0" tIns="0" rIns="0" bIns="0" anchor="t">
            <a:noAutofit/>
          </a:bodyPr>
          <a:lstStyle/>
          <a:p>
            <a:r>
              <a:rPr sz="2039" b="1" lang="es-CO">
                <a:solidFill>
                  <a:srgbClr val="6D28D9"/>
                </a:solidFill>
                <a:latin typeface="Calibri"/>
              </a:rPr>
              <a:t>Ring deployment y rollback</a:t>
            </a:r>
          </a:p>
        </p:txBody>
      </p:sp>
      <p:sp>
        <p:nvSpPr>
          <p:cNvPr id="67" name="TextBox 66"/>
          <p:cNvSpPr txBox="1"/>
          <p:nvPr/>
        </p:nvSpPr>
        <p:spPr>
          <a:xfrm>
            <a:off x="1386840" y="4124706"/>
            <a:ext cx="5989320" cy="483108"/>
          </a:xfrm>
          <a:prstGeom prst="rect">
            <a:avLst/>
          </a:prstGeom>
          <a:noFill/>
        </p:spPr>
        <p:txBody>
          <a:bodyPr wrap="square" lIns="0" tIns="0" rIns="0" bIns="0" anchor="t">
            <a:noAutofit/>
          </a:bodyPr>
          <a:lstStyle/>
          <a:p>
            <a:pPr>
              <a:lnSpc>
                <a:spcPct val="110700"/>
              </a:lnSpc>
            </a:pPr>
            <a:r>
              <a:rPr sz="1320" b="0" lang="es-CO">
                <a:solidFill>
                  <a:srgbClr val="475569"/>
                </a:solidFill>
                <a:latin typeface="Calibri"/>
              </a:rPr>
              <a:t>La 1 pasa a la v2 y no oye la falla. La alarma dispara la Lambda y la 1 vuelve a la v1. El ring 1 nunca recibió la v2.</a:t>
            </a:r>
          </a:p>
        </p:txBody>
      </p:sp>
      <p:sp>
        <p:nvSpPr>
          <p:cNvPr id="68" name="Comando"/>
          <p:cNvSpPr/>
          <p:nvPr/>
        </p:nvSpPr>
        <p:spPr>
          <a:xfrm>
            <a:off x="7589520" y="384276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./demo/deploy.sh 2.0.0 ring-0</a:t>
            </a:r>
          </a:p>
        </p:txBody>
      </p:sp>
      <p:sp>
        <p:nvSpPr>
          <p:cNvPr id="69" name="Comando"/>
          <p:cNvSpPr/>
          <p:nvPr/>
        </p:nvSpPr>
        <p:spPr>
          <a:xfrm>
            <a:off x="7589520" y="4208526"/>
            <a:ext cx="3962400" cy="304800"/>
          </a:xfrm>
          <a:prstGeom prst="roundRect">
            <a:avLst>
              <a:gd name="adj" fmla="val 15000"/>
            </a:avLst>
          </a:prstGeom>
          <a:solidFill>
            <a:srgbClr val="F4F7FC"/>
          </a:solidFill>
          <a:ln w="11430">
            <a:solidFill>
              <a:srgbClr val="D5DEEA"/>
            </a:solidFill>
          </a:ln>
        </p:spPr>
        <p:txBody>
          <a:bodyPr rtlCol="0" anchor="ctr" wrap="none" lIns="106680" tIns="0" rIns="60960" bIns="0">
            <a:noAutofit/>
          </a:bodyPr>
          <a:lstStyle/>
          <a:p>
            <a:pPr algn="l"/>
            <a:r>
              <a:rPr sz="1200" b="0" lang="es-CO">
                <a:solidFill>
                  <a:srgbClr val="071329"/>
                </a:solidFill>
                <a:latin typeface="Courier New"/>
              </a:rPr>
              <a:t>./demo/fault.sh pump-01</a:t>
            </a:r>
          </a:p>
        </p:txBody>
      </p:sp>
      <p:sp>
        <p:nvSpPr>
          <p:cNvPr id="70" name="Remate"/>
          <p:cNvSpPr txBox="1"/>
          <p:nvPr/>
        </p:nvSpPr>
        <p:spPr>
          <a:xfrm>
            <a:off x="640080" y="5212080"/>
            <a:ext cx="10911840" cy="290779"/>
          </a:xfrm>
          <a:prstGeom prst="rect">
            <a:avLst/>
          </a:prstGeom>
          <a:noFill/>
        </p:spPr>
        <p:txBody>
          <a:bodyPr wrap="square" lIns="0" tIns="0" rIns="0" bIns="0" anchor="t">
            <a:noAutofit/>
          </a:bodyPr>
          <a:lstStyle/>
          <a:p>
            <a:r>
              <a:rPr sz="1680" b="0" lang="es-CO">
                <a:solidFill>
                  <a:srgbClr val="071329"/>
                </a:solidFill>
                <a:latin typeface="Calibri"/>
              </a:rPr>
              <a:t>Greengrass revierte despliegues fallidos, </a:t>
            </a:r>
            <a:r>
              <a:rPr sz="1680" b="1" lang="es-CO">
                <a:solidFill>
                  <a:srgbClr val="6D28D9"/>
                </a:solidFill>
                <a:latin typeface="Calibri"/>
              </a:rPr>
              <a:t>no modelos equivocados</a:t>
            </a:r>
            <a:r>
              <a:rPr sz="1680" b="0" lang="es-CO">
                <a:solidFill>
                  <a:srgbClr val="071329"/>
                </a:solidFill>
                <a:latin typeface="Calibri"/>
              </a:rPr>
              <a:t>: ese gate lo pones tú.</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2"/>
                                        </p:tgtEl>
                                        <p:attrNameLst>
                                          <p:attrName>style.visibility</p:attrName>
                                        </p:attrNameLst>
                                      </p:cBhvr>
                                      <p:to>
                                        <p:strVal val="visible"/>
                                      </p:to>
                                    </p:set>
                                    <p:animEffect transition="in" filter="fade">
                                      <p:cBhvr>
                                        <p:cTn id="19" dur="400"/>
                                        <p:tgtEl>
                                          <p:spTgt spid="6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3"/>
                                        </p:tgtEl>
                                        <p:attrNameLst>
                                          <p:attrName>style.visibility</p:attrName>
                                        </p:attrNameLst>
                                      </p:cBhvr>
                                      <p:to>
                                        <p:strVal val="visible"/>
                                      </p:to>
                                    </p:set>
                                    <p:animEffect transition="in" filter="fade">
                                      <p:cBhvr>
                                        <p:cTn id="22" dur="400"/>
                                        <p:tgtEl>
                                          <p:spTgt spid="6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67"/>
                                        </p:tgtEl>
                                        <p:attrNameLst>
                                          <p:attrName>style.visibility</p:attrName>
                                        </p:attrNameLst>
                                      </p:cBhvr>
                                      <p:to>
                                        <p:strVal val="visible"/>
                                      </p:to>
                                    </p:set>
                                    <p:animEffect transition="in" filter="fade">
                                      <p:cBhvr>
                                        <p:cTn id="36" dur="400"/>
                                        <p:tgtEl>
                                          <p:spTgt spid="67"/>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68"/>
                                        </p:tgtEl>
                                        <p:attrNameLst>
                                          <p:attrName>style.visibility</p:attrName>
                                        </p:attrNameLst>
                                      </p:cBhvr>
                                      <p:to>
                                        <p:strVal val="visible"/>
                                      </p:to>
                                    </p:set>
                                    <p:animEffect transition="in" filter="fade">
                                      <p:cBhvr>
                                        <p:cTn id="39" dur="400"/>
                                        <p:tgtEl>
                                          <p:spTgt spid="68"/>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400"/>
                                        <p:tgtEl>
                                          <p:spTgt spid="69"/>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0"/>
                                        </p:tgtEl>
                                        <p:attrNameLst>
                                          <p:attrName>style.visibility</p:attrName>
                                        </p:attrNameLst>
                                      </p:cBhvr>
                                      <p:to>
                                        <p:strVal val="visible"/>
                                      </p:to>
                                    </p:set>
                                    <p:animEffect transition="in" filter="fade">
                                      <p:cBhvr>
                                        <p:cTn id="45" dur="4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p:bldP spid="63" grpId="0"/>
      <p:bldP spid="64" grpId="0" animBg="1"/>
      <p:bldP spid="65" grpId="0"/>
      <p:bldP spid="66" grpId="0"/>
      <p:bldP spid="67" grpId="0"/>
      <p:bldP spid="68" grpId="0"/>
      <p:bldP spid="69" grpId="0"/>
      <p:bldP spid="70" grpId="0"/>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CONCLUSIONES</a:t>
            </a:r>
          </a:p>
        </p:txBody>
      </p:sp>
      <p:sp>
        <p:nvSpPr>
          <p:cNvPr id="3" name="Title 2"/>
          <p:cNvSpPr>
            <a:spLocks noGrp="1"/>
          </p:cNvSpPr>
          <p:nvPr>
            <p:ph type="title" idx="107"/>
          </p:nvPr>
        </p:nvSpPr>
        <p:spPr/>
        <p:txBody>
          <a:bodyPr lIns="0"/>
          <a:lstStyle/>
          <a:p>
            <a:r>
              <a:rPr lang="es-CO"/>
              <a:t>Cinco </a:t>
            </a:r>
            <a:r>
              <a:rPr b="1" lang="es-CO">
                <a:solidFill>
                  <a:srgbClr val="6D28D9"/>
                </a:solidFill>
              </a:rPr>
              <a:t>recomendaciones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868680" cy="609600"/>
          </a:xfrm>
          <a:prstGeom prst="rect">
            <a:avLst/>
          </a:prstGeom>
          <a:noFill/>
        </p:spPr>
        <p:txBody>
          <a:bodyPr wrap="square" lIns="0" tIns="0" rIns="0" bIns="0" anchor="ctr">
            <a:noAutofit/>
          </a:bodyPr>
          <a:lstStyle/>
          <a:p>
            <a:r>
              <a:rPr sz="2400" b="1" lang="es-CO">
                <a:solidFill>
                  <a:srgbClr val="2448FF"/>
                </a:solidFill>
                <a:latin typeface="Courier New"/>
              </a:rPr>
              <a:t>01</a:t>
            </a:r>
          </a:p>
        </p:txBody>
      </p:sp>
      <p:sp>
        <p:nvSpPr>
          <p:cNvPr id="55" name="TextBox 54"/>
          <p:cNvSpPr txBox="1"/>
          <p:nvPr/>
        </p:nvSpPr>
        <p:spPr>
          <a:xfrm>
            <a:off x="1691640" y="17983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El modelo es un artefacto más: </a:t>
            </a:r>
            <a:r>
              <a:rPr sz="1920" b="1" lang="es-CO">
                <a:solidFill>
                  <a:srgbClr val="071329"/>
                </a:solidFill>
                <a:latin typeface="Calibri"/>
              </a:rPr>
              <a:t>versión, digest y receta</a:t>
            </a:r>
            <a:r>
              <a:rPr sz="1920" b="0" lang="es-CO">
                <a:solidFill>
                  <a:srgbClr val="071329"/>
                </a:solidFill>
                <a:latin typeface="Calibri"/>
              </a:rPr>
              <a:t>.</a:t>
            </a:r>
          </a:p>
        </p:txBody>
      </p:sp>
      <p:cxnSp>
        <p:nvCxnSpPr>
          <p:cNvPr id="56" name="Connector 55"/>
          <p:cNvCxnSpPr/>
          <p:nvPr/>
        </p:nvCxnSpPr>
        <p:spPr>
          <a:xfrm>
            <a:off x="640080" y="2407920"/>
            <a:ext cx="10911840" cy="0"/>
          </a:xfrm>
          <a:prstGeom prst="line">
            <a:avLst/>
          </a:prstGeom>
          <a:ln w="11430">
            <a:solidFill>
              <a:srgbClr val="D5DEEA"/>
            </a:solidFill>
          </a:ln>
        </p:spPr>
      </p:cxnSp>
      <p:sp>
        <p:nvSpPr>
          <p:cNvPr id="57" name="TextBox 56"/>
          <p:cNvSpPr txBox="1"/>
          <p:nvPr/>
        </p:nvSpPr>
        <p:spPr>
          <a:xfrm>
            <a:off x="640080" y="2407920"/>
            <a:ext cx="868680" cy="609600"/>
          </a:xfrm>
          <a:prstGeom prst="rect">
            <a:avLst/>
          </a:prstGeom>
          <a:noFill/>
        </p:spPr>
        <p:txBody>
          <a:bodyPr wrap="square" lIns="0" tIns="0" rIns="0" bIns="0" anchor="ctr">
            <a:noAutofit/>
          </a:bodyPr>
          <a:lstStyle/>
          <a:p>
            <a:r>
              <a:rPr sz="2400" b="1" lang="es-CO">
                <a:solidFill>
                  <a:srgbClr val="2448FF"/>
                </a:solidFill>
                <a:latin typeface="Courier New"/>
              </a:rPr>
              <a:t>02</a:t>
            </a:r>
          </a:p>
        </p:txBody>
      </p:sp>
      <p:sp>
        <p:nvSpPr>
          <p:cNvPr id="58" name="TextBox 57"/>
          <p:cNvSpPr txBox="1"/>
          <p:nvPr/>
        </p:nvSpPr>
        <p:spPr>
          <a:xfrm>
            <a:off x="1691640" y="24079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Optimiza por chip y </a:t>
            </a:r>
            <a:r>
              <a:rPr sz="1920" b="1" lang="es-CO">
                <a:solidFill>
                  <a:srgbClr val="071329"/>
                </a:solidFill>
                <a:latin typeface="Calibri"/>
              </a:rPr>
              <a:t>mide en el chip</a:t>
            </a:r>
            <a:r>
              <a:rPr sz="1920" b="0" lang="es-CO">
                <a:solidFill>
                  <a:srgbClr val="071329"/>
                </a:solidFill>
                <a:latin typeface="Calibri"/>
              </a:rPr>
              <a:t>.</a:t>
            </a:r>
          </a:p>
        </p:txBody>
      </p:sp>
      <p:cxnSp>
        <p:nvCxnSpPr>
          <p:cNvPr id="59" name="Connector 58"/>
          <p:cNvCxnSpPr/>
          <p:nvPr/>
        </p:nvCxnSpPr>
        <p:spPr>
          <a:xfrm>
            <a:off x="640080" y="3017520"/>
            <a:ext cx="10911840" cy="0"/>
          </a:xfrm>
          <a:prstGeom prst="line">
            <a:avLst/>
          </a:prstGeom>
          <a:ln w="11430">
            <a:solidFill>
              <a:srgbClr val="D5DEEA"/>
            </a:solidFill>
          </a:ln>
        </p:spPr>
      </p:cxnSp>
      <p:sp>
        <p:nvSpPr>
          <p:cNvPr id="60" name="TextBox 59"/>
          <p:cNvSpPr txBox="1"/>
          <p:nvPr/>
        </p:nvSpPr>
        <p:spPr>
          <a:xfrm>
            <a:off x="640080" y="3017520"/>
            <a:ext cx="868680" cy="609600"/>
          </a:xfrm>
          <a:prstGeom prst="rect">
            <a:avLst/>
          </a:prstGeom>
          <a:noFill/>
        </p:spPr>
        <p:txBody>
          <a:bodyPr wrap="square" lIns="0" tIns="0" rIns="0" bIns="0" anchor="ctr">
            <a:noAutofit/>
          </a:bodyPr>
          <a:lstStyle/>
          <a:p>
            <a:r>
              <a:rPr sz="2400" b="1" lang="es-CO">
                <a:solidFill>
                  <a:srgbClr val="2448FF"/>
                </a:solidFill>
                <a:latin typeface="Courier New"/>
              </a:rPr>
              <a:t>03</a:t>
            </a:r>
          </a:p>
        </p:txBody>
      </p:sp>
      <p:sp>
        <p:nvSpPr>
          <p:cNvPr id="61" name="TextBox 60"/>
          <p:cNvSpPr txBox="1"/>
          <p:nvPr/>
        </p:nvSpPr>
        <p:spPr>
          <a:xfrm>
            <a:off x="1691640" y="30175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Despliega por rings, con un gate que </a:t>
            </a:r>
            <a:r>
              <a:rPr sz="1920" b="1" lang="es-CO">
                <a:solidFill>
                  <a:srgbClr val="071329"/>
                </a:solidFill>
                <a:latin typeface="Calibri"/>
              </a:rPr>
              <a:t>mire al modelo</a:t>
            </a:r>
            <a:r>
              <a:rPr sz="1920" b="0" lang="es-CO">
                <a:solidFill>
                  <a:srgbClr val="071329"/>
                </a:solidFill>
                <a:latin typeface="Calibri"/>
              </a:rPr>
              <a:t> y no solo al proceso.</a:t>
            </a:r>
          </a:p>
        </p:txBody>
      </p:sp>
      <p:cxnSp>
        <p:nvCxnSpPr>
          <p:cNvPr id="62" name="Connector 61"/>
          <p:cNvCxnSpPr/>
          <p:nvPr/>
        </p:nvCxnSpPr>
        <p:spPr>
          <a:xfrm>
            <a:off x="640080" y="3627120"/>
            <a:ext cx="10911840" cy="0"/>
          </a:xfrm>
          <a:prstGeom prst="line">
            <a:avLst/>
          </a:prstGeom>
          <a:ln w="11430">
            <a:solidFill>
              <a:srgbClr val="D5DEEA"/>
            </a:solidFill>
          </a:ln>
        </p:spPr>
      </p:cxnSp>
      <p:sp>
        <p:nvSpPr>
          <p:cNvPr id="63" name="TextBox 62"/>
          <p:cNvSpPr txBox="1"/>
          <p:nvPr/>
        </p:nvSpPr>
        <p:spPr>
          <a:xfrm>
            <a:off x="640080" y="3627120"/>
            <a:ext cx="868680" cy="609600"/>
          </a:xfrm>
          <a:prstGeom prst="rect">
            <a:avLst/>
          </a:prstGeom>
          <a:noFill/>
        </p:spPr>
        <p:txBody>
          <a:bodyPr wrap="square" lIns="0" tIns="0" rIns="0" bIns="0" anchor="ctr">
            <a:noAutofit/>
          </a:bodyPr>
          <a:lstStyle/>
          <a:p>
            <a:r>
              <a:rPr sz="2400" b="1" lang="es-CO">
                <a:solidFill>
                  <a:srgbClr val="2448FF"/>
                </a:solidFill>
                <a:latin typeface="Courier New"/>
              </a:rPr>
              <a:t>04</a:t>
            </a:r>
          </a:p>
        </p:txBody>
      </p:sp>
      <p:sp>
        <p:nvSpPr>
          <p:cNvPr id="64" name="TextBox 63"/>
          <p:cNvSpPr txBox="1"/>
          <p:nvPr/>
        </p:nvSpPr>
        <p:spPr>
          <a:xfrm>
            <a:off x="1691640" y="36271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Diseña para estar sin red: </a:t>
            </a:r>
            <a:r>
              <a:rPr sz="1920" b="1" lang="es-CO">
                <a:solidFill>
                  <a:srgbClr val="071329"/>
                </a:solidFill>
                <a:latin typeface="Calibri"/>
              </a:rPr>
              <a:t>cola local y decisiones locales</a:t>
            </a:r>
            <a:r>
              <a:rPr sz="1920" b="0" lang="es-CO">
                <a:solidFill>
                  <a:srgbClr val="071329"/>
                </a:solidFill>
                <a:latin typeface="Calibri"/>
              </a:rPr>
              <a:t>.</a:t>
            </a:r>
          </a:p>
        </p:txBody>
      </p:sp>
      <p:cxnSp>
        <p:nvCxnSpPr>
          <p:cNvPr id="65" name="Connector 64"/>
          <p:cNvCxnSpPr/>
          <p:nvPr/>
        </p:nvCxnSpPr>
        <p:spPr>
          <a:xfrm>
            <a:off x="640080" y="4236720"/>
            <a:ext cx="10911840" cy="0"/>
          </a:xfrm>
          <a:prstGeom prst="line">
            <a:avLst/>
          </a:prstGeom>
          <a:ln w="11430">
            <a:solidFill>
              <a:srgbClr val="D5DEEA"/>
            </a:solidFill>
          </a:ln>
        </p:spPr>
      </p:cxnSp>
      <p:sp>
        <p:nvSpPr>
          <p:cNvPr id="66" name="TextBox 65"/>
          <p:cNvSpPr txBox="1"/>
          <p:nvPr/>
        </p:nvSpPr>
        <p:spPr>
          <a:xfrm>
            <a:off x="640080" y="4236720"/>
            <a:ext cx="868680" cy="609600"/>
          </a:xfrm>
          <a:prstGeom prst="rect">
            <a:avLst/>
          </a:prstGeom>
          <a:noFill/>
        </p:spPr>
        <p:txBody>
          <a:bodyPr wrap="square" lIns="0" tIns="0" rIns="0" bIns="0" anchor="ctr">
            <a:noAutofit/>
          </a:bodyPr>
          <a:lstStyle/>
          <a:p>
            <a:r>
              <a:rPr sz="2400" b="1" lang="es-CO">
                <a:solidFill>
                  <a:srgbClr val="2448FF"/>
                </a:solidFill>
                <a:latin typeface="Courier New"/>
              </a:rPr>
              <a:t>05</a:t>
            </a:r>
          </a:p>
        </p:txBody>
      </p:sp>
      <p:sp>
        <p:nvSpPr>
          <p:cNvPr id="67" name="TextBox 66"/>
          <p:cNvSpPr txBox="1"/>
          <p:nvPr/>
        </p:nvSpPr>
        <p:spPr>
          <a:xfrm>
            <a:off x="1691640" y="4236720"/>
            <a:ext cx="9860280" cy="609600"/>
          </a:xfrm>
          <a:prstGeom prst="rect">
            <a:avLst/>
          </a:prstGeom>
          <a:noFill/>
        </p:spPr>
        <p:txBody>
          <a:bodyPr wrap="square" lIns="0" tIns="0" rIns="0" bIns="0" anchor="ctr">
            <a:noAutofit/>
          </a:bodyPr>
          <a:lstStyle/>
          <a:p>
            <a:pPr>
              <a:lnSpc>
                <a:spcPct val="100000"/>
              </a:lnSpc>
            </a:pPr>
            <a:r>
              <a:rPr sz="1920" b="0" lang="es-CO">
                <a:solidFill>
                  <a:srgbClr val="071329"/>
                </a:solidFill>
                <a:latin typeface="Calibri"/>
              </a:rPr>
              <a:t>Que el modelo cuente qué decide; </a:t>
            </a:r>
            <a:r>
              <a:rPr sz="1920" b="1" lang="es-CO">
                <a:solidFill>
                  <a:srgbClr val="6D28D9"/>
                </a:solidFill>
                <a:latin typeface="Calibri"/>
              </a:rPr>
              <a:t>el dato crudo se queda en el equipo</a:t>
            </a:r>
            <a:r>
              <a:rPr sz="1920" b="0"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animEffect transition="in" filter="fade">
                                      <p:cBhvr>
                                        <p:cTn id="7" dur="400"/>
                                        <p:tgtEl>
                                          <p:spTgt spid="5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7"/>
                                        </p:tgtEl>
                                        <p:attrNameLst>
                                          <p:attrName>style.visibility</p:attrName>
                                        </p:attrNameLst>
                                      </p:cBhvr>
                                      <p:to>
                                        <p:strVal val="visible"/>
                                      </p:to>
                                    </p:set>
                                    <p:animEffect transition="in" filter="fade">
                                      <p:cBhvr>
                                        <p:cTn id="10" dur="400"/>
                                        <p:tgtEl>
                                          <p:spTgt spid="5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animEffect transition="in" filter="fade">
                                      <p:cBhvr>
                                        <p:cTn id="13" dur="400"/>
                                        <p:tgtEl>
                                          <p:spTgt spid="58"/>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59"/>
                                        </p:tgtEl>
                                        <p:attrNameLst>
                                          <p:attrName>style.visibility</p:attrName>
                                        </p:attrNameLst>
                                      </p:cBhvr>
                                      <p:to>
                                        <p:strVal val="visible"/>
                                      </p:to>
                                    </p:set>
                                    <p:animEffect transition="in" filter="fade">
                                      <p:cBhvr>
                                        <p:cTn id="18" dur="400"/>
                                        <p:tgtEl>
                                          <p:spTgt spid="59"/>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60"/>
                                        </p:tgtEl>
                                        <p:attrNameLst>
                                          <p:attrName>style.visibility</p:attrName>
                                        </p:attrNameLst>
                                      </p:cBhvr>
                                      <p:to>
                                        <p:strVal val="visible"/>
                                      </p:to>
                                    </p:set>
                                    <p:animEffect transition="in" filter="fade">
                                      <p:cBhvr>
                                        <p:cTn id="21" dur="400"/>
                                        <p:tgtEl>
                                          <p:spTgt spid="60"/>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1"/>
                                        </p:tgtEl>
                                        <p:attrNameLst>
                                          <p:attrName>style.visibility</p:attrName>
                                        </p:attrNameLst>
                                      </p:cBhvr>
                                      <p:to>
                                        <p:strVal val="visible"/>
                                      </p:to>
                                    </p:set>
                                    <p:animEffect transition="in" filter="fade">
                                      <p:cBhvr>
                                        <p:cTn id="24" dur="400"/>
                                        <p:tgtEl>
                                          <p:spTgt spid="6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62"/>
                                        </p:tgtEl>
                                        <p:attrNameLst>
                                          <p:attrName>style.visibility</p:attrName>
                                        </p:attrNameLst>
                                      </p:cBhvr>
                                      <p:to>
                                        <p:strVal val="visible"/>
                                      </p:to>
                                    </p:set>
                                    <p:animEffect transition="in" filter="fade">
                                      <p:cBhvr>
                                        <p:cTn id="29" dur="400"/>
                                        <p:tgtEl>
                                          <p:spTgt spid="6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63"/>
                                        </p:tgtEl>
                                        <p:attrNameLst>
                                          <p:attrName>style.visibility</p:attrName>
                                        </p:attrNameLst>
                                      </p:cBhvr>
                                      <p:to>
                                        <p:strVal val="visible"/>
                                      </p:to>
                                    </p:set>
                                    <p:animEffect transition="in" filter="fade">
                                      <p:cBhvr>
                                        <p:cTn id="32" dur="400"/>
                                        <p:tgtEl>
                                          <p:spTgt spid="6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64"/>
                                        </p:tgtEl>
                                        <p:attrNameLst>
                                          <p:attrName>style.visibility</p:attrName>
                                        </p:attrNameLst>
                                      </p:cBhvr>
                                      <p:to>
                                        <p:strVal val="visible"/>
                                      </p:to>
                                    </p:set>
                                    <p:animEffect transition="in" filter="fade">
                                      <p:cBhvr>
                                        <p:cTn id="35" dur="400"/>
                                        <p:tgtEl>
                                          <p:spTgt spid="64"/>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65"/>
                                        </p:tgtEl>
                                        <p:attrNameLst>
                                          <p:attrName>style.visibility</p:attrName>
                                        </p:attrNameLst>
                                      </p:cBhvr>
                                      <p:to>
                                        <p:strVal val="visible"/>
                                      </p:to>
                                    </p:set>
                                    <p:animEffect transition="in" filter="fade">
                                      <p:cBhvr>
                                        <p:cTn id="40" dur="400"/>
                                        <p:tgtEl>
                                          <p:spTgt spid="6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6"/>
                                        </p:tgtEl>
                                        <p:attrNameLst>
                                          <p:attrName>style.visibility</p:attrName>
                                        </p:attrNameLst>
                                      </p:cBhvr>
                                      <p:to>
                                        <p:strVal val="visible"/>
                                      </p:to>
                                    </p:set>
                                    <p:animEffect transition="in" filter="fade">
                                      <p:cBhvr>
                                        <p:cTn id="43" dur="400"/>
                                        <p:tgtEl>
                                          <p:spTgt spid="6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67"/>
                                        </p:tgtEl>
                                        <p:attrNameLst>
                                          <p:attrName>style.visibility</p:attrName>
                                        </p:attrNameLst>
                                      </p:cBhvr>
                                      <p:to>
                                        <p:strVal val="visible"/>
                                      </p:to>
                                    </p:set>
                                    <p:animEffect transition="in" filter="fade">
                                      <p:cBhvr>
                                        <p:cTn id="46"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P spid="57" grpId="0"/>
      <p:bldP spid="58" grpId="0"/>
      <p:bldP spid="59" grpId="0" animBg="1"/>
      <p:bldP spid="60" grpId="0"/>
      <p:bldP spid="61" grpId="0"/>
      <p:bldP spid="62" grpId="0" animBg="1"/>
      <p:bldP spid="63" grpId="0"/>
      <p:bldP spid="64" grpId="0"/>
      <p:bldP spid="65" grpId="0" animBg="1"/>
      <p:bldP spid="66" grpId="0"/>
      <p:bldP spid="67" grpId="0"/>
    </p:bld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6"/>
          </p:nvPr>
        </p:nvSpPr>
        <p:spPr>
          <a:xfrm>
            <a:off x="640080" y="1263396"/>
            <a:ext cx="10911840" cy="681228"/>
          </a:xfrm>
        </p:spPr>
        <p:txBody>
          <a:bodyPr lIns="0" rIns="0" tIns="0" bIns="0"/>
          <a:lstStyle/>
          <a:p>
            <a:r>
              <a:rPr sz="4200" lang="es-CO"/>
              <a:t>¿Esta bomba está </a:t>
            </a:r>
            <a:r>
              <a:rPr sz="4200" b="1" lang="es-CO">
                <a:solidFill>
                  <a:srgbClr val="6D28D9"/>
                </a:solidFill>
              </a:rPr>
              <a:t>fallando</a:t>
            </a:r>
            <a:r>
              <a:rPr sz="4200" lang="es-CO"/>
              <a:t>?</a:t>
            </a:r>
          </a:p>
        </p:txBody>
      </p:sp>
      <p:sp>
        <p:nvSpPr>
          <p:cNvPr id="52"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3" name="Audio bomba A">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853440" y="2255520"/>
            <a:ext cx="60960" cy="121920"/>
          </a:xfrm>
          <a:prstGeom prst="rect">
            <a:avLst/>
          </a:prstGeom>
        </p:spPr>
      </p:pic>
      <p:grpSp>
        <p:nvGrpSpPr>
          <p:cNvPr id="3" name="Botón A"/>
          <p:cNvGrpSpPr/>
          <p:nvPr/>
        </p:nvGrpSpPr>
        <p:grpSpPr>
          <a:xfrm>
            <a:off x="640080" y="2103120"/>
            <a:ext cx="1534478" cy="426720"/>
            <a:chOff x="640080" y="2103120"/>
            <a:chExt cx="1534478" cy="426720"/>
          </a:xfrm>
        </p:grpSpPr>
        <p:sp>
          <p:nvSpPr>
            <p:cNvPr id="54" name="Fondo"/>
            <p:cNvSpPr/>
            <p:nvPr/>
          </p:nvSpPr>
          <p:spPr>
            <a:xfrm>
              <a:off x="640080" y="2103120"/>
              <a:ext cx="1534478" cy="426720"/>
            </a:xfrm>
            <a:prstGeom prst="roundRect">
              <a:avLst>
                <a:gd name="adj" fmla="val 50000"/>
              </a:avLst>
            </a:prstGeom>
            <a:solidFill>
              <a:srgbClr val="6D28D9"/>
            </a:solidFill>
            <a:ln>
              <a:noFill/>
            </a:ln>
          </p:spPr>
          <p:txBody>
            <a:bodyPr rtlCol="0" anchor="ctr"/>
            <a:lstStyle/>
            <a:p>
              <a:pPr algn="ctr"/>
            </a:p>
          </p:txBody>
        </p:sp>
        <p:sp>
          <p:nvSpPr>
            <p:cNvPr id="4" name="Triángulo"/>
            <p:cNvSpPr/>
            <p:nvPr/>
          </p:nvSpPr>
          <p:spPr>
            <a:xfrm>
              <a:off x="929640"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5" name="Rótulo"/>
            <p:cNvSpPr txBox="1"/>
            <p:nvPr/>
          </p:nvSpPr>
          <p:spPr>
            <a:xfrm>
              <a:off x="1196340" y="2103120"/>
              <a:ext cx="902018" cy="426720"/>
            </a:xfrm>
            <a:prstGeom prst="rect">
              <a:avLst/>
            </a:prstGeom>
            <a:noFill/>
          </p:spPr>
          <p:txBody>
            <a:bodyPr wrap="square" lIns="0" tIns="0" rIns="0" bIns="0" anchor="ctr">
              <a:noAutofit/>
            </a:bodyPr>
            <a:lstStyle/>
            <a:p>
              <a:r>
                <a:rPr sz="1500" b="1" lang="es-CO">
                  <a:solidFill>
                    <a:srgbClr val="FFFFFF"/>
                  </a:solidFill>
                  <a:latin typeface="Calibri"/>
                </a:rPr>
                <a:t>Bomba A</a:t>
              </a:r>
            </a:p>
          </p:txBody>
        </p:sp>
      </p:grpSp>
      <p:pic>
        <p:nvPicPr>
          <p:cNvPr id="56" name="Audio bomba B">
            <a:hlinkClick r:id="" action="ppaction://media"/>
          </p:cNvPr>
          <p:cNvPicPr>
            <a:picLocks noChangeAspect="1"/>
          </p:cNvPicPr>
          <p:nvPr>
            <a:videoFile r:link="rId6"/>
            <p:extLst>
              <p:ext uri="{DAA4B4D4-6D71-4841-9C94-3DE7FCFB9230}">
                <p14:media xmlns:p14="http://schemas.microsoft.com/office/powerpoint/2010/main" r:embed="rId5"/>
              </p:ext>
            </p:extLst>
          </p:nvPr>
        </p:nvPicPr>
        <p:blipFill>
          <a:blip r:embed="rId4"/>
          <a:stretch>
            <a:fillRect/>
          </a:stretch>
        </p:blipFill>
        <p:spPr>
          <a:xfrm>
            <a:off x="2570798" y="2255520"/>
            <a:ext cx="60960" cy="121920"/>
          </a:xfrm>
          <a:prstGeom prst="rect">
            <a:avLst/>
          </a:prstGeom>
        </p:spPr>
      </p:pic>
      <p:grpSp>
        <p:nvGrpSpPr>
          <p:cNvPr id="5" name="Botón B"/>
          <p:cNvGrpSpPr/>
          <p:nvPr/>
        </p:nvGrpSpPr>
        <p:grpSpPr>
          <a:xfrm>
            <a:off x="2357438" y="2103120"/>
            <a:ext cx="1525786" cy="426720"/>
            <a:chOff x="2357438" y="2103120"/>
            <a:chExt cx="1525786" cy="426720"/>
          </a:xfrm>
        </p:grpSpPr>
        <p:sp>
          <p:nvSpPr>
            <p:cNvPr id="57" name="Fondo"/>
            <p:cNvSpPr/>
            <p:nvPr/>
          </p:nvSpPr>
          <p:spPr>
            <a:xfrm>
              <a:off x="2357438" y="2103120"/>
              <a:ext cx="1525786" cy="426720"/>
            </a:xfrm>
            <a:prstGeom prst="roundRect">
              <a:avLst>
                <a:gd name="adj" fmla="val 50000"/>
              </a:avLst>
            </a:prstGeom>
            <a:solidFill>
              <a:srgbClr val="6D28D9"/>
            </a:solidFill>
            <a:ln>
              <a:noFill/>
            </a:ln>
          </p:spPr>
          <p:txBody>
            <a:bodyPr rtlCol="0" anchor="ctr"/>
            <a:lstStyle/>
            <a:p>
              <a:pPr algn="ctr"/>
            </a:p>
          </p:txBody>
        </p:sp>
        <p:sp>
          <p:nvSpPr>
            <p:cNvPr id="6" name="Triángulo"/>
            <p:cNvSpPr/>
            <p:nvPr/>
          </p:nvSpPr>
          <p:spPr>
            <a:xfrm>
              <a:off x="2646998" y="2225040"/>
              <a:ext cx="144780" cy="182880"/>
            </a:xfrm>
            <a:custGeom>
              <a:avLst/>
              <a:gdLst/>
              <a:ahLst/>
              <a:cxnLst/>
              <a:rect l="l" t="t" r="r" b="b"/>
              <a:pathLst>
                <a:path w="144780" h="182880">
                  <a:moveTo>
                    <a:pt x="0" y="0"/>
                  </a:moveTo>
                  <a:lnTo>
                    <a:pt x="144780" y="91440"/>
                  </a:lnTo>
                  <a:lnTo>
                    <a:pt x="0" y="182880"/>
                  </a:lnTo>
                  <a:close/>
                </a:path>
              </a:pathLst>
            </a:custGeom>
            <a:solidFill>
              <a:srgbClr val="FFFFFF"/>
            </a:solidFill>
            <a:ln>
              <a:noFill/>
            </a:ln>
          </p:spPr>
          <p:txBody>
            <a:bodyPr rtlCol="0" anchor="ctr"/>
            <a:lstStyle/>
            <a:p>
              <a:pPr algn="ctr"/>
            </a:p>
          </p:txBody>
        </p:sp>
        <p:sp>
          <p:nvSpPr>
            <p:cNvPr id="58" name="Rótulo"/>
            <p:cNvSpPr txBox="1"/>
            <p:nvPr/>
          </p:nvSpPr>
          <p:spPr>
            <a:xfrm>
              <a:off x="2913698" y="2103120"/>
              <a:ext cx="893326" cy="426720"/>
            </a:xfrm>
            <a:prstGeom prst="rect">
              <a:avLst/>
            </a:prstGeom>
            <a:noFill/>
          </p:spPr>
          <p:txBody>
            <a:bodyPr wrap="square" lIns="0" tIns="0" rIns="0" bIns="0" anchor="ctr">
              <a:noAutofit/>
            </a:bodyPr>
            <a:lstStyle/>
            <a:p>
              <a:r>
                <a:rPr sz="1500" b="1" lang="es-CO">
                  <a:solidFill>
                    <a:srgbClr val="FFFFFF"/>
                  </a:solidFill>
                  <a:latin typeface="Calibri"/>
                </a:rPr>
                <a:t>Bomba B</a:t>
              </a:r>
            </a:p>
          </p:txBody>
        </p:sp>
      </p:grpSp>
      <p:sp>
        <p:nvSpPr>
          <p:cNvPr id="59" name="Marca"/>
          <p:cNvSpPr/>
          <p:nvPr/>
        </p:nvSpPr>
        <p:spPr>
          <a:xfrm>
            <a:off x="640080" y="2834640"/>
            <a:ext cx="228600" cy="1127760"/>
          </a:xfrm>
          <a:prstGeom prst="roundRect">
            <a:avLst>
              <a:gd name="adj" fmla="val 33333"/>
            </a:avLst>
          </a:prstGeom>
          <a:solidFill>
            <a:srgbClr val="6D28D9"/>
          </a:solidFill>
          <a:ln>
            <a:noFill/>
          </a:ln>
        </p:spPr>
        <p:txBody>
          <a:bodyPr rtlCol="0" anchor="ctr"/>
          <a:lstStyle/>
          <a:p>
            <a:pPr algn="ctr"/>
          </a:p>
        </p:txBody>
      </p:sp>
      <p:sp>
        <p:nvSpPr>
          <p:cNvPr id="60" name="Evento"/>
          <p:cNvSpPr/>
          <p:nvPr/>
        </p:nvSpPr>
        <p:spPr>
          <a:xfrm>
            <a:off x="685800" y="2834640"/>
            <a:ext cx="10866120" cy="1127760"/>
          </a:xfrm>
          <a:prstGeom prst="roundRect">
            <a:avLst>
              <a:gd name="adj" fmla="val 6756"/>
            </a:avLst>
          </a:prstGeom>
          <a:solidFill>
            <a:srgbClr val="F4F7FC"/>
          </a:solidFill>
          <a:ln w="11430">
            <a:solidFill>
              <a:srgbClr val="D5DEEA"/>
            </a:solidFill>
          </a:ln>
        </p:spPr>
        <p:txBody>
          <a:bodyPr rtlCol="0" anchor="ctr"/>
          <a:lstStyle/>
          <a:p>
            <a:pPr algn="ctr"/>
          </a:p>
        </p:txBody>
      </p:sp>
      <p:sp>
        <p:nvSpPr>
          <p:cNvPr id="61" name="TextBox 60"/>
          <p:cNvSpPr txBox="1"/>
          <p:nvPr/>
        </p:nvSpPr>
        <p:spPr>
          <a:xfrm>
            <a:off x="929640" y="2998470"/>
            <a:ext cx="9906000" cy="167335"/>
          </a:xfrm>
          <a:prstGeom prst="rect">
            <a:avLst/>
          </a:prstGeom>
          <a:noFill/>
        </p:spPr>
        <p:txBody>
          <a:bodyPr wrap="square" lIns="0" tIns="0" rIns="0" bIns="0" anchor="t">
            <a:noAutofit/>
          </a:bodyPr>
          <a:lstStyle/>
          <a:p>
            <a:r>
              <a:rPr sz="900" b="1" spc="90" lang="es-CO">
                <a:solidFill>
                  <a:srgbClr val="5C7290"/>
                </a:solidFill>
                <a:latin typeface="Calibri"/>
              </a:rPr>
              <a:t>LO QUE SALE DE LA ESTACIÓN · BOMBA B</a:t>
            </a:r>
          </a:p>
        </p:txBody>
      </p:sp>
      <p:sp>
        <p:nvSpPr>
          <p:cNvPr id="62" name="TextBox 61"/>
          <p:cNvSpPr txBox="1"/>
          <p:nvPr/>
        </p:nvSpPr>
        <p:spPr>
          <a:xfrm>
            <a:off x="929640" y="3257245"/>
            <a:ext cx="10515600" cy="259080"/>
          </a:xfrm>
          <a:prstGeom prst="rect">
            <a:avLst/>
          </a:prstGeom>
          <a:noFill/>
        </p:spPr>
        <p:txBody>
          <a:bodyPr wrap="square" lIns="0" tIns="0" rIns="0" bIns="0" anchor="t">
            <a:noAutofit/>
          </a:bodyPr>
          <a:lstStyle/>
          <a:p>
            <a:r>
              <a:rPr sz="1800" b="0" lang="es-CO">
                <a:solidFill>
                  <a:srgbClr val="071329"/>
                </a:solidFill>
                <a:latin typeface="Courier New"/>
              </a:rPr>
              <a:t>pump-03</a:t>
            </a:r>
            <a:r>
              <a:rPr sz="1800" b="0" lang="es-CO">
                <a:solidFill>
                  <a:srgbClr val="5C7290"/>
                </a:solidFill>
                <a:latin typeface="Courier New"/>
              </a:rPr>
              <a:t> ·</a:t>
            </a:r>
            <a:r>
              <a:rPr sz="1800" b="0" lang="es-CO">
                <a:solidFill>
                  <a:srgbClr val="071329"/>
                </a:solidFill>
                <a:latin typeface="Courier New"/>
              </a:rPr>
              <a:t> v1.0.0</a:t>
            </a:r>
            <a:r>
              <a:rPr sz="1800" b="0" lang="es-CO">
                <a:solidFill>
                  <a:srgbClr val="5C7290"/>
                </a:solidFill>
                <a:latin typeface="Courier New"/>
              </a:rPr>
              <a:t> ·</a:t>
            </a:r>
            <a:r>
              <a:rPr sz="1800" b="1" lang="es-CO">
                <a:solidFill>
                  <a:srgbClr val="6D28D9"/>
                </a:solidFill>
                <a:latin typeface="Courier New"/>
              </a:rPr>
              <a:t> ALERT</a:t>
            </a:r>
            <a:r>
              <a:rPr sz="1800" b="0" lang="es-CO">
                <a:solidFill>
                  <a:srgbClr val="5C7290"/>
                </a:solidFill>
                <a:latin typeface="Courier New"/>
              </a:rPr>
              <a:t> ·</a:t>
            </a:r>
            <a:r>
              <a:rPr sz="1800" b="0" lang="es-CO">
                <a:solidFill>
                  <a:srgbClr val="071329"/>
                </a:solidFill>
                <a:latin typeface="Courier New"/>
              </a:rPr>
              <a:t> score 0.42 (threshold 0.34)</a:t>
            </a:r>
            <a:r>
              <a:rPr sz="1800" b="0" lang="es-CO">
                <a:solidFill>
                  <a:srgbClr val="5C7290"/>
                </a:solidFill>
                <a:latin typeface="Courier New"/>
              </a:rPr>
              <a:t> ·</a:t>
            </a:r>
            <a:r>
              <a:rPr sz="1800" b="0" lang="es-CO">
                <a:solidFill>
                  <a:srgbClr val="071329"/>
                </a:solidFill>
                <a:latin typeface="Courier New"/>
              </a:rPr>
              <a:t> input 0.7</a:t>
            </a:r>
          </a:p>
        </p:txBody>
      </p:sp>
      <p:sp>
        <p:nvSpPr>
          <p:cNvPr id="63" name="TextBox 62"/>
          <p:cNvSpPr txBox="1"/>
          <p:nvPr/>
        </p:nvSpPr>
        <p:spPr>
          <a:xfrm>
            <a:off x="929640" y="3607765"/>
            <a:ext cx="10515600" cy="204521"/>
          </a:xfrm>
          <a:prstGeom prst="rect">
            <a:avLst/>
          </a:prstGeom>
          <a:noFill/>
        </p:spPr>
        <p:txBody>
          <a:bodyPr wrap="square" lIns="0" tIns="0" rIns="0" bIns="0" anchor="t">
            <a:noAutofit/>
          </a:bodyPr>
          <a:lstStyle/>
          <a:p>
            <a:r>
              <a:rPr sz="1320" b="0" lang="es-CO">
                <a:solidFill>
                  <a:srgbClr val="475569"/>
                </a:solidFill>
                <a:latin typeface="Calibri"/>
              </a:rPr>
              <a:t>Unos cientos de bytes. El audio se quedó en la estación.</a:t>
            </a:r>
          </a:p>
        </p:txBody>
      </p:sp>
      <p:sp>
        <p:nvSpPr>
          <p:cNvPr id="64" name="Frase"/>
          <p:cNvSpPr txBox="1"/>
          <p:nvPr/>
        </p:nvSpPr>
        <p:spPr>
          <a:xfrm>
            <a:off x="640080" y="4522622"/>
            <a:ext cx="10911840" cy="1122883"/>
          </a:xfrm>
          <a:prstGeom prst="rect">
            <a:avLst/>
          </a:prstGeom>
          <a:noFill/>
        </p:spPr>
        <p:txBody>
          <a:bodyPr wrap="square" lIns="0" tIns="0" rIns="0" bIns="0" anchor="t">
            <a:noAutofit/>
          </a:bodyPr>
          <a:lstStyle/>
          <a:p>
            <a:pPr>
              <a:lnSpc>
                <a:spcPct val="93400"/>
              </a:lnSpc>
            </a:pPr>
            <a:r>
              <a:rPr sz="3719" b="1" lang="es-CO">
                <a:solidFill>
                  <a:srgbClr val="071329"/>
                </a:solidFill>
                <a:latin typeface="Calibri"/>
              </a:rPr>
              <a:t>No necesitas </a:t>
            </a:r>
            <a:r>
              <a:rPr sz="3719" b="1" lang="es-CO">
                <a:solidFill>
                  <a:srgbClr val="6D28D9"/>
                </a:solidFill>
                <a:latin typeface="Calibri"/>
              </a:rPr>
              <a:t>ver</a:t>
            </a:r>
            <a:r>
              <a:rPr sz="3719" b="1" lang="es-CO">
                <a:solidFill>
                  <a:srgbClr val="071329"/>
                </a:solidFill>
                <a:latin typeface="Calibri"/>
              </a:rPr>
              <a:t> el modelo.</a:t>
            </a:r>
            <a:br/>
            <a:r>
              <a:rPr sz="3719" b="1" lang="es-CO">
                <a:solidFill>
                  <a:srgbClr val="071329"/>
                </a:solidFill>
                <a:latin typeface="Calibri"/>
              </a:rPr>
              <a:t>Necesitas que </a:t>
            </a:r>
            <a:r>
              <a:rPr sz="3719" b="1" lang="es-CO">
                <a:solidFill>
                  <a:srgbClr val="6D28D9"/>
                </a:solidFill>
                <a:latin typeface="Calibri"/>
              </a:rPr>
              <a:t>te cuente</a:t>
            </a:r>
            <a:r>
              <a:rPr sz="3719" b="1" lang="es-CO">
                <a:solidFill>
                  <a:srgbClr val="071329"/>
                </a:solidFill>
                <a:latin typeface="Calibri"/>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400"/>
                                        <p:tgtEl>
                                          <p:spTgt spid="5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0"/>
                                        </p:tgtEl>
                                        <p:attrNameLst>
                                          <p:attrName>style.visibility</p:attrName>
                                        </p:attrNameLst>
                                      </p:cBhvr>
                                      <p:to>
                                        <p:strVal val="visible"/>
                                      </p:to>
                                    </p:set>
                                    <p:animEffect transition="in" filter="fade">
                                      <p:cBhvr>
                                        <p:cTn id="10" dur="400"/>
                                        <p:tgtEl>
                                          <p:spTgt spid="6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1"/>
                                        </p:tgtEl>
                                        <p:attrNameLst>
                                          <p:attrName>style.visibility</p:attrName>
                                        </p:attrNameLst>
                                      </p:cBhvr>
                                      <p:to>
                                        <p:strVal val="visible"/>
                                      </p:to>
                                    </p:set>
                                    <p:animEffect transition="in" filter="fade">
                                      <p:cBhvr>
                                        <p:cTn id="13" dur="400"/>
                                        <p:tgtEl>
                                          <p:spTgt spid="6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2"/>
                                        </p:tgtEl>
                                        <p:attrNameLst>
                                          <p:attrName>style.visibility</p:attrName>
                                        </p:attrNameLst>
                                      </p:cBhvr>
                                      <p:to>
                                        <p:strVal val="visible"/>
                                      </p:to>
                                    </p:set>
                                    <p:animEffect transition="in" filter="fade">
                                      <p:cBhvr>
                                        <p:cTn id="16" dur="400"/>
                                        <p:tgtEl>
                                          <p:spTgt spid="6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3"/>
                                        </p:tgtEl>
                                        <p:attrNameLst>
                                          <p:attrName>style.visibility</p:attrName>
                                        </p:attrNameLst>
                                      </p:cBhvr>
                                      <p:to>
                                        <p:strVal val="visible"/>
                                      </p:to>
                                    </p:set>
                                    <p:animEffect transition="in" filter="fade">
                                      <p:cBhvr>
                                        <p:cTn id="19" dur="400"/>
                                        <p:tgtEl>
                                          <p:spTgt spid="6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64"/>
                                        </p:tgtEl>
                                        <p:attrNameLst>
                                          <p:attrName>style.visibility</p:attrName>
                                        </p:attrNameLst>
                                      </p:cBhvr>
                                      <p:to>
                                        <p:strVal val="visible"/>
                                      </p:to>
                                    </p:set>
                                    <p:animEffect transition="in" filter="fade">
                                      <p:cBhvr>
                                        <p:cTn id="24" dur="4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5" restart="whenNotActive" fill="hold" evtFilter="cancelBubble" nodeType="interactiveSeq">
                <p:stCondLst>
                  <p:cond evt="onClick" delay="0">
                    <p:tgtEl>
                      <p:spTgt spid="3"/>
                    </p:tgtEl>
                  </p:cond>
                </p:stCondLst>
                <p:endSyncLst>
                  <p:cond evt="onEnd" delay="0">
                    <p:rtn val="all"/>
                  </p:cond>
                </p:endSyncLst>
                <p:childTnLst>
                  <p:par>
                    <p:cTn id="26" fill="hold">
                      <p:stCondLst>
                        <p:cond delay="0"/>
                      </p:stCondLst>
                      <p:childTnLst>
                        <p:par>
                          <p:cTn id="27" fill="hold">
                            <p:stCondLst>
                              <p:cond delay="0"/>
                            </p:stCondLst>
                            <p:childTnLst>
                              <p:par>
                                <p:cTn id="28" presetID="1" presetClass="mediacall" presetSubtype="0" fill="hold" nodeType="clickEffect">
                                  <p:stCondLst>
                                    <p:cond delay="0"/>
                                  </p:stCondLst>
                                  <p:childTnLst>
                                    <p:cmd type="call" cmd="playFrom(0.0)">
                                      <p:cBhvr>
                                        <p:cTn id="29" dur="1" fill="hold"/>
                                        <p:tgtEl>
                                          <p:spTgt spid="53"/>
                                        </p:tgtEl>
                                      </p:cBhvr>
                                    </p:cmd>
                                  </p:childTnLst>
                                </p:cTn>
                              </p:par>
                            </p:childTnLst>
                          </p:cTn>
                        </p:par>
                      </p:childTnLst>
                    </p:cTn>
                  </p:par>
                </p:childTnLst>
              </p:cTn>
              <p:nextCondLst>
                <p:cond evt="onClick" delay="0">
                  <p:tgtEl>
                    <p:spTgt spid="3"/>
                  </p:tgtEl>
                </p:cond>
              </p:nextCondLst>
            </p:seq>
            <p:seq concurrent="1" nextAc="seek">
              <p:cTn id="30" restart="whenNotActive" fill="hold" evtFilter="cancelBubble" nodeType="interactiveSeq">
                <p:stCondLst>
                  <p:cond evt="onClick" delay="0">
                    <p:tgtEl>
                      <p:spTgt spid="5"/>
                    </p:tgtEl>
                  </p:cond>
                </p:stCondLst>
                <p:endSyncLst>
                  <p:cond evt="onEnd" delay="0">
                    <p:rtn val="all"/>
                  </p:cond>
                </p:endSyncLst>
                <p:childTnLst>
                  <p:par>
                    <p:cTn id="31" fill="hold">
                      <p:stCondLst>
                        <p:cond delay="0"/>
                      </p:stCondLst>
                      <p:childTnLst>
                        <p:par>
                          <p:cTn id="32" fill="hold">
                            <p:stCondLst>
                              <p:cond delay="0"/>
                            </p:stCondLst>
                            <p:childTnLst>
                              <p:par>
                                <p:cTn id="33" presetID="1" presetClass="mediacall" presetSubtype="0" fill="hold" nodeType="clickEffect">
                                  <p:stCondLst>
                                    <p:cond delay="0"/>
                                  </p:stCondLst>
                                  <p:childTnLst>
                                    <p:cmd type="call" cmd="playFrom(0.0)">
                                      <p:cBhvr>
                                        <p:cTn id="34" dur="1" fill="hold"/>
                                        <p:tgtEl>
                                          <p:spTgt spid="56"/>
                                        </p:tgtEl>
                                      </p:cBhvr>
                                    </p:cmd>
                                  </p:childTnLst>
                                </p:cTn>
                              </p:par>
                            </p:childTnLst>
                          </p:cTn>
                        </p:par>
                      </p:childTnLst>
                    </p:cTn>
                  </p:par>
                </p:childTnLst>
              </p:cTn>
              <p:nextCondLst>
                <p:cond evt="onClick" delay="0">
                  <p:tgtEl>
                    <p:spTgt spid="5"/>
                  </p:tgtEl>
                </p:cond>
              </p:nextCondLst>
            </p:seq>
          </p:childTnLst>
        </p:cTn>
      </p:par>
    </p:tnLst>
    <p:bldLst>
      <p:bldP spid="59" grpId="0"/>
      <p:bldP spid="60" grpId="0"/>
      <p:bldP spid="61" grpId="0"/>
      <p:bldP spid="62" grpId="0"/>
      <p:bldP spid="63" grpId="0"/>
      <p:bldP spid="64" grpId="0"/>
    </p:bldLst>
  </p:timing>
  <p:timing>
    <p:tnLst>
      <p:par>
        <p:cTn id="1" dur="indefinite" restart="never" nodeType="tmRoot">
          <p:childTnLst>
            <p:video>
              <p:cMediaNode vol="80000">
                <p:cTn id="2" fill="hold" display="0">
                  <p:stCondLst>
                    <p:cond delay="indefinite"/>
                  </p:stCondLst>
                </p:cTn>
                <p:tgtEl>
                  <p:spTgt spid="53"/>
                </p:tgtEl>
              </p:cMediaNode>
            </p:video>
            <p:video>
              <p:cMediaNode vol="80000">
                <p:cTn id="3" fill="hold" display="0">
                  <p:stCondLst>
                    <p:cond delay="indefinite"/>
                  </p:stCondLst>
                </p:cTn>
                <p:tgtEl>
                  <p:spTgt spid="56"/>
                </p:tgtEl>
              </p:cMediaNode>
            </p:video>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RECURSOS</a:t>
            </a:r>
          </a:p>
        </p:txBody>
      </p:sp>
      <p:sp>
        <p:nvSpPr>
          <p:cNvPr id="3" name="Title 2"/>
          <p:cNvSpPr>
            <a:spLocks noGrp="1"/>
          </p:cNvSpPr>
          <p:nvPr>
            <p:ph type="title" idx="107"/>
          </p:nvPr>
        </p:nvSpPr>
        <p:spPr/>
        <p:txBody>
          <a:bodyPr lIns="0"/>
          <a:lstStyle/>
          <a:p>
            <a:r>
              <a:rPr lang="es-CO"/>
              <a:t>Recursos </a:t>
            </a:r>
            <a:r>
              <a:rPr b="1" lang="es-CO">
                <a:solidFill>
                  <a:srgbClr val="6D28D9"/>
                </a:solidFill>
              </a:rPr>
              <a:t>y contacto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965960"/>
            <a:ext cx="3124200" cy="563880"/>
          </a:xfrm>
          <a:prstGeom prst="rect">
            <a:avLst/>
          </a:prstGeom>
          <a:noFill/>
        </p:spPr>
        <p:txBody>
          <a:bodyPr wrap="square" lIns="0" tIns="0" rIns="0" bIns="0" anchor="ctr">
            <a:noAutofit/>
          </a:bodyPr>
          <a:lstStyle/>
          <a:p>
            <a:r>
              <a:rPr sz="1620" b="1" lang="es-CO">
                <a:solidFill>
                  <a:srgbClr val="071329"/>
                </a:solidFill>
                <a:latin typeface="Calibri"/>
              </a:rPr>
              <a:t>Código de la demo</a:t>
            </a:r>
          </a:p>
        </p:txBody>
      </p:sp>
      <p:sp>
        <p:nvSpPr>
          <p:cNvPr id="55" name="TextBox 54"/>
          <p:cNvSpPr txBox="1"/>
          <p:nvPr/>
        </p:nvSpPr>
        <p:spPr>
          <a:xfrm>
            <a:off x="3840480" y="196596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a:t>
            </a:r>
          </a:p>
        </p:txBody>
      </p:sp>
      <p:cxnSp>
        <p:nvCxnSpPr>
          <p:cNvPr id="56" name="Connector 55"/>
          <p:cNvCxnSpPr/>
          <p:nvPr/>
        </p:nvCxnSpPr>
        <p:spPr>
          <a:xfrm>
            <a:off x="640080" y="2529840"/>
            <a:ext cx="7955280" cy="0"/>
          </a:xfrm>
          <a:prstGeom prst="line">
            <a:avLst/>
          </a:prstGeom>
          <a:ln w="11430">
            <a:solidFill>
              <a:srgbClr val="D5DEEA"/>
            </a:solidFill>
          </a:ln>
        </p:spPr>
      </p:cxnSp>
      <p:sp>
        <p:nvSpPr>
          <p:cNvPr id="57" name="TextBox 56"/>
          <p:cNvSpPr txBox="1"/>
          <p:nvPr/>
        </p:nvSpPr>
        <p:spPr>
          <a:xfrm>
            <a:off x="640080" y="2834640"/>
            <a:ext cx="3124200" cy="563880"/>
          </a:xfrm>
          <a:prstGeom prst="rect">
            <a:avLst/>
          </a:prstGeom>
          <a:noFill/>
        </p:spPr>
        <p:txBody>
          <a:bodyPr wrap="square" lIns="0" tIns="0" rIns="0" bIns="0" anchor="ctr">
            <a:noAutofit/>
          </a:bodyPr>
          <a:lstStyle/>
          <a:p>
            <a:r>
              <a:rPr sz="1620" b="1" lang="es-CO">
                <a:solidFill>
                  <a:srgbClr val="071329"/>
                </a:solidFill>
                <a:latin typeface="Calibri"/>
              </a:rPr>
              <a:t>Láminas y guion</a:t>
            </a:r>
          </a:p>
        </p:txBody>
      </p:sp>
      <p:sp>
        <p:nvSpPr>
          <p:cNvPr id="58" name="TextBox 57"/>
          <p:cNvSpPr txBox="1"/>
          <p:nvPr/>
        </p:nvSpPr>
        <p:spPr>
          <a:xfrm>
            <a:off x="3840480" y="2834640"/>
            <a:ext cx="4754880" cy="563880"/>
          </a:xfrm>
          <a:prstGeom prst="rect">
            <a:avLst/>
          </a:prstGeom>
          <a:noFill/>
        </p:spPr>
        <p:txBody>
          <a:bodyPr wrap="square" lIns="0" tIns="0" rIns="0" bIns="0" anchor="ctr">
            <a:noAutofit/>
          </a:bodyPr>
          <a:lstStyle/>
          <a:p>
            <a:r>
              <a:rPr sz="1320" b="0" lang="es-CO">
                <a:solidFill>
                  <a:srgbClr val="1F6C93"/>
                </a:solidFill>
                <a:latin typeface="Courier New"/>
              </a:rPr>
              <a:t>github.com/alejandro945/mlops-a-ciegas · talk/</a:t>
            </a:r>
          </a:p>
        </p:txBody>
      </p:sp>
      <p:cxnSp>
        <p:nvCxnSpPr>
          <p:cNvPr id="59" name="Connector 58"/>
          <p:cNvCxnSpPr/>
          <p:nvPr/>
        </p:nvCxnSpPr>
        <p:spPr>
          <a:xfrm>
            <a:off x="640080" y="3398520"/>
            <a:ext cx="7955280" cy="0"/>
          </a:xfrm>
          <a:prstGeom prst="line">
            <a:avLst/>
          </a:prstGeom>
          <a:ln w="11430">
            <a:solidFill>
              <a:srgbClr val="D5DEEA"/>
            </a:solidFill>
          </a:ln>
        </p:spPr>
      </p:cxnSp>
      <p:sp>
        <p:nvSpPr>
          <p:cNvPr id="60" name="TextBox 59"/>
          <p:cNvSpPr txBox="1"/>
          <p:nvPr/>
        </p:nvSpPr>
        <p:spPr>
          <a:xfrm>
            <a:off x="640080" y="3703320"/>
            <a:ext cx="3124200" cy="563880"/>
          </a:xfrm>
          <a:prstGeom prst="rect">
            <a:avLst/>
          </a:prstGeom>
          <a:noFill/>
        </p:spPr>
        <p:txBody>
          <a:bodyPr wrap="square" lIns="0" tIns="0" rIns="0" bIns="0" anchor="ctr">
            <a:noAutofit/>
          </a:bodyPr>
          <a:lstStyle/>
          <a:p>
            <a:r>
              <a:rPr sz="1620" b="1" lang="es-CO">
                <a:solidFill>
                  <a:srgbClr val="071329"/>
                </a:solidFill>
                <a:latin typeface="Calibri"/>
              </a:rPr>
              <a:t>Dónde encontrarme</a:t>
            </a:r>
          </a:p>
        </p:txBody>
      </p:sp>
      <p:sp>
        <p:nvSpPr>
          <p:cNvPr id="61" name="TextBox 60"/>
          <p:cNvSpPr txBox="1"/>
          <p:nvPr/>
        </p:nvSpPr>
        <p:spPr>
          <a:xfrm>
            <a:off x="3840480" y="3703320"/>
            <a:ext cx="4754880" cy="563880"/>
          </a:xfrm>
          <a:prstGeom prst="rect">
            <a:avLst/>
          </a:prstGeom>
          <a:noFill/>
        </p:spPr>
        <p:txBody>
          <a:bodyPr wrap="square" lIns="0" tIns="0" rIns="0" bIns="0" anchor="ctr">
            <a:noAutofit/>
          </a:bodyPr>
          <a:lstStyle/>
          <a:p>
            <a:r>
              <a:rPr sz="1320" b="0" lang="es-CO">
                <a:solidFill>
                  <a:srgbClr val="1F6C93"/>
                </a:solidFill>
                <a:latin typeface="Courier New"/>
              </a:rPr>
              <a:t>linkedin.com/in/alejandro-varela-fr</a:t>
            </a:r>
          </a:p>
        </p:txBody>
      </p:sp>
      <p:cxnSp>
        <p:nvCxnSpPr>
          <p:cNvPr id="62" name="Connector 61"/>
          <p:cNvCxnSpPr/>
          <p:nvPr/>
        </p:nvCxnSpPr>
        <p:spPr>
          <a:xfrm>
            <a:off x="640080" y="4267200"/>
            <a:ext cx="7955280" cy="0"/>
          </a:xfrm>
          <a:prstGeom prst="line">
            <a:avLst/>
          </a:prstGeom>
          <a:ln w="11430">
            <a:solidFill>
              <a:srgbClr val="D5DEEA"/>
            </a:solidFill>
          </a:ln>
        </p:spPr>
      </p:cxnSp>
      <p:sp>
        <p:nvSpPr>
          <p:cNvPr id="63" name="Marco QR"/>
          <p:cNvSpPr/>
          <p:nvPr/>
        </p:nvSpPr>
        <p:spPr>
          <a:xfrm>
            <a:off x="9052560" y="1965960"/>
            <a:ext cx="2499360" cy="2499360"/>
          </a:xfrm>
          <a:prstGeom prst="rect">
            <a:avLst/>
          </a:prstGeom>
          <a:solidFill>
            <a:srgbClr val="F4F7FC"/>
          </a:solidFill>
          <a:ln w="11430">
            <a:solidFill>
              <a:srgbClr val="D5DEEA"/>
            </a:solidFill>
          </a:ln>
        </p:spPr>
        <p:txBody>
          <a:bodyPr rtlCol="0" anchor="ctr"/>
          <a:lstStyle/>
          <a:p>
            <a:pPr algn="ctr"/>
          </a:p>
        </p:txBody>
      </p:sp>
      <p:pic>
        <p:nvPicPr>
          <p:cNvPr id="64" name="QR" descr="qr.png"/>
          <p:cNvPicPr>
            <a:picLocks noChangeAspect="1"/>
          </p:cNvPicPr>
          <p:nvPr/>
        </p:nvPicPr>
        <p:blipFill>
          <a:blip r:embed="rId2"/>
          <a:stretch>
            <a:fillRect/>
          </a:stretch>
        </p:blipFill>
        <p:spPr>
          <a:xfrm>
            <a:off x="9265920" y="2179320"/>
            <a:ext cx="2072640" cy="2072640"/>
          </a:xfrm>
          <a:prstGeom prst="rect">
            <a:avLst/>
          </a:prstGeom>
        </p:spPr>
      </p:pic>
      <p:sp>
        <p:nvSpPr>
          <p:cNvPr id="65" name="TextBox 64"/>
          <p:cNvSpPr txBox="1"/>
          <p:nvPr/>
        </p:nvSpPr>
        <p:spPr>
          <a:xfrm>
            <a:off x="9052560" y="4572000"/>
            <a:ext cx="2499360" cy="381000"/>
          </a:xfrm>
          <a:prstGeom prst="rect">
            <a:avLst/>
          </a:prstGeom>
          <a:noFill/>
        </p:spPr>
        <p:txBody>
          <a:bodyPr wrap="square" lIns="0" tIns="0" rIns="0" bIns="0" anchor="t">
            <a:noAutofit/>
          </a:bodyPr>
          <a:lstStyle/>
          <a:p>
            <a:pPr algn="ctr"/>
            <a:r>
              <a:rPr sz="1080" b="0" lang="es-CO">
                <a:solidFill>
                  <a:srgbClr val="475569"/>
                </a:solidFill>
                <a:latin typeface="Calibri"/>
              </a:rPr>
              <a:t>El repo, con el paso a paso de la demo</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4"/>
          </p:nvPr>
        </p:nvSpPr>
        <p:spPr/>
        <p:txBody>
          <a:bodyPr lIns="0"/>
          <a:lstStyle/>
          <a:p>
            <a:r>
              <a:rPr lang="es-CO"/>
              <a:t>Gracias</a:t>
            </a:r>
          </a:p>
        </p:txBody>
      </p:sp>
      <p:sp>
        <p:nvSpPr>
          <p:cNvPr id="3" name="Text Placeholder 2"/>
          <p:cNvSpPr>
            <a:spLocks noGrp="1"/>
          </p:cNvSpPr>
          <p:nvPr>
            <p:ph type="body" idx="105"/>
          </p:nvPr>
        </p:nvSpPr>
        <p:spPr/>
        <p:txBody>
          <a:bodyPr lIns="0"/>
          <a:lstStyle/>
          <a:p>
            <a:r>
              <a:rPr sz="2220" b="1" lang="es-CO">
                <a:solidFill>
                  <a:srgbClr val="071329"/>
                </a:solidFill>
              </a:rPr>
              <a:t>¿Preguntas?</a:t>
            </a:r>
          </a:p>
          <a:p>
            <a:r>
              <a:rPr sz="1019" lang="es-CO"/>
              <a:t> </a:t>
            </a:r>
          </a:p>
          <a:p>
            <a:r>
              <a:rPr sz="1680" lang="es-CO">
                <a:solidFill>
                  <a:srgbClr val="475569"/>
                </a:solidFill>
              </a:rPr>
              <a:t>Alejandro Varela</a:t>
            </a:r>
          </a:p>
          <a:p>
            <a:r>
              <a:rPr sz="1200" lang="es-CO">
                <a:solidFill>
                  <a:srgbClr val="1F6C93"/>
                </a:solidFill>
                <a:latin typeface="Courier New"/>
              </a:rPr>
              <a:t>linkedin.com/in/alejandro-varela-fr</a:t>
            </a:r>
          </a:p>
          <a:p>
            <a:r>
              <a:rPr sz="1200" lang="es-CO">
                <a:solidFill>
                  <a:srgbClr val="1F6C93"/>
                </a:solidFill>
                <a:latin typeface="Courier New"/>
              </a:rPr>
              <a:t>github.com/alejandro945/mlops-a-ciegas</a:t>
            </a:r>
          </a:p>
          <a:p>
            <a:r>
              <a:rPr sz="719" lang="es-CO"/>
              <a:t> </a:t>
            </a:r>
          </a:p>
          <a:p>
            <a:r>
              <a:rPr sz="1200" b="1" lang="es-CO">
                <a:solidFill>
                  <a:srgbClr val="6D28D9"/>
                </a:solidFill>
              </a:rPr>
              <a:t>#DevOpsDaysBogota</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evento de la demo, </a:t>
            </a:r>
            <a:r>
              <a:rPr b="1" lang="es-CO">
                <a:solidFill>
                  <a:srgbClr val="6D28D9"/>
                </a:solidFill>
              </a:rPr>
              <a:t>campo por campo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775862" cy="167640"/>
          </a:xfrm>
          <a:prstGeom prst="rect">
            <a:avLst/>
          </a:prstGeom>
          <a:noFill/>
        </p:spPr>
        <p:txBody>
          <a:bodyPr wrap="square" lIns="0" tIns="0" rIns="0" bIns="0" anchor="t">
            <a:noAutofit/>
          </a:bodyPr>
          <a:lstStyle/>
          <a:p>
            <a:r>
              <a:rPr sz="900" b="1" spc="90" lang="es-CO">
                <a:solidFill>
                  <a:srgbClr val="5C7290"/>
                </a:solidFill>
                <a:latin typeface="Calibri"/>
              </a:rPr>
              <a:t>CAMPO</a:t>
            </a:r>
          </a:p>
        </p:txBody>
      </p:sp>
      <p:sp>
        <p:nvSpPr>
          <p:cNvPr id="55" name="TextBox 54"/>
          <p:cNvSpPr txBox="1"/>
          <p:nvPr/>
        </p:nvSpPr>
        <p:spPr>
          <a:xfrm>
            <a:off x="4568342" y="1798320"/>
            <a:ext cx="6831178" cy="167640"/>
          </a:xfrm>
          <a:prstGeom prst="rect">
            <a:avLst/>
          </a:prstGeom>
          <a:noFill/>
        </p:spPr>
        <p:txBody>
          <a:bodyPr wrap="square" lIns="0" tIns="0" rIns="0" bIns="0" anchor="t">
            <a:noAutofit/>
          </a:bodyPr>
          <a:lstStyle/>
          <a:p>
            <a:r>
              <a:rPr sz="900" b="1" spc="90" lang="es-CO">
                <a:solidFill>
                  <a:srgbClr val="5C7290"/>
                </a:solidFill>
                <a:latin typeface="Calibri"/>
              </a:rPr>
              <a:t>QUÉ GUARDA</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14122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device · model_version · sha256</a:t>
            </a:r>
          </a:p>
        </p:txBody>
      </p:sp>
      <p:sp>
        <p:nvSpPr>
          <p:cNvPr id="58" name="TextBox 57"/>
          <p:cNvSpPr txBox="1"/>
          <p:nvPr/>
        </p:nvSpPr>
        <p:spPr>
          <a:xfrm>
            <a:off x="4568342" y="214122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Quién decidió, con qué versión y la huella exacta de </a:t>
            </a:r>
            <a:r>
              <a:rPr sz="1080" b="0" lang="es-CO">
                <a:solidFill>
                  <a:srgbClr val="071329"/>
                </a:solidFill>
                <a:latin typeface="Courier New"/>
              </a:rPr>
              <a:t>model.onnx</a:t>
            </a:r>
          </a:p>
        </p:txBody>
      </p:sp>
      <p:cxnSp>
        <p:nvCxnSpPr>
          <p:cNvPr id="59" name="Connector 58"/>
          <p:cNvCxnSpPr/>
          <p:nvPr/>
        </p:nvCxnSpPr>
        <p:spPr>
          <a:xfrm>
            <a:off x="640080" y="2426208"/>
            <a:ext cx="10911840" cy="0"/>
          </a:xfrm>
          <a:prstGeom prst="line">
            <a:avLst/>
          </a:prstGeom>
          <a:ln w="11430">
            <a:solidFill>
              <a:srgbClr val="D5DEEA"/>
            </a:solidFill>
          </a:ln>
        </p:spPr>
      </p:cxnSp>
      <p:sp>
        <p:nvSpPr>
          <p:cNvPr id="60" name="TextBox 59"/>
          <p:cNvSpPr txBox="1"/>
          <p:nvPr/>
        </p:nvSpPr>
        <p:spPr>
          <a:xfrm>
            <a:off x="640080" y="251002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seq · ts</a:t>
            </a:r>
          </a:p>
        </p:txBody>
      </p:sp>
      <p:sp>
        <p:nvSpPr>
          <p:cNvPr id="61" name="TextBox 60"/>
          <p:cNvSpPr txBox="1"/>
          <p:nvPr/>
        </p:nvSpPr>
        <p:spPr>
          <a:xfrm>
            <a:off x="4568342" y="251002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Número de evento y el instante, en milisegundos, en que el equipo decidió</a:t>
            </a:r>
          </a:p>
        </p:txBody>
      </p:sp>
      <p:cxnSp>
        <p:nvCxnSpPr>
          <p:cNvPr id="62" name="Connector 61"/>
          <p:cNvCxnSpPr/>
          <p:nvPr/>
        </p:nvCxnSpPr>
        <p:spPr>
          <a:xfrm>
            <a:off x="640080" y="2795016"/>
            <a:ext cx="10911840" cy="0"/>
          </a:xfrm>
          <a:prstGeom prst="line">
            <a:avLst/>
          </a:prstGeom>
          <a:ln w="11430">
            <a:solidFill>
              <a:srgbClr val="D5DEEA"/>
            </a:solidFill>
          </a:ln>
        </p:spPr>
      </p:cxnSp>
      <p:sp>
        <p:nvSpPr>
          <p:cNvPr id="63" name="TextBox 62"/>
          <p:cNvSpPr txBox="1"/>
          <p:nvPr/>
        </p:nvSpPr>
        <p:spPr>
          <a:xfrm>
            <a:off x="640080" y="287883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clip · domain</a:t>
            </a:r>
          </a:p>
        </p:txBody>
      </p:sp>
      <p:sp>
        <p:nvSpPr>
          <p:cNvPr id="64" name="TextBox 63"/>
          <p:cNvSpPr txBox="1"/>
          <p:nvPr/>
        </p:nvSpPr>
        <p:spPr>
          <a:xfrm>
            <a:off x="4568342" y="287883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Qué audio escuchó y de qué dominio venía: </a:t>
            </a:r>
            <a:r>
              <a:rPr sz="1080" b="0" lang="es-CO">
                <a:solidFill>
                  <a:srgbClr val="071329"/>
                </a:solidFill>
                <a:latin typeface="Courier New"/>
              </a:rPr>
              <a:t>source</a:t>
            </a:r>
            <a:r>
              <a:rPr sz="1200" b="0" lang="es-CO">
                <a:solidFill>
                  <a:srgbClr val="071329"/>
                </a:solidFill>
                <a:latin typeface="Calibri"/>
              </a:rPr>
              <a:t> o </a:t>
            </a:r>
            <a:r>
              <a:rPr sz="1080" b="0" lang="es-CO">
                <a:solidFill>
                  <a:srgbClr val="071329"/>
                </a:solidFill>
                <a:latin typeface="Courier New"/>
              </a:rPr>
              <a:t>target</a:t>
            </a:r>
          </a:p>
        </p:txBody>
      </p:sp>
      <p:cxnSp>
        <p:nvCxnSpPr>
          <p:cNvPr id="65" name="Connector 64"/>
          <p:cNvCxnSpPr/>
          <p:nvPr/>
        </p:nvCxnSpPr>
        <p:spPr>
          <a:xfrm>
            <a:off x="640080" y="3163824"/>
            <a:ext cx="10911840" cy="0"/>
          </a:xfrm>
          <a:prstGeom prst="line">
            <a:avLst/>
          </a:prstGeom>
          <a:ln w="11430">
            <a:solidFill>
              <a:srgbClr val="D5DEEA"/>
            </a:solidFill>
          </a:ln>
        </p:spPr>
      </p:cxnSp>
      <p:sp>
        <p:nvSpPr>
          <p:cNvPr id="66" name="TextBox 65"/>
          <p:cNvSpPr txBox="1"/>
          <p:nvPr/>
        </p:nvSpPr>
        <p:spPr>
          <a:xfrm>
            <a:off x="640080" y="3247644"/>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score · threshold · alert</a:t>
            </a:r>
          </a:p>
        </p:txBody>
      </p:sp>
      <p:sp>
        <p:nvSpPr>
          <p:cNvPr id="67" name="TextBox 66"/>
          <p:cNvSpPr txBox="1"/>
          <p:nvPr/>
        </p:nvSpPr>
        <p:spPr>
          <a:xfrm>
            <a:off x="4568342" y="3247644"/>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El error de reconstrucción, el umbral de esa versión y la decisión</a:t>
            </a:r>
          </a:p>
        </p:txBody>
      </p:sp>
      <p:cxnSp>
        <p:nvCxnSpPr>
          <p:cNvPr id="68" name="Connector 67"/>
          <p:cNvCxnSpPr/>
          <p:nvPr/>
        </p:nvCxnSpPr>
        <p:spPr>
          <a:xfrm>
            <a:off x="640080" y="3532632"/>
            <a:ext cx="10911840" cy="0"/>
          </a:xfrm>
          <a:prstGeom prst="line">
            <a:avLst/>
          </a:prstGeom>
          <a:ln w="15240">
            <a:solidFill>
              <a:srgbClr val="6D28D9"/>
            </a:solidFill>
          </a:ln>
        </p:spPr>
      </p:cxnSp>
      <p:sp>
        <p:nvSpPr>
          <p:cNvPr id="69" name="TextBox 68"/>
          <p:cNvSpPr txBox="1"/>
          <p:nvPr/>
        </p:nvSpPr>
        <p:spPr>
          <a:xfrm>
            <a:off x="640080" y="3616452"/>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input_z</a:t>
            </a:r>
          </a:p>
        </p:txBody>
      </p:sp>
      <p:sp>
        <p:nvSpPr>
          <p:cNvPr id="70" name="TextBox 69"/>
          <p:cNvSpPr txBox="1"/>
          <p:nvPr/>
        </p:nvSpPr>
        <p:spPr>
          <a:xfrm>
            <a:off x="4568342" y="3616452"/>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La entrada, resumida: distancia media a la huella de lo normal. El audio no sale del equipo</a:t>
            </a:r>
          </a:p>
        </p:txBody>
      </p:sp>
      <p:cxnSp>
        <p:nvCxnSpPr>
          <p:cNvPr id="71" name="Connector 70"/>
          <p:cNvCxnSpPr/>
          <p:nvPr/>
        </p:nvCxnSpPr>
        <p:spPr>
          <a:xfrm>
            <a:off x="640080" y="3901440"/>
            <a:ext cx="10911840" cy="0"/>
          </a:xfrm>
          <a:prstGeom prst="line">
            <a:avLst/>
          </a:prstGeom>
          <a:ln w="11430">
            <a:solidFill>
              <a:srgbClr val="D5DEEA"/>
            </a:solidFill>
          </a:ln>
        </p:spPr>
      </p:cxnSp>
      <p:sp>
        <p:nvSpPr>
          <p:cNvPr id="72" name="TextBox 71"/>
          <p:cNvSpPr txBox="1"/>
          <p:nvPr/>
        </p:nvSpPr>
        <p:spPr>
          <a:xfrm>
            <a:off x="640080" y="3985260"/>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latency_ms</a:t>
            </a:r>
          </a:p>
        </p:txBody>
      </p:sp>
      <p:sp>
        <p:nvSpPr>
          <p:cNvPr id="73" name="TextBox 72"/>
          <p:cNvSpPr txBox="1"/>
          <p:nvPr/>
        </p:nvSpPr>
        <p:spPr>
          <a:xfrm>
            <a:off x="4568342" y="3985260"/>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En cuánto tiempo decidió</a:t>
            </a:r>
          </a:p>
        </p:txBody>
      </p:sp>
      <p:cxnSp>
        <p:nvCxnSpPr>
          <p:cNvPr id="74" name="Connector 73"/>
          <p:cNvCxnSpPr/>
          <p:nvPr/>
        </p:nvCxnSpPr>
        <p:spPr>
          <a:xfrm>
            <a:off x="640080" y="4270248"/>
            <a:ext cx="10911840" cy="0"/>
          </a:xfrm>
          <a:prstGeom prst="line">
            <a:avLst/>
          </a:prstGeom>
          <a:ln w="11430">
            <a:solidFill>
              <a:srgbClr val="D5DEEA"/>
            </a:solidFill>
          </a:ln>
        </p:spPr>
      </p:cxnSp>
      <p:sp>
        <p:nvSpPr>
          <p:cNvPr id="75" name="TextBox 74"/>
          <p:cNvSpPr txBox="1"/>
          <p:nvPr/>
        </p:nvSpPr>
        <p:spPr>
          <a:xfrm>
            <a:off x="640080" y="4354068"/>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truth</a:t>
            </a:r>
          </a:p>
        </p:txBody>
      </p:sp>
      <p:sp>
        <p:nvSpPr>
          <p:cNvPr id="76" name="TextBox 75"/>
          <p:cNvSpPr txBox="1"/>
          <p:nvPr/>
        </p:nvSpPr>
        <p:spPr>
          <a:xfrm>
            <a:off x="4568342" y="4354068"/>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Solo en la demo, porque sabemos qué audio suena</a:t>
            </a:r>
          </a:p>
        </p:txBody>
      </p:sp>
      <p:cxnSp>
        <p:nvCxnSpPr>
          <p:cNvPr id="77" name="Connector 76"/>
          <p:cNvCxnSpPr/>
          <p:nvPr/>
        </p:nvCxnSpPr>
        <p:spPr>
          <a:xfrm>
            <a:off x="640080" y="4639056"/>
            <a:ext cx="10911840" cy="0"/>
          </a:xfrm>
          <a:prstGeom prst="line">
            <a:avLst/>
          </a:prstGeom>
          <a:ln w="11430">
            <a:solidFill>
              <a:srgbClr val="D5DEEA"/>
            </a:solidFill>
          </a:ln>
        </p:spPr>
      </p:cxnSp>
      <p:sp>
        <p:nvSpPr>
          <p:cNvPr id="78" name="TextBox 77"/>
          <p:cNvSpPr txBox="1"/>
          <p:nvPr/>
        </p:nvSpPr>
        <p:spPr>
          <a:xfrm>
            <a:off x="640080" y="4722876"/>
            <a:ext cx="3775862" cy="201168"/>
          </a:xfrm>
          <a:prstGeom prst="rect">
            <a:avLst/>
          </a:prstGeom>
          <a:noFill/>
        </p:spPr>
        <p:txBody>
          <a:bodyPr wrap="square" lIns="0" tIns="0" rIns="0" bIns="0" anchor="t">
            <a:noAutofit/>
          </a:bodyPr>
          <a:lstStyle/>
          <a:p>
            <a:pPr>
              <a:lnSpc>
                <a:spcPct val="110000"/>
              </a:lnSpc>
            </a:pPr>
            <a:r>
              <a:rPr sz="1019" b="0" lang="es-CO">
                <a:solidFill>
                  <a:srgbClr val="1F6C93"/>
                </a:solidFill>
                <a:latin typeface="Courier New"/>
              </a:rPr>
              <a:t>arrived_ts</a:t>
            </a:r>
          </a:p>
        </p:txBody>
      </p:sp>
      <p:sp>
        <p:nvSpPr>
          <p:cNvPr id="79" name="TextBox 78"/>
          <p:cNvSpPr txBox="1"/>
          <p:nvPr/>
        </p:nvSpPr>
        <p:spPr>
          <a:xfrm>
            <a:off x="4568342" y="4722876"/>
            <a:ext cx="6831178" cy="201168"/>
          </a:xfrm>
          <a:prstGeom prst="rect">
            <a:avLst/>
          </a:prstGeom>
          <a:noFill/>
        </p:spPr>
        <p:txBody>
          <a:bodyPr wrap="square" lIns="0" tIns="0" rIns="0" bIns="0" anchor="t">
            <a:noAutofit/>
          </a:bodyPr>
          <a:lstStyle/>
          <a:p>
            <a:pPr>
              <a:lnSpc>
                <a:spcPct val="110000"/>
              </a:lnSpc>
            </a:pPr>
            <a:r>
              <a:rPr sz="1200" b="0" lang="es-CO">
                <a:solidFill>
                  <a:srgbClr val="071329"/>
                </a:solidFill>
                <a:latin typeface="Calibri"/>
              </a:rPr>
              <a:t>Lo suma la regla de IoT al llegar. Su diferencia con </a:t>
            </a:r>
            <a:r>
              <a:rPr sz="1080" b="0" lang="es-CO">
                <a:solidFill>
                  <a:srgbClr val="071329"/>
                </a:solidFill>
                <a:latin typeface="Courier New"/>
              </a:rPr>
              <a:t>ts</a:t>
            </a:r>
            <a:r>
              <a:rPr sz="1200" b="0" lang="es-CO">
                <a:solidFill>
                  <a:srgbClr val="071329"/>
                </a:solidFill>
                <a:latin typeface="Calibri"/>
              </a:rPr>
              <a:t> es el tiempo que la estación estuvo sin red</a:t>
            </a:r>
          </a:p>
        </p:txBody>
      </p:sp>
      <p:cxnSp>
        <p:nvCxnSpPr>
          <p:cNvPr id="80" name="Connector 79"/>
          <p:cNvCxnSpPr/>
          <p:nvPr/>
        </p:nvCxnSpPr>
        <p:spPr>
          <a:xfrm>
            <a:off x="640080" y="5007864"/>
            <a:ext cx="10911840" cy="0"/>
          </a:xfrm>
          <a:prstGeom prst="line">
            <a:avLst/>
          </a:prstGeom>
          <a:ln w="11430">
            <a:solidFill>
              <a:srgbClr val="D5DEEA"/>
            </a:solidFill>
          </a:ln>
        </p:spPr>
      </p:cxn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poc-devopsdays/component/inference.py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Paso 0" descr="a2_html0.png"/>
          <p:cNvPicPr>
            <a:picLocks noChangeAspect="1"/>
          </p:cNvPicPr>
          <p:nvPr/>
        </p:nvPicPr>
        <p:blipFill>
          <a:blip r:embed="rId2"/>
          <a:stretch>
            <a:fillRect/>
          </a:stretch>
        </p:blipFill>
        <p:spPr>
          <a:xfrm>
            <a:off x="0" y="1447800"/>
            <a:ext cx="12192000" cy="4434840"/>
          </a:xfrm>
          <a:prstGeom prst="rect">
            <a:avLst/>
          </a:prstGeom>
        </p:spPr>
      </p:pic>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El rollback automático, </a:t>
            </a:r>
            <a:r>
              <a:rPr b="1" lang="es-CO">
                <a:solidFill>
                  <a:srgbClr val="6D28D9"/>
                </a:solidFill>
              </a:rPr>
              <a:t>paso a paso</a:t>
            </a:r>
          </a:p>
        </p:txBody>
      </p:sp>
      <p:sp>
        <p:nvSpPr>
          <p:cNvPr id="55"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poc-devopsdays/demo/deploy.sh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revierte Greengrass </a:t>
            </a:r>
            <a:r>
              <a:rPr b="1" lang="es-CO">
                <a:solidFill>
                  <a:srgbClr val="6D28D9"/>
                </a:solidFill>
              </a:rPr>
              <a:t>solo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339389" cy="167640"/>
          </a:xfrm>
          <a:prstGeom prst="rect">
            <a:avLst/>
          </a:prstGeom>
          <a:noFill/>
        </p:spPr>
        <p:txBody>
          <a:bodyPr wrap="square" lIns="0" tIns="0" rIns="0" bIns="0" anchor="t">
            <a:noAutofit/>
          </a:bodyPr>
          <a:lstStyle/>
          <a:p>
            <a:r>
              <a:rPr sz="900" b="1" spc="90" lang="es-CO">
                <a:solidFill>
                  <a:srgbClr val="5C7290"/>
                </a:solidFill>
                <a:latin typeface="Calibri"/>
              </a:rPr>
              <a:t>QUÉ PASA</a:t>
            </a:r>
          </a:p>
        </p:txBody>
      </p:sp>
      <p:sp>
        <p:nvSpPr>
          <p:cNvPr id="55" name="TextBox 54"/>
          <p:cNvSpPr txBox="1"/>
          <p:nvPr/>
        </p:nvSpPr>
        <p:spPr>
          <a:xfrm>
            <a:off x="4131869" y="1798320"/>
            <a:ext cx="3121152" cy="167640"/>
          </a:xfrm>
          <a:prstGeom prst="rect">
            <a:avLst/>
          </a:prstGeom>
          <a:noFill/>
        </p:spPr>
        <p:txBody>
          <a:bodyPr wrap="square" lIns="0" tIns="0" rIns="0" bIns="0" anchor="t">
            <a:noAutofit/>
          </a:bodyPr>
          <a:lstStyle/>
          <a:p>
            <a:r>
              <a:rPr sz="900" b="1" spc="90" lang="es-CO">
                <a:solidFill>
                  <a:srgbClr val="5C7290"/>
                </a:solidFill>
                <a:latin typeface="Calibri"/>
              </a:rPr>
              <a:t>¿GREENGRASS VUELVE ATRÁS?</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CON QUÉ</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artefacto en S3 cambió</a:t>
            </a:r>
          </a:p>
        </p:txBody>
      </p:sp>
      <p:sp>
        <p:nvSpPr>
          <p:cNvPr id="59" name="TextBox 58"/>
          <p:cNvSpPr txBox="1"/>
          <p:nvPr/>
        </p:nvSpPr>
        <p:spPr>
          <a:xfrm>
            <a:off x="4131869" y="217932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el despliegue falla</a:t>
            </a:r>
          </a:p>
        </p:txBody>
      </p:sp>
      <p:sp>
        <p:nvSpPr>
          <p:cNvPr id="60" name="TextBox 59"/>
          <p:cNvSpPr txBox="1"/>
          <p:nvPr/>
        </p:nvSpPr>
        <p:spPr>
          <a:xfrm>
            <a:off x="7405421" y="217932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El digest que calcula al crear la versión</a:t>
            </a:r>
          </a:p>
        </p:txBody>
      </p:sp>
      <p:cxnSp>
        <p:nvCxnSpPr>
          <p:cNvPr id="61" name="Connector 60"/>
          <p:cNvCxnSpPr/>
          <p:nvPr/>
        </p:nvCxnSpPr>
        <p:spPr>
          <a:xfrm>
            <a:off x="640080" y="2522525"/>
            <a:ext cx="10911840" cy="0"/>
          </a:xfrm>
          <a:prstGeom prst="line">
            <a:avLst/>
          </a:prstGeom>
          <a:ln w="11430">
            <a:solidFill>
              <a:srgbClr val="D5DEEA"/>
            </a:solidFill>
          </a:ln>
        </p:spPr>
      </p:cxnSp>
      <p:sp>
        <p:nvSpPr>
          <p:cNvPr id="62" name="TextBox 61"/>
          <p:cNvSpPr txBox="1"/>
          <p:nvPr/>
        </p:nvSpPr>
        <p:spPr>
          <a:xfrm>
            <a:off x="640080" y="2644445"/>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El componente no instala o no arranca</a:t>
            </a:r>
          </a:p>
        </p:txBody>
      </p:sp>
      <p:sp>
        <p:nvSpPr>
          <p:cNvPr id="63" name="TextBox 62"/>
          <p:cNvSpPr txBox="1"/>
          <p:nvPr/>
        </p:nvSpPr>
        <p:spPr>
          <a:xfrm>
            <a:off x="4131869" y="2644445"/>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vuelve a la anterior</a:t>
            </a:r>
          </a:p>
        </p:txBody>
      </p:sp>
      <p:sp>
        <p:nvSpPr>
          <p:cNvPr id="64" name="TextBox 63"/>
          <p:cNvSpPr txBox="1"/>
          <p:nvPr/>
        </p:nvSpPr>
        <p:spPr>
          <a:xfrm>
            <a:off x="7405421" y="2644445"/>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failureHandlingPolicy</a:t>
            </a:r>
            <a:r>
              <a:rPr sz="1320" b="0" lang="es-CO">
                <a:solidFill>
                  <a:srgbClr val="071329"/>
                </a:solidFill>
                <a:latin typeface="Calibri"/>
              </a:rPr>
              <a:t> = </a:t>
            </a:r>
            <a:r>
              <a:rPr sz="1080" b="0" lang="es-CO">
                <a:solidFill>
                  <a:srgbClr val="071329"/>
                </a:solidFill>
                <a:latin typeface="Courier New"/>
              </a:rPr>
              <a:t>ROLLBACK</a:t>
            </a:r>
            <a:r>
              <a:rPr sz="1320" b="0" lang="es-CO">
                <a:solidFill>
                  <a:srgbClr val="071329"/>
                </a:solidFill>
                <a:latin typeface="Calibri"/>
              </a:rPr>
              <a:t> (por defecto)</a:t>
            </a:r>
          </a:p>
        </p:txBody>
      </p:sp>
      <p:cxnSp>
        <p:nvCxnSpPr>
          <p:cNvPr id="65" name="Connector 64"/>
          <p:cNvCxnSpPr/>
          <p:nvPr/>
        </p:nvCxnSpPr>
        <p:spPr>
          <a:xfrm>
            <a:off x="640080" y="2987650"/>
            <a:ext cx="10911840" cy="0"/>
          </a:xfrm>
          <a:prstGeom prst="line">
            <a:avLst/>
          </a:prstGeom>
          <a:ln w="11430">
            <a:solidFill>
              <a:srgbClr val="D5DEEA"/>
            </a:solidFill>
          </a:ln>
        </p:spPr>
      </p:cxnSp>
      <p:sp>
        <p:nvSpPr>
          <p:cNvPr id="66" name="TextBox 65"/>
          <p:cNvSpPr txBox="1"/>
          <p:nvPr/>
        </p:nvSpPr>
        <p:spPr>
          <a:xfrm>
            <a:off x="640080" y="3109570"/>
            <a:ext cx="3339389"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Fallan muchos equipos del ring</a:t>
            </a:r>
          </a:p>
        </p:txBody>
      </p:sp>
      <p:sp>
        <p:nvSpPr>
          <p:cNvPr id="67" name="TextBox 66"/>
          <p:cNvSpPr txBox="1"/>
          <p:nvPr/>
        </p:nvSpPr>
        <p:spPr>
          <a:xfrm>
            <a:off x="4131869" y="3109570"/>
            <a:ext cx="3121152"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Sí: cancela el despliegue</a:t>
            </a:r>
          </a:p>
        </p:txBody>
      </p:sp>
      <p:sp>
        <p:nvSpPr>
          <p:cNvPr id="68" name="TextBox 67"/>
          <p:cNvSpPr txBox="1"/>
          <p:nvPr/>
        </p:nvSpPr>
        <p:spPr>
          <a:xfrm>
            <a:off x="7405421" y="3109570"/>
            <a:ext cx="3994099" cy="221285"/>
          </a:xfrm>
          <a:prstGeom prst="rect">
            <a:avLst/>
          </a:prstGeom>
          <a:noFill/>
        </p:spPr>
        <p:txBody>
          <a:bodyPr wrap="square" lIns="0" tIns="0" rIns="0" bIns="0" anchor="t">
            <a:noAutofit/>
          </a:bodyPr>
          <a:lstStyle/>
          <a:p>
            <a:pPr>
              <a:lnSpc>
                <a:spcPct val="110000"/>
              </a:lnSpc>
            </a:pPr>
            <a:r>
              <a:rPr sz="1080" b="0" lang="es-CO">
                <a:solidFill>
                  <a:srgbClr val="071329"/>
                </a:solidFill>
                <a:latin typeface="Courier New"/>
              </a:rPr>
              <a:t>abortConfig</a:t>
            </a:r>
            <a:r>
              <a:rPr sz="1320" b="0" lang="es-CO">
                <a:solidFill>
                  <a:srgbClr val="071329"/>
                </a:solidFill>
                <a:latin typeface="Calibri"/>
              </a:rPr>
              <a:t>: FAILED · REJECTED · TIMED_OUT</a:t>
            </a:r>
          </a:p>
        </p:txBody>
      </p:sp>
      <p:cxnSp>
        <p:nvCxnSpPr>
          <p:cNvPr id="69" name="Connector 68"/>
          <p:cNvCxnSpPr/>
          <p:nvPr/>
        </p:nvCxnSpPr>
        <p:spPr>
          <a:xfrm>
            <a:off x="640080" y="3452774"/>
            <a:ext cx="10911840" cy="0"/>
          </a:xfrm>
          <a:prstGeom prst="line">
            <a:avLst/>
          </a:prstGeom>
          <a:ln w="15240">
            <a:solidFill>
              <a:srgbClr val="6D28D9"/>
            </a:solidFill>
          </a:ln>
        </p:spPr>
      </p:cxnSp>
      <p:sp>
        <p:nvSpPr>
          <p:cNvPr id="70" name="TextBox 69"/>
          <p:cNvSpPr txBox="1"/>
          <p:nvPr/>
        </p:nvSpPr>
        <p:spPr>
          <a:xfrm>
            <a:off x="640080" y="3574694"/>
            <a:ext cx="3339389"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Corre bien y decide mal</a:t>
            </a:r>
          </a:p>
        </p:txBody>
      </p:sp>
      <p:sp>
        <p:nvSpPr>
          <p:cNvPr id="71" name="TextBox 70"/>
          <p:cNvSpPr txBox="1"/>
          <p:nvPr/>
        </p:nvSpPr>
        <p:spPr>
          <a:xfrm>
            <a:off x="4131869" y="3574694"/>
            <a:ext cx="3121152"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No: para Greengrass salió bien</a:t>
            </a:r>
          </a:p>
        </p:txBody>
      </p:sp>
      <p:sp>
        <p:nvSpPr>
          <p:cNvPr id="72" name="TextBox 71"/>
          <p:cNvSpPr txBox="1"/>
          <p:nvPr/>
        </p:nvSpPr>
        <p:spPr>
          <a:xfrm>
            <a:off x="7405421" y="357469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eventos del modelo y una alarma que los mire</a:t>
            </a:r>
          </a:p>
        </p:txBody>
      </p:sp>
      <p:cxnSp>
        <p:nvCxnSpPr>
          <p:cNvPr id="73" name="Connector 72"/>
          <p:cNvCxnSpPr/>
          <p:nvPr/>
        </p:nvCxnSpPr>
        <p:spPr>
          <a:xfrm>
            <a:off x="640080" y="3917899"/>
            <a:ext cx="10911840" cy="0"/>
          </a:xfrm>
          <a:prstGeom prst="line">
            <a:avLst/>
          </a:prstGeom>
          <a:ln w="11430">
            <a:solidFill>
              <a:srgbClr val="D5DEEA"/>
            </a:solidFill>
          </a:ln>
        </p:spPr>
      </p:cxn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Permisos </a:t>
            </a:r>
            <a:r>
              <a:rPr b="1" lang="es-CO">
                <a:solidFill>
                  <a:srgbClr val="6D28D9"/>
                </a:solidFill>
              </a:rPr>
              <a:t>y costo</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ROL O POLÍTICA</a:t>
            </a:r>
          </a:p>
        </p:txBody>
      </p:sp>
      <p:sp>
        <p:nvSpPr>
          <p:cNvPr id="55" name="TextBox 54"/>
          <p:cNvSpPr txBox="1"/>
          <p:nvPr/>
        </p:nvSpPr>
        <p:spPr>
          <a:xfrm>
            <a:off x="3586277" y="1798320"/>
            <a:ext cx="213908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5877763" y="1798320"/>
            <a:ext cx="2793797" cy="167640"/>
          </a:xfrm>
          <a:prstGeom prst="rect">
            <a:avLst/>
          </a:prstGeom>
          <a:noFill/>
        </p:spPr>
        <p:txBody>
          <a:bodyPr wrap="square" lIns="0" tIns="0" rIns="0" bIns="0" anchor="t">
            <a:noAutofit/>
          </a:bodyPr>
          <a:lstStyle/>
          <a:p>
            <a:r>
              <a:rPr sz="900" b="1" spc="90" lang="es-CO">
                <a:solidFill>
                  <a:srgbClr val="5C7290"/>
                </a:solidFill>
                <a:latin typeface="Calibri"/>
              </a:rPr>
              <a:t>EN LA POC</a:t>
            </a:r>
          </a:p>
        </p:txBody>
      </p:sp>
      <p:sp>
        <p:nvSpPr>
          <p:cNvPr id="57" name="TextBox 56"/>
          <p:cNvSpPr txBox="1"/>
          <p:nvPr/>
        </p:nvSpPr>
        <p:spPr>
          <a:xfrm>
            <a:off x="8823960" y="1798320"/>
            <a:ext cx="257556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8" name="Connector 57"/>
          <p:cNvCxnSpPr/>
          <p:nvPr/>
        </p:nvCxnSpPr>
        <p:spPr>
          <a:xfrm>
            <a:off x="640080" y="2057400"/>
            <a:ext cx="10911840" cy="0"/>
          </a:xfrm>
          <a:prstGeom prst="line">
            <a:avLst/>
          </a:prstGeom>
          <a:ln w="11430">
            <a:solidFill>
              <a:srgbClr val="D5DEEA"/>
            </a:solidFill>
          </a:ln>
        </p:spPr>
      </p:cxnSp>
      <p:sp>
        <p:nvSpPr>
          <p:cNvPr id="59" name="TextBox 58"/>
          <p:cNvSpPr txBox="1"/>
          <p:nvPr/>
        </p:nvSpPr>
        <p:spPr>
          <a:xfrm>
            <a:off x="640080" y="2141220"/>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GreengrassV2TokenExchangeRole</a:t>
            </a:r>
          </a:p>
        </p:txBody>
      </p:sp>
      <p:sp>
        <p:nvSpPr>
          <p:cNvPr id="60" name="TextBox 59"/>
          <p:cNvSpPr txBox="1"/>
          <p:nvPr/>
        </p:nvSpPr>
        <p:spPr>
          <a:xfrm>
            <a:off x="3586277" y="2141220"/>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baja artefactos</a:t>
            </a:r>
          </a:p>
        </p:txBody>
      </p:sp>
      <p:sp>
        <p:nvSpPr>
          <p:cNvPr id="61" name="TextBox 60"/>
          <p:cNvSpPr txBox="1"/>
          <p:nvPr/>
        </p:nvSpPr>
        <p:spPr>
          <a:xfrm>
            <a:off x="5877763" y="2141220"/>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s3:GetObject</a:t>
            </a:r>
            <a:r>
              <a:rPr sz="1080" b="0" lang="es-CO">
                <a:solidFill>
                  <a:srgbClr val="071329"/>
                </a:solidFill>
                <a:latin typeface="Calibri"/>
              </a:rPr>
              <a:t> sobre el bucket</a:t>
            </a:r>
          </a:p>
        </p:txBody>
      </p:sp>
      <p:sp>
        <p:nvSpPr>
          <p:cNvPr id="62" name="TextBox 61"/>
          <p:cNvSpPr txBox="1"/>
          <p:nvPr/>
        </p:nvSpPr>
        <p:spPr>
          <a:xfrm>
            <a:off x="8823960" y="2141220"/>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por prefijo</a:t>
            </a:r>
          </a:p>
        </p:txBody>
      </p:sp>
      <p:cxnSp>
        <p:nvCxnSpPr>
          <p:cNvPr id="63" name="Connector 62"/>
          <p:cNvCxnSpPr/>
          <p:nvPr/>
        </p:nvCxnSpPr>
        <p:spPr>
          <a:xfrm>
            <a:off x="640080" y="2406091"/>
            <a:ext cx="10911840" cy="0"/>
          </a:xfrm>
          <a:prstGeom prst="line">
            <a:avLst/>
          </a:prstGeom>
          <a:ln w="11430">
            <a:solidFill>
              <a:srgbClr val="D5DEEA"/>
            </a:solidFill>
          </a:ln>
        </p:spPr>
      </p:cxnSp>
      <p:sp>
        <p:nvSpPr>
          <p:cNvPr id="64" name="TextBox 63"/>
          <p:cNvSpPr txBox="1"/>
          <p:nvPr/>
        </p:nvSpPr>
        <p:spPr>
          <a:xfrm>
            <a:off x="640080" y="2489911"/>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StationThingPolicy</a:t>
            </a:r>
          </a:p>
        </p:txBody>
      </p:sp>
      <p:sp>
        <p:nvSpPr>
          <p:cNvPr id="65" name="TextBox 64"/>
          <p:cNvSpPr txBox="1"/>
          <p:nvPr/>
        </p:nvSpPr>
        <p:spPr>
          <a:xfrm>
            <a:off x="3586277" y="2489911"/>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El equipo habla MQTT</a:t>
            </a:r>
          </a:p>
        </p:txBody>
      </p:sp>
      <p:sp>
        <p:nvSpPr>
          <p:cNvPr id="66" name="TextBox 65"/>
          <p:cNvSpPr txBox="1"/>
          <p:nvPr/>
        </p:nvSpPr>
        <p:spPr>
          <a:xfrm>
            <a:off x="5877763" y="2489911"/>
            <a:ext cx="2793797"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Conectar como </a:t>
            </a:r>
            <a:r>
              <a:rPr sz="960" b="0" lang="es-CO">
                <a:solidFill>
                  <a:srgbClr val="071329"/>
                </a:solidFill>
                <a:latin typeface="Courier New"/>
              </a:rPr>
              <a:t>pump-*</a:t>
            </a:r>
            <a:r>
              <a:rPr sz="1080" b="0" lang="es-CO">
                <a:solidFill>
                  <a:srgbClr val="071329"/>
                </a:solidFill>
                <a:latin typeface="Calibri"/>
              </a:rPr>
              <a:t> y publicar solo en </a:t>
            </a:r>
            <a:r>
              <a:rPr sz="960" b="0" lang="es-CO">
                <a:solidFill>
                  <a:srgbClr val="071329"/>
                </a:solidFill>
                <a:latin typeface="Courier New"/>
              </a:rPr>
              <a:t>station/events</a:t>
            </a:r>
          </a:p>
        </p:txBody>
      </p:sp>
      <p:sp>
        <p:nvSpPr>
          <p:cNvPr id="67" name="TextBox 66"/>
          <p:cNvSpPr txBox="1"/>
          <p:nvPr/>
        </p:nvSpPr>
        <p:spPr>
          <a:xfrm>
            <a:off x="8823960" y="2489911"/>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una identidad por equipo</a:t>
            </a:r>
          </a:p>
        </p:txBody>
      </p:sp>
      <p:cxnSp>
        <p:nvCxnSpPr>
          <p:cNvPr id="68" name="Connector 67"/>
          <p:cNvCxnSpPr/>
          <p:nvPr/>
        </p:nvCxnSpPr>
        <p:spPr>
          <a:xfrm>
            <a:off x="640080" y="2935834"/>
            <a:ext cx="10911840" cy="0"/>
          </a:xfrm>
          <a:prstGeom prst="line">
            <a:avLst/>
          </a:prstGeom>
          <a:ln w="11430">
            <a:solidFill>
              <a:srgbClr val="D5DEEA"/>
            </a:solidFill>
          </a:ln>
        </p:spPr>
      </p:cxnSp>
      <p:sp>
        <p:nvSpPr>
          <p:cNvPr id="69" name="TextBox 68"/>
          <p:cNvSpPr txBox="1"/>
          <p:nvPr/>
        </p:nvSpPr>
        <p:spPr>
          <a:xfrm>
            <a:off x="640080" y="3019654"/>
            <a:ext cx="2793797"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regla station_events</a:t>
            </a:r>
          </a:p>
        </p:txBody>
      </p:sp>
      <p:sp>
        <p:nvSpPr>
          <p:cNvPr id="70" name="TextBox 69"/>
          <p:cNvSpPr txBox="1"/>
          <p:nvPr/>
        </p:nvSpPr>
        <p:spPr>
          <a:xfrm>
            <a:off x="3586277" y="3019654"/>
            <a:ext cx="2139086"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regla escribe en Logs</a:t>
            </a:r>
          </a:p>
        </p:txBody>
      </p:sp>
      <p:sp>
        <p:nvSpPr>
          <p:cNvPr id="71" name="TextBox 70"/>
          <p:cNvSpPr txBox="1"/>
          <p:nvPr/>
        </p:nvSpPr>
        <p:spPr>
          <a:xfrm>
            <a:off x="5877763" y="3019654"/>
            <a:ext cx="2793797" cy="181051"/>
          </a:xfrm>
          <a:prstGeom prst="rect">
            <a:avLst/>
          </a:prstGeom>
          <a:noFill/>
        </p:spPr>
        <p:txBody>
          <a:bodyPr wrap="square" lIns="0" tIns="0" rIns="0" bIns="0" anchor="t">
            <a:noAutofit/>
          </a:bodyPr>
          <a:lstStyle/>
          <a:p>
            <a:pPr>
              <a:lnSpc>
                <a:spcPct val="110000"/>
              </a:lnSpc>
            </a:pPr>
            <a:r>
              <a:rPr sz="960" b="0" lang="es-CO">
                <a:solidFill>
                  <a:srgbClr val="071329"/>
                </a:solidFill>
                <a:latin typeface="Courier New"/>
              </a:rPr>
              <a:t>logs:PutLogEvents</a:t>
            </a:r>
            <a:r>
              <a:rPr sz="1080" b="0" lang="es-CO">
                <a:solidFill>
                  <a:srgbClr val="071329"/>
                </a:solidFill>
                <a:latin typeface="Calibri"/>
              </a:rPr>
              <a:t> sobre </a:t>
            </a:r>
            <a:r>
              <a:rPr sz="960" b="0" lang="es-CO">
                <a:solidFill>
                  <a:srgbClr val="071329"/>
                </a:solidFill>
                <a:latin typeface="Courier New"/>
              </a:rPr>
              <a:t>/station/events</a:t>
            </a:r>
          </a:p>
        </p:txBody>
      </p:sp>
      <p:sp>
        <p:nvSpPr>
          <p:cNvPr id="72" name="TextBox 71"/>
          <p:cNvSpPr txBox="1"/>
          <p:nvPr/>
        </p:nvSpPr>
        <p:spPr>
          <a:xfrm>
            <a:off x="8823960" y="3019654"/>
            <a:ext cx="2575560" cy="181051"/>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a:t>
            </a:r>
          </a:p>
        </p:txBody>
      </p:sp>
      <p:cxnSp>
        <p:nvCxnSpPr>
          <p:cNvPr id="73" name="Connector 72"/>
          <p:cNvCxnSpPr/>
          <p:nvPr/>
        </p:nvCxnSpPr>
        <p:spPr>
          <a:xfrm>
            <a:off x="640080" y="3284525"/>
            <a:ext cx="10911840" cy="0"/>
          </a:xfrm>
          <a:prstGeom prst="line">
            <a:avLst/>
          </a:prstGeom>
          <a:ln w="15240">
            <a:solidFill>
              <a:srgbClr val="6D28D9"/>
            </a:solidFill>
          </a:ln>
        </p:spPr>
      </p:cxnSp>
      <p:sp>
        <p:nvSpPr>
          <p:cNvPr id="74" name="TextBox 73"/>
          <p:cNvSpPr txBox="1"/>
          <p:nvPr/>
        </p:nvSpPr>
        <p:spPr>
          <a:xfrm>
            <a:off x="640080" y="3368345"/>
            <a:ext cx="2793797"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Rol de la Lambda station-rollback</a:t>
            </a:r>
          </a:p>
        </p:txBody>
      </p:sp>
      <p:sp>
        <p:nvSpPr>
          <p:cNvPr id="75" name="TextBox 74"/>
          <p:cNvSpPr txBox="1"/>
          <p:nvPr/>
        </p:nvSpPr>
        <p:spPr>
          <a:xfrm>
            <a:off x="3586277" y="3368345"/>
            <a:ext cx="2139086"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La Lambda despliega</a:t>
            </a:r>
          </a:p>
        </p:txBody>
      </p:sp>
      <p:sp>
        <p:nvSpPr>
          <p:cNvPr id="76" name="TextBox 75"/>
          <p:cNvSpPr txBox="1"/>
          <p:nvPr/>
        </p:nvSpPr>
        <p:spPr>
          <a:xfrm>
            <a:off x="5877763" y="3368345"/>
            <a:ext cx="2793797" cy="362102"/>
          </a:xfrm>
          <a:prstGeom prst="rect">
            <a:avLst/>
          </a:prstGeom>
          <a:noFill/>
        </p:spPr>
        <p:txBody>
          <a:bodyPr wrap="square" lIns="0" tIns="0" rIns="0" bIns="0" anchor="t">
            <a:noAutofit/>
          </a:bodyPr>
          <a:lstStyle/>
          <a:p>
            <a:pPr>
              <a:lnSpc>
                <a:spcPct val="110000"/>
              </a:lnSpc>
            </a:pPr>
            <a:r>
              <a:rPr sz="960" b="1" lang="es-CO">
                <a:solidFill>
                  <a:srgbClr val="6D28D9"/>
                </a:solidFill>
                <a:latin typeface="Courier New"/>
              </a:rPr>
              <a:t>CreateDeployment</a:t>
            </a:r>
            <a:r>
              <a:rPr sz="1080" b="1" lang="es-CO">
                <a:solidFill>
                  <a:srgbClr val="6D28D9"/>
                </a:solidFill>
                <a:latin typeface="Calibri"/>
              </a:rPr>
              <a:t>, las acciones de IoT que ese despliegue usa y </a:t>
            </a:r>
            <a:r>
              <a:rPr sz="960" b="1" lang="es-CO">
                <a:solidFill>
                  <a:srgbClr val="6D28D9"/>
                </a:solidFill>
                <a:latin typeface="Courier New"/>
              </a:rPr>
              <a:t>ssm:GetParameter</a:t>
            </a:r>
          </a:p>
        </p:txBody>
      </p:sp>
      <p:sp>
        <p:nvSpPr>
          <p:cNvPr id="77" name="TextBox 76"/>
          <p:cNvSpPr txBox="1"/>
          <p:nvPr/>
        </p:nvSpPr>
        <p:spPr>
          <a:xfrm>
            <a:off x="8823960" y="3368345"/>
            <a:ext cx="2575560" cy="362102"/>
          </a:xfrm>
          <a:prstGeom prst="rect">
            <a:avLst/>
          </a:prstGeom>
          <a:noFill/>
        </p:spPr>
        <p:txBody>
          <a:bodyPr wrap="square" lIns="0" tIns="0" rIns="0" bIns="0" anchor="t">
            <a:noAutofit/>
          </a:bodyPr>
          <a:lstStyle/>
          <a:p>
            <a:pPr>
              <a:lnSpc>
                <a:spcPct val="110000"/>
              </a:lnSpc>
            </a:pPr>
            <a:r>
              <a:rPr sz="1080" b="0" lang="es-CO">
                <a:solidFill>
                  <a:srgbClr val="071329"/>
                </a:solidFill>
                <a:latin typeface="Calibri"/>
              </a:rPr>
              <a:t>Igual, acotado a los thing groups de la flota</a:t>
            </a:r>
          </a:p>
        </p:txBody>
      </p:sp>
      <p:cxnSp>
        <p:nvCxnSpPr>
          <p:cNvPr id="78" name="Connector 77"/>
          <p:cNvCxnSpPr/>
          <p:nvPr/>
        </p:nvCxnSpPr>
        <p:spPr>
          <a:xfrm>
            <a:off x="640080" y="3814267"/>
            <a:ext cx="10911840" cy="0"/>
          </a:xfrm>
          <a:prstGeom prst="line">
            <a:avLst/>
          </a:prstGeom>
          <a:ln w="11430">
            <a:solidFill>
              <a:srgbClr val="D5DEEA"/>
            </a:solidFill>
          </a:ln>
        </p:spPr>
      </p:cxnSp>
      <p:sp>
        <p:nvSpPr>
          <p:cNvPr id="79" name="TextBox 78"/>
          <p:cNvSpPr txBox="1"/>
          <p:nvPr/>
        </p:nvSpPr>
        <p:spPr>
          <a:xfrm>
            <a:off x="640080" y="4042867"/>
            <a:ext cx="10911840" cy="469392"/>
          </a:xfrm>
          <a:prstGeom prst="rect">
            <a:avLst/>
          </a:prstGeom>
          <a:noFill/>
        </p:spPr>
        <p:txBody>
          <a:bodyPr wrap="square" lIns="0" tIns="0" rIns="0" bIns="0" anchor="t">
            <a:noAutofit/>
          </a:bodyPr>
          <a:lstStyle/>
          <a:p>
            <a:pPr>
              <a:lnSpc>
                <a:spcPct val="114800"/>
              </a:lnSpc>
            </a:pPr>
            <a:r>
              <a:rPr sz="1320" b="1" lang="es-CO">
                <a:solidFill>
                  <a:srgbClr val="071329"/>
                </a:solidFill>
                <a:latin typeface="Calibri"/>
              </a:rPr>
              <a:t>Lo que cobra:</a:t>
            </a:r>
            <a:r>
              <a:rPr sz="1320" b="0" lang="es-CO">
                <a:solidFill>
                  <a:srgbClr val="071329"/>
                </a:solidFill>
                <a:latin typeface="Calibri"/>
              </a:rPr>
              <a:t> la EC2 que hospeda las cinco bombas, los mensajes de IoT Core, los core devices de IoT Greengrass, CloudWatch y Lambda. </a:t>
            </a:r>
            <a:r>
              <a:rPr sz="1320" b="1" lang="es-CO">
                <a:solidFill>
                  <a:srgbClr val="071329"/>
                </a:solidFill>
                <a:latin typeface="Calibri"/>
              </a:rPr>
              <a:t>Para dejar de pagar:</a:t>
            </a:r>
            <a:r>
              <a:rPr sz="1320" b="0" lang="es-CO">
                <a:solidFill>
                  <a:srgbClr val="071329"/>
                </a:solidFill>
                <a:latin typeface="Calibri"/>
              </a:rPr>
              <a:t> </a:t>
            </a:r>
            <a:r>
              <a:rPr sz="1140" b="0" lang="es-CO">
                <a:solidFill>
                  <a:srgbClr val="071329"/>
                </a:solidFill>
                <a:latin typeface="Courier New"/>
              </a:rPr>
              <a:t>infra</a:t>
            </a:r>
            <a:r>
              <a:rPr sz="1320" b="0" lang="es-CO">
                <a:solidFill>
                  <a:srgbClr val="071329"/>
                </a:solidFill>
                <a:latin typeface="Calibri"/>
              </a:rPr>
              <a:t> → Run workflow → </a:t>
            </a:r>
            <a:r>
              <a:rPr sz="1140" b="0" lang="es-CO">
                <a:solidFill>
                  <a:srgbClr val="071329"/>
                </a:solidFill>
                <a:latin typeface="Courier New"/>
              </a:rPr>
              <a:t>destroy</a:t>
            </a:r>
            <a:r>
              <a:rPr sz="1320" b="0" lang="es-CO">
                <a:solidFill>
                  <a:srgbClr val="071329"/>
                </a:solidFill>
                <a:latin typeface="Calibri"/>
              </a:rPr>
              <a:t>.</a:t>
            </a:r>
          </a:p>
        </p:txBody>
      </p:sp>
      <p:sp>
        <p:nvSpPr>
          <p:cNvPr id="80"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poc-devopsdays/cloud · poc-devopsdays/fleet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De la demo </a:t>
            </a:r>
            <a:r>
              <a:rPr b="1" lang="es-CO">
                <a:solidFill>
                  <a:srgbClr val="6D28D9"/>
                </a:solidFill>
              </a:rPr>
              <a:t>a producción</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3048000" cy="167640"/>
          </a:xfrm>
          <a:prstGeom prst="rect">
            <a:avLst/>
          </a:prstGeom>
          <a:noFill/>
        </p:spPr>
        <p:txBody>
          <a:bodyPr wrap="square" lIns="0" tIns="0" rIns="0" bIns="0" anchor="t">
            <a:noAutofit/>
          </a:bodyPr>
          <a:lstStyle/>
          <a:p>
            <a:r>
              <a:rPr sz="900" b="1" spc="90" lang="es-CO">
                <a:solidFill>
                  <a:srgbClr val="5C7290"/>
                </a:solidFill>
                <a:latin typeface="Calibri"/>
              </a:rPr>
              <a:t>EN LA DEMO</a:t>
            </a:r>
          </a:p>
        </p:txBody>
      </p:sp>
      <p:sp>
        <p:nvSpPr>
          <p:cNvPr id="55" name="TextBox 54"/>
          <p:cNvSpPr txBox="1"/>
          <p:nvPr/>
        </p:nvSpPr>
        <p:spPr>
          <a:xfrm>
            <a:off x="4450080" y="1798320"/>
            <a:ext cx="6858000" cy="167640"/>
          </a:xfrm>
          <a:prstGeom prst="rect">
            <a:avLst/>
          </a:prstGeom>
          <a:noFill/>
        </p:spPr>
        <p:txBody>
          <a:bodyPr wrap="square" lIns="0" tIns="0" rIns="0" bIns="0" anchor="t">
            <a:noAutofit/>
          </a:bodyPr>
          <a:lstStyle/>
          <a:p>
            <a:r>
              <a:rPr sz="900" b="1" spc="90" lang="es-CO">
                <a:solidFill>
                  <a:srgbClr val="5C7290"/>
                </a:solidFill>
                <a:latin typeface="Calibri"/>
              </a:rPr>
              <a:t>EN PRODUCCIÓN</a:t>
            </a:r>
          </a:p>
        </p:txBody>
      </p:sp>
      <p:cxnSp>
        <p:nvCxnSpPr>
          <p:cNvPr id="56" name="Connector 55"/>
          <p:cNvCxnSpPr/>
          <p:nvPr/>
        </p:nvCxnSpPr>
        <p:spPr>
          <a:xfrm>
            <a:off x="640080" y="2057400"/>
            <a:ext cx="10911840" cy="0"/>
          </a:xfrm>
          <a:prstGeom prst="line">
            <a:avLst/>
          </a:prstGeom>
          <a:ln w="11430">
            <a:solidFill>
              <a:srgbClr val="D5DEEA"/>
            </a:solidFill>
          </a:ln>
        </p:spPr>
      </p:cxnSp>
      <p:sp>
        <p:nvSpPr>
          <p:cNvPr id="57" name="TextBox 56"/>
          <p:cNvSpPr txBox="1"/>
          <p:nvPr/>
        </p:nvSpPr>
        <p:spPr>
          <a:xfrm>
            <a:off x="640080" y="2209800"/>
            <a:ext cx="3200400" cy="278892"/>
          </a:xfrm>
          <a:prstGeom prst="rect">
            <a:avLst/>
          </a:prstGeom>
          <a:noFill/>
        </p:spPr>
        <p:txBody>
          <a:bodyPr wrap="square" lIns="0" tIns="0" rIns="0" bIns="0" anchor="t">
            <a:noAutofit/>
          </a:bodyPr>
          <a:lstStyle/>
          <a:p>
            <a:r>
              <a:rPr sz="1800" b="0" lang="es-CO">
                <a:solidFill>
                  <a:srgbClr val="071329"/>
                </a:solidFill>
                <a:latin typeface="Calibri"/>
              </a:rPr>
              <a:t>Un evento por clip escuchado</a:t>
            </a:r>
          </a:p>
        </p:txBody>
      </p:sp>
      <p:sp>
        <p:nvSpPr>
          <p:cNvPr id="58" name="TextBox 57"/>
          <p:cNvSpPr txBox="1"/>
          <p:nvPr/>
        </p:nvSpPr>
        <p:spPr>
          <a:xfrm>
            <a:off x="3840480" y="2209800"/>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59" name="TextBox 58"/>
          <p:cNvSpPr txBox="1"/>
          <p:nvPr/>
        </p:nvSpPr>
        <p:spPr>
          <a:xfrm>
            <a:off x="4450080" y="2209800"/>
            <a:ext cx="7101840" cy="278892"/>
          </a:xfrm>
          <a:prstGeom prst="rect">
            <a:avLst/>
          </a:prstGeom>
          <a:noFill/>
        </p:spPr>
        <p:txBody>
          <a:bodyPr wrap="square" lIns="0" tIns="0" rIns="0" bIns="0" anchor="t">
            <a:noAutofit/>
          </a:bodyPr>
          <a:lstStyle/>
          <a:p>
            <a:r>
              <a:rPr sz="1800" b="1" lang="es-CO">
                <a:solidFill>
                  <a:srgbClr val="071329"/>
                </a:solidFill>
                <a:latin typeface="Calibri"/>
              </a:rPr>
              <a:t>Un resumen por minuto + el detalle cuando algo cambia</a:t>
            </a:r>
          </a:p>
        </p:txBody>
      </p:sp>
      <p:cxnSp>
        <p:nvCxnSpPr>
          <p:cNvPr id="60" name="Connector 59"/>
          <p:cNvCxnSpPr/>
          <p:nvPr/>
        </p:nvCxnSpPr>
        <p:spPr>
          <a:xfrm>
            <a:off x="640080" y="2641092"/>
            <a:ext cx="10911840" cy="0"/>
          </a:xfrm>
          <a:prstGeom prst="line">
            <a:avLst/>
          </a:prstGeom>
          <a:ln w="11430">
            <a:solidFill>
              <a:srgbClr val="D5DEEA"/>
            </a:solidFill>
          </a:ln>
        </p:spPr>
      </p:cxnSp>
      <p:sp>
        <p:nvSpPr>
          <p:cNvPr id="61" name="TextBox 60"/>
          <p:cNvSpPr txBox="1"/>
          <p:nvPr/>
        </p:nvSpPr>
        <p:spPr>
          <a:xfrm>
            <a:off x="640080" y="2793492"/>
            <a:ext cx="3200400" cy="278892"/>
          </a:xfrm>
          <a:prstGeom prst="rect">
            <a:avLst/>
          </a:prstGeom>
          <a:noFill/>
        </p:spPr>
        <p:txBody>
          <a:bodyPr wrap="square" lIns="0" tIns="0" rIns="0" bIns="0" anchor="t">
            <a:noAutofit/>
          </a:bodyPr>
          <a:lstStyle/>
          <a:p>
            <a:r>
              <a:rPr sz="1800" b="0" lang="es-CO">
                <a:solidFill>
                  <a:srgbClr val="071329"/>
                </a:solidFill>
                <a:latin typeface="Calibri"/>
              </a:rPr>
              <a:t>Cola en memoria</a:t>
            </a:r>
          </a:p>
        </p:txBody>
      </p:sp>
      <p:sp>
        <p:nvSpPr>
          <p:cNvPr id="62" name="TextBox 61"/>
          <p:cNvSpPr txBox="1"/>
          <p:nvPr/>
        </p:nvSpPr>
        <p:spPr>
          <a:xfrm>
            <a:off x="3840480" y="2793492"/>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3" name="TextBox 62"/>
          <p:cNvSpPr txBox="1"/>
          <p:nvPr/>
        </p:nvSpPr>
        <p:spPr>
          <a:xfrm>
            <a:off x="4450080" y="2793492"/>
            <a:ext cx="7101840" cy="278892"/>
          </a:xfrm>
          <a:prstGeom prst="rect">
            <a:avLst/>
          </a:prstGeom>
          <a:noFill/>
        </p:spPr>
        <p:txBody>
          <a:bodyPr wrap="square" lIns="0" tIns="0" rIns="0" bIns="0" anchor="t">
            <a:noAutofit/>
          </a:bodyPr>
          <a:lstStyle/>
          <a:p>
            <a:r>
              <a:rPr sz="1800" b="1" lang="es-CO">
                <a:solidFill>
                  <a:srgbClr val="071329"/>
                </a:solidFill>
                <a:latin typeface="Calibri"/>
              </a:rPr>
              <a:t>Cola en disco (DiskSpooler), con tope y prioridad</a:t>
            </a:r>
          </a:p>
        </p:txBody>
      </p:sp>
      <p:cxnSp>
        <p:nvCxnSpPr>
          <p:cNvPr id="64" name="Connector 63"/>
          <p:cNvCxnSpPr/>
          <p:nvPr/>
        </p:nvCxnSpPr>
        <p:spPr>
          <a:xfrm>
            <a:off x="640080" y="3224784"/>
            <a:ext cx="10911840" cy="0"/>
          </a:xfrm>
          <a:prstGeom prst="line">
            <a:avLst/>
          </a:prstGeom>
          <a:ln w="11430">
            <a:solidFill>
              <a:srgbClr val="D5DEEA"/>
            </a:solidFill>
          </a:ln>
        </p:spPr>
      </p:cxnSp>
      <p:sp>
        <p:nvSpPr>
          <p:cNvPr id="65" name="TextBox 64"/>
          <p:cNvSpPr txBox="1"/>
          <p:nvPr/>
        </p:nvSpPr>
        <p:spPr>
          <a:xfrm>
            <a:off x="640080" y="3377184"/>
            <a:ext cx="3200400" cy="278892"/>
          </a:xfrm>
          <a:prstGeom prst="rect">
            <a:avLst/>
          </a:prstGeom>
          <a:noFill/>
        </p:spPr>
        <p:txBody>
          <a:bodyPr wrap="square" lIns="0" tIns="0" rIns="0" bIns="0" anchor="t">
            <a:noAutofit/>
          </a:bodyPr>
          <a:lstStyle/>
          <a:p>
            <a:r>
              <a:rPr sz="1800" b="0" lang="es-CO">
                <a:solidFill>
                  <a:srgbClr val="071329"/>
                </a:solidFill>
                <a:latin typeface="Calibri"/>
              </a:rPr>
              <a:t>El nucleus en un contenedor</a:t>
            </a:r>
          </a:p>
        </p:txBody>
      </p:sp>
      <p:sp>
        <p:nvSpPr>
          <p:cNvPr id="66" name="TextBox 65"/>
          <p:cNvSpPr txBox="1"/>
          <p:nvPr/>
        </p:nvSpPr>
        <p:spPr>
          <a:xfrm>
            <a:off x="3840480" y="3377184"/>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67" name="TextBox 66"/>
          <p:cNvSpPr txBox="1"/>
          <p:nvPr/>
        </p:nvSpPr>
        <p:spPr>
          <a:xfrm>
            <a:off x="4450080" y="3377184"/>
            <a:ext cx="7101840" cy="278892"/>
          </a:xfrm>
          <a:prstGeom prst="rect">
            <a:avLst/>
          </a:prstGeom>
          <a:noFill/>
        </p:spPr>
        <p:txBody>
          <a:bodyPr wrap="square" lIns="0" tIns="0" rIns="0" bIns="0" anchor="t">
            <a:noAutofit/>
          </a:bodyPr>
          <a:lstStyle/>
          <a:p>
            <a:r>
              <a:rPr sz="1800" b="1" lang="es-CO">
                <a:solidFill>
                  <a:srgbClr val="071329"/>
                </a:solidFill>
                <a:latin typeface="Calibri"/>
              </a:rPr>
              <a:t>Nucleus lite en el equipo pequeño</a:t>
            </a:r>
          </a:p>
        </p:txBody>
      </p:sp>
      <p:cxnSp>
        <p:nvCxnSpPr>
          <p:cNvPr id="68" name="Connector 67"/>
          <p:cNvCxnSpPr/>
          <p:nvPr/>
        </p:nvCxnSpPr>
        <p:spPr>
          <a:xfrm>
            <a:off x="640080" y="3808476"/>
            <a:ext cx="10911840" cy="0"/>
          </a:xfrm>
          <a:prstGeom prst="line">
            <a:avLst/>
          </a:prstGeom>
          <a:ln w="11430">
            <a:solidFill>
              <a:srgbClr val="D5DEEA"/>
            </a:solidFill>
          </a:ln>
        </p:spPr>
      </p:cxnSp>
      <p:sp>
        <p:nvSpPr>
          <p:cNvPr id="69" name="TextBox 68"/>
          <p:cNvSpPr txBox="1"/>
          <p:nvPr/>
        </p:nvSpPr>
        <p:spPr>
          <a:xfrm>
            <a:off x="640080" y="3960876"/>
            <a:ext cx="3200400" cy="278892"/>
          </a:xfrm>
          <a:prstGeom prst="rect">
            <a:avLst/>
          </a:prstGeom>
          <a:noFill/>
        </p:spPr>
        <p:txBody>
          <a:bodyPr wrap="square" lIns="0" tIns="0" rIns="0" bIns="0" anchor="t">
            <a:noAutofit/>
          </a:bodyPr>
          <a:lstStyle/>
          <a:p>
            <a:r>
              <a:rPr sz="1800" b="0" lang="es-CO">
                <a:solidFill>
                  <a:srgbClr val="071329"/>
                </a:solidFill>
                <a:latin typeface="Calibri"/>
              </a:rPr>
              <a:t>Un ring de una estación</a:t>
            </a:r>
          </a:p>
        </p:txBody>
      </p:sp>
      <p:sp>
        <p:nvSpPr>
          <p:cNvPr id="70" name="TextBox 69"/>
          <p:cNvSpPr txBox="1"/>
          <p:nvPr/>
        </p:nvSpPr>
        <p:spPr>
          <a:xfrm>
            <a:off x="3840480" y="3960876"/>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1" name="TextBox 70"/>
          <p:cNvSpPr txBox="1"/>
          <p:nvPr/>
        </p:nvSpPr>
        <p:spPr>
          <a:xfrm>
            <a:off x="4450080" y="3960876"/>
            <a:ext cx="7101840" cy="278892"/>
          </a:xfrm>
          <a:prstGeom prst="rect">
            <a:avLst/>
          </a:prstGeom>
          <a:noFill/>
        </p:spPr>
        <p:txBody>
          <a:bodyPr wrap="square" lIns="0" tIns="0" rIns="0" bIns="0" anchor="t">
            <a:noAutofit/>
          </a:bodyPr>
          <a:lstStyle/>
          <a:p>
            <a:r>
              <a:rPr sz="1800" b="1" lang="es-CO">
                <a:solidFill>
                  <a:srgbClr val="071329"/>
                </a:solidFill>
                <a:latin typeface="Calibri"/>
              </a:rPr>
              <a:t>Gate: canary contra ring, pasa si el modelo sigue oyendo</a:t>
            </a:r>
          </a:p>
        </p:txBody>
      </p:sp>
      <p:cxnSp>
        <p:nvCxnSpPr>
          <p:cNvPr id="72" name="Connector 71"/>
          <p:cNvCxnSpPr/>
          <p:nvPr/>
        </p:nvCxnSpPr>
        <p:spPr>
          <a:xfrm>
            <a:off x="640080" y="4392168"/>
            <a:ext cx="10911840" cy="0"/>
          </a:xfrm>
          <a:prstGeom prst="line">
            <a:avLst/>
          </a:prstGeom>
          <a:ln w="11430">
            <a:solidFill>
              <a:srgbClr val="D5DEEA"/>
            </a:solidFill>
          </a:ln>
        </p:spPr>
      </p:cxnSp>
      <p:sp>
        <p:nvSpPr>
          <p:cNvPr id="73" name="TextBox 72"/>
          <p:cNvSpPr txBox="1"/>
          <p:nvPr/>
        </p:nvSpPr>
        <p:spPr>
          <a:xfrm>
            <a:off x="640080" y="4544568"/>
            <a:ext cx="3200400" cy="278892"/>
          </a:xfrm>
          <a:prstGeom prst="rect">
            <a:avLst/>
          </a:prstGeom>
          <a:noFill/>
        </p:spPr>
        <p:txBody>
          <a:bodyPr wrap="square" lIns="0" tIns="0" rIns="0" bIns="0" anchor="t">
            <a:noAutofit/>
          </a:bodyPr>
          <a:lstStyle/>
          <a:p>
            <a:r>
              <a:rPr sz="1800" b="0" lang="es-CO">
                <a:solidFill>
                  <a:srgbClr val="071329"/>
                </a:solidFill>
                <a:latin typeface="Calibri"/>
              </a:rPr>
              <a:t>Sabemos qué audio suena</a:t>
            </a:r>
          </a:p>
        </p:txBody>
      </p:sp>
      <p:sp>
        <p:nvSpPr>
          <p:cNvPr id="74" name="TextBox 73"/>
          <p:cNvSpPr txBox="1"/>
          <p:nvPr/>
        </p:nvSpPr>
        <p:spPr>
          <a:xfrm>
            <a:off x="3840480" y="4544568"/>
            <a:ext cx="457200" cy="304800"/>
          </a:xfrm>
          <a:prstGeom prst="rect">
            <a:avLst/>
          </a:prstGeom>
          <a:noFill/>
        </p:spPr>
        <p:txBody>
          <a:bodyPr wrap="square" lIns="0" tIns="0" rIns="0" bIns="0" anchor="t">
            <a:noAutofit/>
          </a:bodyPr>
          <a:lstStyle/>
          <a:p>
            <a:r>
              <a:rPr sz="1800" b="0" lang="es-CO">
                <a:solidFill>
                  <a:srgbClr val="5C7290"/>
                </a:solidFill>
                <a:latin typeface="Calibri"/>
              </a:rPr>
              <a:t>→</a:t>
            </a:r>
          </a:p>
        </p:txBody>
      </p:sp>
      <p:sp>
        <p:nvSpPr>
          <p:cNvPr id="75" name="TextBox 74"/>
          <p:cNvSpPr txBox="1"/>
          <p:nvPr/>
        </p:nvSpPr>
        <p:spPr>
          <a:xfrm>
            <a:off x="4450080" y="4544568"/>
            <a:ext cx="7101840" cy="278892"/>
          </a:xfrm>
          <a:prstGeom prst="rect">
            <a:avLst/>
          </a:prstGeom>
          <a:noFill/>
        </p:spPr>
        <p:txBody>
          <a:bodyPr wrap="square" lIns="0" tIns="0" rIns="0" bIns="0" anchor="t">
            <a:noAutofit/>
          </a:bodyPr>
          <a:lstStyle/>
          <a:p>
            <a:r>
              <a:rPr sz="1800" b="1" lang="es-CO">
                <a:solidFill>
                  <a:srgbClr val="071329"/>
                </a:solidFill>
                <a:latin typeface="Calibri"/>
              </a:rPr>
              <a:t>Etiquetas tardías: la orden de mantenimiento dice cuándo fue falla</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¿Qué método de drift </a:t>
            </a:r>
            <a:r>
              <a:rPr b="1" lang="es-CO">
                <a:solidFill>
                  <a:srgbClr val="6D28D9"/>
                </a:solidFill>
              </a:rPr>
              <a:t>uso</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98320"/>
            <a:ext cx="2248205" cy="167640"/>
          </a:xfrm>
          <a:prstGeom prst="rect">
            <a:avLst/>
          </a:prstGeom>
          <a:noFill/>
        </p:spPr>
        <p:txBody>
          <a:bodyPr wrap="square" lIns="0" tIns="0" rIns="0" bIns="0" anchor="t">
            <a:noAutofit/>
          </a:bodyPr>
          <a:lstStyle/>
          <a:p>
            <a:r>
              <a:rPr sz="900" b="1" spc="90" lang="es-CO">
                <a:solidFill>
                  <a:srgbClr val="5C7290"/>
                </a:solidFill>
                <a:latin typeface="Calibri"/>
              </a:rPr>
              <a:t>MÉTODO</a:t>
            </a:r>
          </a:p>
        </p:txBody>
      </p:sp>
      <p:sp>
        <p:nvSpPr>
          <p:cNvPr id="55" name="TextBox 54"/>
          <p:cNvSpPr txBox="1"/>
          <p:nvPr/>
        </p:nvSpPr>
        <p:spPr>
          <a:xfrm>
            <a:off x="3040685" y="1798320"/>
            <a:ext cx="4212336" cy="167640"/>
          </a:xfrm>
          <a:prstGeom prst="rect">
            <a:avLst/>
          </a:prstGeom>
          <a:noFill/>
        </p:spPr>
        <p:txBody>
          <a:bodyPr wrap="square" lIns="0" tIns="0" rIns="0" bIns="0" anchor="t">
            <a:noAutofit/>
          </a:bodyPr>
          <a:lstStyle/>
          <a:p>
            <a:r>
              <a:rPr sz="900" b="1" spc="90" lang="es-CO">
                <a:solidFill>
                  <a:srgbClr val="5C7290"/>
                </a:solidFill>
                <a:latin typeface="Calibri"/>
              </a:rPr>
              <a:t>PARA QUÉ</a:t>
            </a:r>
          </a:p>
        </p:txBody>
      </p:sp>
      <p:sp>
        <p:nvSpPr>
          <p:cNvPr id="56" name="TextBox 55"/>
          <p:cNvSpPr txBox="1"/>
          <p:nvPr/>
        </p:nvSpPr>
        <p:spPr>
          <a:xfrm>
            <a:off x="7405421" y="1798320"/>
            <a:ext cx="3994099" cy="167640"/>
          </a:xfrm>
          <a:prstGeom prst="rect">
            <a:avLst/>
          </a:prstGeom>
          <a:noFill/>
        </p:spPr>
        <p:txBody>
          <a:bodyPr wrap="square" lIns="0" tIns="0" rIns="0" bIns="0" anchor="t">
            <a:noAutofit/>
          </a:bodyPr>
          <a:lstStyle/>
          <a:p>
            <a:r>
              <a:rPr sz="900" b="1" spc="90" lang="es-CO">
                <a:solidFill>
                  <a:srgbClr val="5C7290"/>
                </a:solidFill>
                <a:latin typeface="Calibri"/>
              </a:rPr>
              <a:t>CUIDADO</a:t>
            </a:r>
          </a:p>
        </p:txBody>
      </p:sp>
      <p:cxnSp>
        <p:nvCxnSpPr>
          <p:cNvPr id="57" name="Connector 56"/>
          <p:cNvCxnSpPr/>
          <p:nvPr/>
        </p:nvCxnSpPr>
        <p:spPr>
          <a:xfrm>
            <a:off x="640080" y="2057400"/>
            <a:ext cx="10911840" cy="0"/>
          </a:xfrm>
          <a:prstGeom prst="line">
            <a:avLst/>
          </a:prstGeom>
          <a:ln w="11430">
            <a:solidFill>
              <a:srgbClr val="D5DEEA"/>
            </a:solidFill>
          </a:ln>
        </p:spPr>
      </p:cxnSp>
      <p:sp>
        <p:nvSpPr>
          <p:cNvPr id="58" name="TextBox 57"/>
          <p:cNvSpPr txBox="1"/>
          <p:nvPr/>
        </p:nvSpPr>
        <p:spPr>
          <a:xfrm>
            <a:off x="640080" y="2179320"/>
            <a:ext cx="2248205" cy="442570"/>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PSI</a:t>
            </a:r>
          </a:p>
        </p:txBody>
      </p:sp>
      <p:sp>
        <p:nvSpPr>
          <p:cNvPr id="59" name="TextBox 58"/>
          <p:cNvSpPr txBox="1"/>
          <p:nvPr/>
        </p:nvSpPr>
        <p:spPr>
          <a:xfrm>
            <a:off x="3040685" y="2179320"/>
            <a:ext cx="4212336"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por rangos o categorías; muy usado en riesgo de crédito</a:t>
            </a:r>
          </a:p>
        </p:txBody>
      </p:sp>
      <p:sp>
        <p:nvSpPr>
          <p:cNvPr id="60" name="TextBox 59"/>
          <p:cNvSpPr txBox="1"/>
          <p:nvPr/>
        </p:nvSpPr>
        <p:spPr>
          <a:xfrm>
            <a:off x="7405421" y="2179320"/>
            <a:ext cx="3994099" cy="442570"/>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Los umbrales 0,1 y 0,25 son costumbre, no estadística; se rompe con rangos vacíos</a:t>
            </a:r>
          </a:p>
        </p:txBody>
      </p:sp>
      <p:cxnSp>
        <p:nvCxnSpPr>
          <p:cNvPr id="61" name="Connector 60"/>
          <p:cNvCxnSpPr/>
          <p:nvPr/>
        </p:nvCxnSpPr>
        <p:spPr>
          <a:xfrm>
            <a:off x="640080" y="2743810"/>
            <a:ext cx="10911840" cy="0"/>
          </a:xfrm>
          <a:prstGeom prst="line">
            <a:avLst/>
          </a:prstGeom>
          <a:ln w="11430">
            <a:solidFill>
              <a:srgbClr val="D5DEEA"/>
            </a:solidFill>
          </a:ln>
        </p:spPr>
      </p:cxnSp>
      <p:sp>
        <p:nvSpPr>
          <p:cNvPr id="62" name="TextBox 61"/>
          <p:cNvSpPr txBox="1"/>
          <p:nvPr/>
        </p:nvSpPr>
        <p:spPr>
          <a:xfrm>
            <a:off x="640080" y="2865730"/>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Kolmogorov-Smirnov</a:t>
            </a:r>
          </a:p>
        </p:txBody>
      </p:sp>
      <p:sp>
        <p:nvSpPr>
          <p:cNvPr id="63" name="TextBox 62"/>
          <p:cNvSpPr txBox="1"/>
          <p:nvPr/>
        </p:nvSpPr>
        <p:spPr>
          <a:xfrm>
            <a:off x="3040685" y="2865730"/>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pequeñas</a:t>
            </a:r>
          </a:p>
        </p:txBody>
      </p:sp>
      <p:sp>
        <p:nvSpPr>
          <p:cNvPr id="64" name="TextBox 63"/>
          <p:cNvSpPr txBox="1"/>
          <p:nvPr/>
        </p:nvSpPr>
        <p:spPr>
          <a:xfrm>
            <a:off x="7405421" y="2865730"/>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Con muchos datos da falsas alarmas</a:t>
            </a:r>
          </a:p>
        </p:txBody>
      </p:sp>
      <p:cxnSp>
        <p:nvCxnSpPr>
          <p:cNvPr id="65" name="Connector 64"/>
          <p:cNvCxnSpPr/>
          <p:nvPr/>
        </p:nvCxnSpPr>
        <p:spPr>
          <a:xfrm>
            <a:off x="640080" y="3208934"/>
            <a:ext cx="10911840" cy="0"/>
          </a:xfrm>
          <a:prstGeom prst="line">
            <a:avLst/>
          </a:prstGeom>
          <a:ln w="11430">
            <a:solidFill>
              <a:srgbClr val="D5DEEA"/>
            </a:solidFill>
          </a:ln>
        </p:spPr>
      </p:cxnSp>
      <p:sp>
        <p:nvSpPr>
          <p:cNvPr id="66" name="TextBox 65"/>
          <p:cNvSpPr txBox="1"/>
          <p:nvPr/>
        </p:nvSpPr>
        <p:spPr>
          <a:xfrm>
            <a:off x="640080" y="3330854"/>
            <a:ext cx="2248205" cy="221285"/>
          </a:xfrm>
          <a:prstGeom prst="rect">
            <a:avLst/>
          </a:prstGeom>
          <a:noFill/>
        </p:spPr>
        <p:txBody>
          <a:bodyPr wrap="square" lIns="0" tIns="0" rIns="0" bIns="0" anchor="t">
            <a:noAutofit/>
          </a:bodyPr>
          <a:lstStyle/>
          <a:p>
            <a:pPr>
              <a:lnSpc>
                <a:spcPct val="110000"/>
              </a:lnSpc>
            </a:pPr>
            <a:r>
              <a:rPr sz="1320" b="1" lang="es-CO">
                <a:solidFill>
                  <a:srgbClr val="071329"/>
                </a:solidFill>
                <a:latin typeface="Calibri"/>
              </a:rPr>
              <a:t>Wasserstein</a:t>
            </a:r>
          </a:p>
        </p:txBody>
      </p:sp>
      <p:sp>
        <p:nvSpPr>
          <p:cNvPr id="67" name="TextBox 66"/>
          <p:cNvSpPr txBox="1"/>
          <p:nvPr/>
        </p:nvSpPr>
        <p:spPr>
          <a:xfrm>
            <a:off x="3040685" y="3330854"/>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Variables numéricas, muestras grandes: cuánto se movió</a:t>
            </a:r>
          </a:p>
        </p:txBody>
      </p:sp>
      <p:sp>
        <p:nvSpPr>
          <p:cNvPr id="68" name="TextBox 67"/>
          <p:cNvSpPr txBox="1"/>
          <p:nvPr/>
        </p:nvSpPr>
        <p:spPr>
          <a:xfrm>
            <a:off x="7405421" y="3330854"/>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Sensible a valores extremos</a:t>
            </a:r>
          </a:p>
        </p:txBody>
      </p:sp>
      <p:cxnSp>
        <p:nvCxnSpPr>
          <p:cNvPr id="69" name="Connector 68"/>
          <p:cNvCxnSpPr/>
          <p:nvPr/>
        </p:nvCxnSpPr>
        <p:spPr>
          <a:xfrm>
            <a:off x="640080" y="3674059"/>
            <a:ext cx="10911840" cy="0"/>
          </a:xfrm>
          <a:prstGeom prst="line">
            <a:avLst/>
          </a:prstGeom>
          <a:ln w="15240">
            <a:solidFill>
              <a:srgbClr val="6D28D9"/>
            </a:solidFill>
          </a:ln>
        </p:spPr>
      </p:cxnSp>
      <p:sp>
        <p:nvSpPr>
          <p:cNvPr id="70" name="TextBox 69"/>
          <p:cNvSpPr txBox="1"/>
          <p:nvPr/>
        </p:nvSpPr>
        <p:spPr>
          <a:xfrm>
            <a:off x="640080" y="3795979"/>
            <a:ext cx="2248205" cy="221285"/>
          </a:xfrm>
          <a:prstGeom prst="rect">
            <a:avLst/>
          </a:prstGeom>
          <a:noFill/>
        </p:spPr>
        <p:txBody>
          <a:bodyPr wrap="square" lIns="0" tIns="0" rIns="0" bIns="0" anchor="t">
            <a:noAutofit/>
          </a:bodyPr>
          <a:lstStyle/>
          <a:p>
            <a:pPr>
              <a:lnSpc>
                <a:spcPct val="110000"/>
              </a:lnSpc>
            </a:pPr>
            <a:r>
              <a:rPr sz="1320" b="1" lang="es-CO">
                <a:solidFill>
                  <a:srgbClr val="6D28D9"/>
                </a:solidFill>
                <a:latin typeface="Calibri"/>
              </a:rPr>
              <a:t>Jensen-Shannon</a:t>
            </a:r>
          </a:p>
        </p:txBody>
      </p:sp>
      <p:sp>
        <p:nvSpPr>
          <p:cNvPr id="71" name="TextBox 70"/>
          <p:cNvSpPr txBox="1"/>
          <p:nvPr/>
        </p:nvSpPr>
        <p:spPr>
          <a:xfrm>
            <a:off x="3040685" y="3795979"/>
            <a:ext cx="4212336"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Numéricas y categóricas; acotada entre 0 y 1</a:t>
            </a:r>
          </a:p>
        </p:txBody>
      </p:sp>
      <p:sp>
        <p:nvSpPr>
          <p:cNvPr id="72" name="TextBox 71"/>
          <p:cNvSpPr txBox="1"/>
          <p:nvPr/>
        </p:nvSpPr>
        <p:spPr>
          <a:xfrm>
            <a:off x="7405421" y="3795979"/>
            <a:ext cx="3994099" cy="221285"/>
          </a:xfrm>
          <a:prstGeom prst="rect">
            <a:avLst/>
          </a:prstGeom>
          <a:noFill/>
        </p:spPr>
        <p:txBody>
          <a:bodyPr wrap="square" lIns="0" tIns="0" rIns="0" bIns="0" anchor="t">
            <a:noAutofit/>
          </a:bodyPr>
          <a:lstStyle/>
          <a:p>
            <a:pPr>
              <a:lnSpc>
                <a:spcPct val="110000"/>
              </a:lnSpc>
            </a:pPr>
            <a:r>
              <a:rPr sz="1320" b="0" lang="es-CO">
                <a:solidFill>
                  <a:srgbClr val="071329"/>
                </a:solidFill>
                <a:latin typeface="Calibri"/>
              </a:rPr>
              <a:t>No distingue un drift fuerte de uno extremo</a:t>
            </a:r>
          </a:p>
        </p:txBody>
      </p:sp>
      <p:cxnSp>
        <p:nvCxnSpPr>
          <p:cNvPr id="73" name="Connector 72"/>
          <p:cNvCxnSpPr/>
          <p:nvPr/>
        </p:nvCxnSpPr>
        <p:spPr>
          <a:xfrm>
            <a:off x="640080" y="4139184"/>
            <a:ext cx="10911840" cy="0"/>
          </a:xfrm>
          <a:prstGeom prst="line">
            <a:avLst/>
          </a:prstGeom>
          <a:ln w="11430">
            <a:solidFill>
              <a:srgbClr val="D5DEEA"/>
            </a:solidFill>
          </a:ln>
        </p:spPr>
      </p:cxnSp>
      <p:sp>
        <p:nvSpPr>
          <p:cNvPr id="74"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Documentación de Evidently (métodos de data drift) y NannyML (comparación de métodos univariados) · crítica a los umbrales del PSI: arXiv:2303.01227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Regulación: ¿quién más te va a pedir </a:t>
            </a:r>
            <a:r>
              <a:rPr b="1" lang="es-CO">
                <a:solidFill>
                  <a:srgbClr val="6D28D9"/>
                </a:solidFill>
              </a:rPr>
              <a:t>cuentas</a:t>
            </a:r>
            <a:r>
              <a:rPr lang="es-CO"/>
              <a:t>?</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Rectangle 53"/>
          <p:cNvSpPr/>
          <p:nvPr/>
        </p:nvSpPr>
        <p:spPr>
          <a:xfrm>
            <a:off x="640080" y="1828800"/>
            <a:ext cx="3474720" cy="2819400"/>
          </a:xfrm>
          <a:prstGeom prst="rect">
            <a:avLst/>
          </a:prstGeom>
          <a:solidFill>
            <a:srgbClr val="FFFFFF"/>
          </a:solidFill>
          <a:ln w="11430">
            <a:solidFill>
              <a:srgbClr val="D5DEEA"/>
            </a:solidFill>
          </a:ln>
        </p:spPr>
        <p:txBody>
          <a:bodyPr rtlCol="0" anchor="ctr"/>
          <a:lstStyle/>
          <a:p>
            <a:pPr algn="ctr"/>
          </a:p>
        </p:txBody>
      </p:sp>
      <p:sp>
        <p:nvSpPr>
          <p:cNvPr id="55" name="TextBox 54"/>
          <p:cNvSpPr txBox="1"/>
          <p:nvPr/>
        </p:nvSpPr>
        <p:spPr>
          <a:xfrm>
            <a:off x="85344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UNIÓN EUROPEA · AI ACT</a:t>
            </a:r>
          </a:p>
        </p:txBody>
      </p:sp>
      <p:sp>
        <p:nvSpPr>
          <p:cNvPr id="56" name="TextBox 55"/>
          <p:cNvSpPr txBox="1"/>
          <p:nvPr/>
        </p:nvSpPr>
        <p:spPr>
          <a:xfrm>
            <a:off x="85344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Registros automáticos </a:t>
            </a:r>
            <a:r>
              <a:rPr sz="1800" b="1" lang="es-CO">
                <a:solidFill>
                  <a:srgbClr val="6D28D9"/>
                </a:solidFill>
                <a:latin typeface="Calibri"/>
              </a:rPr>
              <a:t>durante toda la vida</a:t>
            </a:r>
            <a:r>
              <a:rPr sz="1800" b="1" lang="es-CO">
                <a:solidFill>
                  <a:srgbClr val="071329"/>
                </a:solidFill>
                <a:latin typeface="Calibri"/>
              </a:rPr>
              <a:t> del sistema</a:t>
            </a:r>
          </a:p>
        </p:txBody>
      </p:sp>
      <p:cxnSp>
        <p:nvCxnSpPr>
          <p:cNvPr id="57" name="Connector 56"/>
          <p:cNvCxnSpPr/>
          <p:nvPr/>
        </p:nvCxnSpPr>
        <p:spPr>
          <a:xfrm>
            <a:off x="853440" y="2926080"/>
            <a:ext cx="3048000" cy="0"/>
          </a:xfrm>
          <a:prstGeom prst="line">
            <a:avLst/>
          </a:prstGeom>
          <a:ln w="11430">
            <a:solidFill>
              <a:srgbClr val="D5DEEA"/>
            </a:solidFill>
          </a:ln>
        </p:spPr>
      </p:cxnSp>
      <p:sp>
        <p:nvSpPr>
          <p:cNvPr id="58" name="TextBox 57"/>
          <p:cNvSpPr txBox="1"/>
          <p:nvPr/>
        </p:nvSpPr>
        <p:spPr>
          <a:xfrm>
            <a:off x="85344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12 · el sistema registra eventos solo</a:t>
            </a:r>
          </a:p>
        </p:txBody>
      </p:sp>
      <p:cxnSp>
        <p:nvCxnSpPr>
          <p:cNvPr id="59" name="Connector 58"/>
          <p:cNvCxnSpPr/>
          <p:nvPr/>
        </p:nvCxnSpPr>
        <p:spPr>
          <a:xfrm>
            <a:off x="853440" y="3261360"/>
            <a:ext cx="3048000" cy="0"/>
          </a:xfrm>
          <a:prstGeom prst="line">
            <a:avLst/>
          </a:prstGeom>
          <a:ln w="11430">
            <a:solidFill>
              <a:srgbClr val="D5DEEA"/>
            </a:solidFill>
          </a:ln>
        </p:spPr>
      </p:cxnSp>
      <p:sp>
        <p:nvSpPr>
          <p:cNvPr id="60" name="TextBox 59"/>
          <p:cNvSpPr txBox="1"/>
          <p:nvPr/>
        </p:nvSpPr>
        <p:spPr>
          <a:xfrm>
            <a:off x="85344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19 · se guardan al menos seis meses</a:t>
            </a:r>
          </a:p>
        </p:txBody>
      </p:sp>
      <p:cxnSp>
        <p:nvCxnSpPr>
          <p:cNvPr id="61" name="Connector 60"/>
          <p:cNvCxnSpPr/>
          <p:nvPr/>
        </p:nvCxnSpPr>
        <p:spPr>
          <a:xfrm>
            <a:off x="853440" y="3596640"/>
            <a:ext cx="3048000" cy="0"/>
          </a:xfrm>
          <a:prstGeom prst="line">
            <a:avLst/>
          </a:prstGeom>
          <a:ln w="11430">
            <a:solidFill>
              <a:srgbClr val="D5DEEA"/>
            </a:solidFill>
          </a:ln>
        </p:spPr>
      </p:cxnSp>
      <p:sp>
        <p:nvSpPr>
          <p:cNvPr id="62" name="TextBox 61"/>
          <p:cNvSpPr txBox="1"/>
          <p:nvPr/>
        </p:nvSpPr>
        <p:spPr>
          <a:xfrm>
            <a:off x="853440" y="3665220"/>
            <a:ext cx="3048000" cy="39624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Art. 72 · monitoreo después de salir al mercado</a:t>
            </a:r>
          </a:p>
        </p:txBody>
      </p:sp>
      <p:sp>
        <p:nvSpPr>
          <p:cNvPr id="63" name="TextBox 62"/>
          <p:cNvSpPr txBox="1"/>
          <p:nvPr/>
        </p:nvSpPr>
        <p:spPr>
          <a:xfrm>
            <a:off x="853440" y="4312920"/>
            <a:ext cx="3048000" cy="167640"/>
          </a:xfrm>
          <a:prstGeom prst="rect">
            <a:avLst/>
          </a:prstGeom>
          <a:noFill/>
        </p:spPr>
        <p:txBody>
          <a:bodyPr wrap="square" lIns="0" tIns="0" rIns="0" bIns="0" anchor="t">
            <a:noAutofit/>
          </a:bodyPr>
          <a:lstStyle/>
          <a:p>
            <a:r>
              <a:rPr sz="960" b="0" lang="es-CO">
                <a:solidFill>
                  <a:srgbClr val="5C7290"/>
                </a:solidFill>
                <a:latin typeface="Calibri"/>
              </a:rPr>
              <a:t>Alto riesgo: dic. 2027 (Anexo III) · ago. 2028 (Anexo I)</a:t>
            </a:r>
          </a:p>
        </p:txBody>
      </p:sp>
      <p:sp>
        <p:nvSpPr>
          <p:cNvPr id="64" name="Rectangle 63"/>
          <p:cNvSpPr/>
          <p:nvPr/>
        </p:nvSpPr>
        <p:spPr>
          <a:xfrm>
            <a:off x="4358640" y="1828800"/>
            <a:ext cx="3474720" cy="2819400"/>
          </a:xfrm>
          <a:prstGeom prst="rect">
            <a:avLst/>
          </a:prstGeom>
          <a:solidFill>
            <a:srgbClr val="FFFFFF"/>
          </a:solidFill>
          <a:ln w="11430">
            <a:solidFill>
              <a:srgbClr val="D5DEEA"/>
            </a:solidFill>
          </a:ln>
        </p:spPr>
        <p:txBody>
          <a:bodyPr rtlCol="0" anchor="ctr"/>
          <a:lstStyle/>
          <a:p>
            <a:pPr algn="ctr"/>
          </a:p>
        </p:txBody>
      </p:sp>
      <p:sp>
        <p:nvSpPr>
          <p:cNvPr id="65" name="TextBox 64"/>
          <p:cNvSpPr txBox="1"/>
          <p:nvPr/>
        </p:nvSpPr>
        <p:spPr>
          <a:xfrm>
            <a:off x="457200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NIST · AI RMF 1.0</a:t>
            </a:r>
          </a:p>
        </p:txBody>
      </p:sp>
      <p:sp>
        <p:nvSpPr>
          <p:cNvPr id="66" name="TextBox 65"/>
          <p:cNvSpPr txBox="1"/>
          <p:nvPr/>
        </p:nvSpPr>
        <p:spPr>
          <a:xfrm>
            <a:off x="457200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Gobernar, mapear, </a:t>
            </a:r>
            <a:r>
              <a:rPr sz="1800" b="1" lang="es-CO">
                <a:solidFill>
                  <a:srgbClr val="6D28D9"/>
                </a:solidFill>
                <a:latin typeface="Calibri"/>
              </a:rPr>
              <a:t>medir</a:t>
            </a:r>
            <a:r>
              <a:rPr sz="1800" b="1" lang="es-CO">
                <a:solidFill>
                  <a:srgbClr val="071329"/>
                </a:solidFill>
                <a:latin typeface="Calibri"/>
              </a:rPr>
              <a:t> y gestionar</a:t>
            </a:r>
          </a:p>
        </p:txBody>
      </p:sp>
      <p:cxnSp>
        <p:nvCxnSpPr>
          <p:cNvPr id="67" name="Connector 66"/>
          <p:cNvCxnSpPr/>
          <p:nvPr/>
        </p:nvCxnSpPr>
        <p:spPr>
          <a:xfrm>
            <a:off x="4572000" y="2926080"/>
            <a:ext cx="3048000" cy="0"/>
          </a:xfrm>
          <a:prstGeom prst="line">
            <a:avLst/>
          </a:prstGeom>
          <a:ln w="11430">
            <a:solidFill>
              <a:srgbClr val="D5DEEA"/>
            </a:solidFill>
          </a:ln>
        </p:spPr>
      </p:cxnSp>
      <p:sp>
        <p:nvSpPr>
          <p:cNvPr id="68" name="TextBox 67"/>
          <p:cNvSpPr txBox="1"/>
          <p:nvPr/>
        </p:nvSpPr>
        <p:spPr>
          <a:xfrm>
            <a:off x="457200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Voluntario</a:t>
            </a:r>
          </a:p>
        </p:txBody>
      </p:sp>
      <p:cxnSp>
        <p:nvCxnSpPr>
          <p:cNvPr id="69" name="Connector 68"/>
          <p:cNvCxnSpPr/>
          <p:nvPr/>
        </p:nvCxnSpPr>
        <p:spPr>
          <a:xfrm>
            <a:off x="4572000" y="3261360"/>
            <a:ext cx="3048000" cy="0"/>
          </a:xfrm>
          <a:prstGeom prst="line">
            <a:avLst/>
          </a:prstGeom>
          <a:ln w="11430">
            <a:solidFill>
              <a:srgbClr val="D5DEEA"/>
            </a:solidFill>
          </a:ln>
        </p:spPr>
      </p:cxnSp>
      <p:sp>
        <p:nvSpPr>
          <p:cNvPr id="70" name="TextBox 69"/>
          <p:cNvSpPr txBox="1"/>
          <p:nvPr/>
        </p:nvSpPr>
        <p:spPr>
          <a:xfrm>
            <a:off x="457200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El idioma común del riesgo en IA</a:t>
            </a:r>
          </a:p>
        </p:txBody>
      </p:sp>
      <p:sp>
        <p:nvSpPr>
          <p:cNvPr id="71" name="TextBox 70"/>
          <p:cNvSpPr txBox="1"/>
          <p:nvPr/>
        </p:nvSpPr>
        <p:spPr>
          <a:xfrm>
            <a:off x="4572000" y="4312920"/>
            <a:ext cx="3048000" cy="167640"/>
          </a:xfrm>
          <a:prstGeom prst="rect">
            <a:avLst/>
          </a:prstGeom>
          <a:noFill/>
        </p:spPr>
        <p:txBody>
          <a:bodyPr wrap="square" lIns="0" tIns="0" rIns="0" bIns="0" anchor="t">
            <a:noAutofit/>
          </a:bodyPr>
          <a:lstStyle/>
          <a:p>
            <a:r>
              <a:rPr sz="960" b="0" lang="es-CO">
                <a:solidFill>
                  <a:srgbClr val="5C7290"/>
                </a:solidFill>
                <a:latin typeface="Calibri"/>
              </a:rPr>
              <a:t>NIST AI 100-1 · enero 2023</a:t>
            </a:r>
          </a:p>
        </p:txBody>
      </p:sp>
      <p:sp>
        <p:nvSpPr>
          <p:cNvPr id="72" name="Rectangle 71"/>
          <p:cNvSpPr/>
          <p:nvPr/>
        </p:nvSpPr>
        <p:spPr>
          <a:xfrm>
            <a:off x="8077200" y="1828800"/>
            <a:ext cx="3474720" cy="2819400"/>
          </a:xfrm>
          <a:prstGeom prst="rect">
            <a:avLst/>
          </a:prstGeom>
          <a:solidFill>
            <a:srgbClr val="FFFFFF"/>
          </a:solidFill>
          <a:ln w="11430">
            <a:solidFill>
              <a:srgbClr val="D5DEEA"/>
            </a:solidFill>
          </a:ln>
        </p:spPr>
        <p:txBody>
          <a:bodyPr rtlCol="0" anchor="ctr"/>
          <a:lstStyle/>
          <a:p>
            <a:pPr algn="ctr"/>
          </a:p>
        </p:txBody>
      </p:sp>
      <p:sp>
        <p:nvSpPr>
          <p:cNvPr id="73" name="TextBox 72"/>
          <p:cNvSpPr txBox="1"/>
          <p:nvPr/>
        </p:nvSpPr>
        <p:spPr>
          <a:xfrm>
            <a:off x="8290560" y="2011680"/>
            <a:ext cx="3048000" cy="167640"/>
          </a:xfrm>
          <a:prstGeom prst="rect">
            <a:avLst/>
          </a:prstGeom>
          <a:noFill/>
        </p:spPr>
        <p:txBody>
          <a:bodyPr wrap="square" lIns="0" tIns="0" rIns="0" bIns="0" anchor="t">
            <a:noAutofit/>
          </a:bodyPr>
          <a:lstStyle/>
          <a:p>
            <a:r>
              <a:rPr sz="900" b="1" lang="es-CO">
                <a:solidFill>
                  <a:srgbClr val="6D28D9"/>
                </a:solidFill>
                <a:latin typeface="Courier New"/>
              </a:rPr>
              <a:t>ISO/IEC 42001</a:t>
            </a:r>
          </a:p>
        </p:txBody>
      </p:sp>
      <p:sp>
        <p:nvSpPr>
          <p:cNvPr id="74" name="TextBox 73"/>
          <p:cNvSpPr txBox="1"/>
          <p:nvPr/>
        </p:nvSpPr>
        <p:spPr>
          <a:xfrm>
            <a:off x="8290560" y="2255520"/>
            <a:ext cx="3048000" cy="548640"/>
          </a:xfrm>
          <a:prstGeom prst="rect">
            <a:avLst/>
          </a:prstGeom>
          <a:noFill/>
        </p:spPr>
        <p:txBody>
          <a:bodyPr wrap="square" lIns="0" tIns="0" rIns="0" bIns="0" anchor="t">
            <a:noAutofit/>
          </a:bodyPr>
          <a:lstStyle/>
          <a:p>
            <a:pPr>
              <a:lnSpc>
                <a:spcPct val="100000"/>
              </a:lnSpc>
            </a:pPr>
            <a:r>
              <a:rPr sz="1800" b="1" lang="es-CO">
                <a:solidFill>
                  <a:srgbClr val="071329"/>
                </a:solidFill>
                <a:latin typeface="Calibri"/>
              </a:rPr>
              <a:t>Un sistema de gestión de IA, </a:t>
            </a:r>
            <a:r>
              <a:rPr sz="1800" b="1" lang="es-CO">
                <a:solidFill>
                  <a:srgbClr val="6D28D9"/>
                </a:solidFill>
                <a:latin typeface="Calibri"/>
              </a:rPr>
              <a:t>certificable</a:t>
            </a:r>
          </a:p>
        </p:txBody>
      </p:sp>
      <p:cxnSp>
        <p:nvCxnSpPr>
          <p:cNvPr id="75" name="Connector 74"/>
          <p:cNvCxnSpPr/>
          <p:nvPr/>
        </p:nvCxnSpPr>
        <p:spPr>
          <a:xfrm>
            <a:off x="8290560" y="2926080"/>
            <a:ext cx="3048000" cy="0"/>
          </a:xfrm>
          <a:prstGeom prst="line">
            <a:avLst/>
          </a:prstGeom>
          <a:ln w="11430">
            <a:solidFill>
              <a:srgbClr val="D5DEEA"/>
            </a:solidFill>
          </a:ln>
        </p:spPr>
      </p:cxnSp>
      <p:sp>
        <p:nvSpPr>
          <p:cNvPr id="76" name="TextBox 75"/>
          <p:cNvSpPr txBox="1"/>
          <p:nvPr/>
        </p:nvSpPr>
        <p:spPr>
          <a:xfrm>
            <a:off x="8290560" y="299466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La lógica de ISO 27001, aplicada a la IA</a:t>
            </a:r>
          </a:p>
        </p:txBody>
      </p:sp>
      <p:cxnSp>
        <p:nvCxnSpPr>
          <p:cNvPr id="77" name="Connector 76"/>
          <p:cNvCxnSpPr/>
          <p:nvPr/>
        </p:nvCxnSpPr>
        <p:spPr>
          <a:xfrm>
            <a:off x="8290560" y="3261360"/>
            <a:ext cx="3048000" cy="0"/>
          </a:xfrm>
          <a:prstGeom prst="line">
            <a:avLst/>
          </a:prstGeom>
          <a:ln w="11430">
            <a:solidFill>
              <a:srgbClr val="D5DEEA"/>
            </a:solidFill>
          </a:ln>
        </p:spPr>
      </p:cxnSp>
      <p:sp>
        <p:nvSpPr>
          <p:cNvPr id="78" name="TextBox 77"/>
          <p:cNvSpPr txBox="1"/>
          <p:nvPr/>
        </p:nvSpPr>
        <p:spPr>
          <a:xfrm>
            <a:off x="8290560" y="3329940"/>
            <a:ext cx="3048000" cy="198120"/>
          </a:xfrm>
          <a:prstGeom prst="rect">
            <a:avLst/>
          </a:prstGeom>
          <a:noFill/>
        </p:spPr>
        <p:txBody>
          <a:bodyPr wrap="square" lIns="0" tIns="0" rIns="0" bIns="0" anchor="t">
            <a:noAutofit/>
          </a:bodyPr>
          <a:lstStyle/>
          <a:p>
            <a:pPr>
              <a:lnSpc>
                <a:spcPct val="100000"/>
              </a:lnSpc>
            </a:pPr>
            <a:r>
              <a:rPr sz="1260" b="0" lang="es-CO">
                <a:solidFill>
                  <a:srgbClr val="475569"/>
                </a:solidFill>
                <a:latin typeface="Calibri"/>
              </a:rPr>
              <a:t>Auditoría externa</a:t>
            </a:r>
          </a:p>
        </p:txBody>
      </p:sp>
      <p:sp>
        <p:nvSpPr>
          <p:cNvPr id="79" name="TextBox 78"/>
          <p:cNvSpPr txBox="1"/>
          <p:nvPr/>
        </p:nvSpPr>
        <p:spPr>
          <a:xfrm>
            <a:off x="8290560" y="4312920"/>
            <a:ext cx="3048000" cy="167640"/>
          </a:xfrm>
          <a:prstGeom prst="rect">
            <a:avLst/>
          </a:prstGeom>
          <a:noFill/>
        </p:spPr>
        <p:txBody>
          <a:bodyPr wrap="square" lIns="0" tIns="0" rIns="0" bIns="0" anchor="t">
            <a:noAutofit/>
          </a:bodyPr>
          <a:lstStyle/>
          <a:p>
            <a:r>
              <a:rPr sz="960" b="0" lang="es-CO">
                <a:solidFill>
                  <a:srgbClr val="5C7290"/>
                </a:solidFill>
                <a:latin typeface="Calibri"/>
              </a:rPr>
              <a:t>ISO/IEC 42001:2023</a:t>
            </a:r>
          </a:p>
        </p:txBody>
      </p:sp>
      <p:sp>
        <p:nvSpPr>
          <p:cNvPr id="80" name="TextBox 79"/>
          <p:cNvSpPr txBox="1"/>
          <p:nvPr/>
        </p:nvSpPr>
        <p:spPr>
          <a:xfrm>
            <a:off x="640080" y="4953000"/>
            <a:ext cx="10911840" cy="350520"/>
          </a:xfrm>
          <a:prstGeom prst="rect">
            <a:avLst/>
          </a:prstGeom>
          <a:noFill/>
        </p:spPr>
        <p:txBody>
          <a:bodyPr wrap="square" lIns="0" tIns="0" rIns="0" bIns="0" anchor="t">
            <a:noAutofit/>
          </a:bodyPr>
          <a:lstStyle/>
          <a:p>
            <a:r>
              <a:rPr sz="2039" b="0" lang="es-CO">
                <a:solidFill>
                  <a:srgbClr val="071329"/>
                </a:solidFill>
                <a:latin typeface="Calibri"/>
              </a:rPr>
              <a:t>Piden lo mismo que necesitas para operar: </a:t>
            </a:r>
            <a:r>
              <a:rPr sz="2039" b="1" lang="es-CO">
                <a:solidFill>
                  <a:srgbClr val="6D28D9"/>
                </a:solidFill>
                <a:latin typeface="Calibri"/>
              </a:rPr>
              <a:t>qué corre, qué decidió y cómo volver</a:t>
            </a:r>
            <a:r>
              <a:rPr sz="2039" b="0" lang="es-CO">
                <a:solidFill>
                  <a:srgbClr val="071329"/>
                </a:solidFill>
                <a:latin typeface="Calibri"/>
              </a:rPr>
              <a:t>.</a:t>
            </a:r>
          </a:p>
        </p:txBody>
      </p:sp>
      <p:sp>
        <p:nvSpPr>
          <p:cNvPr id="81"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Reglamento (UE) 2024/1689, arts. 12, 19 y 72, con las fechas del Reglamento (UE) 2026/1744 · NIST AI 100-1 · ISO/IEC 42001:2023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4"/>
                                        </p:tgtEl>
                                        <p:attrNameLst>
                                          <p:attrName>style.visibility</p:attrName>
                                        </p:attrNameLst>
                                      </p:cBhvr>
                                      <p:to>
                                        <p:strVal val="visible"/>
                                      </p:to>
                                    </p:set>
                                    <p:animEffect transition="in" filter="fade">
                                      <p:cBhvr>
                                        <p:cTn id="7" dur="400"/>
                                        <p:tgtEl>
                                          <p:spTgt spid="6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5"/>
                                        </p:tgtEl>
                                        <p:attrNameLst>
                                          <p:attrName>style.visibility</p:attrName>
                                        </p:attrNameLst>
                                      </p:cBhvr>
                                      <p:to>
                                        <p:strVal val="visible"/>
                                      </p:to>
                                    </p:set>
                                    <p:animEffect transition="in" filter="fade">
                                      <p:cBhvr>
                                        <p:cTn id="10" dur="400"/>
                                        <p:tgtEl>
                                          <p:spTgt spid="6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6"/>
                                        </p:tgtEl>
                                        <p:attrNameLst>
                                          <p:attrName>style.visibility</p:attrName>
                                        </p:attrNameLst>
                                      </p:cBhvr>
                                      <p:to>
                                        <p:strVal val="visible"/>
                                      </p:to>
                                    </p:set>
                                    <p:animEffect transition="in" filter="fade">
                                      <p:cBhvr>
                                        <p:cTn id="13" dur="400"/>
                                        <p:tgtEl>
                                          <p:spTgt spid="6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7"/>
                                        </p:tgtEl>
                                        <p:attrNameLst>
                                          <p:attrName>style.visibility</p:attrName>
                                        </p:attrNameLst>
                                      </p:cBhvr>
                                      <p:to>
                                        <p:strVal val="visible"/>
                                      </p:to>
                                    </p:set>
                                    <p:animEffect transition="in" filter="fade">
                                      <p:cBhvr>
                                        <p:cTn id="16" dur="400"/>
                                        <p:tgtEl>
                                          <p:spTgt spid="6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animEffect transition="in" filter="fade">
                                      <p:cBhvr>
                                        <p:cTn id="19" dur="400"/>
                                        <p:tgtEl>
                                          <p:spTgt spid="6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9"/>
                                        </p:tgtEl>
                                        <p:attrNameLst>
                                          <p:attrName>style.visibility</p:attrName>
                                        </p:attrNameLst>
                                      </p:cBhvr>
                                      <p:to>
                                        <p:strVal val="visible"/>
                                      </p:to>
                                    </p:set>
                                    <p:animEffect transition="in" filter="fade">
                                      <p:cBhvr>
                                        <p:cTn id="22" dur="400"/>
                                        <p:tgtEl>
                                          <p:spTgt spid="6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70"/>
                                        </p:tgtEl>
                                        <p:attrNameLst>
                                          <p:attrName>style.visibility</p:attrName>
                                        </p:attrNameLst>
                                      </p:cBhvr>
                                      <p:to>
                                        <p:strVal val="visible"/>
                                      </p:to>
                                    </p:set>
                                    <p:animEffect transition="in" filter="fade">
                                      <p:cBhvr>
                                        <p:cTn id="25" dur="400"/>
                                        <p:tgtEl>
                                          <p:spTgt spid="7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1"/>
                                        </p:tgtEl>
                                        <p:attrNameLst>
                                          <p:attrName>style.visibility</p:attrName>
                                        </p:attrNameLst>
                                      </p:cBhvr>
                                      <p:to>
                                        <p:strVal val="visible"/>
                                      </p:to>
                                    </p:set>
                                    <p:animEffect transition="in" filter="fade">
                                      <p:cBhvr>
                                        <p:cTn id="28" dur="400"/>
                                        <p:tgtEl>
                                          <p:spTgt spid="71"/>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72"/>
                                        </p:tgtEl>
                                        <p:attrNameLst>
                                          <p:attrName>style.visibility</p:attrName>
                                        </p:attrNameLst>
                                      </p:cBhvr>
                                      <p:to>
                                        <p:strVal val="visible"/>
                                      </p:to>
                                    </p:set>
                                    <p:animEffect transition="in" filter="fade">
                                      <p:cBhvr>
                                        <p:cTn id="33" dur="400"/>
                                        <p:tgtEl>
                                          <p:spTgt spid="7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73"/>
                                        </p:tgtEl>
                                        <p:attrNameLst>
                                          <p:attrName>style.visibility</p:attrName>
                                        </p:attrNameLst>
                                      </p:cBhvr>
                                      <p:to>
                                        <p:strVal val="visible"/>
                                      </p:to>
                                    </p:set>
                                    <p:animEffect transition="in" filter="fade">
                                      <p:cBhvr>
                                        <p:cTn id="36" dur="400"/>
                                        <p:tgtEl>
                                          <p:spTgt spid="7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74"/>
                                        </p:tgtEl>
                                        <p:attrNameLst>
                                          <p:attrName>style.visibility</p:attrName>
                                        </p:attrNameLst>
                                      </p:cBhvr>
                                      <p:to>
                                        <p:strVal val="visible"/>
                                      </p:to>
                                    </p:set>
                                    <p:animEffect transition="in" filter="fade">
                                      <p:cBhvr>
                                        <p:cTn id="39" dur="400"/>
                                        <p:tgtEl>
                                          <p:spTgt spid="7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fade">
                                      <p:cBhvr>
                                        <p:cTn id="42" dur="400"/>
                                        <p:tgtEl>
                                          <p:spTgt spid="7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76"/>
                                        </p:tgtEl>
                                        <p:attrNameLst>
                                          <p:attrName>style.visibility</p:attrName>
                                        </p:attrNameLst>
                                      </p:cBhvr>
                                      <p:to>
                                        <p:strVal val="visible"/>
                                      </p:to>
                                    </p:set>
                                    <p:animEffect transition="in" filter="fade">
                                      <p:cBhvr>
                                        <p:cTn id="45" dur="400"/>
                                        <p:tgtEl>
                                          <p:spTgt spid="7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77"/>
                                        </p:tgtEl>
                                        <p:attrNameLst>
                                          <p:attrName>style.visibility</p:attrName>
                                        </p:attrNameLst>
                                      </p:cBhvr>
                                      <p:to>
                                        <p:strVal val="visible"/>
                                      </p:to>
                                    </p:set>
                                    <p:animEffect transition="in" filter="fade">
                                      <p:cBhvr>
                                        <p:cTn id="48" dur="400"/>
                                        <p:tgtEl>
                                          <p:spTgt spid="7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78"/>
                                        </p:tgtEl>
                                        <p:attrNameLst>
                                          <p:attrName>style.visibility</p:attrName>
                                        </p:attrNameLst>
                                      </p:cBhvr>
                                      <p:to>
                                        <p:strVal val="visible"/>
                                      </p:to>
                                    </p:set>
                                    <p:animEffect transition="in" filter="fade">
                                      <p:cBhvr>
                                        <p:cTn id="51" dur="400"/>
                                        <p:tgtEl>
                                          <p:spTgt spid="7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79"/>
                                        </p:tgtEl>
                                        <p:attrNameLst>
                                          <p:attrName>style.visibility</p:attrName>
                                        </p:attrNameLst>
                                      </p:cBhvr>
                                      <p:to>
                                        <p:strVal val="visible"/>
                                      </p:to>
                                    </p:set>
                                    <p:animEffect transition="in" filter="fade">
                                      <p:cBhvr>
                                        <p:cTn id="54" dur="400"/>
                                        <p:tgtEl>
                                          <p:spTgt spid="79"/>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grpId="0" nodeType="clickEffect">
                                  <p:stCondLst>
                                    <p:cond delay="0"/>
                                  </p:stCondLst>
                                  <p:childTnLst>
                                    <p:set>
                                      <p:cBhvr>
                                        <p:cTn id="58" dur="1" fill="hold">
                                          <p:stCondLst>
                                            <p:cond delay="0"/>
                                          </p:stCondLst>
                                        </p:cTn>
                                        <p:tgtEl>
                                          <p:spTgt spid="80"/>
                                        </p:tgtEl>
                                        <p:attrNameLst>
                                          <p:attrName>style.visibility</p:attrName>
                                        </p:attrNameLst>
                                      </p:cBhvr>
                                      <p:to>
                                        <p:strVal val="visible"/>
                                      </p:to>
                                    </p:set>
                                    <p:animEffect transition="in" filter="fade">
                                      <p:cBhvr>
                                        <p:cTn id="59" dur="4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p:bldP spid="65" grpId="0"/>
      <p:bldP spid="66" grpId="0"/>
      <p:bldP spid="67" grpId="0" animBg="1"/>
      <p:bldP spid="68" grpId="0"/>
      <p:bldP spid="69" grpId="0" animBg="1"/>
      <p:bldP spid="70" grpId="0"/>
      <p:bldP spid="71" grpId="0"/>
      <p:bldP spid="72" grpId="0"/>
      <p:bldP spid="73" grpId="0"/>
      <p:bldP spid="74" grpId="0"/>
      <p:bldP spid="75" grpId="0" animBg="1"/>
      <p:bldP spid="76" grpId="0"/>
      <p:bldP spid="77" grpId="0" animBg="1"/>
      <p:bldP spid="78" grpId="0"/>
      <p:bldP spid="79" grpId="0"/>
      <p:bldP spid="80" grpId="0"/>
    </p:bldLst>
  </p:timing>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Fuentes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sp>
        <p:nvSpPr>
          <p:cNvPr id="54" name="TextBox 53"/>
          <p:cNvSpPr txBox="1"/>
          <p:nvPr/>
        </p:nvSpPr>
        <p:spPr>
          <a:xfrm>
            <a:off x="640080" y="1722120"/>
            <a:ext cx="4648810" cy="167640"/>
          </a:xfrm>
          <a:prstGeom prst="rect">
            <a:avLst/>
          </a:prstGeom>
          <a:noFill/>
        </p:spPr>
        <p:txBody>
          <a:bodyPr wrap="square" lIns="0" tIns="0" rIns="0" bIns="0" anchor="t">
            <a:noAutofit/>
          </a:bodyPr>
          <a:lstStyle/>
          <a:p>
            <a:r>
              <a:rPr sz="900" b="1" spc="90" lang="es-CO">
                <a:solidFill>
                  <a:srgbClr val="5C7290"/>
                </a:solidFill>
                <a:latin typeface="Calibri"/>
              </a:rPr>
              <a:t>QUÉ</a:t>
            </a:r>
          </a:p>
        </p:txBody>
      </p:sp>
      <p:sp>
        <p:nvSpPr>
          <p:cNvPr id="55" name="TextBox 54"/>
          <p:cNvSpPr txBox="1"/>
          <p:nvPr/>
        </p:nvSpPr>
        <p:spPr>
          <a:xfrm>
            <a:off x="5441290" y="1722120"/>
            <a:ext cx="5958230" cy="167640"/>
          </a:xfrm>
          <a:prstGeom prst="rect">
            <a:avLst/>
          </a:prstGeom>
          <a:noFill/>
        </p:spPr>
        <p:txBody>
          <a:bodyPr wrap="square" lIns="0" tIns="0" rIns="0" bIns="0" anchor="t">
            <a:noAutofit/>
          </a:bodyPr>
          <a:lstStyle/>
          <a:p>
            <a:r>
              <a:rPr sz="900" b="1" spc="90" lang="es-CO">
                <a:solidFill>
                  <a:srgbClr val="5C7290"/>
                </a:solidFill>
                <a:latin typeface="Calibri"/>
              </a:rPr>
              <a:t>DÓNDE</a:t>
            </a:r>
          </a:p>
        </p:txBody>
      </p:sp>
      <p:cxnSp>
        <p:nvCxnSpPr>
          <p:cNvPr id="56" name="Connector 55"/>
          <p:cNvCxnSpPr/>
          <p:nvPr/>
        </p:nvCxnSpPr>
        <p:spPr>
          <a:xfrm>
            <a:off x="640080" y="1981200"/>
            <a:ext cx="10911840" cy="0"/>
          </a:xfrm>
          <a:prstGeom prst="line">
            <a:avLst/>
          </a:prstGeom>
          <a:ln w="11430">
            <a:solidFill>
              <a:srgbClr val="D5DEEA"/>
            </a:solidFill>
          </a:ln>
        </p:spPr>
      </p:cxnSp>
      <p:sp>
        <p:nvSpPr>
          <p:cNvPr id="57" name="TextBox 56"/>
          <p:cNvSpPr txBox="1"/>
          <p:nvPr/>
        </p:nvSpPr>
        <p:spPr>
          <a:xfrm>
            <a:off x="640080" y="2065020"/>
            <a:ext cx="4648810" cy="362102"/>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MIMII DUE · Tanabe et al., Hitachi (2021) · bombas, </a:t>
            </a:r>
            <a:r>
              <a:rPr sz="960" b="1" lang="es-CO">
                <a:solidFill>
                  <a:srgbClr val="071329"/>
                </a:solidFill>
                <a:latin typeface="Courier New"/>
              </a:rPr>
              <a:t>dev_data_pump</a:t>
            </a:r>
            <a:r>
              <a:rPr sz="1080" b="1" lang="es-CO">
                <a:solidFill>
                  <a:srgbClr val="071329"/>
                </a:solidFill>
                <a:latin typeface="Calibri"/>
              </a:rPr>
              <a:t> · CC BY-NC-SA 4.0</a:t>
            </a:r>
          </a:p>
        </p:txBody>
      </p:sp>
      <p:sp>
        <p:nvSpPr>
          <p:cNvPr id="58" name="TextBox 57"/>
          <p:cNvSpPr txBox="1"/>
          <p:nvPr/>
        </p:nvSpPr>
        <p:spPr>
          <a:xfrm>
            <a:off x="5441290" y="2065020"/>
            <a:ext cx="5958230" cy="362102"/>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arxiv.org/abs/2105.02702 · doi.org/10.5281/zenodo.4740355</a:t>
            </a:r>
          </a:p>
        </p:txBody>
      </p:sp>
      <p:cxnSp>
        <p:nvCxnSpPr>
          <p:cNvPr id="59" name="Connector 58"/>
          <p:cNvCxnSpPr/>
          <p:nvPr/>
        </p:nvCxnSpPr>
        <p:spPr>
          <a:xfrm>
            <a:off x="640080" y="2510942"/>
            <a:ext cx="10911840" cy="0"/>
          </a:xfrm>
          <a:prstGeom prst="line">
            <a:avLst/>
          </a:prstGeom>
          <a:ln w="11430">
            <a:solidFill>
              <a:srgbClr val="D5DEEA"/>
            </a:solidFill>
          </a:ln>
        </p:spPr>
      </p:cxnSp>
      <p:sp>
        <p:nvSpPr>
          <p:cNvPr id="60" name="TextBox 59"/>
          <p:cNvSpPr txBox="1"/>
          <p:nvPr/>
        </p:nvSpPr>
        <p:spPr>
          <a:xfrm>
            <a:off x="640080" y="2594762"/>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Gartner · PC con IA (28 ago 2025)</a:t>
            </a:r>
          </a:p>
        </p:txBody>
      </p:sp>
      <p:sp>
        <p:nvSpPr>
          <p:cNvPr id="61" name="TextBox 60"/>
          <p:cNvSpPr txBox="1"/>
          <p:nvPr/>
        </p:nvSpPr>
        <p:spPr>
          <a:xfrm>
            <a:off x="5441290" y="2594762"/>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gartner.com/en/newsroom · 2025-08-28</a:t>
            </a:r>
          </a:p>
        </p:txBody>
      </p:sp>
      <p:cxnSp>
        <p:nvCxnSpPr>
          <p:cNvPr id="62" name="Connector 61"/>
          <p:cNvCxnSpPr/>
          <p:nvPr/>
        </p:nvCxnSpPr>
        <p:spPr>
          <a:xfrm>
            <a:off x="640080" y="2859634"/>
            <a:ext cx="10911840" cy="0"/>
          </a:xfrm>
          <a:prstGeom prst="line">
            <a:avLst/>
          </a:prstGeom>
          <a:ln w="11430">
            <a:solidFill>
              <a:srgbClr val="D5DEEA"/>
            </a:solidFill>
          </a:ln>
        </p:spPr>
      </p:cxnSp>
      <p:sp>
        <p:nvSpPr>
          <p:cNvPr id="63" name="TextBox 62"/>
          <p:cNvSpPr txBox="1"/>
          <p:nvPr/>
        </p:nvSpPr>
        <p:spPr>
          <a:xfrm>
            <a:off x="640080" y="2943454"/>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Métodos de drift · Evidently · NannyML · crítica al PSI</a:t>
            </a:r>
          </a:p>
        </p:txBody>
      </p:sp>
      <p:sp>
        <p:nvSpPr>
          <p:cNvPr id="64" name="TextBox 63"/>
          <p:cNvSpPr txBox="1"/>
          <p:nvPr/>
        </p:nvSpPr>
        <p:spPr>
          <a:xfrm>
            <a:off x="5441290" y="2943454"/>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docs.evidentlyai.com · nannyml.readthedocs.io · arxiv.org/abs/2303.01227</a:t>
            </a:r>
          </a:p>
        </p:txBody>
      </p:sp>
      <p:cxnSp>
        <p:nvCxnSpPr>
          <p:cNvPr id="65" name="Connector 64"/>
          <p:cNvCxnSpPr/>
          <p:nvPr/>
        </p:nvCxnSpPr>
        <p:spPr>
          <a:xfrm>
            <a:off x="640080" y="3208325"/>
            <a:ext cx="10911840" cy="0"/>
          </a:xfrm>
          <a:prstGeom prst="line">
            <a:avLst/>
          </a:prstGeom>
          <a:ln w="11430">
            <a:solidFill>
              <a:srgbClr val="D5DEEA"/>
            </a:solidFill>
          </a:ln>
        </p:spPr>
      </p:cxnSp>
      <p:sp>
        <p:nvSpPr>
          <p:cNvPr id="66" name="TextBox 65"/>
          <p:cNvSpPr txBox="1"/>
          <p:nvPr/>
        </p:nvSpPr>
        <p:spPr>
          <a:xfrm>
            <a:off x="640080" y="3292145"/>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AI Act (UE 2024/1689) · Digital Omnibus (UE 2026/1744)</a:t>
            </a:r>
          </a:p>
        </p:txBody>
      </p:sp>
      <p:sp>
        <p:nvSpPr>
          <p:cNvPr id="67" name="TextBox 66"/>
          <p:cNvSpPr txBox="1"/>
          <p:nvPr/>
        </p:nvSpPr>
        <p:spPr>
          <a:xfrm>
            <a:off x="5441290" y="3292145"/>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eur-lex.europa.eu · artificialintelligenceact.eu</a:t>
            </a:r>
          </a:p>
        </p:txBody>
      </p:sp>
      <p:cxnSp>
        <p:nvCxnSpPr>
          <p:cNvPr id="68" name="Connector 67"/>
          <p:cNvCxnSpPr/>
          <p:nvPr/>
        </p:nvCxnSpPr>
        <p:spPr>
          <a:xfrm>
            <a:off x="640080" y="3557016"/>
            <a:ext cx="10911840" cy="0"/>
          </a:xfrm>
          <a:prstGeom prst="line">
            <a:avLst/>
          </a:prstGeom>
          <a:ln w="11430">
            <a:solidFill>
              <a:srgbClr val="D5DEEA"/>
            </a:solidFill>
          </a:ln>
        </p:spPr>
      </p:cxnSp>
      <p:sp>
        <p:nvSpPr>
          <p:cNvPr id="69" name="TextBox 68"/>
          <p:cNvSpPr txBox="1"/>
          <p:nvPr/>
        </p:nvSpPr>
        <p:spPr>
          <a:xfrm>
            <a:off x="640080" y="3640836"/>
            <a:ext cx="4648810" cy="181051"/>
          </a:xfrm>
          <a:prstGeom prst="rect">
            <a:avLst/>
          </a:prstGeom>
          <a:noFill/>
        </p:spPr>
        <p:txBody>
          <a:bodyPr wrap="square" lIns="0" tIns="0" rIns="0" bIns="0" anchor="t">
            <a:noAutofit/>
          </a:bodyPr>
          <a:lstStyle/>
          <a:p>
            <a:pPr>
              <a:lnSpc>
                <a:spcPct val="110000"/>
              </a:lnSpc>
            </a:pPr>
            <a:r>
              <a:rPr sz="1080" b="1" lang="es-CO">
                <a:solidFill>
                  <a:srgbClr val="071329"/>
                </a:solidFill>
                <a:latin typeface="Calibri"/>
              </a:rPr>
              <a:t>NIST AI RMF · ISO/IEC 42001</a:t>
            </a:r>
          </a:p>
        </p:txBody>
      </p:sp>
      <p:sp>
        <p:nvSpPr>
          <p:cNvPr id="70" name="TextBox 69"/>
          <p:cNvSpPr txBox="1"/>
          <p:nvPr/>
        </p:nvSpPr>
        <p:spPr>
          <a:xfrm>
            <a:off x="5441290" y="3640836"/>
            <a:ext cx="5958230" cy="181051"/>
          </a:xfrm>
          <a:prstGeom prst="rect">
            <a:avLst/>
          </a:prstGeom>
          <a:noFill/>
        </p:spPr>
        <p:txBody>
          <a:bodyPr wrap="square" lIns="0" tIns="0" rIns="0" bIns="0" anchor="t">
            <a:noAutofit/>
          </a:bodyPr>
          <a:lstStyle/>
          <a:p>
            <a:pPr>
              <a:lnSpc>
                <a:spcPct val="110000"/>
              </a:lnSpc>
            </a:pPr>
            <a:r>
              <a:rPr sz="900" b="0" lang="es-CO">
                <a:solidFill>
                  <a:srgbClr val="1F6C93"/>
                </a:solidFill>
                <a:latin typeface="Courier New"/>
              </a:rPr>
              <a:t>nist.gov/itl/ai-risk-management-framework · iso.org</a:t>
            </a:r>
          </a:p>
        </p:txBody>
      </p:sp>
      <p:cxnSp>
        <p:nvCxnSpPr>
          <p:cNvPr id="71" name="Connector 70"/>
          <p:cNvCxnSpPr/>
          <p:nvPr/>
        </p:nvCxnSpPr>
        <p:spPr>
          <a:xfrm>
            <a:off x="640080" y="3905707"/>
            <a:ext cx="10911840" cy="0"/>
          </a:xfrm>
          <a:prstGeom prst="line">
            <a:avLst/>
          </a:prstGeom>
          <a:ln w="11430">
            <a:solidFill>
              <a:srgbClr val="D5DEEA"/>
            </a:solidFill>
          </a:ln>
        </p:spPr>
      </p:cxn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pic>
        <p:nvPicPr>
          <p:cNvPr id="54" name="Capa base" descr="iso_senales_00_base.png"/>
          <p:cNvPicPr>
            <a:picLocks noChangeAspect="1"/>
          </p:cNvPicPr>
          <p:nvPr/>
        </p:nvPicPr>
        <p:blipFill>
          <a:blip r:embed="rId2"/>
          <a:stretch>
            <a:fillRect/>
          </a:stretch>
        </p:blipFill>
        <p:spPr>
          <a:xfrm>
            <a:off x="986790" y="1882140"/>
            <a:ext cx="10401300" cy="3680460"/>
          </a:xfrm>
          <a:prstGeom prst="rect">
            <a:avLst/>
          </a:prstGeom>
        </p:spPr>
      </p:pic>
      <p:sp>
        <p:nvSpPr>
          <p:cNvPr id="55" name="Subtítulo"/>
          <p:cNvSpPr txBox="1"/>
          <p:nvPr/>
        </p:nvSpPr>
        <p:spPr>
          <a:xfrm>
            <a:off x="640080" y="1569720"/>
            <a:ext cx="10911840" cy="243840"/>
          </a:xfrm>
          <a:prstGeom prst="rect">
            <a:avLst/>
          </a:prstGeom>
          <a:noFill/>
        </p:spPr>
        <p:txBody>
          <a:bodyPr wrap="square" lIns="0" tIns="0" rIns="0" bIns="0" anchor="t">
            <a:noAutofit/>
          </a:bodyPr>
          <a:lstStyle/>
          <a:p>
            <a:r>
              <a:rPr sz="1439" b="0" lang="es-CO">
                <a:solidFill>
                  <a:srgbClr val="475569"/>
                </a:solidFill>
                <a:latin typeface="Calibri"/>
              </a:rPr>
              <a:t>Las de un servicio ya las conocemos: latencia · tráfico · errores · saturación</a:t>
            </a:r>
          </a:p>
        </p:txBody>
      </p:sp>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Las golden signals </a:t>
            </a:r>
            <a:r>
              <a:rPr b="1" lang="es-CO">
                <a:solidFill>
                  <a:srgbClr val="6D28D9"/>
                </a:solidFill>
              </a:rPr>
              <a:t>de un modelo</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6"/>
          </p:nvPr>
        </p:nvSpPr>
        <p:spPr/>
        <p:txBody>
          <a:bodyPr lIns="0"/>
          <a:lstStyle/>
          <a:p>
            <a:r>
              <a:rPr lang="es-CO"/>
              <a:t>ANEXO</a:t>
            </a:r>
          </a:p>
        </p:txBody>
      </p:sp>
      <p:sp>
        <p:nvSpPr>
          <p:cNvPr id="3" name="Title 2"/>
          <p:cNvSpPr>
            <a:spLocks noGrp="1"/>
          </p:cNvSpPr>
          <p:nvPr>
            <p:ph type="title" idx="107"/>
          </p:nvPr>
        </p:nvSpPr>
        <p:spPr/>
        <p:txBody>
          <a:bodyPr lIns="0"/>
          <a:lstStyle/>
          <a:p>
            <a:r>
              <a:rPr lang="es-CO"/>
              <a:t>Audio crudo contra </a:t>
            </a:r>
            <a:r>
              <a:rPr b="1" lang="es-CO">
                <a:solidFill>
                  <a:srgbClr val="6D28D9"/>
                </a:solidFill>
              </a:rPr>
              <a:t>eventos</a:t>
            </a:r>
            <a:r>
              <a:rPr lang="es-CO"/>
              <a:t>, con mil bombas</a:t>
            </a:r>
          </a:p>
        </p:txBody>
      </p:sp>
      <p:sp>
        <p:nvSpPr>
          <p:cNvPr id="53" name="Slide Number Placeholder 0"/>
          <p:cNvSpPr>
            <a:spLocks noGrp="1"/>
          </p:cNvSpPr>
          <p:nvPr>
            <p:ph type="sldNum" sz="quarter" idx="4294967295"/>
          </p:nvPr>
        </p:nvSpPr>
        <p:spPr>
          <a:xfrm>
            <a:off x="1874520" y="6336792"/>
            <a:ext cx="54864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C7290"/>
                </a:solidFill>
                <a:latin typeface="Courier New"/>
                <a:ea typeface="Courier New"/>
                <a:cs typeface="Courier New"/>
              </a:defRPr>
            </a:lvl1pPr>
          </a:lstStyle>
          <a:p>
            <a:pPr algn="l"/>
            <a:fld id="{F7021451-1387-4CA6-816F-3879F97B5CBC}" type="slidenum">
              <a:rPr b="0" lang="en-US"/>
              <a:t>9</a:t>
            </a:fld>
            <a:endParaRPr lang="en-US"/>
          </a:p>
        </p:txBody>
      </p:sp>
      <p:cxnSp>
        <p:nvCxnSpPr>
          <p:cNvPr id="54" name="Connector 53"/>
          <p:cNvCxnSpPr/>
          <p:nvPr/>
        </p:nvCxnSpPr>
        <p:spPr>
          <a:xfrm>
            <a:off x="640080" y="2011680"/>
            <a:ext cx="3434080" cy="0"/>
          </a:xfrm>
          <a:prstGeom prst="line">
            <a:avLst/>
          </a:prstGeom>
          <a:ln w="30480">
            <a:solidFill>
              <a:srgbClr val="071329"/>
            </a:solidFill>
          </a:ln>
        </p:spPr>
      </p:cxnSp>
      <p:sp>
        <p:nvSpPr>
          <p:cNvPr id="55" name="TextBox 54"/>
          <p:cNvSpPr txBox="1"/>
          <p:nvPr/>
        </p:nvSpPr>
        <p:spPr>
          <a:xfrm>
            <a:off x="64008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AUDIO CRUDO</a:t>
            </a:r>
          </a:p>
        </p:txBody>
      </p:sp>
      <p:sp>
        <p:nvSpPr>
          <p:cNvPr id="56" name="TextBox 55"/>
          <p:cNvSpPr txBox="1"/>
          <p:nvPr/>
        </p:nvSpPr>
        <p:spPr>
          <a:xfrm>
            <a:off x="64008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2,76 TB</a:t>
            </a:r>
          </a:p>
        </p:txBody>
      </p:sp>
      <p:sp>
        <p:nvSpPr>
          <p:cNvPr id="57" name="TextBox 56"/>
          <p:cNvSpPr txBox="1"/>
          <p:nvPr/>
        </p:nvSpPr>
        <p:spPr>
          <a:xfrm>
            <a:off x="64008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al día, con mil bombas</a:t>
            </a:r>
          </a:p>
        </p:txBody>
      </p:sp>
      <p:cxnSp>
        <p:nvCxnSpPr>
          <p:cNvPr id="58" name="Connector 57"/>
          <p:cNvCxnSpPr/>
          <p:nvPr/>
        </p:nvCxnSpPr>
        <p:spPr>
          <a:xfrm>
            <a:off x="4378960" y="2011680"/>
            <a:ext cx="3434080" cy="0"/>
          </a:xfrm>
          <a:prstGeom prst="line">
            <a:avLst/>
          </a:prstGeom>
          <a:ln w="30480">
            <a:solidFill>
              <a:srgbClr val="071329"/>
            </a:solidFill>
          </a:ln>
        </p:spPr>
      </p:cxnSp>
      <p:sp>
        <p:nvSpPr>
          <p:cNvPr id="59" name="TextBox 58"/>
          <p:cNvSpPr txBox="1"/>
          <p:nvPr/>
        </p:nvSpPr>
        <p:spPr>
          <a:xfrm>
            <a:off x="437896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EVENTO CADA 10 S</a:t>
            </a:r>
          </a:p>
        </p:txBody>
      </p:sp>
      <p:sp>
        <p:nvSpPr>
          <p:cNvPr id="60" name="TextBox 59"/>
          <p:cNvSpPr txBox="1"/>
          <p:nvPr/>
        </p:nvSpPr>
        <p:spPr>
          <a:xfrm>
            <a:off x="4378960" y="2416912"/>
            <a:ext cx="3738880" cy="1041197"/>
          </a:xfrm>
          <a:prstGeom prst="rect">
            <a:avLst/>
          </a:prstGeom>
          <a:noFill/>
        </p:spPr>
        <p:txBody>
          <a:bodyPr wrap="square" lIns="0" tIns="0" rIns="0" bIns="0" anchor="t">
            <a:noAutofit/>
          </a:bodyPr>
          <a:lstStyle/>
          <a:p>
            <a:r>
              <a:rPr sz="6720" b="1" spc="-132" lang="es-CO">
                <a:solidFill>
                  <a:srgbClr val="071329"/>
                </a:solidFill>
                <a:latin typeface="Calibri"/>
              </a:rPr>
              <a:t>8,64 M</a:t>
            </a:r>
          </a:p>
        </p:txBody>
      </p:sp>
      <p:sp>
        <p:nvSpPr>
          <p:cNvPr id="61" name="TextBox 60"/>
          <p:cNvSpPr txBox="1"/>
          <p:nvPr/>
        </p:nvSpPr>
        <p:spPr>
          <a:xfrm>
            <a:off x="437896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cxnSp>
        <p:nvCxnSpPr>
          <p:cNvPr id="62" name="Connector 61"/>
          <p:cNvCxnSpPr/>
          <p:nvPr/>
        </p:nvCxnSpPr>
        <p:spPr>
          <a:xfrm>
            <a:off x="8117840" y="2011680"/>
            <a:ext cx="3434080" cy="0"/>
          </a:xfrm>
          <a:prstGeom prst="line">
            <a:avLst/>
          </a:prstGeom>
          <a:ln w="30480">
            <a:solidFill>
              <a:srgbClr val="6D28D9"/>
            </a:solidFill>
          </a:ln>
        </p:spPr>
      </p:cxnSp>
      <p:sp>
        <p:nvSpPr>
          <p:cNvPr id="63" name="TextBox 62"/>
          <p:cNvSpPr txBox="1"/>
          <p:nvPr/>
        </p:nvSpPr>
        <p:spPr>
          <a:xfrm>
            <a:off x="8117840" y="2194560"/>
            <a:ext cx="3434080" cy="182880"/>
          </a:xfrm>
          <a:prstGeom prst="rect">
            <a:avLst/>
          </a:prstGeom>
          <a:noFill/>
        </p:spPr>
        <p:txBody>
          <a:bodyPr wrap="square" lIns="0" tIns="0" rIns="0" bIns="0" anchor="t">
            <a:noAutofit/>
          </a:bodyPr>
          <a:lstStyle/>
          <a:p>
            <a:r>
              <a:rPr sz="1140" b="1" spc="46" lang="es-CO">
                <a:solidFill>
                  <a:srgbClr val="2448FF"/>
                </a:solidFill>
                <a:latin typeface="Courier New"/>
              </a:rPr>
              <a:t>UN RESUMEN POR MINUTO</a:t>
            </a:r>
          </a:p>
        </p:txBody>
      </p:sp>
      <p:sp>
        <p:nvSpPr>
          <p:cNvPr id="64" name="TextBox 63"/>
          <p:cNvSpPr txBox="1"/>
          <p:nvPr/>
        </p:nvSpPr>
        <p:spPr>
          <a:xfrm>
            <a:off x="8117840" y="2416912"/>
            <a:ext cx="3738880" cy="1041197"/>
          </a:xfrm>
          <a:prstGeom prst="rect">
            <a:avLst/>
          </a:prstGeom>
          <a:noFill/>
        </p:spPr>
        <p:txBody>
          <a:bodyPr wrap="square" lIns="0" tIns="0" rIns="0" bIns="0" anchor="t">
            <a:noAutofit/>
          </a:bodyPr>
          <a:lstStyle/>
          <a:p>
            <a:r>
              <a:rPr sz="6720" b="1" spc="-132" lang="es-CO">
                <a:solidFill>
                  <a:srgbClr val="6D28D9"/>
                </a:solidFill>
                <a:latin typeface="Calibri"/>
              </a:rPr>
              <a:t>1,44 M</a:t>
            </a:r>
          </a:p>
        </p:txBody>
      </p:sp>
      <p:sp>
        <p:nvSpPr>
          <p:cNvPr id="65" name="TextBox 64"/>
          <p:cNvSpPr txBox="1"/>
          <p:nvPr/>
        </p:nvSpPr>
        <p:spPr>
          <a:xfrm>
            <a:off x="8117840" y="3470910"/>
            <a:ext cx="3434080" cy="260299"/>
          </a:xfrm>
          <a:prstGeom prst="rect">
            <a:avLst/>
          </a:prstGeom>
          <a:noFill/>
        </p:spPr>
        <p:txBody>
          <a:bodyPr wrap="square" lIns="0" tIns="0" rIns="0" bIns="0" anchor="t">
            <a:noAutofit/>
          </a:bodyPr>
          <a:lstStyle/>
          <a:p>
            <a:r>
              <a:rPr sz="1680" b="0" lang="es-CO">
                <a:solidFill>
                  <a:srgbClr val="475569"/>
                </a:solidFill>
                <a:latin typeface="Calibri"/>
              </a:rPr>
              <a:t>mensajes al día</a:t>
            </a:r>
          </a:p>
        </p:txBody>
      </p:sp>
      <p:sp>
        <p:nvSpPr>
          <p:cNvPr id="66" name="Remate"/>
          <p:cNvSpPr txBox="1"/>
          <p:nvPr/>
        </p:nvSpPr>
        <p:spPr>
          <a:xfrm>
            <a:off x="640080" y="4480560"/>
            <a:ext cx="10911840" cy="346558"/>
          </a:xfrm>
          <a:prstGeom prst="rect">
            <a:avLst/>
          </a:prstGeom>
          <a:noFill/>
        </p:spPr>
        <p:txBody>
          <a:bodyPr wrap="square" lIns="0" tIns="0" rIns="0" bIns="0" anchor="t">
            <a:noAutofit/>
          </a:bodyPr>
          <a:lstStyle/>
          <a:p>
            <a:r>
              <a:rPr sz="2039" b="0" lang="es-CO">
                <a:solidFill>
                  <a:srgbClr val="071329"/>
                </a:solidFill>
                <a:latin typeface="Calibri"/>
              </a:rPr>
              <a:t>El audio se queda en la estación. Sale un evento de </a:t>
            </a:r>
            <a:r>
              <a:rPr sz="2039" b="1" lang="es-CO">
                <a:solidFill>
                  <a:srgbClr val="6D28D9"/>
                </a:solidFill>
                <a:latin typeface="Calibri"/>
              </a:rPr>
              <a:t>unos cientos de bytes</a:t>
            </a:r>
            <a:r>
              <a:rPr sz="2039" b="0" lang="es-CO">
                <a:solidFill>
                  <a:srgbClr val="071329"/>
                </a:solidFill>
                <a:latin typeface="Calibri"/>
              </a:rPr>
              <a:t>.</a:t>
            </a:r>
          </a:p>
        </p:txBody>
      </p:sp>
      <p:sp>
        <p:nvSpPr>
          <p:cNvPr id="67" name="Fuente"/>
          <p:cNvSpPr txBox="1"/>
          <p:nvPr/>
        </p:nvSpPr>
        <p:spPr>
          <a:xfrm>
            <a:off x="640080" y="5654040"/>
            <a:ext cx="10911840" cy="167640"/>
          </a:xfrm>
          <a:prstGeom prst="rect">
            <a:avLst/>
          </a:prstGeom>
          <a:noFill/>
        </p:spPr>
        <p:txBody>
          <a:bodyPr wrap="square" lIns="0" tIns="0" rIns="0" bIns="0" anchor="t">
            <a:noAutofit/>
          </a:bodyPr>
          <a:lstStyle/>
          <a:p>
            <a:r>
              <a:rPr sz="900" b="0" lang="es-CO">
                <a:solidFill>
                  <a:srgbClr val="5C7290"/>
                </a:solidFill>
                <a:latin typeface="Calibri"/>
              </a:rPr>
              <a:t>Cálculo: 16 000 muestras/s × 2 B = 32 000 B/s ≈ 115 MB/h ≈ 2,76 GB/día por bomba · eventos: 86 400 s ÷ 10 s = 8 640/día por bomba · resumen: 1 440 min/día · todo × 1 000 bombas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fade">
                                      <p:cBhvr>
                                        <p:cTn id="7" dur="400"/>
                                        <p:tgtEl>
                                          <p:spTgt spid="5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9"/>
                                        </p:tgtEl>
                                        <p:attrNameLst>
                                          <p:attrName>style.visibility</p:attrName>
                                        </p:attrNameLst>
                                      </p:cBhvr>
                                      <p:to>
                                        <p:strVal val="visible"/>
                                      </p:to>
                                    </p:set>
                                    <p:animEffect transition="in" filter="fade">
                                      <p:cBhvr>
                                        <p:cTn id="10" dur="400"/>
                                        <p:tgtEl>
                                          <p:spTgt spid="5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0"/>
                                        </p:tgtEl>
                                        <p:attrNameLst>
                                          <p:attrName>style.visibility</p:attrName>
                                        </p:attrNameLst>
                                      </p:cBhvr>
                                      <p:to>
                                        <p:strVal val="visible"/>
                                      </p:to>
                                    </p:set>
                                    <p:animEffect transition="in" filter="fade">
                                      <p:cBhvr>
                                        <p:cTn id="13" dur="400"/>
                                        <p:tgtEl>
                                          <p:spTgt spid="6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1"/>
                                        </p:tgtEl>
                                        <p:attrNameLst>
                                          <p:attrName>style.visibility</p:attrName>
                                        </p:attrNameLst>
                                      </p:cBhvr>
                                      <p:to>
                                        <p:strVal val="visible"/>
                                      </p:to>
                                    </p:set>
                                    <p:animEffect transition="in" filter="fade">
                                      <p:cBhvr>
                                        <p:cTn id="16" dur="400"/>
                                        <p:tgtEl>
                                          <p:spTgt spid="61"/>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2"/>
                                        </p:tgtEl>
                                        <p:attrNameLst>
                                          <p:attrName>style.visibility</p:attrName>
                                        </p:attrNameLst>
                                      </p:cBhvr>
                                      <p:to>
                                        <p:strVal val="visible"/>
                                      </p:to>
                                    </p:set>
                                    <p:animEffect transition="in" filter="fade">
                                      <p:cBhvr>
                                        <p:cTn id="21" dur="400"/>
                                        <p:tgtEl>
                                          <p:spTgt spid="6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63"/>
                                        </p:tgtEl>
                                        <p:attrNameLst>
                                          <p:attrName>style.visibility</p:attrName>
                                        </p:attrNameLst>
                                      </p:cBhvr>
                                      <p:to>
                                        <p:strVal val="visible"/>
                                      </p:to>
                                    </p:set>
                                    <p:animEffect transition="in" filter="fade">
                                      <p:cBhvr>
                                        <p:cTn id="24" dur="400"/>
                                        <p:tgtEl>
                                          <p:spTgt spid="63"/>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64"/>
                                        </p:tgtEl>
                                        <p:attrNameLst>
                                          <p:attrName>style.visibility</p:attrName>
                                        </p:attrNameLst>
                                      </p:cBhvr>
                                      <p:to>
                                        <p:strVal val="visible"/>
                                      </p:to>
                                    </p:set>
                                    <p:animEffect transition="in" filter="fade">
                                      <p:cBhvr>
                                        <p:cTn id="27" dur="400"/>
                                        <p:tgtEl>
                                          <p:spTgt spid="64"/>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fade">
                                      <p:cBhvr>
                                        <p:cTn id="30" dur="400"/>
                                        <p:tgtEl>
                                          <p:spTgt spid="65"/>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4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P spid="59" grpId="0"/>
      <p:bldP spid="60" grpId="0"/>
      <p:bldP spid="61" grpId="0"/>
      <p:bldP spid="62" grpId="0" animBg="1"/>
      <p:bldP spid="63" grpId="0"/>
      <p:bldP spid="64" grpId="0"/>
      <p:bldP spid="65" grpId="0"/>
      <p:bldP spid="66" grpId="0"/>
    </p:bldLst>
  </p:timing>
</p:sld>
</file>

<file path=ppt/theme/theme1.xml><?xml version="1.0" encoding="utf-8"?>
<a:theme xmlns:a="http://schemas.openxmlformats.org/drawingml/2006/main" name="DevOpsDays Bogota 2026">
  <a:themeElements>
    <a:clrScheme name="DevOpsDays Bogota 2026">
      <a:dk1>
        <a:srgbClr val="071329"/>
      </a:dk1>
      <a:lt1>
        <a:srgbClr val="FFFFFF"/>
      </a:lt1>
      <a:dk2>
        <a:srgbClr val="475569"/>
      </a:dk2>
      <a:lt2>
        <a:srgbClr val="F4F7FC"/>
      </a:lt2>
      <a:accent1>
        <a:srgbClr val="6D28D9"/>
      </a:accent1>
      <a:accent2>
        <a:srgbClr val="F000A8"/>
      </a:accent2>
      <a:accent3>
        <a:srgbClr val="00BCEB"/>
      </a:accent3>
      <a:accent4>
        <a:srgbClr val="2448FF"/>
      </a:accent4>
      <a:accent5>
        <a:srgbClr val="6D28D9"/>
      </a:accent5>
      <a:accent6>
        <a:srgbClr val="009CB0"/>
      </a:accent6>
      <a:hlink>
        <a:srgbClr val="1F6C93"/>
      </a:hlink>
      <a:folHlink>
        <a:srgbClr val="6D28D9"/>
      </a:folHlink>
    </a:clrScheme>
    <a:fontScheme name="DevOpsDays Bogota 2026">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DevOpsDays Bogota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a ciegas · DevOpsDays Bogotá 2026</dc:title>
  <dc:subject>Plantilla maestra para speakers</dc:subject>
  <dc:creator>Alejandro Varela</dc:creator>
  <cp:lastModifiedBy>DevOpsDays Bogota 2026</cp:lastModifiedBy>
  <cp:revision>1</cp:revision>
  <dcterms:created xsi:type="dcterms:W3CDTF">2026-10-07T02:37:51Z</dcterms:created>
  <dcterms:modified xsi:type="dcterms:W3CDTF">2026-10-07T02:37:51Z</dcterms:modified>
</cp:coreProperties>
</file>