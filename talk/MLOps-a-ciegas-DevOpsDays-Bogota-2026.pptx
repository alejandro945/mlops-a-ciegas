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710A185-109B-4E12-8B17-517CD6F12646}">
          <p14:sldIdLst>
            <p14:sldId id="256"/>
            <p14:sldId id="257"/>
            <p14:sldId id="258"/>
            <p14:sldId id="259"/>
            <p14:sldId id="260"/>
            <p14:sldId id="261"/>
            <p14:sldId id="262"/>
          </p14:sldIdLst>
        </p14:section>
        <p14:section name="01 · El problema" id="{BD8C383B-4287-4FEB-886E-620034AD3774}">
          <p14:sldIdLst>
            <p14:sldId id="263"/>
            <p14:sldId id="264"/>
            <p14:sldId id="265"/>
            <p14:sldId id="266"/>
          </p14:sldIdLst>
        </p14:section>
        <p14:section name="02 · El patrón" id="{5C0BDFF7-5396-4553-A55C-4C37278095C4}">
          <p14:sldIdLst>
            <p14:sldId id="267"/>
            <p14:sldId id="268"/>
            <p14:sldId id="269"/>
            <p14:sldId id="270"/>
            <p14:sldId id="271"/>
          </p14:sldIdLst>
        </p14:section>
        <p14:section name="03 · Los seis pasos" id="{6E3A9D73-D7DA-4DDD-A736-08C0B43AB430}">
          <p14:sldIdLst>
            <p14:sldId id="272"/>
            <p14:sldId id="273"/>
            <p14:sldId id="274"/>
            <p14:sldId id="275"/>
            <p14:sldId id="276"/>
            <p14:sldId id="277"/>
            <p14:sldId id="278"/>
            <p14:sldId id="279"/>
          </p14:sldIdLst>
        </p14:section>
        <p14:section name="04 · La evidencia en AWS" id="{E5FED4FC-1E07-4890-B909-A205A6DFD03E}">
          <p14:sldIdLst>
            <p14:sldId id="280"/>
            <p14:sldId id="281"/>
            <p14:sldId id="282"/>
            <p14:sldId id="283"/>
            <p14:sldId id="284"/>
          </p14:sldIdLst>
        </p14:section>
        <p14:section name="Cierre" id="{6E922140-14C4-4DC9-8FD7-A1B7E506508A}">
          <p14:sldIdLst>
            <p14:sldId id="285"/>
            <p14:sldId id="286"/>
            <p14:sldId id="287"/>
            <p14:sldId id="288"/>
          </p14:sldIdLst>
        </p14:section>
        <p14:section name="Anexos" id="{F5D88991-EB01-4560-A7AA-66C33339BFD6}">
          <p14:sldIdLst>
            <p14:sldId id="289"/>
            <p14:sldId id="290"/>
            <p14:sldId id="291"/>
            <p14:sldId id="292"/>
            <p14:sldId id="293"/>
            <p14:sldId id="294"/>
            <p14:sldId id="295"/>
            <p14:sldId id="296"/>
            <p14:sldId id="297"/>
            <p14:sldId id="29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 y arranca con el gancho, sin saludar.)*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HACE UN AÑO: SE CAE US-EAST-1</a:t>
            </a:r>
          </a:p>
          <a:p/>
          <a:p>
            <a:r>
              <a:t>0:35 · 1 clic · *antes de presentarte; sin saludar todavía*</a:t>
            </a:r>
          </a:p>
          <a:p/>
          <a:p>
            <a:r>
              <a:t>'El 20 de octubre del año pasado, hace casi exactamente un año, se cayó us-east-1. Muchos de ustedes lo vivieron desde operaciones: horas de servicios detenidos.' *(pausa)*</a:t>
            </a:r>
          </a:p>
          <a:p/>
          <a:p>
            <a:r>
              <a:t>'Pero hubo una víctima que nadie esperaba: una marca de camas inteligentes, de unos dos mil dólares, que controlaba la temperatura y la inclinación desde la nube. Cuando la región cayó, las camas se quedaron en su último estado: calientes, inclinadas, en plena noche, con sus dueños encima.' *(pausa)*</a:t>
            </a:r>
          </a:p>
          <a:p/>
          <a:p>
            <a:r>
              <a:t>▶ CLIC 'La solución que publicaron fue un modo sin conexión: llevar la decisión al dispositivo. Eso es edge. Y no fue una falla de AWS: fue una decisión de arquitectura. Cada vez más, esa decisión va a ser nuestra.'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SOBRE MÍ</a:t>
            </a:r>
          </a:p>
          <a:p/>
          <a:p>
            <a:r>
              <a:t>0:25 · sin clics</a:t>
            </a:r>
          </a:p>
          <a:p/>
          <a:p>
            <a:r>
              <a:t>'Buenos días. Soy Alejandro Varela, Senior Cloud Engineer en EPAM, y esa decisión es justamente mi trabajo: diseñar cómo se despliegan y se operan modelos de IA en equipos de campo, lugares sin conectividad estable y sin nadie que los atienda.'</a:t>
            </a:r>
          </a:p>
          <a:p/>
          <a:p>
            <a:r>
              <a:t>'Hoy les voy a mostrar el patrón que uso para eso, con una implementación completa en AWS.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¿ESTA BOMBA ESTÁ FALLANDO?</a:t>
            </a:r>
          </a:p>
          <a:p/>
          <a:p>
            <a:r>
              <a:t>1:10 · 3 clics · *el control reproduce los audios (10 s cada uno); un clic mientras suena lo detiene sin avanzar*</a:t>
            </a:r>
          </a:p>
          <a:p/>
          <a:p>
            <a:r>
              <a:t>'Bomba A.' ▶ CLIC *(suena A)*</a:t>
            </a:r>
          </a:p>
          <a:p/>
          <a:p>
            <a:r>
              <a:t>'Bomba B.' ▶ CLIC *(suena B)*</a:t>
            </a:r>
          </a:p>
          <a:p/>
          <a:p>
            <a:r>
              <a:t>▶ CLIC '¿Alguna de las dos está fallando? Levanten la mano: ¿la A?' *(cuenta)* '¿La B?' *(cuenta)* '¿Las dos?' *(cuenta)* 'La respuesta la vamos a ver con datos más adelante.'</a:t>
            </a:r>
          </a:p>
          <a:p/>
          <a:p>
            <a:r>
              <a:t>'Los audios son reales, del dataset MIMII DUE de Hitachi. Este es el caso: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decidieron ahí mismo, con lo que ya saben y su experiencia, sin preguntarle a ChatGPT.' *(pausa)* 'Eso es inferencia en el borde: el conocimiento vive donde está el dato, y la decisión no depende de la red.'</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CONTENIDO DE LA SESIÓN</a:t>
            </a:r>
          </a:p>
          <a:p/>
          <a:p>
            <a:r>
              <a:t>0:15 · sin clics</a:t>
            </a:r>
          </a:p>
          <a:p/>
          <a:p>
            <a:r>
              <a:t>'La charla tiene cuatro partes: el problema, el patrón de arquitectura, la implementación en seis pasos y la evidencia de una ejecución real en AWS.'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01 · EL PROBLEMA</a:t>
            </a:r>
          </a:p>
          <a:p/>
          <a:p>
            <a:r>
              <a:t>0:05 · *reloj: 3:55*</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*reloj: 6:35*</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ANTES DE PROTEGER EL MODELO, PROTEGE EL EQUIPO</a:t>
            </a:r>
          </a:p>
          <a:p/>
          <a:p>
            <a:r>
              <a:t>0:50 · 4 clics</a:t>
            </a:r>
          </a:p>
          <a:p/>
          <a:p>
            <a:r>
              <a:t>'Un punto que suele quedar fuera de las discusiones de MLOps: estos equipos están físicamente expuestos. Cualquiera puede abrir el gabinete de una estación rural.'</a:t>
            </a:r>
          </a:p>
          <a:p/>
          <a:p>
            <a:r>
              <a:t>'Antes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mismos eventos alimentan el reentrenamiento: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03 · LOS SEIS PASOS</a:t>
            </a:r>
          </a:p>
          <a:p/>
          <a:p>
            <a:r>
              <a:t>0:10 · *reloj: 9:50*</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1 · ENTRENAR CON SONIDO NORMAL</a:t>
            </a:r>
          </a:p>
          <a:p/>
          <a:p>
            <a:r>
              <a:t>0:50 · 3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a:t>
            </a:r>
          </a:p>
          <a:p/>
          <a:p>
            <a:r>
              <a:t>▶ CLIC 'En la consola: un prefijo por versión, 1.0.0 y 2.0.0. Una versión publicada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mi portátil,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3 · EMPAQUETAR COMO COMPONENTE</a:t>
            </a:r>
          </a:p>
          <a:p/>
          <a:p>
            <a:r>
              <a:t>1:00 · 5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 CLIC 'En la consola: el componente con sus dos versiones. 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4 · DESPLEGAR POR RINGS</a:t>
            </a:r>
          </a:p>
          <a:p/>
          <a:p>
            <a:r>
              <a:t>1:05 · 4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a:p/>
          <a:p>
            <a:r>
              <a:t>▶ CLIC 'Este es el estado en la consola al terminar el ensayo: un despliegue activo por ring. Observen el nombre del despliegue del ring 0; lo explico en el acto 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5 · OPERAR SIN RED</a:t>
            </a:r>
          </a:p>
          <a:p/>
          <a:p>
            <a:r>
              <a:t>0:40 · 2 clics</a:t>
            </a:r>
          </a:p>
          <a:p/>
          <a:p>
            <a:r>
              <a:t>'Paso cinco: operación desconectada. Greengrass encola los eventos localmente hasta que vuelve la conectividad. Para equipos con muy poca memoria existe una versión ligera del agente, escrita en C.'</a:t>
            </a:r>
          </a:p>
          <a:p/>
          <a:p>
            <a:r>
              <a:t>▶ CLIC 'La estación sigue decidiendo y alertando sin red, porque todo lo necesario está en el equipo. Un detalle de diseño: la cola por defecto vive en memoria y descarta mensajes al llenarse. Para desconexiones largas, debe ir a disco.'</a:t>
            </a:r>
          </a:p>
          <a:p/>
          <a:p>
            <a:r>
              <a:t>▶ CLIC 'En la consola: cinco core devices, todos en estado Healthy. El comportamiento sin red lo vemos en el acto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PASO 6 · MONITOREAR LO QUE DECIDE EL MODELO</a:t>
            </a:r>
          </a:p>
          <a:p/>
          <a:p>
            <a:r>
              <a:t>1:25 · 5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los controles del equipo van primero.'</a:t>
            </a:r>
          </a:p>
          <a:p/>
          <a:p>
            <a:r>
              <a:t>▶ CLIC 'En el ensayo, el gate usa la verdad de cada clip, porque sé qué audio está sonando. En producción esa etiqueta llega tarde, con la orden de mantenimiento. Las tres señales no la necesitan: funcionan desde el primer día.'</a:t>
            </a:r>
          </a:p>
          <a:p/>
          <a:p>
            <a:r>
              <a:t>▶ CLIC 'Este es el dashboard, organizado por esas tres señales. Lo vamos a ver con datos reales en un momento.'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A MANO ALZADA</a:t>
            </a:r>
          </a:p>
          <a:p/>
          <a:p>
            <a:r>
              <a:t>0:30 · 1 clic</a:t>
            </a:r>
          </a:p>
          <a:p/>
          <a:p>
            <a:r>
              <a:t>'Antes de la evidencia, una pregunta: ¿quiénes saben con certeza qué versión de modelo corre en cada uno de sus equipos?' *(espera)* 'Ahora, que bajen la mano quienes tuvieron que pensarlo.' *(pausa)*</a:t>
            </a:r>
          </a:p>
          <a:p/>
          <a:p>
            <a:r>
              <a:t>▶ CLIC 'En esta arquitectura, la respuesta sale del plano de control, sin acceder a ningún equipo: ring 0, versión 1.0.0, activo; ring 1, versión 1.0.0, activo.'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04 · LA EVIDENCIA EN AWS</a:t>
            </a:r>
          </a:p>
          <a:p/>
          <a:p>
            <a:r>
              <a:t>0:05 · *reloj: 16:30*</a:t>
            </a:r>
          </a:p>
          <a:p/>
          <a:p>
            <a:r>
              <a:t>'Pasemos a la evidencia: una ejecución completa en AWS.'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LO QUE MONTÉ Y CORRÍ</a:t>
            </a:r>
          </a:p>
          <a:p/>
          <a:p>
            <a:r>
              <a:t>0:30 · sin clics</a:t>
            </a:r>
          </a:p>
          <a:p/>
          <a:p>
            <a:r>
              <a:t>'El entorno: cinco bombas simuladas, cada una un contenedor con el agente real de Greengrass sobre una instancia EC2. La bomba 1 es el canary; de la 2 a la 5, el ring 1. El audio es real y la infraestructura se despliega con Terraform desde GitHub Actions.'</a:t>
            </a:r>
          </a:p>
          <a:p/>
          <a:p>
            <a:r>
              <a:t>'Lo que sigue son los eventos y las métricas de la ejecución del 18 de octubre,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ACTO 3 · RING DEPLOYMENT Y ROLLBACK</a:t>
            </a:r>
          </a:p>
          <a:p/>
          <a:p>
            <a:r>
              <a:t>1:20 · 2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y el ring 1 nunca recibió la versión defectuosa.' *(pausa)* 'Ese es el nombre que vieron en la consola: rollback.'</a:t>
            </a:r>
          </a:p>
          <a:p/>
          <a:p>
            <a:r>
              <a:t>▶ CLIC 'La alarma en CloudWatch: las fallas no detectadas superan el umbral de 8 por minuto, y la franja roja marca el periodo en ALARM.'</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CINCO RECOMENDACIONES</a:t>
            </a:r>
          </a:p>
          <a:p/>
          <a:p>
            <a:r>
              <a:t>1:05 · 4 clics · *reloj: 20:15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 Y mantengan el dato crudo en el equipo.'</a:t>
            </a:r>
          </a:p>
          <a:p/>
          <a:p>
            <a:r>
              <a:t>*(Si el reloj marca 20:35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LA FRASE FINAL: ¿ESTA BOMBA ESTÁ FALLANDO?</a:t>
            </a:r>
          </a:p>
          <a:p/>
          <a:p>
            <a:r>
              <a:t>0:45 · 3 clics · *el primer clic reproduce la bomba B*</a:t>
            </a:r>
          </a:p>
          <a:p/>
          <a:p>
            <a:r>
              <a:t>'Volvamos a la pregunta inicial: ¿esta bomba está fallando?' ▶ CLIC *(suena B; córtala con otro clic a los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GRACIAS</a:t>
            </a:r>
          </a:p>
          <a:p/>
          <a:p>
            <a:r>
              <a:t>0:15 · sin clics</a:t>
            </a:r>
          </a:p>
          <a:p/>
          <a:p>
            <a:r>
              <a:t>'Muchas gracias. Con gusto respondo sus preguntas.'</a:t>
            </a:r>
          </a:p>
          <a:p/>
          <a:p>
            <a:r>
              <a:t>*Anexos: en PowerPoint escribe el número de la lámina y Enter (A1 = 34 … A8 = 41); para volver, el de la lámina donde estabas. A1 evento · A2 rollback · A3 qué revierte Greengrass · A4 permisos y costo · A5 a producción · A6 drift · A7 regulación · A8 fuentes · A9 golden signals · A10 audio contra eventos.*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2.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gif"/><Relationship Id="rId3" Type="http://schemas.openxmlformats.org/officeDocument/2006/relationships/image" Target="../media/image18.gif"/><Relationship Id="rId4" Type="http://schemas.openxmlformats.org/officeDocument/2006/relationships/image" Target="../media/image19.gif"/><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jp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jpg"/><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77.jp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jp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7.jpg"/><Relationship Id="rId3" Type="http://schemas.openxmlformats.org/officeDocument/2006/relationships/image" Target="../media/image88.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9.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0.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HACE UN AÑO</a:t>
            </a:r>
          </a:p>
        </p:txBody>
      </p:sp>
      <p:sp>
        <p:nvSpPr>
          <p:cNvPr id="3" name="Title 2"/>
          <p:cNvSpPr>
            <a:spLocks noGrp="1"/>
          </p:cNvSpPr>
          <p:nvPr>
            <p:ph type="title" idx="107"/>
          </p:nvPr>
        </p:nvSpPr>
        <p:spPr/>
        <p:txBody>
          <a:bodyPr lIns="0"/>
          <a:lstStyle/>
          <a:p>
            <a:r>
              <a:rPr lang="es-CO"/>
              <a:t>20 de octubre de 2025: </a:t>
            </a:r>
            <a:r>
              <a:rPr b="1" lang="es-CO">
                <a:solidFill>
                  <a:srgbClr val="6D28D9"/>
                </a:solidFill>
              </a:rPr>
              <a:t>se cae us-east-1</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Una marca de camas inteligentes controlaba la temperatura y la inclinación desde la nube.</a:t>
            </a:r>
          </a:p>
        </p:txBody>
      </p:sp>
      <p:grpSp>
        <p:nvGrpSpPr>
          <p:cNvPr id="4" name="Captura de AWS"/>
          <p:cNvGrpSpPr/>
          <p:nvPr/>
        </p:nvGrpSpPr>
        <p:grpSpPr>
          <a:xfrm>
            <a:off x="3504820" y="1889760"/>
            <a:ext cx="5182361" cy="3550920"/>
            <a:chOff x="3504820" y="1889760"/>
            <a:chExt cx="5182361" cy="3550920"/>
          </a:xfrm>
        </p:grpSpPr>
        <p:sp>
          <p:nvSpPr>
            <p:cNvPr id="55" name="Ventana"/>
            <p:cNvSpPr/>
            <p:nvPr/>
          </p:nvSpPr>
          <p:spPr>
            <a:xfrm>
              <a:off x="3504820" y="1889760"/>
              <a:ext cx="5182361" cy="3550920"/>
            </a:xfrm>
            <a:prstGeom prst="roundRect">
              <a:avLst>
                <a:gd name="adj" fmla="val 2575"/>
              </a:avLst>
            </a:prstGeom>
            <a:solidFill>
              <a:srgbClr val="FFFFFF"/>
            </a:solidFill>
            <a:ln w="11430">
              <a:solidFill>
                <a:srgbClr val="D5DEEA"/>
              </a:solidFill>
            </a:ln>
          </p:spPr>
          <p:txBody>
            <a:bodyPr rtlCol="0" anchor="ctr"/>
            <a:lstStyle/>
            <a:p>
              <a:pPr algn="ctr"/>
            </a:p>
          </p:txBody>
        </p:sp>
        <p:sp>
          <p:nvSpPr>
            <p:cNvPr id="56" name="Barra"/>
            <p:cNvSpPr/>
            <p:nvPr/>
          </p:nvSpPr>
          <p:spPr>
            <a:xfrm>
              <a:off x="3512440" y="1897380"/>
              <a:ext cx="5167121" cy="281940"/>
            </a:xfrm>
            <a:prstGeom prst="rect">
              <a:avLst/>
            </a:prstGeom>
            <a:solidFill>
              <a:srgbClr val="F4F7FC"/>
            </a:solidFill>
            <a:ln>
              <a:noFill/>
            </a:ln>
          </p:spPr>
          <p:txBody>
            <a:bodyPr rtlCol="0" anchor="ctr"/>
            <a:lstStyle/>
            <a:p>
              <a:pPr algn="ctr"/>
            </a:p>
          </p:txBody>
        </p:sp>
        <p:sp>
          <p:nvSpPr>
            <p:cNvPr id="57" name="Punto"/>
            <p:cNvSpPr/>
            <p:nvPr/>
          </p:nvSpPr>
          <p:spPr>
            <a:xfrm>
              <a:off x="3626740" y="199263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3771520" y="199263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3916300" y="199263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4160140" y="1889760"/>
              <a:ext cx="4420361" cy="289560"/>
            </a:xfrm>
            <a:prstGeom prst="rect">
              <a:avLst/>
            </a:prstGeom>
            <a:noFill/>
          </p:spPr>
          <p:txBody>
            <a:bodyPr wrap="square" lIns="0" tIns="0" rIns="0" bIns="0" anchor="ctr">
              <a:noAutofit/>
            </a:bodyPr>
            <a:lstStyle/>
            <a:p>
              <a:r>
                <a:rPr sz="960" b="0" lang="es-CO">
                  <a:solidFill>
                    <a:srgbClr val="475569"/>
                  </a:solidFill>
                  <a:latin typeface="Courier New"/>
                </a:rPr>
                <a:t>prensa · octubre de 2025 · imagen: </a:t>
              </a:r>
              <a:r>
                <a:rPr sz="960" b="1" lang="es-CO">
                  <a:solidFill>
                    <a:srgbClr val="6D28D9"/>
                  </a:solidFill>
                  <a:latin typeface="Courier New"/>
                </a:rPr>
                <a:t>Eight Sleep</a:t>
              </a:r>
            </a:p>
          </p:txBody>
        </p:sp>
        <p:pic>
          <p:nvPicPr>
            <p:cNvPr id="61" name="Captura" descr="shot_gancho_0.jpg"/>
            <p:cNvPicPr>
              <a:picLocks noChangeAspect="1"/>
            </p:cNvPicPr>
            <p:nvPr/>
          </p:nvPicPr>
          <p:blipFill>
            <a:blip r:embed="rId2"/>
            <a:stretch>
              <a:fillRect/>
            </a:stretch>
          </p:blipFill>
          <p:spPr>
            <a:xfrm>
              <a:off x="3504820" y="2179320"/>
              <a:ext cx="5182361" cy="3261360"/>
            </a:xfrm>
            <a:prstGeom prst="rect">
              <a:avLst/>
            </a:prstGeom>
          </p:spPr>
        </p:pic>
      </p:grpSp>
      <p:sp>
        <p:nvSpPr>
          <p:cNvPr id="62"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La solución fue decidir en el dispositivo. </a:t>
            </a:r>
            <a:r>
              <a:rPr sz="1680" b="1" lang="es-CO">
                <a:solidFill>
                  <a:srgbClr val="6D28D9"/>
                </a:solidFill>
                <a:latin typeface="Calibri"/>
              </a:rPr>
              <a:t>Eso es edge.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La evidencia en AWS</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Una ejecución real: una falla, un corte de red y un rollback automático.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La evidencia en AWS</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