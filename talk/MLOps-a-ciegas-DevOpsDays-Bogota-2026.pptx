
<file path=[Content_Types].xml><?xml version="1.0" encoding="utf-8"?>
<Types xmlns="http://schemas.openxmlformats.org/package/2006/content-types">
  <Default Extension="gif" ContentType="image/gif"/>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6"/>
    <p:sldId id="276" r:id="rId5"/>
    <p:sldId id="277" r:id="rId4"/>
    <p:sldId id="278" r:id="rId3"/>
    <p:sldId id="279" r:id="rId2"/>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FAEC2EDB-549D-4B2A-A825-A9151953A7BB}">
          <p14:sldIdLst>
            <p14:sldId id="256"/>
            <p14:sldId id="257"/>
            <p14:sldId id="258"/>
            <p14:sldId id="259"/>
            <p14:sldId id="260"/>
            <p14:sldId id="261"/>
          </p14:sldIdLst>
        </p14:section>
        <p14:section name="01 · El problema" id="{881D1EAC-56CA-40B8-83F4-CB91DD92B4D1}">
          <p14:sldIdLst>
            <p14:sldId id="262"/>
            <p14:sldId id="263"/>
            <p14:sldId id="264"/>
            <p14:sldId id="265"/>
            <p14:sldId id="266"/>
          </p14:sldIdLst>
        </p14:section>
        <p14:section name="02 · El patrón" id="{CB060CA8-BBE0-46ED-A3F7-BE0BD0E4ED94}">
          <p14:sldIdLst>
            <p14:sldId id="267"/>
            <p14:sldId id="268"/>
            <p14:sldId id="269"/>
            <p14:sldId id="270"/>
          </p14:sldIdLst>
        </p14:section>
        <p14:section name="03 · Los seis pasos" id="{045B5224-F067-4925-B87F-03A45C202468}">
          <p14:sldIdLst>
            <p14:sldId id="271"/>
            <p14:sldId id="272"/>
            <p14:sldId id="273"/>
            <p14:sldId id="274"/>
            <p14:sldId id="275"/>
            <p14:sldId id="276"/>
            <p14:sldId id="277"/>
            <p14:sldId id="278"/>
          </p14:sldIdLst>
        </p14:section>
        <p14:section name="04 · Demostración" id="{597E6830-A6FB-4093-B54B-D8B0F4EED440}">
          <p14:sldIdLst>
            <p14:sldId id="279"/>
            <p14:sldId id="280"/>
            <p14:sldId id="281"/>
          </p14:sldIdLst>
        </p14:section>
        <p14:section name="Cierre" id="{2F4B2275-CABD-4E99-9593-6164F0AA5AA5}">
          <p14:sldIdLst>
            <p14:sldId id="282"/>
            <p14:sldId id="283"/>
            <p14:sldId id="284"/>
            <p14:sldId id="285"/>
          </p14:sldIdLst>
        </p14:section>
        <p14:section name="Anexos" id="{DA110AB6-46E5-419E-BFFB-BE76E00893A9}">
          <p14:sldIdLst>
            <p14:sldId id="286"/>
            <p14:sldId id="287"/>
            <p14:sldId id="288"/>
            <p14:sldId id="289"/>
            <p14:sldId id="290"/>
            <p14:sldId id="291"/>
            <p14:sldId id="292"/>
            <p14:sldId id="293"/>
            <p14:sldId id="294"/>
            <p14:sldId id="295"/>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4.xml"/><Relationship Id="rId3" Type="http://schemas.openxmlformats.org/officeDocument/2006/relationships/slide" Target="slides/slide23.xml"/><Relationship Id="rId4" Type="http://schemas.openxmlformats.org/officeDocument/2006/relationships/slide" Target="slides/slide22.xml"/><Relationship Id="rId5" Type="http://schemas.openxmlformats.org/officeDocument/2006/relationships/slide" Target="slides/slide21.xml"/><Relationship Id="rId6" Type="http://schemas.openxmlformats.org/officeDocument/2006/relationships/slide" Target="slides/slide20.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 MLOPS A CIEGAS</a:t>
            </a:r>
          </a:p>
          <a:p/>
          <a:p>
            <a:r>
              <a:t>0:10 · sin clics</a:t>
            </a:r>
          </a:p>
          <a:p/>
          <a:p>
            <a:r>
              <a:t>*En pantalla mientras te presentan. No saludes: cuando te den la palabra, pasa a la lámina 2 y arranca con la bomba A. Antes de subir, prueba que el audio del deck sale por los parlantes de la sala.*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 ¿ESTA BOMBA ESTÁ FALLANDO?</a:t>
            </a:r>
          </a:p>
          <a:p/>
          <a:p>
            <a:r>
              <a:t>1:15 · 1 clic · *sin «buenos días»: lo primero que oye la sala es una bomba*</a:t>
            </a:r>
          </a:p>
          <a:p/>
          <a:p>
            <a:r>
              <a:t>'Bomba A.' *(dale ▶ a la A; deja sonar cinco segundos y detenla)*</a:t>
            </a:r>
          </a:p>
          <a:p/>
          <a:p>
            <a:r>
              <a:t>'Bomba B.' *(dale ▶ a la B; cinco segundos y detenla)*</a:t>
            </a:r>
          </a:p>
          <a:p/>
          <a:p>
            <a:r>
              <a:t>'¿Alguna de estas dos bombas está fallando?'</a:t>
            </a:r>
          </a:p>
          <a:p/>
          <a:p>
            <a:r>
              <a:t>▶ CLIC 'Levanten la mano. ¿La A?' *(cuenta)* '¿La B?' *(cuenta)* '¿Las dos?' *(cuenta)*</a:t>
            </a:r>
          </a:p>
          <a:p/>
          <a:p>
            <a:r>
              <a:t>'No les voy a decir todavía. La respuesta llega más adelante, en vivo.'</a:t>
            </a:r>
          </a:p>
          <a:p/>
          <a:p>
            <a:r>
              <a:t>'Los sonidos son reales: bombas industriales que grabó Hitachi. La empresa es inventada: un acueducto con estaciones de bombeo en veredas, donde la red va y viene y no hay nadie cerca. En cada estación, un equipo pequeño escucha las bombas con un micrófono, y un modelo avisa cuando una empieza a sonar distinto.'</a:t>
            </a:r>
          </a:p>
          <a:p/>
          <a:p>
            <a:r>
              <a:t>'Ustedes acaban de hacer lo que hace ese modelo: oír y decidir. Pero ustedes estaban aquí. Desde la nube, nadie oyó nada.' *(pausa)*</a:t>
            </a:r>
          </a:p>
          <a:p/>
          <a:p>
            <a:r>
              <a:t>'Por eso la charla se llama MLOps a ciegas. Hoy les voy a mostrar cómo gobernar un modelo que corre donde no llega tu plano de control: cómo llega, cómo vuelve atrás y cómo te cuenta lo que decide, sin que el audio salga de la estación.'</a:t>
            </a:r>
          </a:p>
          <a:p/>
          <a:p>
            <a:r>
              <a:t>*En PowerPoint, un clic en «Escuchar» (o en la onda) reproduce el audio; al cambiar de lámina se detiene. Si los botones dicen «audio pendiente», faltaban talk/assets/audio/pump-a.wav y pump-b.wav cuando se armó el PowerPoint: ponlos y vuelve a generarlo. La atribución de MIMII DUE está al pie.*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 COMPUTADORES NUEVOS CON CHIP PARA IA</a:t>
            </a:r>
          </a:p>
          <a:p/>
          <a:p>
            <a:r>
              <a:t>0:35 · 2 clics</a:t>
            </a:r>
          </a:p>
          <a:p/>
          <a:p>
            <a:r>
              <a:t>'¿Por qué debería importarles un modelo en una estación de bombeo? Porque los modelos se están saliendo de la nube. Un número de Gartner.'</a:t>
            </a:r>
          </a:p>
          <a:p/>
          <a:p>
            <a:r>
              <a:t>'De cada cien computadores nuevos que se vendieron en 2024, dieciséis traían un chip para correr IA.'</a:t>
            </a:r>
          </a:p>
          <a:p/>
          <a:p>
            <a:r>
              <a:t>▶ CLIC 'En 2025, treinta y uno.'</a:t>
            </a:r>
          </a:p>
          <a:p/>
          <a:p>
            <a:r>
              <a:t>▶ CLIC 'Para este año, Gartner proyectaba cincuenta y cinco. Más de la mitad.'</a:t>
            </a:r>
          </a:p>
          <a:p/>
          <a:p>
            <a:r>
              <a:t>*Fuente: Gartner, 28 de agosto de 2025: 15,6 % (2024), 31 % (2025), 54,7 % (2026, proyección). Si ya salió la cifra real de 2026, dila en su lugar.*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 POR QUÉ LA IA SALE DE LA NUBE</a:t>
            </a:r>
          </a:p>
          <a:p/>
          <a:p>
            <a:r>
              <a:t>0:55 · 2 clics · *deja que la sala se ría antes de hablar*</a:t>
            </a:r>
          </a:p>
          <a:p/>
          <a:p>
            <a:r>
              <a:t>'¿Y por qué se sale de la nube? Se los explico en el idioma universal: memes.'</a:t>
            </a:r>
          </a:p>
          <a:p/>
          <a:p>
            <a:r>
              <a:t>*Meme 1 · latencia.* 'El carro autónomo: 'dame un segundo, se lo pregunto a la nube'.' *(pausa corta)* 'Cuando la decisión es de milisegundos, la ida y vuelta no alcanza.'</a:t>
            </a:r>
          </a:p>
          <a:p/>
          <a:p>
            <a:r>
              <a:t>▶ CLIC *Meme 2 · sin conexión.* 'Técnico, tres de la mañana, en la planta. La nube: 'Sin conexión. Intente más tarde'.' *(pausa)* 'En una vereda pasa igual.'</a:t>
            </a:r>
          </a:p>
          <a:p/>
          <a:p>
            <a:r>
              <a:t>▶ CLIC *Meme 3 · privacidad.* 'Y tu reloj, cada segundo, subiendo tus latidos a internet. Lo sensible no sale del equipo.'</a:t>
            </a:r>
          </a:p>
          <a:p/>
          <a:p>
            <a:r>
              <a:t>'Ahora piensen en la bomba. Un micrófono a dieciséis kilohercios son ciento quince megas por hora, por bomba, por la red de una vereda. Y es el sonido de una instalación de la empresa: no tiene por qué salir de ahí.'</a:t>
            </a:r>
          </a:p>
          <a:p/>
          <a:p>
            <a:r>
              <a:t>*Cuenta: 16 000 muestras por segundo × 2 bytes = 32 000 B/s ≈ 115 MB por hora.*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 SOBRE MÍ</a:t>
            </a:r>
          </a:p>
          <a:p/>
          <a:p>
            <a:r>
              <a:t>0:30 · sin clics</a:t>
            </a:r>
          </a:p>
          <a:p/>
          <a:p>
            <a:r>
              <a:t>'Soy Alejandro Varela, Cloud Engineer en EPAM. Trabajo con inferencia en el edge e IoT industrial.'</a:t>
            </a:r>
          </a:p>
          <a:p/>
          <a:p>
            <a:r>
              <a:t>'Tengo cinco certificaciones de AWS y tres de Kubernetes, pero lo que van a ver hoy no sale de un examen: lo monté, lo rompí y lo arreglé esta semana. Todo está en AWS, con servicios que pueden usar el lunes.'</a:t>
            </a:r>
          </a:p>
          <a:p/>
          <a:p>
            <a:r>
              <a:t>*La foto sale de talk/assets/photo.jpg; si no está, la lámina deja el recuadro. El LinkedIn sale de la variable LINKEDIN al generar el deck.*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 CONTENIDO DE LA SESIÓN</a:t>
            </a:r>
          </a:p>
          <a:p/>
          <a:p>
            <a:r>
              <a:t>0:15 · sin clics</a:t>
            </a:r>
          </a:p>
          <a:p/>
          <a:p>
            <a:r>
              <a:t>'Cuatro partes: el problema, el patrón para resolverlo, los seis pasos de entrenar a monitorear, y una demostración en vivo.'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 01 · EL PROBLEMA</a:t>
            </a:r>
          </a:p>
          <a:p/>
          <a:p>
            <a:r>
              <a:t>0:05 · *divisor: no lo leas* · *reloj: 3:45*</a:t>
            </a:r>
          </a:p>
          <a:p/>
          <a:p>
            <a:r>
              <a:t>'Empecemos por el problema.'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 MLOPS EN LA NUBE: UN LAZO CERRADO</a:t>
            </a:r>
          </a:p>
          <a:p/>
          <a:p>
            <a:r>
              <a:t>0:25 · sin clics · *los puntos recorren el lazo*</a:t>
            </a:r>
          </a:p>
          <a:p/>
          <a:p>
            <a:r>
              <a:t>'Cuando el modelo corre en la nube, esto está bastante resuelto. Cada petición y cada respuesta pasan por el endpoint: se capturan, se comparan con el entrenamiento, suena una alerta si algo se desvía, y se reentrena.'</a:t>
            </a:r>
          </a:p>
          <a:p/>
          <a:p>
            <a:r>
              <a:t>'Funciona por una razón:' *(señala la frase de la izquierda)* 'todo pasa por el endpoint.'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 LAS RESTRICCIONES DE LA ESTACIÓN</a:t>
            </a:r>
          </a:p>
          <a:p/>
          <a:p>
            <a:r>
              <a:t>0:45 · 3 clics · *una restricción por clic; dila como sale en pantalla*</a:t>
            </a:r>
          </a:p>
          <a:p/>
          <a:p>
            <a:r>
              <a:t>'Ahora bajemos el modelo a la estación, al lado de la bomba. Mismo lazo… pero ya nada pasa por un endpoint.'</a:t>
            </a:r>
          </a:p>
          <a:p/>
          <a:p>
            <a:r>
              <a:t>▶ CLIC 'Uno: equipos de varias generaciones. Una estación tiene un equipo ARM, otra un x86 de hace años, la nueva trae NPU. El mismo modelo no corre igual en los tres.'</a:t>
            </a:r>
          </a:p>
          <a:p/>
          <a:p>
            <a:r>
              <a:t>▶ CLIC 'Dos: red intermitente. Se va la señal en la vereda, y el lazo de la nube se apaga.'</a:t>
            </a:r>
          </a:p>
          <a:p/>
          <a:p>
            <a:r>
              <a:t>▶ CLIC 'Y tres: el audio no puede salir de la estación. No cabe, y no debe.'</a:t>
            </a:r>
          </a:p>
          <a:p/>
          <a:p>
            <a:r>
              <a:t>'El MLOps de la nube asume que todo pasa por ti. En la estación, nada pasa por ti.'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 UN PANEL EN VERDE NO MIDE EL MODELO</a:t>
            </a:r>
          </a:p>
          <a:p/>
          <a:p>
            <a:r>
              <a:t>1:20 · 3 clics · *el mito central de la charla: ve despacio*</a:t>
            </a:r>
          </a:p>
          <a:p/>
          <a:p>
            <a:r>
              <a:t>'Entonces, ¿cómo sabes si el modelo de la estación está bien? Hacemos lo de siempre: miramos el panel.'</a:t>
            </a:r>
          </a:p>
          <a:p/>
          <a:p>
            <a:r>
              <a:t>▶ CLIC 'Panel del equipo. Servicio del modelo: activo. CPU: normal. Memoria: normal. Todo en verde.'</a:t>
            </a:r>
          </a:p>
          <a:p/>
          <a:p>
            <a:r>
              <a:t>*Voz del jefe:* ''¿Y el modelo de la estación cómo va?' — 'Todo verde, jefe'.'</a:t>
            </a:r>
          </a:p>
          <a:p/>
          <a:p>
            <a:r>
              <a:t>▶ CLIC 'Ahora la pregunta que importa: ¿distingue una falla de una bomba sana? Eso se mide con la AUC. Le das al modelo un clip de una bomba sana y uno de una que falla; la AUC dice qué tan seguido le pone más puntaje al que falla. Uno es siempre. Cero coma cinco es lanzar una moneda.'</a:t>
            </a:r>
          </a:p>
          <a:p/>
          <a:p>
            <a:r>
              <a:t>'Con la velocidad con la que se entrenó: 0,69. Le cambian la velocidad a la bomba: 0,57, casi una moneda.'</a:t>
            </a:r>
          </a:p>
          <a:p/>
          <a:p>
            <a:r>
              <a:t>'Mismo modelo, mismo umbral, cero errores. Y las falsas alarmas pasan de 6 % a 18 %.'</a:t>
            </a:r>
          </a:p>
          <a:p/>
          <a:p>
            <a:r>
              <a:t>▶ CLIC 'El equipo está sano. El modelo casi no distingue.' *(pausa larga)*</a:t>
            </a:r>
          </a:p>
          <a:p/>
          <a:p>
            <a:r>
              <a:t>'Esto no me lo inventé: lo medí en la PoC, con el audio de las bombas que van a oír en la demo. Un servicio roto hace ruido. Un modelo que dejó de oír responde a tiempo, sin errores… y con un 200 OK.'</a:t>
            </a:r>
          </a:p>
          <a:p/>
          <a:p>
            <a:r>
              <a:t>*Por qué AUC y no «fallas detectadas»: con la otra velocidad todos los scores suben, y la detección puede subir junto con las falsas alarmas. La AUC mide si el modelo separa una bomba sana de una que falla, sin depender del umbral.*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 · A MANO ALZADA 1</a:t>
            </a:r>
          </a:p>
          <a:p/>
          <a:p>
            <a:r>
              <a:t>0:30 · sin clics · *la barra de abajo cuenta cinco segundos*</a:t>
            </a:r>
          </a:p>
          <a:p/>
          <a:p>
            <a:r>
              <a:t>'Pregunta a mano alzada. ¿A quién le ha sonado el pager por un modelo?' *(espera las manos)*</a:t>
            </a:r>
          </a:p>
          <a:p/>
          <a:p>
            <a:r>
              <a:t>*Si hay pocas:* 'Pocas manos. ¿Y por un disco lleno?' *(risas)* 'Exacto. El pager suena por el proceso. Por el modelo, casi nunca.'</a:t>
            </a:r>
          </a:p>
          <a:p/>
          <a:p>
            <a:r>
              <a:t>*Si hay muchas:* 'Bienvenidos al club. ¿Y cuántos se enteraron por el cliente antes que por el pager?'</a:t>
            </a:r>
          </a:p>
          <a:p/>
          <a:p>
            <a:r>
              <a:t>'Hoy vamos a hacer que el modelo también pueda despertar a alguien.'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 · 02 · EL PATRÓN</a:t>
            </a:r>
          </a:p>
          <a:p/>
          <a:p>
            <a:r>
              <a:t>0:05 · *divisor* · *reloj: 6:45*</a:t>
            </a:r>
          </a:p>
          <a:p/>
          <a:p>
            <a:r>
              <a:t>'¿Qué hace falta para gobernarlo? Primero, abramos el equipo.'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 · ARQUITECTURA DEL EQUIPO EN LA ESTACIÓN</a:t>
            </a:r>
          </a:p>
          <a:p/>
          <a:p>
            <a:r>
              <a:t>0:45 · 3 clics · *una capa por clic*</a:t>
            </a:r>
          </a:p>
          <a:p/>
          <a:p>
            <a:r>
              <a:t>'Abajo, el micrófono sobre la bomba y el modelo con su runtime: decide en milisegundos, con o sin red. El audio entra y no sale.'</a:t>
            </a:r>
          </a:p>
          <a:p/>
          <a:p>
            <a:r>
              <a:t>▶ CLIC 'Encima, el modelo no llega como un archivo suelto: llega como un artefacto con versión y hash. Si alguien lo tocó, no se instala.'</a:t>
            </a:r>
          </a:p>
          <a:p/>
          <a:p>
            <a:r>
              <a:t>▶ CLIC 'Luego, un agente. Nadie le empuja nada a la estación: el agente trae el estado deseado cuando hay red.'</a:t>
            </a:r>
          </a:p>
          <a:p/>
          <a:p>
            <a:r>
              <a:t>▶ CLIC 'Y arriba, la pieza que falta en casi todos lados: una cola de eventos. Cada decisión queda guardada hasta que haya red.'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 · CINCO PIEZAS PARA GOBERNAR EL MODELO</a:t>
            </a:r>
          </a:p>
          <a:p/>
          <a:p>
            <a:r>
              <a:t>1:15 · 6 clics · *una pieza por clic; la leyenda de arriba se enciende con cada una*</a:t>
            </a:r>
          </a:p>
          <a:p/>
          <a:p>
            <a:r>
              <a:t>*Paso 0: «copiar el modelo… y cruzar los dedos».* 'Así se despliegan modelos en muchos lados: copias el archivo al equipo y cruzas los dedos. Yo lo he hecho.' *(risas)*</a:t>
            </a:r>
          </a:p>
          <a:p/>
          <a:p>
            <a:r>
              <a:t>▶ CLIC 'Uno: optimizar por chip. Se entrena una vez y se prepara para cada familia de hardware.'</a:t>
            </a:r>
          </a:p>
          <a:p/>
          <a:p>
            <a:r>
              <a:t>▶ CLIC 'Dos: artefacto verificable. Cada versión, con su huella, en un registro donde nada se sobrescribe.'</a:t>
            </a:r>
          </a:p>
          <a:p/>
          <a:p>
            <a:r>
              <a:t>▶ CLIC 'Tres: estado deseado. La central declara qué debería tener cada equipo, y el equipo lo trae cuando puede.'</a:t>
            </a:r>
          </a:p>
          <a:p/>
          <a:p>
            <a:r>
              <a:t>▶ CLIC 'Cuatro: evento de inferencia. El modelo deja constancia de lo que decide. Si no hay red, se encola.'</a:t>
            </a:r>
          </a:p>
          <a:p/>
          <a:p>
            <a:r>
              <a:t>▶ CLIC 'Cinco: la compuerta. Una condición que mira esos eventos y decide sola si sigue o vuelve atrás. Es el lazo rápido: minutos.'</a:t>
            </a:r>
          </a:p>
          <a:p/>
          <a:p>
            <a:r>
              <a:t>▶ CLIC 'Y con esos mismos eventos se reentrena: el lazo lento, días. Abajo, lo que atraviesa todo: identidad, mínimo privilegio, cifrado y auditoría. Ninguna de estas piezas depende de una nube en particular.'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 EL MISMO PATRÓN EN AWS</a:t>
            </a:r>
          </a:p>
          <a:p/>
          <a:p>
            <a:r>
              <a:t>0:50 · 6 clics · *misma geometría que la anterior; avanza a buen ritmo, los pasos que vienen abren cada casilla*</a:t>
            </a:r>
          </a:p>
          <a:p/>
          <a:p>
            <a:r>
              <a:t>'El mismo dibujo, en AWS. Cada casilla ahora tiene nombre.'</a:t>
            </a:r>
          </a:p>
          <a:p/>
          <a:p>
            <a:r>
              <a:t>▶ CLIC 'SageMaker AI entrena y exporta el modelo.' ▶ CLIC 'El registro es S3, un prefijo por versión, y IoT Greengrass lo empaca como componente.' ▶ CLIC 'El estado deseado es un despliegue de Greengrass, que llega por IoT Core con un certificado por equipo.'</a:t>
            </a:r>
          </a:p>
          <a:p/>
          <a:p>
            <a:r>
              <a:t>▶ CLIC 'Cada decisión entra por IoT Core y una regla la deja en CloudWatch Logs.' ▶ CLIC 'La compuerta: una alarma invoca una Lambda que vuelve a desplegar la última versión buena.' ▶ CLIC 'Y abajo, IAM, X.509, KMS y CloudTrail.'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 · 03 · LOS SEIS PASOS</a:t>
            </a:r>
          </a:p>
          <a:p/>
          <a:p>
            <a:r>
              <a:t>0:10 · *divisor con la espina* · *reloj: 9:40*</a:t>
            </a:r>
          </a:p>
          <a:p/>
          <a:p>
            <a:r>
              <a:t>'Seis pasos: entrenar, optimizar, empaquetar, desplegar, operar sin red y monitorear. En cada uno, una línea de la bomba.'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17 · PASO 1 · ENTRENAR CON SONIDO NORMAL</a:t>
            </a:r>
          </a:p>
          <a:p/>
          <a:p>
            <a:r>
              <a:t>1:00 · 3 clics</a:t>
            </a:r>
          </a:p>
          <a:p/>
          <a:p>
            <a:r>
              <a:t>'Paso uno. Bombas reales, solo clips de sonido normal.'</a:t>
            </a:r>
          </a:p>
          <a:p/>
          <a:p>
            <a:r>
              <a:t>▶ CLIC 'Se entrena un autoencoder: una red que aprende a rehacer el sonido normal. Si no lo puede rehacer, algo cambió. El score es el error de reconstrucción.'</a:t>
            </a:r>
          </a:p>
          <a:p/>
          <a:p>
            <a:r>
              <a:t>▶ CLIC 'Lo que sale va a S3, un prefijo por versión. Una versión nueva es otro prefijo, nunca el mismo.'</a:t>
            </a:r>
          </a:p>
          <a:p/>
          <a:p>
            <a:r>
              <a:t>▶ CLIC '¿Y qué sale exactamente? Cuatro archivos. El modelo en ONNX, que es el contrato con el equipo. stats.json, con la huella del sonido normal y el umbral. features.py, el mismo preprocesamiento del entrenamiento. E inference.py, que escucha, decide y cuenta.'</a:t>
            </a:r>
          </a:p>
          <a:p/>
          <a:p>
            <a:r>
              <a:t>'El error típico: entrenar con un preprocesamiento y servir con otro. No explota nada; el modelo solo oye distinto. Por eso features.py viaja con el modelo.'</a:t>
            </a:r>
          </a:p>
          <a:p/>
          <a:p>
            <a:r>
              <a:t>*La bomba:* 'Aprende solo con sonido normal: las fallas son raras.'</a:t>
            </a:r>
          </a:p>
          <a:p/>
          <a:p>
            <a:r>
              <a:t>*En la PoC la fábrica es model/train.py en mi portátil, no SageMaker AI. Lo dices en la lámina 23.*</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 · PASO 2 · OPTIMIZAR PARA CADA CHIP</a:t>
            </a:r>
          </a:p>
          <a:p/>
          <a:p>
            <a:r>
              <a:t>1:10 · 3 clics</a:t>
            </a:r>
          </a:p>
          <a:p/>
          <a:p>
            <a:r>
              <a:t>'Paso dos. Entrenas una vez, en 32 bits: un archivo ONNX.'</a:t>
            </a:r>
          </a:p>
          <a:p/>
          <a:p>
            <a:r>
              <a:t>▶ CLIC 'Para que quepa en el equipo, se cuantiza de 32 a 8 bits, se simplifica el grafo y se compila para el acelerador del chip. Esa compilación la hace la herramienta de cada fabricante, sobre el mismo ONNX.'</a:t>
            </a:r>
          </a:p>
          <a:p/>
          <a:p>
            <a:r>
              <a:t>▶ CLIC 'Y no sale un artefacto: sale uno por chip. Y manda la memoria del chip: si no cabe, no corre.'</a:t>
            </a:r>
          </a:p>
          <a:p/>
          <a:p>
            <a:r>
              <a:t>▶ CLIC 'Esta es la bomba, medida en el equipo de la demo, una CPU x86. De FP32 a INT8, el archivo pasa de 464 KB a 127 KB. El clip, de 14,4 ms a 12,7 ms. Y toma la misma decisión en 98 % de los clips.'</a:t>
            </a:r>
          </a:p>
          <a:p/>
          <a:p>
            <a:r>
              <a:t>'En mi portátil la mejora era casi el doble. En el equipo, la mayor parte del tiempo se va en preparar el audio, no en el modelo. Por eso se mide en el chip, no en tu máquina.'</a:t>
            </a:r>
          </a:p>
          <a:p/>
          <a:p>
            <a:r>
              <a:t>*La bomba:* 'INT8 para el equipo pequeño.'</a:t>
            </a:r>
          </a:p>
          <a:p/>
          <a:p>
            <a:r>
              <a:t>*Cifras: device.* sale de poc-devopsdays/build/device_bench.json, medido con model/bench_device.py en la EC2, dentro de la imagen de las bombas. En el portátil (M3 Pro) fue 2,6 ms → 2,0 ms. ΔAUC del INT8: −0,001. Herramientas, si preguntan: LiteRT y Qualcomm QNN para NPU, TensorRT para GPU de NVIDIA, ONNX Runtime y OpenVINO para CPU. Sobre SageMaker Neo, ver «Preguntas difíciles».*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19 · PASO 3 · EMPAQUETAR COMO COMPONENTE</a:t>
            </a:r>
          </a:p>
          <a:p/>
          <a:p>
            <a:r>
              <a:t>1:00 · 4 clics · *una anotación por clic*</a:t>
            </a:r>
          </a:p>
          <a:p/>
          <a:p>
            <a:r>
              <a:t>'Paso tres. Un componente es la forma en que IoT Greengrass empaca software para el equipo. Esta es la receta de la demo, recortada.'</a:t>
            </a:r>
          </a:p>
          <a:p/>
          <a:p>
            <a:r>
              <a:t>▶ CLIC 'Los artefactos vienen de S3. La receta no trae el digest: Greengrass lo calcula al crear la versión del componente y lo verifica en el equipo antes de instalar.'</a:t>
            </a:r>
          </a:p>
          <a:p/>
          <a:p>
            <a:r>
              <a:t>▶ CLIC 'El ciclo de vida no instala nada: las dependencias ya vienen en el equipo. Si tu componente baja librerías al arrancar, en una vereda sin red no arranca.'</a:t>
            </a:r>
          </a:p>
          <a:p/>
          <a:p>
            <a:r>
              <a:t>▶ CLIC 'El umbral es configuración: se cambia con un despliegue, sin reentrenar ni publicar otra versión.'</a:t>
            </a:r>
          </a:p>
          <a:p/>
          <a:p>
            <a:r>
              <a:t>▶ CLIC 'Y los permisos: el componente solo puede publicar en un tema, station/events.'</a:t>
            </a:r>
          </a:p>
          <a:p/>
          <a:p>
            <a:r>
              <a:t>'Una versión publicada no se toca. Si cambias un archivo en S3 sin cambiar la versión, el digest ya no coincide y el despliegue falla.'</a:t>
            </a:r>
          </a:p>
          <a:p/>
          <a:p>
            <a:r>
              <a:t>*La bomba:* 'El umbral es configuración: se cambia sin reentrenar.'</a:t>
            </a:r>
          </a:p>
          <a:p/>
          <a:p>
            <a:r>
              <a:t>*Fuente del digest: referencia de recetas de Greengrass, campo Digest de Artifacts. https://docs.aws.amazon.com/greengrass/v2/developerguide/component-recipe-reference.html*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 PASO 4 · DESPLEGAR POR ANILLOS</a:t>
            </a:r>
          </a:p>
          <a:p/>
          <a:p>
            <a:r>
              <a:t>1:05 · 3 clics</a:t>
            </a:r>
          </a:p>
          <a:p/>
          <a:p>
            <a:r>
              <a:t>'Paso cuatro. ¿Cómo llega a mil equipos sin romperlos todos un martes? Con despliegues de IoT Greengrass, un thing group por anillo.'</a:t>
            </a:r>
          </a:p>
          <a:p/>
          <a:p>
            <a:r>
              <a:t>'Anillo cero: una estación, el canario. Recibe la versión nueva primero.'</a:t>
            </a:r>
          </a:p>
          <a:p/>
          <a:p>
            <a:r>
              <a:t>▶ CLIC 'Si pasa la compuerta, anillo uno: el resto de la flota, en olas que crecen.'</a:t>
            </a:r>
          </a:p>
          <a:p/>
          <a:p>
            <a:r>
              <a:t>▶ CLIC 'El despliegue trae dos protecciones: si fallan demasiados equipos, se cancela; y si un equipo no arranca la versión nueva, vuelve a la que tenía.'</a:t>
            </a:r>
          </a:p>
          <a:p/>
          <a:p>
            <a:r>
              <a:t>▶ CLIC 'Y la vuelta: la alarma ve fallas que nadie oyó y despliega la última versión buena. El anillo 1 nunca recibe la versión mala.'</a:t>
            </a:r>
          </a:p>
          <a:p/>
          <a:p>
            <a:r>
              <a:t>'Seguro alguien está pensando: 'Greengrass ya hace rollback'. Sí, de despliegues que fallan. Para Greengrass, un modelo que se instala bien y no oye es un despliegue exitoso.'</a:t>
            </a:r>
          </a:p>
          <a:p/>
          <a:p>
            <a:r>
              <a:t>*La bomba:* 'Una estación como canario.'</a:t>
            </a:r>
          </a:p>
          <a:p/>
          <a:p>
            <a:r>
              <a:t>*Fuentes: failureHandlingPolicy = ROLLBACK por defecto, https://docs.aws.amazon.com/greengrass/v2/APIReference/API_DeploymentPolicies.html · abortConfig y jobExecutionsRolloutConfig, https://docs.aws.amazon.com/cli/latest/reference/greengrassv2/create-deployment.html*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 · PASO 5 · OPERAR SIN RED</a:t>
            </a:r>
          </a:p>
          <a:p/>
          <a:p>
            <a:r>
              <a:t>0:50 · 2 clics</a:t>
            </a:r>
          </a:p>
          <a:p/>
          <a:p>
            <a:r>
              <a:t>'Paso cinco. ¿Qué sigue funcionando sin red?'</a:t>
            </a:r>
          </a:p>
          <a:p/>
          <a:p>
            <a:r>
              <a:t>'En un equipo pequeño, IoT Greengrass: el nucleus guarda los eventos en una cola local hasta que vuelve la red, por defecto en memoria, de 2,5 megas. Y si el equipo tiene poca memoria, existe el nucleus lite, escrito en C.'</a:t>
            </a:r>
          </a:p>
          <a:p/>
          <a:p>
            <a:r>
              <a:t>▶ CLIC 'Si la estación es una planta grande, Outposts con EKS local: el plano de control corre en el sitio y sigue sin la región.'</a:t>
            </a:r>
          </a:p>
          <a:p/>
          <a:p>
            <a:r>
              <a:t>▶ CLIC *La bomba, en el recuadro:* 'Sin red, la estación sigue escuchando y alertando: lo que necesita para decidir ya está adentro.'</a:t>
            </a:r>
          </a:p>
          <a:p/>
          <a:p>
            <a:r>
              <a:t>'Ojo con una cosa: cuando la cola se llena, el nucleus rechaza los mensajes nuevos. Si la red se va por horas, la cola va a disco.'</a:t>
            </a:r>
          </a:p>
          <a:p/>
          <a:p>
            <a:r>
              <a:t>*Fuentes: cola mqtt.spooler de 2,5 MB en memoria, https://docs.aws.amazon.com/greengrass/v2/developerguide/greengrass-nucleus-component.html · cola en disco, https://docs.aws.amazon.com/greengrass/v2/developerguide/disk-spooler-component.html · nucleus lite (5 MB de almacenamiento, menos de 15 MB de RAM), https://docs.aws.amazon.com/greengrass/v2/developerguide/greengrass-nucleus-lite-component.html · EKS local sin red, https://docs.aws.amazon.com/eks/latest/userguide/eks-outposts-network-disconnects.html*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 · PASO 6 · MONITOREAR LO QUE DECIDE EL MODELO</a:t>
            </a:r>
          </a:p>
          <a:p/>
          <a:p>
            <a:r>
              <a:t>1:10 · 5 clics · *un tramo de la tubería por clic*</a:t>
            </a:r>
          </a:p>
          <a:p/>
          <a:p>
            <a:r>
              <a:t>'Paso seis. Desde la nube ves lo que el modelo te cuenta: un evento por clip, de unos cientos de bytes, que llega a IoT Core.'</a:t>
            </a:r>
          </a:p>
          <a:p/>
          <a:p>
            <a:r>
              <a:t>▶ CLIC 'Una regla de IoT lo toma y le suma la hora en que llegó. Llegada menos decisión: el tiempo que la estación estuvo sin red.'</a:t>
            </a:r>
          </a:p>
          <a:p/>
          <a:p>
            <a:r>
              <a:t>▶ CLIC 'La regla lo deja en CloudWatch Logs.'</a:t>
            </a:r>
          </a:p>
          <a:p/>
          <a:p>
            <a:r>
              <a:t>▶ CLIC 'Un filtro de métrica cuenta lo que importa. En la demo: la bomba fallaba y el modelo no avisó. MissedFaults, fallas que nadie oyó.'</a:t>
            </a:r>
          </a:p>
          <a:p/>
          <a:p>
            <a:r>
              <a:t>▶ CLIC 'Una alarma mira esa métrica.'</a:t>
            </a:r>
          </a:p>
          <a:p/>
          <a:p>
            <a:r>
              <a:t>▶ CLIC 'Y la alarma invoca la Lambda, que despliega la última versión buena al anillo 0.'</a:t>
            </a:r>
          </a:p>
          <a:p/>
          <a:p>
            <a:r>
              <a:t>'El error típico: poner la alarma sobre CPU y errores. Ya vimos que eso se queda en verde. La compuerta mira al modelo.'</a:t>
            </a:r>
          </a:p>
          <a:p/>
          <a:p>
            <a:r>
              <a:t>'En producción no sabes en el momento si la bomba fallaba: esa verdad solo existe en la demo. La etiqueta llega tarde, con la orden de mantenimiento, y mientras tanto comparas el canario contra el resto.'</a:t>
            </a:r>
          </a:p>
          <a:p/>
          <a:p>
            <a:r>
              <a:t>*La bomba:* 'Las señales de la bomba: alertas, score, entrada y versión.'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 · A MANO ALZADA 2</a:t>
            </a:r>
          </a:p>
          <a:p/>
          <a:p>
            <a:r>
              <a:t>0:35 · 1 clic · *la barra cuenta cinco segundos*</a:t>
            </a:r>
          </a:p>
          <a:p/>
          <a:p>
            <a:r>
              <a:t>'Última pregunta. ¿Qué versión corre en cada equipo?' *(manos)* 'Ahora bajen la mano los que tuvieron que pensarlo.' *(risas)*</a:t>
            </a:r>
          </a:p>
          <a:p/>
          <a:p>
            <a:r>
              <a:t>▶ CLIC 'Esta es la respuesta, y no hay que entrar a ningún equipo: el estado del despliegue, por thing group. StationRing0, la bomba 1, com.station.Listener 1.0.0, activo. StationRing1, de la 2 a la 5, la misma versión.'</a:t>
            </a:r>
          </a:p>
          <a:p/>
          <a:p>
            <a:r>
              <a:t>'La pregunta se responde en la nube, no en el equipo.'</a:t>
            </a:r>
          </a:p>
          <a:p/>
          <a:p>
            <a:r>
              <a:t>*Así lo devolvió aws greengrassv2 list-deployments en el ensayo: un despliegue a un thing group queda ACTIVE. Detalle de un equipo, si lo piden: aws greengrassv2 list-installed-components --core-device-thing-name pump-01. Antes de subir, confirma que la flota está así.*</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 · 04 · DEMOSTRACIÓN</a:t>
            </a:r>
          </a:p>
          <a:p/>
          <a:p>
            <a:r>
              <a:t>0:05 · *divisor* · *reloj: 16:40*</a:t>
            </a:r>
          </a:p>
          <a:p/>
          <a:p>
            <a:r>
              <a:t>'Suficiente teoría. Vamos a la estación.'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 · ARQUITECTURA DE LA DEMOSTRACIÓN</a:t>
            </a:r>
          </a:p>
          <a:p/>
          <a:p>
            <a:r>
              <a:t>0:40 · sin clics</a:t>
            </a:r>
          </a:p>
          <a:p/>
          <a:p>
            <a:r>
              <a:t>'Esto es lo que monté. No traje bombas al escenario: cada bomba es un contenedor en una EC2, con el nucleus real de IoT Greengrass adentro. Cinco bombas: la 1 es el anillo 0, el canario; de la 2 a la 5, el anillo 1.'</a:t>
            </a:r>
          </a:p>
          <a:p/>
          <a:p>
            <a:r>
              <a:t>'Lo que suena es audio real de MIMII DUE. Y todo lo demás es AWS de verdad: EC2, IoT Greengrass, IoT Core, S3, CloudWatch, Lambda y Parameter Store. Todo sale de Terraform, con GitHub Actions.'</a:t>
            </a:r>
          </a:p>
          <a:p/>
          <a:p>
            <a:r>
              <a:t>'Lo único simulado es el equipo físico. Y la fábrica: el modelo lo entrena un script en mi portátil, no SageMaker AI.'</a:t>
            </a:r>
          </a:p>
          <a:p/>
          <a:p>
            <a:r>
              <a:t>*Si preguntan: las cinco bombas salen de tres secciones de MIMII DUE; la 1 y la 4 comparten sección, y la 2 y la 5 también, con clips distintos. Cada nucleus es una JVM: en el ensayo, unos 220 MB por bomba.*</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26 · DEMOSTRACIÓN EN TRES ACTOS</a:t>
            </a:r>
          </a:p>
          <a:p/>
          <a:p>
            <a:r>
              <a:t>6:00 · 2 clics en la lámina, después las terminales · *la lámina es el mapa; lo real está en la terminal*</a:t>
            </a:r>
          </a:p>
          <a:p/>
          <a:p>
            <a:r>
              <a:t>*En la lámina (0:20).* 'Tres actos. Uno: escuchar. La bomba 3 va a sonar como la B del principio.'</a:t>
            </a:r>
          </a:p>
          <a:p/>
          <a:p>
            <a:r>
              <a:t>▶ CLIC 'Dos: sin red. La 3 se queda sin señal.'</a:t>
            </a:r>
          </a:p>
          <a:p/>
          <a:p>
            <a:r>
              <a:t>▶ CLIC 'Tres: desplegar por anillos y volver.' *(señala la frase de abajo)* 'Y esa frase es el final de la película. No la lean todavía.' *(risas)*</a:t>
            </a:r>
          </a:p>
          <a:p/>
          <a:p>
            <a:r>
              <a:t>*Cambia a las terminales: ./demo/watch.sh a la izquierda; a la derecha arriba, el dashboard station; a la derecha abajo, la terminal de Session Manager en la EC2. Letra grande.*</a:t>
            </a:r>
          </a:p>
          <a:p/>
          <a:p>
            <a:r>
              <a:t>'Esto es la estación en vivo. Cada línea es un clip que una bomba escuchó y decidió: la hora, qué bomba, qué versión, si alertó, el score contra el umbral, cómo era la entrada y en cuántos milisegundos. Esas son las señales doradas de un modelo. El audio no está ahí. Nunca sale.'</a:t>
            </a:r>
          </a:p>
          <a:p/>
          <a:p>
            <a:r>
              <a:t>Acto 1 · Escuchar (1:00)</a:t>
            </a:r>
          </a:p>
          <a:p/>
          <a:p>
            <a:r>
              <a:t>*Escribe* ./demo/fault.sh pump-03 — 'Le digo a la bomba 3 que suene como la B.'</a:t>
            </a:r>
          </a:p>
          <a:p/>
          <a:p>
            <a:r>
              <a:t>*Cuando aparezca pump-03 v1.0.0 ALERT (en el ensayo, al siguiente clip, unos 4 s):* 'Ahí está. ALERT: el score pasó el umbral.'</a:t>
            </a:r>
          </a:p>
          <a:p/>
          <a:p>
            <a:r>
              <a:t>'Y esta es la respuesta del principio: la bomba B era la que estaba fallando. ¿Quién votó B?' *(manos)* 'Oído de mecánico. Los de la A, tranquilos: para eso está el modelo.'</a:t>
            </a:r>
          </a:p>
          <a:p/>
          <a:p>
            <a:r>
              <a:t>'El audio no salió de la estación. Salió esta línea.'</a:t>
            </a:r>
          </a:p>
          <a:p/>
          <a:p>
            <a:r>
              <a:t>*No apagues la falla de la 3: en el acto 2, lo que llega tarde tienen que ser alertas.*</a:t>
            </a:r>
          </a:p>
          <a:p/>
          <a:p>
            <a:r>
              <a:t>Acto 2 · Sin red (1:20)</a:t>
            </a:r>
          </a:p>
          <a:p/>
          <a:p>
            <a:r>
              <a:t>*Escribe* ./demo/network.sh off pump-03 — 'Le quito la red a la estación 3, como cuando se va la señal en la vereda.'</a:t>
            </a:r>
          </a:p>
          <a:p/>
          <a:p>
            <a:r>
              <a:t>*Mientras esperas, lanza el despliegue del acto 3:* ./demo/deploy.sh 2.0.0 ring-0 — 'Y mientras la 3 está sin señal, aprovecho: mando una versión nueva a una sola estación. Ya volvemos a eso.'</a:t>
            </a:r>
          </a:p>
          <a:p/>
          <a:p>
            <a:r>
              <a:t>*A los 40 o 50 s:* 'La 3 se calló. Las otras cuatro siguen. ¿Se rompió? No. Sigue escuchando, sigue alertando y guarda cada evento en la cola del nucleus. La nube no sabe nada. La estación, sí.'</a:t>
            </a:r>
          </a:p>
          <a:p/>
          <a:p>
            <a:r>
              <a:t>*Escribe* ./demo/network.sh on pump-03 — *en el ensayo, la bomba se reconectó en unos 5 s.* 'Ahí están: llegaron tarde, pero llegaron. Ese 'arrived late' es la diferencia entre cuándo decidió la bomba y cuándo llegó a la nube. No se perdió ninguna alerta.'</a:t>
            </a:r>
          </a:p>
          <a:p/>
          <a:p>
            <a:r>
              <a:t>*Escribe* ./demo/fault.sh pump-03 off</a:t>
            </a:r>
          </a:p>
          <a:p/>
          <a:p>
            <a:r>
              <a:t>Acto 3 · Desplegar por anillos y volver (3:05)</a:t>
            </a:r>
          </a:p>
          <a:p/>
          <a:p>
            <a:r>
              <a:t>*Señala la bomba 1, que ya corre v2.0.0 (en el ensayo llegó en 13 a 15 s); de la 2 a la 5 siguen en v1.0.0.* 'La versión nueva se reentrenó con más audio. Más datos, mejor modelo… ¿cierto? Y da menos alertas: en operación están felices. Va solo al anillo 0, el canario. Sin errores, misma latencia. Para Greengrass, despliegue exitoso.'</a:t>
            </a:r>
          </a:p>
          <a:p/>
          <a:p>
            <a:r>
              <a:t>*Escribe* ./demo/fault.sh pump-01 — 'Ahora la 1 suena con falla.'</a:t>
            </a:r>
          </a:p>
          <a:p/>
          <a:p>
            <a:r>
              <a:t>*Cuando aparezca pump-01 v2.0.0 normal … · missed fault:* 'La bomba está fallando… y la v2 dice normal. Falla no oída.' *(pausa)*</a:t>
            </a:r>
          </a:p>
          <a:p/>
          <a:p>
            <a:r>
              <a:t>'¿Qué pasó? El audio extra de la v2 incluía la semana en que una bomba ya estaba fallando. Nadie lo limpió. El modelo aprendió que fallar es normal. Corre sin errores, da menos alertas… y no oye las fallas.'</a:t>
            </a:r>
          </a:p>
          <a:p/>
          <a:p>
            <a:r>
              <a:t>*Mientras la alarma junta datos:* 'Ahora no voy a tocar nada. La compuerta trabaja sola.' *Salta al anexo A2: escribe 32 y Enter. Cuenta la secuencia con la nota de A2 (un minuto). Para volver aquí, escribe 26 y Enter.*</a:t>
            </a:r>
          </a:p>
          <a:p/>
          <a:p>
            <a:r>
              <a:t>*Vuelve a watch.sh. Cuando la 1 salga en v1.0.0 con ALERT:* 'Volvió. v1.0.0, ALERT otra vez: la falla se oye. Nadie entró al equipo. Y el anillo 1 nunca recibió la v2.'</a:t>
            </a:r>
          </a:p>
          <a:p/>
          <a:p>
            <a:r>
              <a:t>*Escribe* ./demo/fault.sh pump-01 off</a:t>
            </a:r>
          </a:p>
          <a:p/>
          <a:p>
            <a:r>
              <a:t>*Vuelve a esta lámina y dilo mirando a la sala:* 'Greengrass revierte despliegues fallidos, no modelos equivocados. Esa compuerta la pones tú.'</a:t>
            </a:r>
          </a:p>
          <a:p/>
          <a:p>
            <a:r>
              <a:t>*Tiempos medidos en los ensayos del 12 de octubre: de fault.sh pump-01 a la v1 otra vez, entre 1:40 y 2:15 (la alarma salta entre 1:30 y 2:00; la Lambda despliega 1 s después; la bomba vuelve unos 13 s más tarde). Depende de en qué segundo del minuto cae la falla. Tope: si a los tres minutos de fault.sh pump-01 la 1 no ha vuelto, no esperes más: «La alarma va a su ritmo; para no robarles tiempo, les muestro cómo termina», y pon el video desde la vuelta.*</a:t>
            </a:r>
          </a:p>
          <a:p/>
          <a:p>
            <a:r>
              <a:t>*Plan B, si la red del evento falla (watch.sh sin líneas en 30 s o la EC2 no responde): pon el video de respaldo, cortado por actos, y dilo con naturalidad: «La red de un evento es el peor lugar del mundo para depender de MQTT. Por eso traje la grabación: es la misma demo, grabada en el ensayo.» Narra encima con este mismo guion.*</a:t>
            </a:r>
          </a:p>
          <a:p/>
          <a:p>
            <a:r>
              <a:t>*Si preguntan si la v2 es mala en general o solo en la demo: en todo el set de prueba, con fallas que la v2 no vio al entrenar, la v1 detecta 21 % de las fallas y la v2 16 %; la v1 alerta en 13 % de los clips y la v2 en 10 %. Los clips de la flota se eligen para que la demo sea repetible.*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27 · CINCO RECOMENDACIONES</a:t>
            </a:r>
          </a:p>
          <a:p/>
          <a:p>
            <a:r>
              <a:t>1:10 · 4 clics · *reloj: 23:25 al entrar*</a:t>
            </a:r>
          </a:p>
          <a:p/>
          <a:p>
            <a:r>
              <a:t>'Les dejo cinco cosas que funcionan. La mayoría no las va a hacer el lunes. Los que las hagan van a dormir mejor.'</a:t>
            </a:r>
          </a:p>
          <a:p/>
          <a:p>
            <a:r>
              <a:t>'Uno: el modelo es un artefacto más: versión, digest y receta.'</a:t>
            </a:r>
          </a:p>
          <a:p/>
          <a:p>
            <a:r>
              <a:t>▶ CLIC 'Dos: optimiza por chip y mide en el chip.'</a:t>
            </a:r>
          </a:p>
          <a:p/>
          <a:p>
            <a:r>
              <a:t>▶ CLIC 'Tres: despliega por anillos, con una compuerta que mire al modelo y no solo al proceso.'</a:t>
            </a:r>
          </a:p>
          <a:p/>
          <a:p>
            <a:r>
              <a:t>▶ CLIC 'Cuatro: diseña para estar sin red: cola local y decisiones locales.'</a:t>
            </a:r>
          </a:p>
          <a:p/>
          <a:p>
            <a:r>
              <a:t>▶ CLIC 'Y cinco: que el modelo cuente qué decide; el dato crudo se queda en el equipo.'</a:t>
            </a:r>
          </a:p>
          <a:p/>
          <a:p>
            <a:r>
              <a:t>*Si el reloj marca 23:30 o menos al llegar aquí (+0:25), cuenta lo que pasó en el primer ensayo, que es real: «La primera vez que monté esto en AWS, ninguna bomba arrancaba. El instalador de Greengrass decide el formato del archivo de configuración por la extensión, y mi archivo no tenía extensión. Una línea. Por eso se ensaya en el equipo de verdad.»*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28 · LA FRASE FINAL: ¿ESTA BOMBA ESTÁ FALLANDO?</a:t>
            </a:r>
          </a:p>
          <a:p/>
          <a:p>
            <a:r>
              <a:t>0:45 · 2 clics · *cierre circular: vuelve a los audios del inicio*</a:t>
            </a:r>
          </a:p>
          <a:p/>
          <a:p>
            <a:r>
              <a:t>'Al principio les pregunté:' *(señala)* '¿esta bomba está fallando?'</a:t>
            </a:r>
          </a:p>
          <a:p/>
          <a:p>
            <a:r>
              <a:t>*(dale ▶ a la bomba B; tres o cuatro segundos y detenla)*</a:t>
            </a:r>
          </a:p>
          <a:p/>
          <a:p>
            <a:r>
              <a:t>'Ustedes la oyeron. Desde la nube, nadie la oyó. Y no hacía falta.'</a:t>
            </a:r>
          </a:p>
          <a:p/>
          <a:p>
            <a:r>
              <a:t>▶ CLIC 'Esto es lo único que salió de la estación: la bomba 3, versión 1.0.0, alerta, el score sobre el umbral. Unos cientos de bytes. El audio se quedó allá.'</a:t>
            </a:r>
          </a:p>
          <a:p/>
          <a:p>
            <a:r>
              <a:t>▶ CLIC 'No necesitas ver el modelo. Necesitas que te cuente.' *(pausa)*</a:t>
            </a:r>
          </a:p>
          <a:p/>
          <a:p>
            <a:r>
              <a:t>'Así que les dejo una pregunta. Si mañana uno de sus modelos deja de oír… ¿quién se entera primero: ustedes, o la vereda que se quedó sin agua?'</a:t>
            </a:r>
          </a:p>
          <a:p/>
          <a:p>
            <a:r>
              <a:t>*La línea de la lámina es la que imprimió la terminal en el ensayo: score 0.42 contra un umbral de 0.34.*</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29 · RECURSOS Y CONTACTO</a:t>
            </a:r>
          </a:p>
          <a:p/>
          <a:p>
            <a:r>
              <a:t>0:15 · sin clics</a:t>
            </a:r>
          </a:p>
          <a:p/>
          <a:p>
            <a:r>
              <a:t>'Todo está en el repo de ese QR: la demo con el paso a paso, las láminas y el guion. Y si van a leer una sola cosa: The ML Test Score, de Google.'</a:t>
            </a:r>
          </a:p>
          <a:p/>
          <a:p>
            <a:r>
              <a:t>*El QR solo funciona si el repo es público. Antes de la charla, hazlo público y revisa que no quede material privado.*</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 GRACIAS</a:t>
            </a:r>
          </a:p>
          <a:p/>
          <a:p>
            <a:r>
              <a:t>0:15 · sin clics</a:t>
            </a:r>
          </a:p>
          <a:p/>
          <a:p>
            <a:r>
              <a:t>'Muchas gracias.' *(espera el aplauso)* 'Con gusto respondo sus preguntas.'</a:t>
            </a:r>
          </a:p>
          <a:p/>
          <a:p>
            <a:r>
              <a:t>*Anexos: en PowerPoint escribe el número de la lámina y Enter (A1 = 31 … A8 = 38); para volver, el de la lámina donde estabas. A1 el evento, A2 la vuelta paso a paso, A3 qué revierte Greengrass solo, A4 permisos y costo, A5 de la demo a producción, A6 qué método de drift, A7 regulación, A8 fuentes, A9 señales doradas, A10 audio crudo contra eventos. Más respuestas en «Preguntas difíciles», al final de este archivo.*</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A1 · EL EVENTO DE LA DEMO, CAMPO POR CAMPO</a:t>
            </a:r>
          </a:p>
          <a:p/>
          <a:p>
            <a:r>
              <a:t>*Si preguntan qué lleva exactamente el evento. M para volver.*</a:t>
            </a:r>
          </a:p>
          <a:p/>
          <a:p>
            <a:r>
              <a:t>'Quién decidió, con qué versión y la huella exacta del modelo. El número de evento y cuándo decidió la bomba. Qué audio escuchó y de qué dominio venía. El score, el umbral de esa versión y la decisión. La entrada, resumida: la distancia media a la huella del sonido normal, en desviaciones estándar. La latencia. Y la verdad del clip, que solo existe en la demo.'</a:t>
            </a:r>
          </a:p>
          <a:p/>
          <a:p>
            <a:r>
              <a:t>'La hora de llegada la pone la regla de IoT. Llegada menos decisión es lo que la estación estuvo sin red.'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A2 · LA VUELTA AUTOMÁTICA, PASO A PASO</a:t>
            </a:r>
          </a:p>
          <a:p/>
          <a:p>
            <a:r>
              <a:t>*Úsalo mientras esperas la alarma del acto 3. Dura un minuto. M te devuelve a la demo.*</a:t>
            </a:r>
          </a:p>
          <a:p/>
          <a:p>
            <a:r>
              <a:t>'Esto es lo que está pasando ahora mismo, sin que yo toque nada.'</a:t>
            </a:r>
          </a:p>
          <a:p/>
          <a:p>
            <a:r>
              <a:t>'Desplegué la 2.0.0 al thing group StationRing0. La bomba 1 trajo su estado deseado, bajó los archivos de S3, verificó el digest e instaló. Para Greengrass, éxito: la v2 corre sin errores.'</a:t>
            </a:r>
          </a:p>
          <a:p/>
          <a:p>
            <a:r>
              <a:t>'La bomba suena con falla y la v2 no avisa. Cada evento pasa por la regla, llega a CloudWatch Logs, y el filtro cuenta una falla no oída.'</a:t>
            </a:r>
          </a:p>
          <a:p/>
          <a:p>
            <a:r>
              <a:t>'Cuando en un minuto se juntan ocho o más, la alarma station-missed-faults pasa a ALARM e invoca la Lambda. La Lambda le pregunta a Parameter Store cuál es la última versión buena. Responde 1.0.0. Y crea un despliegue de la 1.0.0, solo al anillo 0.'</a:t>
            </a:r>
          </a:p>
          <a:p/>
          <a:p>
            <a:r>
              <a:t>'La bomba 1 vuelve a la v1, y la falla se oye otra vez. Yo solo aparezco en el primer paso. Del quinto en adelante, nadie toca nada.'</a:t>
            </a:r>
          </a:p>
          <a:p/>
          <a:p>
            <a:r>
              <a:t>*El umbral de la alarma (fallas no oídas por minuto) es la variable de Terraform alarm_threshold, que en Actions viene de la variable del repo ALARM_THRESHOLD (8 por defecto). Con estos clips, la v2 deja pasar unas 12 por minuto. La acción de la alarma solo corre cuando cambia de estado: antes de subir, la alarma tiene que estar en OK.*</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A3 · ¿QUÉ REVIERTE GREENGRASS SOLO?</a:t>
            </a:r>
          </a:p>
          <a:p/>
          <a:p>
            <a:r>
              <a:t>*Si preguntan por qué hace falta la compuerta si Greengrass ya revierte.*</a:t>
            </a:r>
          </a:p>
          <a:p/>
          <a:p>
            <a:r>
              <a:t>'Tres cosas sí. Si el artefacto en S3 cambió, el digest no coincide y el despliegue falla. Si el componente no instala o no arranca, failureHandlingPolicy en ROLLBACK, que viene por defecto, vuelve a la versión anterior. Y si fallan muchos equipos del anillo, abortConfig cancela el despliegue.'</a:t>
            </a:r>
          </a:p>
          <a:p/>
          <a:p>
            <a:r>
              <a:t>'Y una no: un modelo que corre bien y decide mal. Para Greengrass, eso salió bien. Lo ven los eventos del modelo y una alarma que los mire.'</a:t>
            </a:r>
          </a:p>
          <a:p/>
          <a:p>
            <a:r>
              <a:t>*Fuentes: https://docs.aws.amazon.com/greengrass/v2/developerguide/component-recipe-reference.html (Digest) · https://docs.aws.amazon.com/greengrass/v2/APIReference/API_DeploymentPolicies.html (ROLLBACK por defecto) · https://docs.aws.amazon.com/cli/latest/reference/greengrassv2/create-deployment.html (abortConfig).*</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A4 · PERMISOS Y COSTO</a:t>
            </a:r>
          </a:p>
          <a:p/>
          <a:p>
            <a:r>
              <a:t>*Si preguntan por permisos o por cuánto cuesta.*</a:t>
            </a:r>
          </a:p>
          <a:p/>
          <a:p>
            <a:r>
              <a:t>'El equipo baja artefactos con el rol de token exchange, que solo puede leer el bucket. Habla MQTT con una política de IoT que solo lo deja conectarse como su bomba y publicar en station/events. La regla solo escribe en su grupo de logs. Y la Lambda solo puede crear el despliegue y leer el parámetro.'</a:t>
            </a:r>
          </a:p>
          <a:p/>
          <a:p>
            <a:r>
              <a:t>'¿Cuánto cuesta? Lo que cobra es la EC2 que hospeda las cinco bombas, los mensajes de IoT Core, los core devices de Greengrass, CloudWatch y Lambda. La cifra exacta sale de Cost Explorer después del ensayo. Para dejar de pagar, el workflow de Terraform tiene un destroy.'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A5 · DE LA DEMO A PRODUCCIÓN</a:t>
            </a:r>
          </a:p>
          <a:p/>
          <a:p>
            <a:r>
              <a:t>*Si preguntan qué cambia para una flota real de estaciones.*</a:t>
            </a:r>
          </a:p>
          <a:p/>
          <a:p>
            <a:r>
              <a:t>'Cinco cambios. Un evento por clip pasa a un resumen por minuto, y el detalle solo cuando algo cambia. La cola en memoria pasa a disco, con tope y prioridad. El nucleus en un contenedor pasa a nucleus lite en el equipo pequeño. El anillo de una estación pasa a una compuerta que compara el canario contra el anillo. Y la respuesta conocida de la demo pasa a etiquetas tardías: la orden de mantenimiento dice cuándo fue falla.'</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A6 · ¿QUÉ MÉTODO DE DRIFT USO?</a:t>
            </a:r>
          </a:p>
          <a:p/>
          <a:p>
            <a:r>
              <a:t>*Si preguntan cómo medir el drift.*</a:t>
            </a:r>
          </a:p>
          <a:p/>
          <a:p>
            <a:r>
              <a:t>'Depende de la variable. PSI, para rangos o categorías; sus umbrales son costumbre, no estadística. Kolmogorov-Smirnov, para muestras pequeñas: con muchos datos da falsas alarmas. Wasserstein, para saber cuánto se movió en muestras grandes. Y Jensen-Shannon, acotada entre cero y uno.'</a:t>
            </a:r>
          </a:p>
          <a:p/>
          <a:p>
            <a:r>
              <a:t>'En la demo uso algo más simple: la distancia media de cada clip a la huella de stats.json. Con la otra velocidad, en el set de prueba, pasa de 0,76 a 1,07.'</a:t>
            </a:r>
          </a:p>
          <a:p/>
          <a:p>
            <a:r>
              <a:t>*En el ensayo, con ./demo/domain.sh pump-05 shifted, la entrada de la bomba 5 subió de ~0,8 a entre 1,6 y 2,2 desde el primer clip, y aparecieron alertas falsas. En el dashboard, el widget de la entrada muestra el promedio de la flota y la peor bomba: la deriva de una sola bomba se ve en la segunda serie.*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A7 · REGULACIÓN</a:t>
            </a:r>
          </a:p>
          <a:p/>
          <a:p>
            <a:r>
              <a:t>3 clics · *si preguntan quién más va a pedir cuentas*</a:t>
            </a:r>
          </a:p>
          <a:p/>
          <a:p>
            <a:r>
              <a:t>'En Europa, el AI Act pide que los sistemas de alto riesgo registren eventos solos durante toda su vida. Esos registros se guardan al menos seis meses, y hay monitoreo después de salir al mercado. Para alto riesgo aplica desde diciembre de 2027 o agosto de 2028, según el anexo.'</a:t>
            </a:r>
          </a:p>
          <a:p/>
          <a:p>
            <a:r>
              <a:t>▶ CLIC 'En Estados Unidos, el marco de riesgo de IA del NIST: gobernar, mapear, medir y gestionar. Es voluntario, pero se volvió el idioma común.'</a:t>
            </a:r>
          </a:p>
          <a:p/>
          <a:p>
            <a:r>
              <a:t>▶ CLIC 'E ISO/IEC 42001: un sistema de gestión de IA, certificable, con la lógica de ISO 27001.'</a:t>
            </a:r>
          </a:p>
          <a:p/>
          <a:p>
            <a:r>
              <a:t>▶ CLIC 'Piden lo mismo que necesitas para operar: qué corre, qué decidió y cómo volver.'</a:t>
            </a:r>
          </a:p>
          <a:p/>
          <a:p>
            <a:r>
              <a:t>*Si preguntan por Colombia: el AI Act se aplica a lo que se pone en el mercado de la UE, se fabrique donde se fabrique. Verifica en EUR-Lex el número y las fechas del Reglamento (UE) 2026/1744 antes de subir.*</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A8 · FUENTES</a:t>
            </a:r>
          </a:p>
          <a:p/>
          <a:p>
            <a:r>
              <a:t>*Si piden los papers y los datos. Los audios y las cifras medidas salen de MIMII DUE (Tanabe et al., Hitachi, 2021), bombas, licencia CC BY-NC-SA 4.0. Las fuentes de AWS no van en láminas: están en este guion y en el README de la PoC.*</a:t>
            </a:r>
          </a:p>
          <a:p/>
          <a:p>
            <a:r>
              <a:t>'Todo está aquí y en el repo. Los audios son de MIMII DUE, de Hitachi, con licencia abierta no comercial.'</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A9 · LAS SEÑALES DORADAS DE UN MODELO</a:t>
            </a:r>
          </a:p>
          <a:p/>
          <a:p>
            <a:r>
              <a:t>*Si preguntan qué mirar en el dashboard. En la demo las nombras sobre las columnas de watch.sh.*</a:t>
            </a:r>
          </a:p>
          <a:p/>
          <a:p>
            <a:r>
              <a:t>'Los que venimos de SRE conocemos las señales doradas de un servicio: latencia, tráfico, errores y saturación. Las de un modelo, con la bomba: ¿qué decide? Alertas por bomba. ¿Con cuánta seguridad? El score contra el umbral. ¿Se parece a lo que aprendió? El nivel de la entrada. ¿Qué corre dónde? La versión por equipo. Ninguna sola alcanza.'</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A10 · AUDIO CRUDO CONTRA EVENTOS, CON MIL BOMBAS</a:t>
            </a:r>
          </a:p>
          <a:p/>
          <a:p>
            <a:r>
              <a:t>2 clics · *si preguntan por qué no mandar el audio a la nube*</a:t>
            </a:r>
          </a:p>
          <a:p/>
          <a:p>
            <a:r>
              <a:t>'Si mandaras el audio crudo de mil bombas: 2,76 terabytes al día.'</a:t>
            </a:r>
          </a:p>
          <a:p/>
          <a:p>
            <a:r>
              <a:t>▶ CLIC 'Un evento cada 10 segundos por bomba: 8,64 millones de mensajes al día.'</a:t>
            </a:r>
          </a:p>
          <a:p/>
          <a:p>
            <a:r>
              <a:t>▶ CLIC 'Un resumen por minuto: 1,44 millones. El audio se queda en la estación.'</a:t>
            </a:r>
          </a:p>
          <a:p/>
          <a:p>
            <a:r>
              <a:t>*La PoC manda un evento por clip, cada 3 s, porque son cinco bombas. Las cuentas están al pie de la lámina.*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2.png"/><Relationship Id="rId3" Type="http://schemas.openxmlformats.org/officeDocument/2006/relationships/image" Target="../media/image-1002-3.png"/><Relationship Id="rId4"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image-1003-2.png"/><Relationship Id="rId3" Type="http://schemas.openxmlformats.org/officeDocument/2006/relationships/image" Target="../media/image-1003-3.png"/><Relationship Id="rId4"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image-1004-2.png"/><Relationship Id="rId3"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image" Target="../media/image-1005-2.png"/><Relationship Id="rId3"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6-1.png"/><Relationship Id="rId2" Type="http://schemas.openxmlformats.org/officeDocument/2006/relationships/image" Target="../media/image-1006-2.png"/><Relationship Id="rId3"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image" Target="../media/image-1007-1.png"/><Relationship Id="rId2" Type="http://schemas.openxmlformats.org/officeDocument/2006/relationships/image" Target="../media/image-1007-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rgbClr val="FFFFFF"/>
        </a:solidFill>
      </p:bgPr>
    </p:bg>
    <p:spTree>
      <p:nvGrpSpPr>
        <p:cNvPr id="1" name=""/>
        <p:cNvGrpSpPr/>
        <p:nvPr/>
      </p:nvGrpSpPr>
      <p:grpSpPr>
        <a:xfrm>
          <a:off x="0" y="0"/>
          <a:ext cx="0" cy="0"/>
          <a:chOff x="0" y="0"/>
          <a:chExt cx="0" cy="0"/>
        </a:xfrm>
      </p:grpSpPr>
      <p:pic>
        <p:nvPicPr>
          <p:cNvPr id="2" name="degradado" descr="/tmp/claude-0/-home-claude/5ec21709-fc46-5733-a412-4634ee5d7730/scratchpad/ppt/img/fondo-portada.png">    </p:cNvPr>
          <p:cNvPicPr>
            <a:picLocks noChangeAspect="1"/>
          </p:cNvPicPr>
          <p:nvPr/>
        </p:nvPicPr>
        <p:blipFill>
          <a:blip r:embed="rId1"/>
          <a:stretch>
            <a:fillRect/>
          </a:stretch>
        </p:blipFill>
        <p:spPr>
          <a:xfrm>
            <a:off x="0" y="0"/>
            <a:ext cx="12191695" cy="6858000"/>
          </a:xfrm>
          <a:prstGeom prst="rect">
            <a:avLst/>
          </a:prstGeom>
        </p:spPr>
      </p:pic>
      <p:pic>
        <p:nvPicPr>
          <p:cNvPr id="3" name="logo" descr="/tmp/claude-0/-home-claude/5ec21709-fc46-5733-a412-4634ee5d7730/scratchpad/ppt/img/logo-portada.png">    </p:cNvPr>
          <p:cNvPicPr>
            <a:picLocks noChangeAspect="1"/>
          </p:cNvPicPr>
          <p:nvPr/>
        </p:nvPicPr>
        <p:blipFill>
          <a:blip r:embed="rId2"/>
          <a:stretch>
            <a:fillRect/>
          </a:stretch>
        </p:blipFill>
        <p:spPr>
          <a:xfrm>
            <a:off x="640080" y="658368"/>
            <a:ext cx="2651760" cy="1170432"/>
          </a:xfrm>
          <a:prstGeom prst="rect">
            <a:avLst/>
          </a:prstGeom>
        </p:spPr>
      </p:pic>
      <p:pic>
        <p:nvPicPr>
          <p:cNvPr id="4" name="abrazo" descr="/tmp/claude-0/-home-claude/5ec21709-fc46-5733-a412-4634ee5d7730/scratchpad/ppt/img/abrazo-devy-oso.png">    </p:cNvPr>
          <p:cNvPicPr>
            <a:picLocks noChangeAspect="1"/>
          </p:cNvPicPr>
          <p:nvPr/>
        </p:nvPicPr>
        <p:blipFill>
          <a:blip r:embed="rId3"/>
          <a:stretch>
            <a:fillRect/>
          </a:stretch>
        </p:blipFill>
        <p:spPr>
          <a:xfrm>
            <a:off x="8622792" y="2807208"/>
            <a:ext cx="2926080" cy="3088843"/>
          </a:xfrm>
          <a:prstGeom prst="rect">
            <a:avLst/>
          </a:prstGeom>
        </p:spPr>
      </p:pic>
      <p:sp>
        <p:nvSpPr>
          <p:cNvPr id="5" name="Text 0"/>
          <p:cNvSpPr/>
          <p:nvPr>
            <p:ph idx="103" type="title" hasCustomPrompt="1"/>
          </p:nvPr>
        </p:nvSpPr>
        <p:spPr>
          <a:xfrm>
            <a:off x="640080" y="2468880"/>
            <a:ext cx="7863840" cy="1783080"/>
          </a:xfrm>
          <a:prstGeom prst="rect">
            <a:avLst/>
          </a:prstGeom>
          <a:noFill/>
          <a:ln/>
        </p:spPr>
        <p:txBody>
          <a:bodyPr wrap="square" rtlCol="0"/>
          <a:lstStyle>
            <a:lvl1pPr algn="l" indent="0" marL="0">
              <a:buNone/>
              <a:defRPr lang="en-US" sz="4200" b="1" dirty="0">
                <a:solidFill>
                  <a:srgbClr val="071329"/>
                </a:solidFill>
              </a:defRPr>
            </a:lvl1pPr>
          </a:lstStyle>
          <a:p>
            <a:pPr algn="l" indent="0" marL="0">
              <a:buNone/>
            </a:pPr>
            <a:r>
              <a:rPr lang="en-US" sz="4200" b="1" dirty="0">
                <a:solidFill>
                  <a:srgbClr val="071329"/>
                </a:solidFill>
              </a:rPr>
              <a:t>Título de tu charla</a:t>
            </a:r>
            <a:endParaRPr lang="en-US" sz="4200" dirty="0"/>
          </a:p>
        </p:txBody>
      </p:sp>
      <p:sp>
        <p:nvSpPr>
          <p:cNvPr id="6" name="Text 0"/>
          <p:cNvSpPr/>
          <p:nvPr>
            <p:ph idx="104" type="body" hasCustomPrompt="1"/>
          </p:nvPr>
        </p:nvSpPr>
        <p:spPr>
          <a:xfrm>
            <a:off x="640080" y="4389120"/>
            <a:ext cx="7863840" cy="685800"/>
          </a:xfrm>
          <a:prstGeom prst="rect">
            <a:avLst/>
          </a:prstGeom>
          <a:noFill/>
          <a:ln/>
        </p:spPr>
        <p:txBody>
          <a:bodyPr wrap="square" rtlCol="0"/>
          <a:lstStyle>
            <a:lvl1pPr algn="l" indent="0" marL="0">
              <a:buNone/>
              <a:defRPr lang="en-US" sz="1800" dirty="0">
                <a:solidFill>
                  <a:srgbClr val="475569"/>
                </a:solidFill>
              </a:defRPr>
            </a:lvl1pPr>
          </a:lstStyle>
          <a:p>
            <a:pPr algn="l" indent="0" marL="0">
              <a:buNone/>
            </a:pPr>
            <a:r>
              <a:rPr lang="en-US" sz="1800" dirty="0">
                <a:solidFill>
                  <a:srgbClr val="475569"/>
                </a:solidFill>
              </a:rPr>
              <a:t>Nombre Apellido  ·  Cargo, Empresa</a:t>
            </a:r>
            <a:endParaRPr lang="en-US" sz="1800" dirty="0"/>
          </a:p>
        </p:txBody>
      </p:sp>
      <p:sp>
        <p:nvSpPr>
          <p:cNvPr id="7" name="datos-evento"/>
          <p:cNvSpPr txBox="1"/>
          <p:nvPr/>
        </p:nvSpPr>
        <p:spPr>
          <a:xfrm>
            <a:off x="640080" y="5440680"/>
            <a:ext cx="7863840" cy="411480"/>
          </a:xfrm>
          <a:prstGeom prst="rect">
            <a:avLst/>
          </a:prstGeom>
          <a:noFill/>
          <a:ln/>
        </p:spPr>
        <p:txBody>
          <a:bodyPr wrap="square" lIns="0" tIns="0" rIns="0" bIns="0" rtlCol="0" anchor="ctr"/>
          <a:lstStyle/>
          <a:p>
            <a:pPr indent="0" marL="0">
              <a:buNone/>
            </a:pPr>
            <a:r>
              <a:rPr lang="en-US" sz="2000" b="1" dirty="0">
                <a:solidFill>
                  <a:srgbClr val="071329"/>
                </a:solidFill>
              </a:rPr>
              <a:t>23 · 10 · 2026   ·   Compensar Av. 68   ·   Bogotá</a:t>
            </a:r>
            <a:endParaRPr lang="en-US" sz="2000" dirty="0"/>
          </a:p>
        </p:txBody>
      </p:sp>
      <p:sp>
        <p:nvSpPr>
          <p:cNvPr id="8" name="hashtag"/>
          <p:cNvSpPr txBox="1"/>
          <p:nvPr/>
        </p:nvSpPr>
        <p:spPr>
          <a:xfrm>
            <a:off x="640080" y="5925312"/>
            <a:ext cx="7863840" cy="274320"/>
          </a:xfrm>
          <a:prstGeom prst="rect">
            <a:avLst/>
          </a:prstGeom>
          <a:noFill/>
          <a:ln/>
        </p:spPr>
        <p:txBody>
          <a:bodyPr wrap="square" lIns="0" tIns="0" rIns="0" bIns="0" rtlCol="0" anchor="ctr"/>
          <a:lstStyle/>
          <a:p>
            <a:pPr indent="0" marL="0">
              <a:buNone/>
            </a:pPr>
            <a:r>
              <a:rPr lang="en-US" sz="1100" spc="60" kern="0" dirty="0">
                <a:solidFill>
                  <a:srgbClr val="6D28D9"/>
                </a:solidFill>
                <a:latin typeface="Courier New" pitchFamily="34" charset="0"/>
                <a:ea typeface="Courier New" pitchFamily="34" charset="-122"/>
                <a:cs typeface="Courier New" pitchFamily="34" charset="-120"/>
              </a:rPr>
              <a:t>#DevOpsDaysBogota</a:t>
            </a:r>
            <a:endParaRPr lang="en-US" sz="11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IERRE">
    <p:bg>
      <p:bgPr>
        <a:solidFill>
          <a:srgbClr val="FFFFFF"/>
        </a:solidFill>
      </p:bgPr>
    </p:bg>
    <p:spTree>
      <p:nvGrpSpPr>
        <p:cNvPr id="1" name=""/>
        <p:cNvGrpSpPr/>
        <p:nvPr/>
      </p:nvGrpSpPr>
      <p:grpSpPr>
        <a:xfrm>
          <a:off x="0" y="0"/>
          <a:ext cx="0" cy="0"/>
          <a:chOff x="0" y="0"/>
          <a:chExt cx="0" cy="0"/>
        </a:xfrm>
      </p:grpSpPr>
      <p:pic>
        <p:nvPicPr>
          <p:cNvPr id="2" name="panel" descr="/tmp/claude-0/-home-claude/5ec21709-fc46-5733-a412-4634ee5d7730/scratchpad/ppt/img/panel-cierre.png">    </p:cNvPr>
          <p:cNvPicPr>
            <a:picLocks noChangeAspect="1"/>
          </p:cNvPicPr>
          <p:nvPr/>
        </p:nvPicPr>
        <p:blipFill>
          <a:blip r:embed="rId1"/>
          <a:stretch>
            <a:fillRect/>
          </a:stretch>
        </p:blipFill>
        <p:spPr>
          <a:xfrm>
            <a:off x="4572000" y="0"/>
            <a:ext cx="7619695" cy="6858000"/>
          </a:xfrm>
          <a:prstGeom prst="rect">
            <a:avLst/>
          </a:prstGeom>
        </p:spPr>
      </p:pic>
      <p:pic>
        <p:nvPicPr>
          <p:cNvPr id="3" name="amigos" descr="/tmp/claude-0/-home-claude/5ec21709-fc46-5733-a412-4634ee5d7730/scratchpad/ppt/img/grupo-amigos.png">    </p:cNvPr>
          <p:cNvPicPr>
            <a:picLocks noChangeAspect="1"/>
          </p:cNvPicPr>
          <p:nvPr/>
        </p:nvPicPr>
        <p:blipFill>
          <a:blip r:embed="rId2"/>
          <a:stretch>
            <a:fillRect/>
          </a:stretch>
        </p:blipFill>
        <p:spPr>
          <a:xfrm>
            <a:off x="4773168" y="969264"/>
            <a:ext cx="7223760" cy="5663794"/>
          </a:xfrm>
          <a:prstGeom prst="rect">
            <a:avLst/>
          </a:prstGeom>
        </p:spPr>
      </p:pic>
      <p:pic>
        <p:nvPicPr>
          <p:cNvPr id="4" name="logo" descr="/tmp/claude-0/-home-claude/5ec21709-fc46-5733-a412-4634ee5d7730/scratchpad/ppt/img/logo-pie.png">    </p:cNvPr>
          <p:cNvPicPr>
            <a:picLocks noChangeAspect="1"/>
          </p:cNvPicPr>
          <p:nvPr/>
        </p:nvPicPr>
        <p:blipFill>
          <a:blip r:embed="rId3"/>
          <a:stretch>
            <a:fillRect/>
          </a:stretch>
        </p:blipFill>
        <p:spPr>
          <a:xfrm>
            <a:off x="640080" y="566928"/>
            <a:ext cx="1920240" cy="847649"/>
          </a:xfrm>
          <a:prstGeom prst="rect">
            <a:avLst/>
          </a:prstGeom>
        </p:spPr>
      </p:pic>
      <p:sp>
        <p:nvSpPr>
          <p:cNvPr id="5" name="antetitulo"/>
          <p:cNvSpPr txBox="1"/>
          <p:nvPr/>
        </p:nvSpPr>
        <p:spPr>
          <a:xfrm>
            <a:off x="640080" y="1810512"/>
            <a:ext cx="3291840" cy="274320"/>
          </a:xfrm>
          <a:prstGeom prst="rect">
            <a:avLst/>
          </a:prstGeom>
          <a:noFill/>
          <a:ln/>
        </p:spPr>
        <p:txBody>
          <a:bodyPr wrap="square" lIns="0" tIns="0" rIns="0" bIns="0" rtlCol="0" anchor="ctr"/>
          <a:lstStyle/>
          <a:p>
            <a:pPr indent="0" marL="0">
              <a:buNone/>
            </a:pPr>
            <a:r>
              <a:rPr lang="en-US" sz="1200" b="1" spc="140" kern="0" dirty="0">
                <a:solidFill>
                  <a:srgbClr val="6D28D9"/>
                </a:solidFill>
              </a:rPr>
              <a:t>CIERRE</a:t>
            </a:r>
            <a:endParaRPr lang="en-US" sz="1200" dirty="0"/>
          </a:p>
        </p:txBody>
      </p:sp>
      <p:sp>
        <p:nvSpPr>
          <p:cNvPr id="6" name="Text 1"/>
          <p:cNvSpPr/>
          <p:nvPr>
            <p:ph idx="104" type="title" hasCustomPrompt="1"/>
          </p:nvPr>
        </p:nvSpPr>
        <p:spPr>
          <a:xfrm>
            <a:off x="640080" y="2176272"/>
            <a:ext cx="3566160" cy="868680"/>
          </a:xfrm>
          <a:prstGeom prst="rect">
            <a:avLst/>
          </a:prstGeom>
          <a:noFill/>
          <a:ln/>
        </p:spPr>
        <p:txBody>
          <a:bodyPr wrap="square" rtlCol="0"/>
          <a:lstStyle>
            <a:lvl1pPr algn="l" indent="0" marL="0">
              <a:buNone/>
              <a:defRPr lang="en-US" sz="4400" b="1" dirty="0">
                <a:solidFill>
                  <a:srgbClr val="071329"/>
                </a:solidFill>
              </a:defRPr>
            </a:lvl1pPr>
          </a:lstStyle>
          <a:p>
            <a:pPr algn="l" indent="0" marL="0">
              <a:buNone/>
            </a:pPr>
            <a:r>
              <a:rPr lang="en-US" sz="4400" b="1" dirty="0">
                <a:solidFill>
                  <a:srgbClr val="071329"/>
                </a:solidFill>
              </a:rPr>
              <a:t>Gracias</a:t>
            </a:r>
            <a:endParaRPr lang="en-US" sz="4400" dirty="0"/>
          </a:p>
        </p:txBody>
      </p:sp>
      <p:sp>
        <p:nvSpPr>
          <p:cNvPr id="7" name="Text 1"/>
          <p:cNvSpPr/>
          <p:nvPr>
            <p:ph idx="105" type="body" hasCustomPrompt="1"/>
          </p:nvPr>
        </p:nvSpPr>
        <p:spPr>
          <a:xfrm>
            <a:off x="640080" y="3218688"/>
            <a:ext cx="3566160" cy="2103120"/>
          </a:xfrm>
          <a:prstGeom prst="rect">
            <a:avLst/>
          </a:prstGeom>
          <a:noFill/>
          <a:ln/>
        </p:spPr>
        <p:txBody>
          <a:bodyPr wrap="square" rtlCol="0"/>
          <a:lstStyle>
            <a:lvl1pPr algn="l" indent="0" marL="0">
              <a:buNone/>
              <a:defRPr lang="en-US" sz="1700" dirty="0">
                <a:solidFill>
                  <a:srgbClr val="475569"/>
                </a:solidFill>
              </a:defRPr>
            </a:lvl1pPr>
          </a:lstStyle>
          <a:p>
            <a:pPr algn="l" indent="0" marL="0">
              <a:buNone/>
            </a:pPr>
            <a:r>
              <a:rPr lang="en-US" sz="1700" dirty="0">
                <a:solidFill>
                  <a:srgbClr val="475569"/>
                </a:solidFill>
              </a:rPr>
              <a:t>Cierre</a:t>
            </a:r>
            <a:endParaRPr lang="en-US" sz="1700" dirty="0"/>
          </a:p>
        </p:txBody>
      </p:sp>
      <p:sp>
        <p:nvSpPr>
          <p:cNvPr id="8" name="datos"/>
          <p:cNvSpPr txBox="1"/>
          <p:nvPr/>
        </p:nvSpPr>
        <p:spPr>
          <a:xfrm>
            <a:off x="640080" y="5989320"/>
            <a:ext cx="3657600" cy="274320"/>
          </a:xfrm>
          <a:prstGeom prst="rect">
            <a:avLst/>
          </a:prstGeom>
          <a:noFill/>
          <a:ln/>
        </p:spPr>
        <p:txBody>
          <a:bodyPr wrap="square" lIns="0" tIns="0" rIns="0" bIns="0" rtlCol="0" anchor="ctr"/>
          <a:lstStyle/>
          <a:p>
            <a:pPr indent="0" marL="0">
              <a:buNone/>
            </a:pPr>
            <a:r>
              <a:rPr lang="en-US" sz="1000" spc="80" kern="0" dirty="0">
                <a:solidFill>
                  <a:srgbClr val="5C7290"/>
                </a:solidFill>
                <a:latin typeface="Courier New" pitchFamily="34" charset="0"/>
                <a:ea typeface="Courier New" pitchFamily="34" charset="-122"/>
                <a:cs typeface="Courier New" pitchFamily="34" charset="-120"/>
              </a:rPr>
              <a:t>23 OCT 2026   ·   COMPENSAR AV. 68</a:t>
            </a:r>
            <a:endParaRPr lang="en-US" sz="1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IERRE-FOTO">
    <p:bg>
      <p:bgPr>
        <a:solidFill>
          <a:srgbClr val="FFFFFF"/>
        </a:solidFill>
      </p:bgPr>
    </p:bg>
    <p:spTree>
      <p:nvGrpSpPr>
        <p:cNvPr id="1" name=""/>
        <p:cNvGrpSpPr/>
        <p:nvPr/>
      </p:nvGrpSpPr>
      <p:grpSpPr>
        <a:xfrm>
          <a:off x="0" y="0"/>
          <a:ext cx="0" cy="0"/>
          <a:chOff x="0" y="0"/>
          <a:chExt cx="0" cy="0"/>
        </a:xfrm>
      </p:grpSpPr>
      <p:pic>
        <p:nvPicPr>
          <p:cNvPr id="2" name="velo" descr="/tmp/claude-0/-home-claude/5ec21709-fc46-5733-a412-4634ee5d7730/scratchpad/ppt/img/velo-cierre.png">    </p:cNvPr>
          <p:cNvPicPr>
            <a:picLocks noChangeAspect="1"/>
          </p:cNvPicPr>
          <p:nvPr/>
        </p:nvPicPr>
        <p:blipFill>
          <a:blip r:embed="rId1"/>
          <a:stretch>
            <a:fillRect/>
          </a:stretch>
        </p:blipFill>
        <p:spPr>
          <a:xfrm>
            <a:off x="0" y="0"/>
            <a:ext cx="12191695" cy="6858000"/>
          </a:xfrm>
          <a:prstGeom prst="rect">
            <a:avLst/>
          </a:prstGeom>
        </p:spPr>
      </p:pic>
      <p:pic>
        <p:nvPicPr>
          <p:cNvPr id="3" name="logo" descr="/tmp/claude-0/-home-claude/5ec21709-fc46-5733-a412-4634ee5d7730/scratchpad/ppt/img/logo-pie.png">    </p:cNvPr>
          <p:cNvPicPr>
            <a:picLocks noChangeAspect="1"/>
          </p:cNvPicPr>
          <p:nvPr/>
        </p:nvPicPr>
        <p:blipFill>
          <a:blip r:embed="rId2"/>
          <a:stretch>
            <a:fillRect/>
          </a:stretch>
        </p:blipFill>
        <p:spPr>
          <a:xfrm>
            <a:off x="640080" y="566928"/>
            <a:ext cx="1920240" cy="847649"/>
          </a:xfrm>
          <a:prstGeom prst="rect">
            <a:avLst/>
          </a:prstGeom>
        </p:spPr>
      </p:pic>
      <p:sp>
        <p:nvSpPr>
          <p:cNvPr id="4" name="antetitulo"/>
          <p:cNvSpPr txBox="1"/>
          <p:nvPr/>
        </p:nvSpPr>
        <p:spPr>
          <a:xfrm>
            <a:off x="640080" y="1810512"/>
            <a:ext cx="3291840" cy="274320"/>
          </a:xfrm>
          <a:prstGeom prst="rect">
            <a:avLst/>
          </a:prstGeom>
          <a:noFill/>
          <a:ln/>
        </p:spPr>
        <p:txBody>
          <a:bodyPr wrap="square" lIns="0" tIns="0" rIns="0" bIns="0" rtlCol="0" anchor="ctr"/>
          <a:lstStyle/>
          <a:p>
            <a:pPr indent="0" marL="0">
              <a:buNone/>
            </a:pPr>
            <a:r>
              <a:rPr lang="en-US" sz="1200" b="1" spc="140" kern="0" dirty="0">
                <a:solidFill>
                  <a:srgbClr val="6D28D9"/>
                </a:solidFill>
              </a:rPr>
              <a:t>CLOSING</a:t>
            </a:r>
            <a:endParaRPr lang="en-US" sz="1200" dirty="0"/>
          </a:p>
        </p:txBody>
      </p:sp>
      <p:sp>
        <p:nvSpPr>
          <p:cNvPr id="5" name="Text 1"/>
          <p:cNvSpPr/>
          <p:nvPr>
            <p:ph idx="103" type="title" hasCustomPrompt="1"/>
          </p:nvPr>
        </p:nvSpPr>
        <p:spPr>
          <a:xfrm>
            <a:off x="640080" y="2176272"/>
            <a:ext cx="3566160" cy="868680"/>
          </a:xfrm>
          <a:prstGeom prst="rect">
            <a:avLst/>
          </a:prstGeom>
          <a:noFill/>
          <a:ln/>
        </p:spPr>
        <p:txBody>
          <a:bodyPr wrap="square" rtlCol="0"/>
          <a:lstStyle>
            <a:lvl1pPr algn="l" indent="0" marL="0">
              <a:buNone/>
              <a:defRPr lang="en-US" sz="4400" b="1" dirty="0">
                <a:solidFill>
                  <a:srgbClr val="071329"/>
                </a:solidFill>
              </a:defRPr>
            </a:lvl1pPr>
          </a:lstStyle>
          <a:p>
            <a:pPr algn="l" indent="0" marL="0">
              <a:buNone/>
            </a:pPr>
            <a:r>
              <a:rPr lang="en-US" sz="4400" b="1" dirty="0">
                <a:solidFill>
                  <a:srgbClr val="071329"/>
                </a:solidFill>
              </a:rPr>
              <a:t>Gracias</a:t>
            </a:r>
            <a:endParaRPr lang="en-US" sz="4400" dirty="0"/>
          </a:p>
        </p:txBody>
      </p:sp>
      <p:sp>
        <p:nvSpPr>
          <p:cNvPr id="6" name="Text 1"/>
          <p:cNvSpPr/>
          <p:nvPr>
            <p:ph idx="104" type="body" hasCustomPrompt="1"/>
          </p:nvPr>
        </p:nvSpPr>
        <p:spPr>
          <a:xfrm>
            <a:off x="640080" y="3218688"/>
            <a:ext cx="3566160" cy="2103120"/>
          </a:xfrm>
          <a:prstGeom prst="rect">
            <a:avLst/>
          </a:prstGeom>
          <a:noFill/>
          <a:ln/>
        </p:spPr>
        <p:txBody>
          <a:bodyPr wrap="square" rtlCol="0"/>
          <a:lstStyle>
            <a:lvl1pPr algn="l" indent="0" marL="0">
              <a:buNone/>
              <a:defRPr lang="en-US" sz="1700" dirty="0">
                <a:solidFill>
                  <a:srgbClr val="475569"/>
                </a:solidFill>
              </a:defRPr>
            </a:lvl1pPr>
          </a:lstStyle>
          <a:p>
            <a:pPr algn="l" indent="0" marL="0">
              <a:buNone/>
            </a:pPr>
            <a:r>
              <a:rPr lang="en-US" sz="1700" dirty="0">
                <a:solidFill>
                  <a:srgbClr val="475569"/>
                </a:solidFill>
              </a:rPr>
              <a:t>Cierre</a:t>
            </a:r>
            <a:endParaRPr lang="en-US" sz="1700" dirty="0"/>
          </a:p>
        </p:txBody>
      </p:sp>
      <p:sp>
        <p:nvSpPr>
          <p:cNvPr id="7" name="datos"/>
          <p:cNvSpPr txBox="1"/>
          <p:nvPr/>
        </p:nvSpPr>
        <p:spPr>
          <a:xfrm>
            <a:off x="640080" y="5989320"/>
            <a:ext cx="3657600" cy="274320"/>
          </a:xfrm>
          <a:prstGeom prst="rect">
            <a:avLst/>
          </a:prstGeom>
          <a:noFill/>
          <a:ln/>
        </p:spPr>
        <p:txBody>
          <a:bodyPr wrap="square" lIns="0" tIns="0" rIns="0" bIns="0" rtlCol="0" anchor="ctr"/>
          <a:lstStyle/>
          <a:p>
            <a:pPr indent="0" marL="0">
              <a:buNone/>
            </a:pPr>
            <a:r>
              <a:rPr lang="en-US" sz="1000" spc="80" kern="0" dirty="0">
                <a:solidFill>
                  <a:srgbClr val="5C7290"/>
                </a:solidFill>
                <a:latin typeface="Courier New" pitchFamily="34" charset="0"/>
                <a:ea typeface="Courier New" pitchFamily="34" charset="-122"/>
                <a:cs typeface="Courier New" pitchFamily="34" charset="-120"/>
              </a:rPr>
              <a:t>23 OCT 2026   ·   COMPENSAR AV. 68</a:t>
            </a:r>
            <a:endParaRPr lang="en-US" sz="10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IDO">
    <p:bg>
      <p:bgPr>
        <a:solidFill>
          <a:srgbClr val="FFFFFF"/>
        </a:solidFill>
      </p:bgPr>
    </p:bg>
    <p:spTree>
      <p:nvGrpSpPr>
        <p:cNvPr id="1" name=""/>
        <p:cNvGrpSpPr/>
        <p:nvPr/>
      </p:nvGrpSpPr>
      <p:grpSpPr>
        <a:xfrm>
          <a:off x="0" y="0"/>
          <a:ext cx="0" cy="0"/>
          <a:chOff x="0" y="0"/>
          <a:chExt cx="0" cy="0"/>
        </a:xfrm>
      </p:grpSpPr>
      <p:pic>
        <p:nvPicPr>
          <p:cNvPr id="2" name="onda-pie" descr="/tmp/claude-0/-home-claude/5ec21709-fc46-5733-a412-4634ee5d7730/scratchpad/ppt/img/onda-pie.png">    </p:cNvPr>
          <p:cNvPicPr>
            <a:picLocks noChangeAspect="1"/>
          </p:cNvPicPr>
          <p:nvPr/>
        </p:nvPicPr>
        <p:blipFill>
          <a:blip r:embed="rId1"/>
          <a:stretch>
            <a:fillRect/>
          </a:stretch>
        </p:blipFill>
        <p:spPr>
          <a:xfrm>
            <a:off x="0" y="5905195"/>
            <a:ext cx="12191695" cy="952805"/>
          </a:xfrm>
          <a:prstGeom prst="rect">
            <a:avLst/>
          </a:prstGeom>
        </p:spPr>
      </p:pic>
      <p:pic>
        <p:nvPicPr>
          <p:cNvPr id="3" name="logo-pie" descr="/tmp/claude-0/-home-claude/5ec21709-fc46-5733-a412-4634ee5d7730/scratchpad/ppt/img/logo-pie.png">    </p:cNvPr>
          <p:cNvPicPr>
            <a:picLocks noChangeAspect="1"/>
          </p:cNvPicPr>
          <p:nvPr/>
        </p:nvPicPr>
        <p:blipFill>
          <a:blip r:embed="rId2"/>
          <a:stretch>
            <a:fillRect/>
          </a:stretch>
        </p:blipFill>
        <p:spPr>
          <a:xfrm>
            <a:off x="640080" y="6199632"/>
            <a:ext cx="1078992" cy="475488"/>
          </a:xfrm>
          <a:prstGeom prst="rect">
            <a:avLst/>
          </a:prstGeom>
        </p:spPr>
      </p:pic>
      <p:sp>
        <p:nvSpPr>
          <p:cNvPr id="4" name="pie-url"/>
          <p:cNvSpPr txBox="1"/>
          <p:nvPr/>
        </p:nvSpPr>
        <p:spPr>
          <a:xfrm>
            <a:off x="8625535" y="6309360"/>
            <a:ext cx="2926080" cy="256032"/>
          </a:xfrm>
          <a:prstGeom prst="rect">
            <a:avLst/>
          </a:prstGeom>
          <a:noFill/>
          <a:ln/>
        </p:spPr>
        <p:txBody>
          <a:bodyPr wrap="square" lIns="0" tIns="0" rIns="0" bIns="0" rtlCol="0" anchor="ctr"/>
          <a:lstStyle/>
          <a:p>
            <a:pPr algn="r" indent="0" marL="0">
              <a:buNone/>
            </a:pPr>
            <a:r>
              <a:rPr lang="en-US" sz="1000" dirty="0">
                <a:solidFill>
                  <a:srgbClr val="475569"/>
                </a:solidFill>
                <a:latin typeface="Courier New" pitchFamily="34" charset="0"/>
                <a:ea typeface="Courier New" pitchFamily="34" charset="-122"/>
                <a:cs typeface="Courier New" pitchFamily="34" charset="-120"/>
              </a:rPr>
              <a:t>devopsdaysbogota.org</a:t>
            </a:r>
            <a:endParaRPr lang="en-US" sz="1000" dirty="0"/>
          </a:p>
        </p:txBody>
      </p:sp>
      <p:sp>
        <p:nvSpPr>
          <p:cNvPr id="5" name="Shape 1"/>
          <p:cNvSpPr/>
          <p:nvPr/>
        </p:nvSpPr>
        <p:spPr>
          <a:xfrm>
            <a:off x="640080" y="512064"/>
            <a:ext cx="91440" cy="91440"/>
          </a:xfrm>
          <a:prstGeom prst="rect">
            <a:avLst/>
          </a:prstGeom>
          <a:solidFill>
            <a:srgbClr val="2448FF"/>
          </a:solidFill>
          <a:ln w="12700">
            <a:solidFill>
              <a:srgbClr val="2448FF"/>
            </a:solidFill>
            <a:prstDash val="solid"/>
          </a:ln>
        </p:spPr>
      </p:sp>
      <p:sp>
        <p:nvSpPr>
          <p:cNvPr id="6" name="Shape 2"/>
          <p:cNvSpPr/>
          <p:nvPr/>
        </p:nvSpPr>
        <p:spPr>
          <a:xfrm>
            <a:off x="772668" y="512064"/>
            <a:ext cx="91440" cy="91440"/>
          </a:xfrm>
          <a:prstGeom prst="rect">
            <a:avLst/>
          </a:prstGeom>
          <a:solidFill>
            <a:srgbClr val="6D28D9"/>
          </a:solidFill>
          <a:ln w="12700">
            <a:solidFill>
              <a:srgbClr val="6D28D9"/>
            </a:solidFill>
            <a:prstDash val="solid"/>
          </a:ln>
        </p:spPr>
      </p:sp>
      <p:sp>
        <p:nvSpPr>
          <p:cNvPr id="7" name="Shape 3"/>
          <p:cNvSpPr/>
          <p:nvPr/>
        </p:nvSpPr>
        <p:spPr>
          <a:xfrm>
            <a:off x="905256" y="512064"/>
            <a:ext cx="91440" cy="91440"/>
          </a:xfrm>
          <a:prstGeom prst="rect">
            <a:avLst/>
          </a:prstGeom>
          <a:solidFill>
            <a:srgbClr val="00BCEB"/>
          </a:solidFill>
          <a:ln w="12700">
            <a:solidFill>
              <a:srgbClr val="00BCEB"/>
            </a:solidFill>
            <a:prstDash val="solid"/>
          </a:ln>
        </p:spPr>
      </p:sp>
      <p:sp>
        <p:nvSpPr>
          <p:cNvPr id="8" name="Text 4"/>
          <p:cNvSpPr/>
          <p:nvPr>
            <p:ph idx="106" type="body" hasCustomPrompt="1"/>
          </p:nvPr>
        </p:nvSpPr>
        <p:spPr>
          <a:xfrm>
            <a:off x="1115568" y="457200"/>
            <a:ext cx="6858000" cy="274320"/>
          </a:xfrm>
          <a:prstGeom prst="rect">
            <a:avLst/>
          </a:prstGeom>
          <a:noFill/>
          <a:ln/>
        </p:spPr>
        <p:txBody>
          <a:bodyPr wrap="square" rtlCol="0"/>
          <a:lstStyle>
            <a:lvl1pPr indent="0" marL="0">
              <a:buNone/>
              <a:defRPr lang="en-US" sz="1200" b="1" spc="140" kern="0" dirty="0">
                <a:solidFill>
                  <a:srgbClr val="6D28D9"/>
                </a:solidFill>
              </a:defRPr>
            </a:lvl1pPr>
          </a:lstStyle>
          <a:p>
            <a:pPr indent="0" marL="0">
              <a:buNone/>
            </a:pPr>
            <a:r>
              <a:rPr lang="en-US" sz="1200" b="1" spc="140" kern="0" dirty="0">
                <a:solidFill>
                  <a:srgbClr val="6D28D9"/>
                </a:solidFill>
              </a:rPr>
              <a:t>EYEBROW</a:t>
            </a:r>
            <a:endParaRPr lang="en-US" sz="1200" dirty="0"/>
          </a:p>
        </p:txBody>
      </p:sp>
      <p:sp>
        <p:nvSpPr>
          <p:cNvPr id="9" name="Text 4"/>
          <p:cNvSpPr/>
          <p:nvPr>
            <p:ph idx="107" type="title" hasCustomPrompt="1"/>
          </p:nvPr>
        </p:nvSpPr>
        <p:spPr>
          <a:xfrm>
            <a:off x="640080" y="841248"/>
            <a:ext cx="10911535" cy="713232"/>
          </a:xfrm>
          <a:prstGeom prst="rect">
            <a:avLst/>
          </a:prstGeom>
          <a:noFill/>
          <a:ln/>
        </p:spPr>
        <p:txBody>
          <a:bodyPr wrap="square" rtlCol="0"/>
          <a:lstStyle>
            <a:lvl1pPr algn="l" indent="0" marL="0">
              <a:buNone/>
              <a:defRPr lang="en-US" sz="3200" b="1" dirty="0">
                <a:solidFill>
                  <a:srgbClr val="071329"/>
                </a:solidFill>
              </a:defRPr>
            </a:lvl1pPr>
          </a:lstStyle>
          <a:p>
            <a:pPr algn="l" indent="0" marL="0">
              <a:buNone/>
            </a:pPr>
            <a:r>
              <a:rPr lang="en-US" sz="3200" b="1" dirty="0">
                <a:solidFill>
                  <a:srgbClr val="071329"/>
                </a:solidFill>
              </a:rPr>
              <a:t>Título de la lámina</a:t>
            </a:r>
            <a:endParaRPr lang="en-US" sz="3200" dirty="0"/>
          </a:p>
        </p:txBody>
      </p:sp>
      <p:sp>
        <p:nvSpPr>
          <p:cNvPr id="25"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IMPLE">
    <p:bg>
      <p:bgPr>
        <a:solidFill>
          <a:srgbClr val="FFFFFF"/>
        </a:solidFill>
      </p:bgPr>
    </p:bg>
    <p:spTree>
      <p:nvGrpSpPr>
        <p:cNvPr id="1" name=""/>
        <p:cNvGrpSpPr/>
        <p:nvPr/>
      </p:nvGrpSpPr>
      <p:grpSpPr>
        <a:xfrm>
          <a:off x="0" y="0"/>
          <a:ext cx="0" cy="0"/>
          <a:chOff x="0" y="0"/>
          <a:chExt cx="0" cy="0"/>
        </a:xfrm>
      </p:grpSpPr>
      <p:pic>
        <p:nvPicPr>
          <p:cNvPr id="2" name="onda-pie" descr="/tmp/claude-0/-home-claude/5ec21709-fc46-5733-a412-4634ee5d7730/scratchpad/ppt/img/onda-pie.png">    </p:cNvPr>
          <p:cNvPicPr>
            <a:picLocks noChangeAspect="1"/>
          </p:cNvPicPr>
          <p:nvPr/>
        </p:nvPicPr>
        <p:blipFill>
          <a:blip r:embed="rId1"/>
          <a:stretch>
            <a:fillRect/>
          </a:stretch>
        </p:blipFill>
        <p:spPr>
          <a:xfrm>
            <a:off x="0" y="5905195"/>
            <a:ext cx="12191695" cy="952805"/>
          </a:xfrm>
          <a:prstGeom prst="rect">
            <a:avLst/>
          </a:prstGeom>
        </p:spPr>
      </p:pic>
      <p:pic>
        <p:nvPicPr>
          <p:cNvPr id="3" name="logo-pie" descr="/tmp/claude-0/-home-claude/5ec21709-fc46-5733-a412-4634ee5d7730/scratchpad/ppt/img/logo-pie.png">    </p:cNvPr>
          <p:cNvPicPr>
            <a:picLocks noChangeAspect="1"/>
          </p:cNvPicPr>
          <p:nvPr/>
        </p:nvPicPr>
        <p:blipFill>
          <a:blip r:embed="rId2"/>
          <a:stretch>
            <a:fillRect/>
          </a:stretch>
        </p:blipFill>
        <p:spPr>
          <a:xfrm>
            <a:off x="640080" y="6199632"/>
            <a:ext cx="1078992" cy="475488"/>
          </a:xfrm>
          <a:prstGeom prst="rect">
            <a:avLst/>
          </a:prstGeom>
        </p:spPr>
      </p:pic>
      <p:sp>
        <p:nvSpPr>
          <p:cNvPr id="4" name="pie-url"/>
          <p:cNvSpPr txBox="1"/>
          <p:nvPr/>
        </p:nvSpPr>
        <p:spPr>
          <a:xfrm>
            <a:off x="8625535" y="6309360"/>
            <a:ext cx="2926080" cy="256032"/>
          </a:xfrm>
          <a:prstGeom prst="rect">
            <a:avLst/>
          </a:prstGeom>
          <a:noFill/>
          <a:ln/>
        </p:spPr>
        <p:txBody>
          <a:bodyPr wrap="square" lIns="0" tIns="0" rIns="0" bIns="0" rtlCol="0" anchor="ctr"/>
          <a:lstStyle/>
          <a:p>
            <a:pPr algn="r" indent="0" marL="0">
              <a:buNone/>
            </a:pPr>
            <a:r>
              <a:rPr lang="en-US" sz="1000" dirty="0">
                <a:solidFill>
                  <a:srgbClr val="475569"/>
                </a:solidFill>
                <a:latin typeface="Courier New" pitchFamily="34" charset="0"/>
                <a:ea typeface="Courier New" pitchFamily="34" charset="-122"/>
                <a:cs typeface="Courier New" pitchFamily="34" charset="-120"/>
              </a:rPr>
              <a:t>devopsdaysbogota.org</a:t>
            </a:r>
            <a:endParaRPr lang="en-US" sz="1000" dirty="0"/>
          </a:p>
        </p:txBody>
      </p:sp>
      <p:sp>
        <p:nvSpPr>
          <p:cNvPr id="5" name="Shape 1"/>
          <p:cNvSpPr/>
          <p:nvPr/>
        </p:nvSpPr>
        <p:spPr>
          <a:xfrm>
            <a:off x="640080" y="512064"/>
            <a:ext cx="91440" cy="91440"/>
          </a:xfrm>
          <a:prstGeom prst="rect">
            <a:avLst/>
          </a:prstGeom>
          <a:solidFill>
            <a:srgbClr val="2448FF"/>
          </a:solidFill>
          <a:ln w="12700">
            <a:solidFill>
              <a:srgbClr val="2448FF"/>
            </a:solidFill>
            <a:prstDash val="solid"/>
          </a:ln>
        </p:spPr>
      </p:sp>
      <p:sp>
        <p:nvSpPr>
          <p:cNvPr id="6" name="Shape 2"/>
          <p:cNvSpPr/>
          <p:nvPr/>
        </p:nvSpPr>
        <p:spPr>
          <a:xfrm>
            <a:off x="772668" y="512064"/>
            <a:ext cx="91440" cy="91440"/>
          </a:xfrm>
          <a:prstGeom prst="rect">
            <a:avLst/>
          </a:prstGeom>
          <a:solidFill>
            <a:srgbClr val="6D28D9"/>
          </a:solidFill>
          <a:ln w="12700">
            <a:solidFill>
              <a:srgbClr val="6D28D9"/>
            </a:solidFill>
            <a:prstDash val="solid"/>
          </a:ln>
        </p:spPr>
      </p:sp>
      <p:sp>
        <p:nvSpPr>
          <p:cNvPr id="7" name="Shape 3"/>
          <p:cNvSpPr/>
          <p:nvPr/>
        </p:nvSpPr>
        <p:spPr>
          <a:xfrm>
            <a:off x="905256" y="512064"/>
            <a:ext cx="91440" cy="91440"/>
          </a:xfrm>
          <a:prstGeom prst="rect">
            <a:avLst/>
          </a:prstGeom>
          <a:solidFill>
            <a:srgbClr val="00BCEB"/>
          </a:solidFill>
          <a:ln w="12700">
            <a:solidFill>
              <a:srgbClr val="00BCEB"/>
            </a:solidFill>
            <a:prstDash val="solid"/>
          </a:ln>
        </p:spPr>
      </p:sp>
      <p:sp>
        <p:nvSpPr>
          <p:cNvPr id="8" name="Text 4"/>
          <p:cNvSpPr/>
          <p:nvPr>
            <p:ph idx="106" type="title" hasCustomPrompt="1"/>
          </p:nvPr>
        </p:nvSpPr>
        <p:spPr>
          <a:xfrm>
            <a:off x="640080" y="841248"/>
            <a:ext cx="10911535" cy="713232"/>
          </a:xfrm>
          <a:prstGeom prst="rect">
            <a:avLst/>
          </a:prstGeom>
          <a:noFill/>
          <a:ln/>
        </p:spPr>
        <p:txBody>
          <a:bodyPr wrap="square" rtlCol="0"/>
          <a:lstStyle>
            <a:lvl1pPr algn="l" indent="0" marL="0">
              <a:buNone/>
              <a:defRPr lang="en-US" sz="3200" b="1" dirty="0">
                <a:solidFill>
                  <a:srgbClr val="071329"/>
                </a:solidFill>
              </a:defRPr>
            </a:lvl1pPr>
          </a:lstStyle>
          <a:p>
            <a:pPr algn="l" indent="0" marL="0">
              <a:buNone/>
            </a:pPr>
            <a:r>
              <a:rPr lang="en-US" sz="3200" b="1" dirty="0">
                <a:solidFill>
                  <a:srgbClr val="071329"/>
                </a:solidFill>
              </a:rPr>
              <a:t>Título de la lámina</a:t>
            </a:r>
            <a:endParaRPr lang="en-US" sz="3200" dirty="0"/>
          </a:p>
        </p:txBody>
      </p:sp>
      <p:sp>
        <p:nvSpPr>
          <p:cNvPr id="25"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DIVISOR">
    <p:bg>
      <p:bgPr>
        <a:solidFill>
          <a:srgbClr val="F4F7FC"/>
        </a:solidFill>
      </p:bgPr>
    </p:bg>
    <p:spTree>
      <p:nvGrpSpPr>
        <p:cNvPr id="1" name=""/>
        <p:cNvGrpSpPr/>
        <p:nvPr/>
      </p:nvGrpSpPr>
      <p:grpSpPr>
        <a:xfrm>
          <a:off x="0" y="0"/>
          <a:ext cx="0" cy="0"/>
          <a:chOff x="0" y="0"/>
          <a:chExt cx="0" cy="0"/>
        </a:xfrm>
      </p:grpSpPr>
      <p:pic>
        <p:nvPicPr>
          <p:cNvPr id="2" name="ondas" descr="/tmp/claude-0/-home-claude/5ec21709-fc46-5733-a412-4634ee5d7730/scratchpad/ppt/img/fondo-divisor.png">    </p:cNvPr>
          <p:cNvPicPr>
            <a:picLocks noChangeAspect="1"/>
          </p:cNvPicPr>
          <p:nvPr/>
        </p:nvPicPr>
        <p:blipFill>
          <a:blip r:embed="rId1"/>
          <a:stretch>
            <a:fillRect/>
          </a:stretch>
        </p:blipFill>
        <p:spPr>
          <a:xfrm>
            <a:off x="0" y="0"/>
            <a:ext cx="12191695" cy="6858000"/>
          </a:xfrm>
          <a:prstGeom prst="rect">
            <a:avLst/>
          </a:prstGeom>
        </p:spPr>
      </p:pic>
      <p:pic>
        <p:nvPicPr>
          <p:cNvPr id="3" name="logo-pie" descr="/tmp/claude-0/-home-claude/5ec21709-fc46-5733-a412-4634ee5d7730/scratchpad/ppt/img/logo-pie.png">    </p:cNvPr>
          <p:cNvPicPr>
            <a:picLocks noChangeAspect="1"/>
          </p:cNvPicPr>
          <p:nvPr/>
        </p:nvPicPr>
        <p:blipFill>
          <a:blip r:embed="rId2"/>
          <a:stretch>
            <a:fillRect/>
          </a:stretch>
        </p:blipFill>
        <p:spPr>
          <a:xfrm>
            <a:off x="640080" y="6199632"/>
            <a:ext cx="1078992" cy="475488"/>
          </a:xfrm>
          <a:prstGeom prst="rect">
            <a:avLst/>
          </a:prstGeom>
        </p:spPr>
      </p:pic>
      <p:sp>
        <p:nvSpPr>
          <p:cNvPr id="4" name="pie-url"/>
          <p:cNvSpPr txBox="1"/>
          <p:nvPr/>
        </p:nvSpPr>
        <p:spPr>
          <a:xfrm>
            <a:off x="8625535" y="6309360"/>
            <a:ext cx="2926080" cy="256032"/>
          </a:xfrm>
          <a:prstGeom prst="rect">
            <a:avLst/>
          </a:prstGeom>
          <a:noFill/>
          <a:ln/>
        </p:spPr>
        <p:txBody>
          <a:bodyPr wrap="square" lIns="0" tIns="0" rIns="0" bIns="0" rtlCol="0" anchor="ctr"/>
          <a:lstStyle/>
          <a:p>
            <a:pPr algn="r" indent="0" marL="0">
              <a:buNone/>
            </a:pPr>
            <a:r>
              <a:rPr lang="en-US" sz="1000" dirty="0">
                <a:solidFill>
                  <a:srgbClr val="475569"/>
                </a:solidFill>
                <a:latin typeface="Courier New" pitchFamily="34" charset="0"/>
                <a:ea typeface="Courier New" pitchFamily="34" charset="-122"/>
                <a:cs typeface="Courier New" pitchFamily="34" charset="-120"/>
              </a:rPr>
              <a:t>devopsdaysbogota.org</a:t>
            </a:r>
            <a:endParaRPr lang="en-US" sz="1000" dirty="0"/>
          </a:p>
        </p:txBody>
      </p:sp>
      <p:sp>
        <p:nvSpPr>
          <p:cNvPr id="5" name="Shape 1"/>
          <p:cNvSpPr/>
          <p:nvPr/>
        </p:nvSpPr>
        <p:spPr>
          <a:xfrm>
            <a:off x="640080" y="2084832"/>
            <a:ext cx="146304" cy="146304"/>
          </a:xfrm>
          <a:prstGeom prst="rect">
            <a:avLst/>
          </a:prstGeom>
          <a:solidFill>
            <a:srgbClr val="2448FF"/>
          </a:solidFill>
          <a:ln w="12700">
            <a:solidFill>
              <a:srgbClr val="2448FF"/>
            </a:solidFill>
            <a:prstDash val="solid"/>
          </a:ln>
        </p:spPr>
      </p:sp>
      <p:sp>
        <p:nvSpPr>
          <p:cNvPr id="6" name="Shape 2"/>
          <p:cNvSpPr/>
          <p:nvPr/>
        </p:nvSpPr>
        <p:spPr>
          <a:xfrm>
            <a:off x="827532" y="2084832"/>
            <a:ext cx="146304" cy="146304"/>
          </a:xfrm>
          <a:prstGeom prst="rect">
            <a:avLst/>
          </a:prstGeom>
          <a:solidFill>
            <a:srgbClr val="6D28D9"/>
          </a:solidFill>
          <a:ln w="12700">
            <a:solidFill>
              <a:srgbClr val="6D28D9"/>
            </a:solidFill>
            <a:prstDash val="solid"/>
          </a:ln>
        </p:spPr>
      </p:sp>
      <p:sp>
        <p:nvSpPr>
          <p:cNvPr id="7" name="Shape 3"/>
          <p:cNvSpPr/>
          <p:nvPr/>
        </p:nvSpPr>
        <p:spPr>
          <a:xfrm>
            <a:off x="1014984" y="2084832"/>
            <a:ext cx="146304" cy="146304"/>
          </a:xfrm>
          <a:prstGeom prst="rect">
            <a:avLst/>
          </a:prstGeom>
          <a:solidFill>
            <a:srgbClr val="00BCEB"/>
          </a:solidFill>
          <a:ln w="12700">
            <a:solidFill>
              <a:srgbClr val="00BCEB"/>
            </a:solidFill>
            <a:prstDash val="solid"/>
          </a:ln>
        </p:spPr>
      </p:sp>
      <p:sp>
        <p:nvSpPr>
          <p:cNvPr id="8" name="Text 4"/>
          <p:cNvSpPr/>
          <p:nvPr>
            <p:ph idx="106" type="body" hasCustomPrompt="1"/>
          </p:nvPr>
        </p:nvSpPr>
        <p:spPr>
          <a:xfrm>
            <a:off x="640080" y="2395728"/>
            <a:ext cx="2743200" cy="1005840"/>
          </a:xfrm>
          <a:prstGeom prst="rect">
            <a:avLst/>
          </a:prstGeom>
          <a:noFill/>
          <a:ln/>
        </p:spPr>
        <p:txBody>
          <a:bodyPr wrap="square" rtlCol="0"/>
          <a:lstStyle>
            <a:lvl1pPr indent="0" marL="0">
              <a:buNone/>
              <a:defRPr lang="en-US" sz="6400" b="1" dirty="0">
                <a:solidFill>
                  <a:srgbClr val="2448FF"/>
                </a:solidFill>
              </a:defRPr>
            </a:lvl1pPr>
          </a:lstStyle>
          <a:p>
            <a:pPr indent="0" marL="0">
              <a:buNone/>
            </a:pPr>
            <a:r>
              <a:rPr lang="en-US" sz="6400" b="1" dirty="0">
                <a:solidFill>
                  <a:srgbClr val="2448FF"/>
                </a:solidFill>
              </a:rPr>
              <a:t>01</a:t>
            </a:r>
            <a:endParaRPr lang="en-US" sz="6400" dirty="0"/>
          </a:p>
        </p:txBody>
      </p:sp>
      <p:sp>
        <p:nvSpPr>
          <p:cNvPr id="9" name="Text 4"/>
          <p:cNvSpPr/>
          <p:nvPr>
            <p:ph idx="107" type="title" hasCustomPrompt="1"/>
          </p:nvPr>
        </p:nvSpPr>
        <p:spPr>
          <a:xfrm>
            <a:off x="640080" y="3456432"/>
            <a:ext cx="8595360" cy="914400"/>
          </a:xfrm>
          <a:prstGeom prst="rect">
            <a:avLst/>
          </a:prstGeom>
          <a:noFill/>
          <a:ln/>
        </p:spPr>
        <p:txBody>
          <a:bodyPr wrap="square" rtlCol="0"/>
          <a:lstStyle>
            <a:lvl1pPr algn="l" indent="0" marL="0">
              <a:buNone/>
              <a:defRPr lang="en-US" sz="3800" b="1" dirty="0">
                <a:solidFill>
                  <a:srgbClr val="071329"/>
                </a:solidFill>
              </a:defRPr>
            </a:lvl1pPr>
          </a:lstStyle>
          <a:p>
            <a:pPr algn="l" indent="0" marL="0">
              <a:buNone/>
            </a:pPr>
            <a:r>
              <a:rPr lang="en-US" sz="3800" b="1" dirty="0">
                <a:solidFill>
                  <a:srgbClr val="071329"/>
                </a:solidFill>
              </a:rPr>
              <a:t>Nombre de la sección</a:t>
            </a:r>
            <a:endParaRPr lang="en-US" sz="3800" dirty="0"/>
          </a:p>
        </p:txBody>
      </p:sp>
      <p:sp>
        <p:nvSpPr>
          <p:cNvPr id="10" name="Text 4"/>
          <p:cNvSpPr/>
          <p:nvPr>
            <p:ph idx="108" type="body" hasCustomPrompt="1"/>
          </p:nvPr>
        </p:nvSpPr>
        <p:spPr>
          <a:xfrm>
            <a:off x="640080" y="4407408"/>
            <a:ext cx="7498080" cy="640080"/>
          </a:xfrm>
          <a:prstGeom prst="rect">
            <a:avLst/>
          </a:prstGeom>
          <a:noFill/>
          <a:ln/>
        </p:spPr>
        <p:txBody>
          <a:bodyPr wrap="square" rtlCol="0"/>
          <a:lstStyle>
            <a:lvl1pPr algn="l" indent="0" marL="0">
              <a:buNone/>
              <a:defRPr lang="en-US" sz="1700" dirty="0">
                <a:solidFill>
                  <a:srgbClr val="475569"/>
                </a:solidFill>
              </a:defRPr>
            </a:lvl1pPr>
          </a:lstStyle>
          <a:p>
            <a:pPr algn="l" indent="0" marL="0">
              <a:buNone/>
            </a:pPr>
            <a:r>
              <a:rPr lang="en-US" sz="1700" dirty="0">
                <a:solidFill>
                  <a:srgbClr val="475569"/>
                </a:solidFill>
              </a:rPr>
              <a:t>Una línea que anticipa de qué va esta parte.</a:t>
            </a:r>
            <a:endParaRPr lang="en-US" sz="1700" dirty="0"/>
          </a:p>
        </p:txBody>
      </p:sp>
      <p:sp>
        <p:nvSpPr>
          <p:cNvPr id="25"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1007</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1.png"/><Relationship Id="rId5" Type="http://schemas.microsoft.com/office/2007/relationships/media" Target="../media/media2.mp4"/><Relationship Id="rId6" Type="http://schemas.openxmlformats.org/officeDocument/2006/relationships/video" Target="../media/media2.mp4"/><Relationship Id="rId7" Type="http://schemas.openxmlformats.org/officeDocument/2006/relationships/image" Target="../media/image2.png"/><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6.gif"/><Relationship Id="rId3" Type="http://schemas.openxmlformats.org/officeDocument/2006/relationships/image" Target="../media/image7.gif"/><Relationship Id="rId4" Type="http://schemas.openxmlformats.org/officeDocument/2006/relationships/image" Target="../media/image8.gif"/><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7.png"/><Relationship Id="rId11"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3.png"/><Relationship Id="rId7" Type="http://schemas.openxmlformats.org/officeDocument/2006/relationships/image" Target="../media/image24.png"/><Relationship Id="rId8" Type="http://schemas.openxmlformats.org/officeDocument/2006/relationships/image" Target="../media/image25.png"/><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0.png"/><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34.png"/><Relationship Id="rId7" Type="http://schemas.openxmlformats.org/officeDocument/2006/relationships/image" Target="../media/image35.png"/><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6.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39.png"/><Relationship Id="rId6" Type="http://schemas.openxmlformats.org/officeDocument/2006/relationships/image" Target="../media/image40.png"/><Relationship Id="rId7" Type="http://schemas.openxmlformats.org/officeDocument/2006/relationships/image" Target="../media/image41.png"/><Relationship Id="rId8" Type="http://schemas.openxmlformats.org/officeDocument/2006/relationships/image" Target="../media/image42.png"/><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3.png"/><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46.png"/><Relationship Id="rId6" Type="http://schemas.openxmlformats.org/officeDocument/2006/relationships/image" Target="../media/image47.png"/><Relationship Id="rId7" Type="http://schemas.openxmlformats.org/officeDocument/2006/relationships/image" Target="../media/image48.png"/><Relationship Id="rId8" Type="http://schemas.openxmlformats.org/officeDocument/2006/relationships/image" Target="../media/image49.png"/><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0.png"/><Relationship Id="rId3" Type="http://schemas.openxmlformats.org/officeDocument/2006/relationships/image" Target="../media/image51.png"/><Relationship Id="rId4" Type="http://schemas.openxmlformats.org/officeDocument/2006/relationships/image" Target="../media/image52.png"/><Relationship Id="rId5" Type="http://schemas.openxmlformats.org/officeDocument/2006/relationships/image" Target="../media/image53.png"/><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4.png"/><Relationship Id="rId3" Type="http://schemas.openxmlformats.org/officeDocument/2006/relationships/image" Target="../media/image55.png"/><Relationship Id="rId4" Type="http://schemas.openxmlformats.org/officeDocument/2006/relationships/image" Target="../media/image56.png"/><Relationship Id="rId5" Type="http://schemas.openxmlformats.org/officeDocument/2006/relationships/image" Target="../media/image57.pn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8.png"/><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image" Target="../media/image61.png"/><Relationship Id="rId6" Type="http://schemas.openxmlformats.org/officeDocument/2006/relationships/image" Target="../media/image62.png"/><Relationship Id="rId7" Type="http://schemas.openxmlformats.org/officeDocument/2006/relationships/image" Target="../media/image63.png"/><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64.png"/><Relationship Id="rId3" Type="http://schemas.openxmlformats.org/officeDocument/2006/relationships/image" Target="../media/image65.png"/><Relationship Id="rId4" Type="http://schemas.openxmlformats.org/officeDocument/2006/relationships/image" Target="../media/image66.png"/><Relationship Id="rId5" Type="http://schemas.openxmlformats.org/officeDocument/2006/relationships/image" Target="../media/image67.png"/><Relationship Id="rId6" Type="http://schemas.openxmlformats.org/officeDocument/2006/relationships/image" Target="../media/image68.png"/><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69.png"/><Relationship Id="rId3" Type="http://schemas.openxmlformats.org/officeDocument/2006/relationships/image" Target="../media/image70.png"/><Relationship Id="rId4" Type="http://schemas.openxmlformats.org/officeDocument/2006/relationships/image" Target="../media/image71.png"/><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8.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79.png"/><Relationship Id="rId5" Type="http://schemas.microsoft.com/office/2007/relationships/media" Target="../media/media2.mp4"/><Relationship Id="rId6" Type="http://schemas.openxmlformats.org/officeDocument/2006/relationships/video" Target="../media/media2.mp4"/><Relationship Id="rId7"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0.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1.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2.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lIns="0"/>
          <a:lstStyle/>
          <a:p>
            <a:r>
              <a:rPr lang="es-CO"/>
              <a:t>MLOps </a:t>
            </a:r>
            <a:r>
              <a:rPr lang="es-CO">
                <a:solidFill>
                  <a:srgbClr val="6D28D9"/>
                </a:solidFill>
              </a:rPr>
              <a:t>a ciegas</a:t>
            </a:r>
          </a:p>
          <a:p>
            <a:pPr>
              <a:spcBef>
                <a:spcPts val="800"/>
              </a:spcBef>
            </a:pPr>
            <a:r>
              <a:rPr sz="1800" b="0" lang="es-CO">
                <a:solidFill>
                  <a:srgbClr val="071329"/>
                </a:solidFill>
              </a:rPr>
              <a:t>Gobernar modelos de IA que se ejecutan donde no llega el plano de control</a:t>
            </a:r>
          </a:p>
        </p:txBody>
      </p:sp>
      <p:sp>
        <p:nvSpPr>
          <p:cNvPr id="3" name="Text Placeholder 2"/>
          <p:cNvSpPr>
            <a:spLocks noGrp="1"/>
          </p:cNvSpPr>
          <p:nvPr>
            <p:ph type="body" idx="104"/>
          </p:nvPr>
        </p:nvSpPr>
        <p:spPr/>
        <p:txBody>
          <a:bodyPr lIns="0"/>
          <a:lstStyle/>
          <a:p>
            <a:r>
              <a:rPr lang="es-CO"/>
              <a:t>Alejandro Varela · Cloud Engineer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ESCUCHA</a:t>
            </a:r>
          </a:p>
        </p:txBody>
      </p:sp>
      <p:sp>
        <p:nvSpPr>
          <p:cNvPr id="3" name="Title 2"/>
          <p:cNvSpPr>
            <a:spLocks noGrp="1"/>
          </p:cNvSpPr>
          <p:nvPr>
            <p:ph type="title" idx="107"/>
          </p:nvPr>
        </p:nvSpPr>
        <p:spPr/>
        <p:txBody>
          <a:bodyPr lIns="0"/>
          <a:lstStyle/>
          <a:p>
            <a:r>
              <a:rPr lang="es-CO"/>
              <a:t>¿Esta bomba está </a:t>
            </a:r>
            <a:r>
              <a:rPr b="1" lang="es-CO">
                <a:solidFill>
                  <a:srgbClr val="6D28D9"/>
                </a:solidFill>
              </a:rPr>
              <a:t>fallando</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arjeta A"/>
          <p:cNvSpPr/>
          <p:nvPr/>
        </p:nvSpPr>
        <p:spPr>
          <a:xfrm>
            <a:off x="640080" y="1828800"/>
            <a:ext cx="5273040" cy="2655570"/>
          </a:xfrm>
          <a:prstGeom prst="roundRect">
            <a:avLst>
              <a:gd name="adj" fmla="val 4017"/>
            </a:avLst>
          </a:prstGeom>
          <a:solidFill>
            <a:srgbClr val="FFFFFF"/>
          </a:solidFill>
          <a:ln w="11430">
            <a:solidFill>
              <a:srgbClr val="D5DEEA"/>
            </a:solidFill>
          </a:ln>
        </p:spPr>
        <p:txBody>
          <a:bodyPr rtlCol="0" anchor="ctr"/>
          <a:lstStyle/>
          <a:p>
            <a:pPr algn="ctr"/>
          </a:p>
        </p:txBody>
      </p:sp>
      <p:sp>
        <p:nvSpPr>
          <p:cNvPr id="55" name="Rótulo A"/>
          <p:cNvSpPr txBox="1"/>
          <p:nvPr/>
        </p:nvSpPr>
        <p:spPr>
          <a:xfrm>
            <a:off x="849630" y="1992325"/>
            <a:ext cx="3810000" cy="316078"/>
          </a:xfrm>
          <a:prstGeom prst="rect">
            <a:avLst/>
          </a:prstGeom>
          <a:noFill/>
        </p:spPr>
        <p:txBody>
          <a:bodyPr wrap="square" lIns="0" tIns="0" rIns="0" bIns="0" anchor="t">
            <a:noAutofit/>
          </a:bodyPr>
          <a:lstStyle/>
          <a:p>
            <a:r>
              <a:rPr sz="2039" b="1" lang="es-CO">
                <a:solidFill>
                  <a:srgbClr val="071329"/>
                </a:solidFill>
                <a:latin typeface="Calibri"/>
              </a:rPr>
              <a:t>Bomba A</a:t>
            </a:r>
          </a:p>
        </p:txBody>
      </p:sp>
      <p:pic>
        <p:nvPicPr>
          <p:cNvPr id="56" name="Audio bomba A">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849630" y="2415540"/>
            <a:ext cx="4876800" cy="1219200"/>
          </a:xfrm>
          <a:prstGeom prst="rect">
            <a:avLst/>
          </a:prstGeom>
        </p:spPr>
      </p:pic>
      <p:grpSp>
        <p:nvGrpSpPr>
          <p:cNvPr id="4" name="Botón A"/>
          <p:cNvGrpSpPr/>
          <p:nvPr/>
        </p:nvGrpSpPr>
        <p:grpSpPr>
          <a:xfrm>
            <a:off x="849630" y="3787140"/>
            <a:ext cx="4853940" cy="487680"/>
            <a:chOff x="849630" y="3787140"/>
            <a:chExt cx="4853940" cy="487680"/>
          </a:xfrm>
        </p:grpSpPr>
        <p:sp>
          <p:nvSpPr>
            <p:cNvPr id="57" name="Fondo"/>
            <p:cNvSpPr/>
            <p:nvPr/>
          </p:nvSpPr>
          <p:spPr>
            <a:xfrm>
              <a:off x="849630" y="3787140"/>
              <a:ext cx="4853940" cy="487680"/>
            </a:xfrm>
            <a:prstGeom prst="roundRect">
              <a:avLst>
                <a:gd name="adj" fmla="val 50000"/>
              </a:avLst>
            </a:prstGeom>
            <a:solidFill>
              <a:srgbClr val="6D28D9"/>
            </a:solidFill>
            <a:ln>
              <a:noFill/>
            </a:ln>
          </p:spPr>
          <p:txBody>
            <a:bodyPr rtlCol="0" anchor="ctr"/>
            <a:lstStyle/>
            <a:p>
              <a:pPr algn="ctr"/>
            </a:p>
          </p:txBody>
        </p:sp>
        <p:sp>
          <p:nvSpPr>
            <p:cNvPr id="5" name="Triángulo"/>
            <p:cNvSpPr/>
            <p:nvPr/>
          </p:nvSpPr>
          <p:spPr>
            <a:xfrm>
              <a:off x="2783503" y="3939540"/>
              <a:ext cx="144780" cy="182880"/>
            </a:xfrm>
            <a:custGeom>
              <a:avLst/>
              <a:gdLst/>
              <a:ahLst/>
              <a:cxnLst/>
              <a:rect l="l" t="t" r="r" b="b"/>
              <a:pathLst>
                <a:path w="144780" h="182880">
                  <a:moveTo>
                    <a:pt x="0" y="0"/>
                  </a:moveTo>
                  <a:lnTo>
                    <a:pt x="144780" y="91440"/>
                  </a:lnTo>
                  <a:lnTo>
                    <a:pt x="0" y="182880"/>
                  </a:lnTo>
                  <a:close/>
                </a:path>
              </a:pathLst>
            </a:custGeom>
            <a:solidFill>
              <a:srgbClr val="FFFFFF"/>
            </a:solidFill>
            <a:ln>
              <a:noFill/>
            </a:ln>
          </p:spPr>
          <p:txBody>
            <a:bodyPr rtlCol="0" anchor="ctr"/>
            <a:lstStyle/>
            <a:p>
              <a:pPr algn="ctr"/>
            </a:p>
          </p:txBody>
        </p:sp>
        <p:sp>
          <p:nvSpPr>
            <p:cNvPr id="58" name="Rótulo"/>
            <p:cNvSpPr txBox="1"/>
            <p:nvPr/>
          </p:nvSpPr>
          <p:spPr>
            <a:xfrm>
              <a:off x="3050203" y="3787140"/>
              <a:ext cx="932855" cy="487680"/>
            </a:xfrm>
            <a:prstGeom prst="rect">
              <a:avLst/>
            </a:prstGeom>
            <a:noFill/>
          </p:spPr>
          <p:txBody>
            <a:bodyPr wrap="square" lIns="0" tIns="0" rIns="0" bIns="0" anchor="ctr">
              <a:noAutofit/>
            </a:bodyPr>
            <a:lstStyle/>
            <a:p>
              <a:r>
                <a:rPr sz="1620" b="1" lang="es-CO">
                  <a:solidFill>
                    <a:srgbClr val="FFFFFF"/>
                  </a:solidFill>
                  <a:latin typeface="Calibri"/>
                </a:rPr>
                <a:t>Escuchar</a:t>
              </a:r>
            </a:p>
          </p:txBody>
        </p:sp>
      </p:grpSp>
      <p:sp>
        <p:nvSpPr>
          <p:cNvPr id="59" name="Tarjeta B"/>
          <p:cNvSpPr/>
          <p:nvPr/>
        </p:nvSpPr>
        <p:spPr>
          <a:xfrm>
            <a:off x="6278880" y="1828800"/>
            <a:ext cx="5273040" cy="2655570"/>
          </a:xfrm>
          <a:prstGeom prst="roundRect">
            <a:avLst>
              <a:gd name="adj" fmla="val 4017"/>
            </a:avLst>
          </a:prstGeom>
          <a:solidFill>
            <a:srgbClr val="FFFFFF"/>
          </a:solidFill>
          <a:ln w="11430">
            <a:solidFill>
              <a:srgbClr val="D5DEEA"/>
            </a:solidFill>
          </a:ln>
        </p:spPr>
        <p:txBody>
          <a:bodyPr rtlCol="0" anchor="ctr"/>
          <a:lstStyle/>
          <a:p>
            <a:pPr algn="ctr"/>
          </a:p>
        </p:txBody>
      </p:sp>
      <p:sp>
        <p:nvSpPr>
          <p:cNvPr id="60" name="Rótulo B"/>
          <p:cNvSpPr txBox="1"/>
          <p:nvPr/>
        </p:nvSpPr>
        <p:spPr>
          <a:xfrm>
            <a:off x="6488430" y="1992325"/>
            <a:ext cx="3810000" cy="316078"/>
          </a:xfrm>
          <a:prstGeom prst="rect">
            <a:avLst/>
          </a:prstGeom>
          <a:noFill/>
        </p:spPr>
        <p:txBody>
          <a:bodyPr wrap="square" lIns="0" tIns="0" rIns="0" bIns="0" anchor="t">
            <a:noAutofit/>
          </a:bodyPr>
          <a:lstStyle/>
          <a:p>
            <a:r>
              <a:rPr sz="2039" b="1" lang="es-CO">
                <a:solidFill>
                  <a:srgbClr val="071329"/>
                </a:solidFill>
                <a:latin typeface="Calibri"/>
              </a:rPr>
              <a:t>Bomba B</a:t>
            </a:r>
          </a:p>
        </p:txBody>
      </p:sp>
      <p:pic>
        <p:nvPicPr>
          <p:cNvPr id="61" name="Audio bomba B">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7"/>
          <a:stretch>
            <a:fillRect/>
          </a:stretch>
        </p:blipFill>
        <p:spPr>
          <a:xfrm>
            <a:off x="6488430" y="2415540"/>
            <a:ext cx="4876800" cy="1219200"/>
          </a:xfrm>
          <a:prstGeom prst="rect">
            <a:avLst/>
          </a:prstGeom>
        </p:spPr>
      </p:pic>
      <p:grpSp>
        <p:nvGrpSpPr>
          <p:cNvPr id="6" name="Botón B"/>
          <p:cNvGrpSpPr/>
          <p:nvPr/>
        </p:nvGrpSpPr>
        <p:grpSpPr>
          <a:xfrm>
            <a:off x="6488430" y="3787140"/>
            <a:ext cx="4853940" cy="487680"/>
            <a:chOff x="6488430" y="3787140"/>
            <a:chExt cx="4853940" cy="487680"/>
          </a:xfrm>
        </p:grpSpPr>
        <p:sp>
          <p:nvSpPr>
            <p:cNvPr id="62" name="Fondo"/>
            <p:cNvSpPr/>
            <p:nvPr/>
          </p:nvSpPr>
          <p:spPr>
            <a:xfrm>
              <a:off x="6488430" y="3787140"/>
              <a:ext cx="4853940" cy="487680"/>
            </a:xfrm>
            <a:prstGeom prst="roundRect">
              <a:avLst>
                <a:gd name="adj" fmla="val 50000"/>
              </a:avLst>
            </a:prstGeom>
            <a:solidFill>
              <a:srgbClr val="6D28D9"/>
            </a:solidFill>
            <a:ln>
              <a:noFill/>
            </a:ln>
          </p:spPr>
          <p:txBody>
            <a:bodyPr rtlCol="0" anchor="ctr"/>
            <a:lstStyle/>
            <a:p>
              <a:pPr algn="ctr"/>
            </a:p>
          </p:txBody>
        </p:sp>
        <p:sp>
          <p:nvSpPr>
            <p:cNvPr id="7" name="Triángulo"/>
            <p:cNvSpPr/>
            <p:nvPr/>
          </p:nvSpPr>
          <p:spPr>
            <a:xfrm>
              <a:off x="8422303" y="3939540"/>
              <a:ext cx="144780" cy="182880"/>
            </a:xfrm>
            <a:custGeom>
              <a:avLst/>
              <a:gdLst/>
              <a:ahLst/>
              <a:cxnLst/>
              <a:rect l="l" t="t" r="r" b="b"/>
              <a:pathLst>
                <a:path w="144780" h="182880">
                  <a:moveTo>
                    <a:pt x="0" y="0"/>
                  </a:moveTo>
                  <a:lnTo>
                    <a:pt x="144780" y="91440"/>
                  </a:lnTo>
                  <a:lnTo>
                    <a:pt x="0" y="182880"/>
                  </a:lnTo>
                  <a:close/>
                </a:path>
              </a:pathLst>
            </a:custGeom>
            <a:solidFill>
              <a:srgbClr val="FFFFFF"/>
            </a:solidFill>
            <a:ln>
              <a:noFill/>
            </a:ln>
          </p:spPr>
          <p:txBody>
            <a:bodyPr rtlCol="0" anchor="ctr"/>
            <a:lstStyle/>
            <a:p>
              <a:pPr algn="ctr"/>
            </a:p>
          </p:txBody>
        </p:sp>
        <p:sp>
          <p:nvSpPr>
            <p:cNvPr id="63" name="Rótulo"/>
            <p:cNvSpPr txBox="1"/>
            <p:nvPr/>
          </p:nvSpPr>
          <p:spPr>
            <a:xfrm>
              <a:off x="8689003" y="3787140"/>
              <a:ext cx="932855" cy="487680"/>
            </a:xfrm>
            <a:prstGeom prst="rect">
              <a:avLst/>
            </a:prstGeom>
            <a:noFill/>
          </p:spPr>
          <p:txBody>
            <a:bodyPr wrap="square" lIns="0" tIns="0" rIns="0" bIns="0" anchor="ctr">
              <a:noAutofit/>
            </a:bodyPr>
            <a:lstStyle/>
            <a:p>
              <a:r>
                <a:rPr sz="1620" b="1" lang="es-CO">
                  <a:solidFill>
                    <a:srgbClr val="FFFFFF"/>
                  </a:solidFill>
                  <a:latin typeface="Calibri"/>
                </a:rPr>
                <a:t>Escuchar</a:t>
              </a:r>
            </a:p>
          </p:txBody>
        </p:sp>
      </p:grpSp>
      <p:sp>
        <p:nvSpPr>
          <p:cNvPr id="64" name="Pregunta"/>
          <p:cNvSpPr txBox="1"/>
          <p:nvPr/>
        </p:nvSpPr>
        <p:spPr>
          <a:xfrm>
            <a:off x="640080" y="4789322"/>
            <a:ext cx="10911840" cy="539191"/>
          </a:xfrm>
          <a:prstGeom prst="rect">
            <a:avLst/>
          </a:prstGeom>
          <a:noFill/>
        </p:spPr>
        <p:txBody>
          <a:bodyPr wrap="square" lIns="0" tIns="0" rIns="0" bIns="0" anchor="t">
            <a:noAutofit/>
          </a:bodyPr>
          <a:lstStyle/>
          <a:p>
            <a:r>
              <a:rPr sz="3479" b="1" lang="es-CO">
                <a:solidFill>
                  <a:srgbClr val="071329"/>
                </a:solidFill>
                <a:latin typeface="Calibri"/>
              </a:rPr>
              <a:t>Levanten la mano: ¿</a:t>
            </a:r>
            <a:r>
              <a:rPr sz="3479" b="1" lang="es-CO">
                <a:solidFill>
                  <a:srgbClr val="6D28D9"/>
                </a:solidFill>
                <a:latin typeface="Calibri"/>
              </a:rPr>
              <a:t>A</a:t>
            </a:r>
            <a:r>
              <a:rPr sz="3479" b="1" lang="es-CO">
                <a:solidFill>
                  <a:srgbClr val="071329"/>
                </a:solidFill>
                <a:latin typeface="Calibri"/>
              </a:rPr>
              <a:t>, </a:t>
            </a:r>
            <a:r>
              <a:rPr sz="3479" b="1" lang="es-CO">
                <a:solidFill>
                  <a:srgbClr val="6D28D9"/>
                </a:solidFill>
                <a:latin typeface="Calibri"/>
              </a:rPr>
              <a:t>B</a:t>
            </a:r>
            <a:r>
              <a:rPr sz="3479" b="1" lang="es-CO">
                <a:solidFill>
                  <a:srgbClr val="071329"/>
                </a:solidFill>
                <a:latin typeface="Calibri"/>
              </a:rPr>
              <a:t> o </a:t>
            </a:r>
            <a:r>
              <a:rPr sz="3479" b="1" lang="es-CO">
                <a:solidFill>
                  <a:srgbClr val="6D28D9"/>
                </a:solidFill>
                <a:latin typeface="Calibri"/>
              </a:rPr>
              <a:t>las dos</a:t>
            </a:r>
            <a:r>
              <a:rPr sz="3479" b="1" lang="es-CO">
                <a:solidFill>
                  <a:srgbClr val="071329"/>
                </a:solidFill>
                <a:latin typeface="Calibri"/>
              </a:rPr>
              <a:t>?</a:t>
            </a:r>
          </a:p>
        </p:txBody>
      </p:sp>
      <p:sp>
        <p:nvSpPr>
          <p:cNvPr id="65"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Sonidos reales de bombas industriales · MIMII DUE, Hitachi · CC BY-NC-SA 4.0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4"/>
                                        </p:tgtEl>
                                        <p:attrNameLst>
                                          <p:attrName>style.visibility</p:attrName>
                                        </p:attrNameLst>
                                      </p:cBhvr>
                                      <p:to>
                                        <p:strVal val="visible"/>
                                      </p:to>
                                    </p:set>
                                    <p:animEffect transition="in" filter="fade">
                                      <p:cBhvr>
                                        <p:cTn id="7" dur="4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8" restart="whenNotActive" fill="hold" evtFilter="cancelBubble" nodeType="interactiveSeq">
                <p:stCondLst>
                  <p:cond evt="onClick" delay="0">
                    <p:tgtEl>
                      <p:spTgt spid="4"/>
                    </p:tgtEl>
                  </p:cond>
                </p:stCondLst>
                <p:endSyncLst>
                  <p:cond evt="onEnd" delay="0">
                    <p:rtn val="all"/>
                  </p:cond>
                </p:endSyncLst>
                <p:childTnLst>
                  <p:par>
                    <p:cTn id="9" fill="hold">
                      <p:stCondLst>
                        <p:cond delay="0"/>
                      </p:stCondLst>
                      <p:childTnLst>
                        <p:par>
                          <p:cTn id="10" fill="hold">
                            <p:stCondLst>
                              <p:cond delay="0"/>
                            </p:stCondLst>
                            <p:childTnLst>
                              <p:par>
                                <p:cTn id="11" presetID="1" presetClass="mediacall" presetSubtype="0" fill="hold" nodeType="clickEffect">
                                  <p:stCondLst>
                                    <p:cond delay="0"/>
                                  </p:stCondLst>
                                  <p:childTnLst>
                                    <p:cmd type="call" cmd="playFrom(0.0)">
                                      <p:cBhvr>
                                        <p:cTn id="12" dur="1" fill="hold"/>
                                        <p:tgtEl>
                                          <p:spTgt spid="56"/>
                                        </p:tgtEl>
                                      </p:cBhvr>
                                    </p:cmd>
                                  </p:childTnLst>
                                </p:cTn>
                              </p:par>
                            </p:childTnLst>
                          </p:cTn>
                        </p:par>
                      </p:childTnLst>
                    </p:cTn>
                  </p:par>
                </p:childTnLst>
              </p:cTn>
              <p:nextCondLst>
                <p:cond evt="onClick" delay="0">
                  <p:tgtEl>
                    <p:spTgt spid="4"/>
                  </p:tgtEl>
                </p:cond>
              </p:nextCondLst>
            </p:seq>
            <p:seq concurrent="1" nextAc="seek">
              <p:cTn id="13" restart="whenNotActive" fill="hold" evtFilter="cancelBubble" nodeType="interactiveSeq">
                <p:stCondLst>
                  <p:cond evt="onClick" delay="0">
                    <p:tgtEl>
                      <p:spTgt spid="56"/>
                    </p:tgtEl>
                  </p:cond>
                </p:stCondLst>
                <p:endSyncLst>
                  <p:cond evt="onEnd" delay="0">
                    <p:rtn val="all"/>
                  </p:cond>
                </p:endSyncLst>
                <p:childTnLst>
                  <p:par>
                    <p:cTn id="14" fill="hold">
                      <p:stCondLst>
                        <p:cond delay="0"/>
                      </p:stCondLst>
                      <p:childTnLst>
                        <p:par>
                          <p:cTn id="15" fill="hold">
                            <p:stCondLst>
                              <p:cond delay="0"/>
                            </p:stCondLst>
                            <p:childTnLst>
                              <p:par>
                                <p:cTn id="16" presetID="1" presetClass="mediacall" presetSubtype="0" fill="hold" nodeType="clickEffect">
                                  <p:stCondLst>
                                    <p:cond delay="0"/>
                                  </p:stCondLst>
                                  <p:childTnLst>
                                    <p:cmd type="call" cmd="playFrom(0.0)">
                                      <p:cBhvr>
                                        <p:cTn id="17" dur="1" fill="hold"/>
                                        <p:tgtEl>
                                          <p:spTgt spid="56"/>
                                        </p:tgtEl>
                                      </p:cBhvr>
                                    </p:cmd>
                                  </p:childTnLst>
                                </p:cTn>
                              </p:par>
                            </p:childTnLst>
                          </p:cTn>
                        </p:par>
                      </p:childTnLst>
                    </p:cTn>
                  </p:par>
                </p:childTnLst>
              </p:cTn>
              <p:nextCondLst>
                <p:cond evt="onClick" delay="0">
                  <p:tgtEl>
                    <p:spTgt spid="56"/>
                  </p:tgtEl>
                </p:cond>
              </p:nextCondLst>
            </p:seq>
            <p:seq concurrent="1" nextAc="seek">
              <p:cTn id="18" restart="whenNotActive" fill="hold" evtFilter="cancelBubble" nodeType="interactiveSeq">
                <p:stCondLst>
                  <p:cond evt="onClick" delay="0">
                    <p:tgtEl>
                      <p:spTgt spid="6"/>
                    </p:tgtEl>
                  </p:cond>
                </p:stCondLst>
                <p:endSyncLst>
                  <p:cond evt="onEnd" delay="0">
                    <p:rtn val="all"/>
                  </p:cond>
                </p:endSyncLst>
                <p:childTnLst>
                  <p:par>
                    <p:cTn id="19" fill="hold">
                      <p:stCondLst>
                        <p:cond delay="0"/>
                      </p:stCondLst>
                      <p:childTnLst>
                        <p:par>
                          <p:cTn id="20" fill="hold">
                            <p:stCondLst>
                              <p:cond delay="0"/>
                            </p:stCondLst>
                            <p:childTnLst>
                              <p:par>
                                <p:cTn id="21" presetID="1" presetClass="mediacall" presetSubtype="0" fill="hold" nodeType="clickEffect">
                                  <p:stCondLst>
                                    <p:cond delay="0"/>
                                  </p:stCondLst>
                                  <p:childTnLst>
                                    <p:cmd type="call" cmd="playFrom(0.0)">
                                      <p:cBhvr>
                                        <p:cTn id="22" dur="1" fill="hold"/>
                                        <p:tgtEl>
                                          <p:spTgt spid="61"/>
                                        </p:tgtEl>
                                      </p:cBhvr>
                                    </p:cmd>
                                  </p:childTnLst>
                                </p:cTn>
                              </p:par>
                            </p:childTnLst>
                          </p:cTn>
                        </p:par>
                      </p:childTnLst>
                    </p:cTn>
                  </p:par>
                </p:childTnLst>
              </p:cTn>
              <p:nextCondLst>
                <p:cond evt="onClick" delay="0">
                  <p:tgtEl>
                    <p:spTgt spid="6"/>
                  </p:tgtEl>
                </p:cond>
              </p:nextCondLst>
            </p:seq>
            <p:seq concurrent="1" nextAc="seek">
              <p:cTn id="23" restart="whenNotActive" fill="hold" evtFilter="cancelBubble" nodeType="interactiveSeq">
                <p:stCondLst>
                  <p:cond evt="onClick" delay="0">
                    <p:tgtEl>
                      <p:spTgt spid="61"/>
                    </p:tgtEl>
                  </p:cond>
                </p:stCondLst>
                <p:endSyncLst>
                  <p:cond evt="onEnd" delay="0">
                    <p:rtn val="all"/>
                  </p:cond>
                </p:endSyncLst>
                <p:childTnLst>
                  <p:par>
                    <p:cTn id="24" fill="hold">
                      <p:stCondLst>
                        <p:cond delay="0"/>
                      </p:stCondLst>
                      <p:childTnLst>
                        <p:par>
                          <p:cTn id="25" fill="hold">
                            <p:stCondLst>
                              <p:cond delay="0"/>
                            </p:stCondLst>
                            <p:childTnLst>
                              <p:par>
                                <p:cTn id="26" presetID="1" presetClass="mediacall" presetSubtype="0" fill="hold" nodeType="clickEffect">
                                  <p:stCondLst>
                                    <p:cond delay="0"/>
                                  </p:stCondLst>
                                  <p:childTnLst>
                                    <p:cmd type="call" cmd="playFrom(0.0)">
                                      <p:cBhvr>
                                        <p:cTn id="27" dur="1" fill="hold"/>
                                        <p:tgtEl>
                                          <p:spTgt spid="61"/>
                                        </p:tgtEl>
                                      </p:cBhvr>
                                    </p:cmd>
                                  </p:childTnLst>
                                </p:cTn>
                              </p:par>
                            </p:childTnLst>
                          </p:cTn>
                        </p:par>
                      </p:childTnLst>
                    </p:cTn>
                  </p:par>
                </p:childTnLst>
              </p:cTn>
              <p:nextCondLst>
                <p:cond evt="onClick" delay="0">
                  <p:tgtEl>
                    <p:spTgt spid="61"/>
                  </p:tgtEl>
                </p:cond>
              </p:nextCondLst>
            </p:seq>
          </p:childTnLst>
        </p:cTn>
      </p:par>
    </p:tnLst>
    <p:bldLst>
      <p:bldP spid="64" grpId="0"/>
    </p:bldLst>
  </p:timing>
  <p:timing>
    <p:tnLst>
      <p:par>
        <p:cTn id="1" dur="indefinite" restart="never" nodeType="tmRoot">
          <p:childTnLst>
            <p:video>
              <p:cMediaNode vol="80000">
                <p:cTn id="2" fill="hold" display="0">
                  <p:stCondLst>
                    <p:cond delay="indefinite"/>
                  </p:stCondLst>
                </p:cTn>
                <p:tgtEl>
                  <p:spTgt spid="56"/>
                </p:tgtEl>
              </p:cMediaNode>
            </p:video>
            <p:video>
              <p:cMediaNode vol="80000">
                <p:cTn id="3" fill="hold" display="0">
                  <p:stCondLst>
                    <p:cond delay="indefinite"/>
                  </p:stCondLst>
                </p:cTn>
                <p:tgtEl>
                  <p:spTgt spid="61"/>
                </p:tgtEl>
              </p:cMediaNode>
            </p:video>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CONTEXTO</a:t>
            </a:r>
          </a:p>
        </p:txBody>
      </p:sp>
      <p:sp>
        <p:nvSpPr>
          <p:cNvPr id="3" name="Title 2"/>
          <p:cNvSpPr>
            <a:spLocks noGrp="1"/>
          </p:cNvSpPr>
          <p:nvPr>
            <p:ph type="title" idx="107"/>
          </p:nvPr>
        </p:nvSpPr>
        <p:spPr/>
        <p:txBody>
          <a:bodyPr lIns="0"/>
          <a:lstStyle/>
          <a:p>
            <a:r>
              <a:rPr lang="es-CO"/>
              <a:t>Computadores nuevos con </a:t>
            </a:r>
            <a:r>
              <a:rPr b="1" lang="es-CO">
                <a:solidFill>
                  <a:srgbClr val="6D28D9"/>
                </a:solidFill>
              </a:rPr>
              <a:t>chip para IA</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cien_s0.png"/>
          <p:cNvPicPr>
            <a:picLocks noChangeAspect="1"/>
          </p:cNvPicPr>
          <p:nvPr/>
        </p:nvPicPr>
        <p:blipFill>
          <a:blip r:embed="rId2"/>
          <a:stretch>
            <a:fillRect/>
          </a:stretch>
        </p:blipFill>
        <p:spPr>
          <a:xfrm>
            <a:off x="640080" y="1691640"/>
            <a:ext cx="10911840" cy="3931920"/>
          </a:xfrm>
          <a:prstGeom prst="rect">
            <a:avLst/>
          </a:prstGeom>
        </p:spPr>
      </p:pic>
      <p:pic>
        <p:nvPicPr>
          <p:cNvPr id="55" name="Paso 1" descr="cien_s1.png"/>
          <p:cNvPicPr>
            <a:picLocks noChangeAspect="1"/>
          </p:cNvPicPr>
          <p:nvPr/>
        </p:nvPicPr>
        <p:blipFill>
          <a:blip r:embed="rId3"/>
          <a:stretch>
            <a:fillRect/>
          </a:stretch>
        </p:blipFill>
        <p:spPr>
          <a:xfrm>
            <a:off x="640080" y="1691640"/>
            <a:ext cx="10911840" cy="3931920"/>
          </a:xfrm>
          <a:prstGeom prst="rect">
            <a:avLst/>
          </a:prstGeom>
        </p:spPr>
      </p:pic>
      <p:pic>
        <p:nvPicPr>
          <p:cNvPr id="56" name="Paso 2" descr="cien_s2.png"/>
          <p:cNvPicPr>
            <a:picLocks noChangeAspect="1"/>
          </p:cNvPicPr>
          <p:nvPr/>
        </p:nvPicPr>
        <p:blipFill>
          <a:blip r:embed="rId4"/>
          <a:stretch>
            <a:fillRect/>
          </a:stretch>
        </p:blipFill>
        <p:spPr>
          <a:xfrm>
            <a:off x="640080" y="1691640"/>
            <a:ext cx="10911840" cy="3931920"/>
          </a:xfrm>
          <a:prstGeom prst="rect">
            <a:avLst/>
          </a:prstGeom>
        </p:spPr>
      </p:pic>
      <p:sp>
        <p:nvSpPr>
          <p:cNvPr id="57"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Gartner, agosto 2025 · 2026 es proyección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CONTEXTO</a:t>
            </a:r>
          </a:p>
        </p:txBody>
      </p:sp>
      <p:sp>
        <p:nvSpPr>
          <p:cNvPr id="3" name="Title 2"/>
          <p:cNvSpPr>
            <a:spLocks noGrp="1"/>
          </p:cNvSpPr>
          <p:nvPr>
            <p:ph type="title" idx="107"/>
          </p:nvPr>
        </p:nvSpPr>
        <p:spPr/>
        <p:txBody>
          <a:bodyPr lIns="0"/>
          <a:lstStyle/>
          <a:p>
            <a:r>
              <a:rPr lang="es-CO"/>
              <a:t>Por qué la IA </a:t>
            </a:r>
            <a:r>
              <a:rPr b="1" lang="es-CO">
                <a:solidFill>
                  <a:srgbClr val="6D28D9"/>
                </a:solidFill>
              </a:rPr>
              <a:t>sale de la nube</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memes_s0.gif"/>
          <p:cNvPicPr>
            <a:picLocks noChangeAspect="1"/>
          </p:cNvPicPr>
          <p:nvPr/>
        </p:nvPicPr>
        <p:blipFill>
          <a:blip r:embed="rId2"/>
          <a:stretch>
            <a:fillRect/>
          </a:stretch>
        </p:blipFill>
        <p:spPr>
          <a:xfrm>
            <a:off x="640080" y="1569720"/>
            <a:ext cx="10911840" cy="4251960"/>
          </a:xfrm>
          <a:prstGeom prst="rect">
            <a:avLst/>
          </a:prstGeom>
        </p:spPr>
      </p:pic>
      <p:pic>
        <p:nvPicPr>
          <p:cNvPr id="55" name="Paso 1" descr="memes_s1.gif"/>
          <p:cNvPicPr>
            <a:picLocks noChangeAspect="1"/>
          </p:cNvPicPr>
          <p:nvPr/>
        </p:nvPicPr>
        <p:blipFill>
          <a:blip r:embed="rId3"/>
          <a:stretch>
            <a:fillRect/>
          </a:stretch>
        </p:blipFill>
        <p:spPr>
          <a:xfrm>
            <a:off x="640080" y="1569720"/>
            <a:ext cx="10911840" cy="4251960"/>
          </a:xfrm>
          <a:prstGeom prst="rect">
            <a:avLst/>
          </a:prstGeom>
        </p:spPr>
      </p:pic>
      <p:pic>
        <p:nvPicPr>
          <p:cNvPr id="56" name="Paso 2" descr="memes_s2.gif"/>
          <p:cNvPicPr>
            <a:picLocks noChangeAspect="1"/>
          </p:cNvPicPr>
          <p:nvPr/>
        </p:nvPicPr>
        <p:blipFill>
          <a:blip r:embed="rId4"/>
          <a:stretch>
            <a:fillRect/>
          </a:stretch>
        </p:blipFill>
        <p:spPr>
          <a:xfrm>
            <a:off x="640080" y="1569720"/>
            <a:ext cx="10911840" cy="425196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PONENTE</a:t>
            </a:r>
          </a:p>
        </p:txBody>
      </p:sp>
      <p:sp>
        <p:nvSpPr>
          <p:cNvPr id="3" name="Title 2"/>
          <p:cNvSpPr>
            <a:spLocks noGrp="1"/>
          </p:cNvSpPr>
          <p:nvPr>
            <p:ph type="title" idx="107"/>
          </p:nvPr>
        </p:nvSpPr>
        <p:spPr/>
        <p:txBody>
          <a:bodyPr lIns="0"/>
          <a:lstStyle/>
          <a:p>
            <a:r>
              <a:rPr lang="es-CO"/>
              <a:t>Sobre </a:t>
            </a:r>
            <a:r>
              <a:rPr b="1" lang="es-CO">
                <a:solidFill>
                  <a:srgbClr val="6D28D9"/>
                </a:solidFill>
              </a:rPr>
              <a:t>mí</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Marco foto"/>
          <p:cNvSpPr/>
          <p:nvPr/>
        </p:nvSpPr>
        <p:spPr>
          <a:xfrm>
            <a:off x="640080" y="1874520"/>
            <a:ext cx="3200400" cy="3200400"/>
          </a:xfrm>
          <a:prstGeom prst="rect">
            <a:avLst/>
          </a:prstGeom>
          <a:solidFill>
            <a:srgbClr val="F4F7FC"/>
          </a:solidFill>
          <a:ln w="11430">
            <a:solidFill>
              <a:srgbClr val="5C7290"/>
            </a:solidFill>
            <a:prstDash val="dash"/>
          </a:ln>
        </p:spPr>
        <p:txBody>
          <a:bodyPr rtlCol="0" anchor="ctr"/>
          <a:lstStyle/>
          <a:p>
            <a:pPr algn="ctr"/>
          </a:p>
        </p:txBody>
      </p:sp>
      <p:sp>
        <p:nvSpPr>
          <p:cNvPr id="55" name="Texto foto"/>
          <p:cNvSpPr txBox="1"/>
          <p:nvPr/>
        </p:nvSpPr>
        <p:spPr>
          <a:xfrm>
            <a:off x="640080" y="3200400"/>
            <a:ext cx="3200400" cy="609600"/>
          </a:xfrm>
          <a:prstGeom prst="rect">
            <a:avLst/>
          </a:prstGeom>
          <a:noFill/>
        </p:spPr>
        <p:txBody>
          <a:bodyPr wrap="square" lIns="0" tIns="0" rIns="0" bIns="0" anchor="t">
            <a:noAutofit/>
          </a:bodyPr>
          <a:lstStyle/>
          <a:p>
            <a:pPr algn="ctr"/>
            <a:r>
              <a:rPr sz="1320" b="1" lang="es-CO">
                <a:solidFill>
                  <a:srgbClr val="5C7290"/>
                </a:solidFill>
                <a:latin typeface="Calibri"/>
              </a:rPr>
              <a:t>TU FOTO</a:t>
            </a:r>
          </a:p>
          <a:p>
            <a:pPr algn="ctr"/>
            <a:r>
              <a:rPr sz="1019" b="0" lang="es-CO">
                <a:solidFill>
                  <a:srgbClr val="475569"/>
                </a:solidFill>
                <a:latin typeface="Courier New"/>
              </a:rPr>
              <a:t>talk/assets/photo.jpg</a:t>
            </a:r>
          </a:p>
        </p:txBody>
      </p:sp>
      <p:sp>
        <p:nvSpPr>
          <p:cNvPr id="56" name="TextBox 55"/>
          <p:cNvSpPr txBox="1"/>
          <p:nvPr/>
        </p:nvSpPr>
        <p:spPr>
          <a:xfrm>
            <a:off x="4206240" y="1874520"/>
            <a:ext cx="6858000" cy="396240"/>
          </a:xfrm>
          <a:prstGeom prst="rect">
            <a:avLst/>
          </a:prstGeom>
          <a:noFill/>
        </p:spPr>
        <p:txBody>
          <a:bodyPr wrap="square" lIns="0" tIns="0" rIns="0" bIns="0" anchor="t">
            <a:noAutofit/>
          </a:bodyPr>
          <a:lstStyle/>
          <a:p>
            <a:r>
              <a:rPr sz="2580" b="1" lang="es-CO">
                <a:solidFill>
                  <a:srgbClr val="071329"/>
                </a:solidFill>
                <a:latin typeface="Calibri"/>
              </a:rPr>
              <a:t>Alejandro Varela</a:t>
            </a:r>
          </a:p>
        </p:txBody>
      </p:sp>
      <p:sp>
        <p:nvSpPr>
          <p:cNvPr id="57" name="TextBox 56"/>
          <p:cNvSpPr txBox="1"/>
          <p:nvPr/>
        </p:nvSpPr>
        <p:spPr>
          <a:xfrm>
            <a:off x="4206240" y="2301240"/>
            <a:ext cx="6858000" cy="259080"/>
          </a:xfrm>
          <a:prstGeom prst="rect">
            <a:avLst/>
          </a:prstGeom>
          <a:noFill/>
        </p:spPr>
        <p:txBody>
          <a:bodyPr wrap="square" lIns="0" tIns="0" rIns="0" bIns="0" anchor="t">
            <a:noAutofit/>
          </a:bodyPr>
          <a:lstStyle/>
          <a:p>
            <a:r>
              <a:rPr sz="1500" b="0" lang="es-CO">
                <a:solidFill>
                  <a:srgbClr val="6D28D9"/>
                </a:solidFill>
                <a:latin typeface="Calibri"/>
              </a:rPr>
              <a:t>Cloud Engineer</a:t>
            </a:r>
          </a:p>
        </p:txBody>
      </p:sp>
      <p:pic>
        <p:nvPicPr>
          <p:cNvPr id="58" name="Logo empresa" descr="epam.png"/>
          <p:cNvPicPr>
            <a:picLocks noChangeAspect="1"/>
          </p:cNvPicPr>
          <p:nvPr/>
        </p:nvPicPr>
        <p:blipFill>
          <a:blip r:embed="rId2"/>
          <a:stretch>
            <a:fillRect/>
          </a:stretch>
        </p:blipFill>
        <p:spPr>
          <a:xfrm>
            <a:off x="5515094" y="2301240"/>
            <a:ext cx="495300" cy="259080"/>
          </a:xfrm>
          <a:prstGeom prst="rect">
            <a:avLst/>
          </a:prstGeom>
        </p:spPr>
      </p:pic>
      <p:sp>
        <p:nvSpPr>
          <p:cNvPr id="59" name="TextBox 58"/>
          <p:cNvSpPr txBox="1"/>
          <p:nvPr/>
        </p:nvSpPr>
        <p:spPr>
          <a:xfrm>
            <a:off x="4206240" y="2712720"/>
            <a:ext cx="6858000" cy="304800"/>
          </a:xfrm>
          <a:prstGeom prst="rect">
            <a:avLst/>
          </a:prstGeom>
          <a:noFill/>
        </p:spPr>
        <p:txBody>
          <a:bodyPr wrap="square" lIns="0" tIns="0" rIns="0" bIns="0" anchor="t">
            <a:noAutofit/>
          </a:bodyPr>
          <a:lstStyle/>
          <a:p>
            <a:r>
              <a:rPr sz="1500" b="0" lang="es-CO">
                <a:solidFill>
                  <a:srgbClr val="475569"/>
                </a:solidFill>
                <a:latin typeface="Calibri"/>
              </a:rPr>
              <a:t>Trabajo con inferencia en el edge e IoT industrial sobre AWS, Azure y GCP.</a:t>
            </a:r>
          </a:p>
        </p:txBody>
      </p:sp>
      <p:sp>
        <p:nvSpPr>
          <p:cNvPr id="60" name="Certificaciones"/>
          <p:cNvSpPr txBox="1"/>
          <p:nvPr/>
        </p:nvSpPr>
        <p:spPr>
          <a:xfrm>
            <a:off x="4206240" y="3200400"/>
            <a:ext cx="3962400" cy="228600"/>
          </a:xfrm>
          <a:prstGeom prst="rect">
            <a:avLst/>
          </a:prstGeom>
          <a:noFill/>
        </p:spPr>
        <p:txBody>
          <a:bodyPr wrap="square" lIns="0" tIns="0" rIns="0" bIns="0" anchor="t">
            <a:noAutofit/>
          </a:bodyPr>
          <a:lstStyle/>
          <a:p>
            <a:r>
              <a:rPr sz="1200" b="1" lang="es-CO">
                <a:solidFill>
                  <a:srgbClr val="6D28D9"/>
                </a:solidFill>
                <a:latin typeface="Calibri"/>
              </a:rPr>
              <a:t>5 </a:t>
            </a:r>
            <a:r>
              <a:rPr sz="1200" b="1" lang="es-CO">
                <a:solidFill>
                  <a:srgbClr val="071329"/>
                </a:solidFill>
                <a:latin typeface="Calibri"/>
              </a:rPr>
              <a:t>certificaciones de AWS</a:t>
            </a:r>
          </a:p>
        </p:txBody>
      </p:sp>
      <p:pic>
        <p:nvPicPr>
          <p:cNvPr id="61" name="AWS Certified Solutions Architect – Professional" descr="aws-sap-solutions-architect-professional.png"/>
          <p:cNvPicPr>
            <a:picLocks noChangeAspect="1"/>
          </p:cNvPicPr>
          <p:nvPr/>
        </p:nvPicPr>
        <p:blipFill>
          <a:blip r:embed="rId3"/>
          <a:stretch>
            <a:fillRect/>
          </a:stretch>
        </p:blipFill>
        <p:spPr>
          <a:xfrm>
            <a:off x="4206240" y="3505200"/>
            <a:ext cx="701040" cy="701040"/>
          </a:xfrm>
          <a:prstGeom prst="rect">
            <a:avLst/>
          </a:prstGeom>
        </p:spPr>
      </p:pic>
      <p:pic>
        <p:nvPicPr>
          <p:cNvPr id="62" name="AWS Certified DevOps Engineer – Professional" descr="aws-dop-devops-engineer-professional.png"/>
          <p:cNvPicPr>
            <a:picLocks noChangeAspect="1"/>
          </p:cNvPicPr>
          <p:nvPr/>
        </p:nvPicPr>
        <p:blipFill>
          <a:blip r:embed="rId4"/>
          <a:stretch>
            <a:fillRect/>
          </a:stretch>
        </p:blipFill>
        <p:spPr>
          <a:xfrm>
            <a:off x="4983480" y="3505200"/>
            <a:ext cx="701040" cy="701040"/>
          </a:xfrm>
          <a:prstGeom prst="rect">
            <a:avLst/>
          </a:prstGeom>
        </p:spPr>
      </p:pic>
      <p:pic>
        <p:nvPicPr>
          <p:cNvPr id="63" name="AWS Certified Advanced Networking – Specialty" descr="aws-ans-advanced-networking-specialty.png"/>
          <p:cNvPicPr>
            <a:picLocks noChangeAspect="1"/>
          </p:cNvPicPr>
          <p:nvPr/>
        </p:nvPicPr>
        <p:blipFill>
          <a:blip r:embed="rId5"/>
          <a:stretch>
            <a:fillRect/>
          </a:stretch>
        </p:blipFill>
        <p:spPr>
          <a:xfrm>
            <a:off x="5760720" y="3505200"/>
            <a:ext cx="701040" cy="701040"/>
          </a:xfrm>
          <a:prstGeom prst="rect">
            <a:avLst/>
          </a:prstGeom>
        </p:spPr>
      </p:pic>
      <p:pic>
        <p:nvPicPr>
          <p:cNvPr id="64" name="AWS Certified Security – Specialty" descr="aws-scs-security-specialty.png"/>
          <p:cNvPicPr>
            <a:picLocks noChangeAspect="1"/>
          </p:cNvPicPr>
          <p:nvPr/>
        </p:nvPicPr>
        <p:blipFill>
          <a:blip r:embed="rId6"/>
          <a:stretch>
            <a:fillRect/>
          </a:stretch>
        </p:blipFill>
        <p:spPr>
          <a:xfrm>
            <a:off x="6537960" y="3505200"/>
            <a:ext cx="701040" cy="701040"/>
          </a:xfrm>
          <a:prstGeom prst="rect">
            <a:avLst/>
          </a:prstGeom>
        </p:spPr>
      </p:pic>
      <p:pic>
        <p:nvPicPr>
          <p:cNvPr id="65" name="AWS Certified Solutions Architect – Associate" descr="aws-saa-solutions-architect-associate.png"/>
          <p:cNvPicPr>
            <a:picLocks noChangeAspect="1"/>
          </p:cNvPicPr>
          <p:nvPr/>
        </p:nvPicPr>
        <p:blipFill>
          <a:blip r:embed="rId7"/>
          <a:stretch>
            <a:fillRect/>
          </a:stretch>
        </p:blipFill>
        <p:spPr>
          <a:xfrm>
            <a:off x="7315200" y="3505200"/>
            <a:ext cx="701040" cy="701040"/>
          </a:xfrm>
          <a:prstGeom prst="rect">
            <a:avLst/>
          </a:prstGeom>
        </p:spPr>
      </p:pic>
      <p:sp>
        <p:nvSpPr>
          <p:cNvPr id="66" name="Certificaciones"/>
          <p:cNvSpPr txBox="1"/>
          <p:nvPr/>
        </p:nvSpPr>
        <p:spPr>
          <a:xfrm>
            <a:off x="8275320" y="3200400"/>
            <a:ext cx="3962400" cy="228600"/>
          </a:xfrm>
          <a:prstGeom prst="rect">
            <a:avLst/>
          </a:prstGeom>
          <a:noFill/>
        </p:spPr>
        <p:txBody>
          <a:bodyPr wrap="square" lIns="0" tIns="0" rIns="0" bIns="0" anchor="t">
            <a:noAutofit/>
          </a:bodyPr>
          <a:lstStyle/>
          <a:p>
            <a:r>
              <a:rPr sz="1200" b="1" lang="es-CO">
                <a:solidFill>
                  <a:srgbClr val="6D28D9"/>
                </a:solidFill>
                <a:latin typeface="Calibri"/>
              </a:rPr>
              <a:t>3 </a:t>
            </a:r>
            <a:r>
              <a:rPr sz="1200" b="1" lang="es-CO">
                <a:solidFill>
                  <a:srgbClr val="071329"/>
                </a:solidFill>
                <a:latin typeface="Calibri"/>
              </a:rPr>
              <a:t>certificaciones de Kubernetes</a:t>
            </a:r>
          </a:p>
        </p:txBody>
      </p:sp>
      <p:pic>
        <p:nvPicPr>
          <p:cNvPr id="67" name="Certified Kubernetes Administrator" descr="k8s-cka-administrator.png"/>
          <p:cNvPicPr>
            <a:picLocks noChangeAspect="1"/>
          </p:cNvPicPr>
          <p:nvPr/>
        </p:nvPicPr>
        <p:blipFill>
          <a:blip r:embed="rId8"/>
          <a:stretch>
            <a:fillRect/>
          </a:stretch>
        </p:blipFill>
        <p:spPr>
          <a:xfrm>
            <a:off x="8275320" y="3505200"/>
            <a:ext cx="701040" cy="701040"/>
          </a:xfrm>
          <a:prstGeom prst="rect">
            <a:avLst/>
          </a:prstGeom>
        </p:spPr>
      </p:pic>
      <p:pic>
        <p:nvPicPr>
          <p:cNvPr id="68" name="Certified Kubernetes Application Developer" descr="k8s-ckad-application-developer.png"/>
          <p:cNvPicPr>
            <a:picLocks noChangeAspect="1"/>
          </p:cNvPicPr>
          <p:nvPr/>
        </p:nvPicPr>
        <p:blipFill>
          <a:blip r:embed="rId9"/>
          <a:stretch>
            <a:fillRect/>
          </a:stretch>
        </p:blipFill>
        <p:spPr>
          <a:xfrm>
            <a:off x="9052560" y="3505200"/>
            <a:ext cx="701040" cy="701040"/>
          </a:xfrm>
          <a:prstGeom prst="rect">
            <a:avLst/>
          </a:prstGeom>
        </p:spPr>
      </p:pic>
      <p:pic>
        <p:nvPicPr>
          <p:cNvPr id="69" name="Certified Kubernetes Security Specialist" descr="k8s-cks-security-specialist.png"/>
          <p:cNvPicPr>
            <a:picLocks noChangeAspect="1"/>
          </p:cNvPicPr>
          <p:nvPr/>
        </p:nvPicPr>
        <p:blipFill>
          <a:blip r:embed="rId10"/>
          <a:stretch>
            <a:fillRect/>
          </a:stretch>
        </p:blipFill>
        <p:spPr>
          <a:xfrm>
            <a:off x="9829800" y="3505200"/>
            <a:ext cx="701040" cy="701040"/>
          </a:xfrm>
          <a:prstGeom prst="rect">
            <a:avLst/>
          </a:prstGeom>
        </p:spPr>
      </p:pic>
      <p:sp>
        <p:nvSpPr>
          <p:cNvPr id="70" name="TextBox 69"/>
          <p:cNvSpPr txBox="1"/>
          <p:nvPr/>
        </p:nvSpPr>
        <p:spPr>
          <a:xfrm>
            <a:off x="4206240" y="4495800"/>
            <a:ext cx="6858000" cy="228600"/>
          </a:xfrm>
          <a:prstGeom prst="rect">
            <a:avLst/>
          </a:prstGeom>
          <a:noFill/>
        </p:spPr>
        <p:txBody>
          <a:bodyPr wrap="square" lIns="0" tIns="0" rIns="0" bIns="0" anchor="t">
            <a:noAutofit/>
          </a:bodyPr>
          <a:lstStyle/>
          <a:p>
            <a:r>
              <a:rPr sz="1200" b="0" lang="es-CO">
                <a:solidFill>
                  <a:srgbClr val="1F6C93"/>
                </a:solidFill>
                <a:latin typeface="Courier New"/>
              </a:rPr>
              <a:t>linkedin.com/in/alejandro-varela-fr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AGENDA</a:t>
            </a:r>
          </a:p>
        </p:txBody>
      </p:sp>
      <p:sp>
        <p:nvSpPr>
          <p:cNvPr id="3" name="Title 2"/>
          <p:cNvSpPr>
            <a:spLocks noGrp="1"/>
          </p:cNvSpPr>
          <p:nvPr>
            <p:ph type="title" idx="107"/>
          </p:nvPr>
        </p:nvSpPr>
        <p:spPr/>
        <p:txBody>
          <a:bodyPr lIns="0"/>
          <a:lstStyle/>
          <a:p>
            <a:r>
              <a:rPr lang="es-CO"/>
              <a:t>Contenido </a:t>
            </a:r>
            <a:r>
              <a:rPr b="1" lang="es-CO">
                <a:solidFill>
                  <a:srgbClr val="6D28D9"/>
                </a:solidFill>
              </a:rPr>
              <a:t>de la sesión</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920240"/>
            <a:ext cx="838200" cy="746760"/>
          </a:xfrm>
          <a:prstGeom prst="rect">
            <a:avLst/>
          </a:prstGeom>
          <a:noFill/>
        </p:spPr>
        <p:txBody>
          <a:bodyPr wrap="square" lIns="0" tIns="0" rIns="0" bIns="0" anchor="ctr">
            <a:noAutofit/>
          </a:bodyPr>
          <a:lstStyle/>
          <a:p>
            <a:r>
              <a:rPr sz="2400" b="1" lang="es-CO">
                <a:solidFill>
                  <a:srgbClr val="2448FF"/>
                </a:solidFill>
                <a:latin typeface="Courier New"/>
              </a:rPr>
              <a:t>01</a:t>
            </a:r>
          </a:p>
        </p:txBody>
      </p:sp>
      <p:sp>
        <p:nvSpPr>
          <p:cNvPr id="55" name="TextBox 54"/>
          <p:cNvSpPr txBox="1"/>
          <p:nvPr/>
        </p:nvSpPr>
        <p:spPr>
          <a:xfrm>
            <a:off x="1508760" y="1920240"/>
            <a:ext cx="3962400" cy="746760"/>
          </a:xfrm>
          <a:prstGeom prst="rect">
            <a:avLst/>
          </a:prstGeom>
          <a:noFill/>
        </p:spPr>
        <p:txBody>
          <a:bodyPr wrap="square" lIns="0" tIns="0" rIns="0" bIns="0" anchor="ctr">
            <a:noAutofit/>
          </a:bodyPr>
          <a:lstStyle/>
          <a:p>
            <a:r>
              <a:rPr sz="1920" b="1" lang="es-CO">
                <a:solidFill>
                  <a:srgbClr val="071329"/>
                </a:solidFill>
                <a:latin typeface="Calibri"/>
              </a:rPr>
              <a:t>El problema</a:t>
            </a:r>
          </a:p>
        </p:txBody>
      </p:sp>
      <p:sp>
        <p:nvSpPr>
          <p:cNvPr id="56" name="TextBox 55"/>
          <p:cNvSpPr txBox="1"/>
          <p:nvPr/>
        </p:nvSpPr>
        <p:spPr>
          <a:xfrm>
            <a:off x="5532120" y="1920240"/>
            <a:ext cx="6019800" cy="746760"/>
          </a:xfrm>
          <a:prstGeom prst="rect">
            <a:avLst/>
          </a:prstGeom>
          <a:noFill/>
        </p:spPr>
        <p:txBody>
          <a:bodyPr wrap="square" lIns="0" tIns="0" rIns="0" bIns="0" anchor="ctr">
            <a:noAutofit/>
          </a:bodyPr>
          <a:lstStyle/>
          <a:p>
            <a:r>
              <a:rPr sz="1500" b="0" lang="es-CO">
                <a:solidFill>
                  <a:srgbClr val="475569"/>
                </a:solidFill>
                <a:latin typeface="Calibri"/>
              </a:rPr>
              <a:t>Operar un modelo fuera de la nube: sin red y sin acceso al equipo.</a:t>
            </a:r>
          </a:p>
        </p:txBody>
      </p:sp>
      <p:cxnSp>
        <p:nvCxnSpPr>
          <p:cNvPr id="57" name="Connector 56"/>
          <p:cNvCxnSpPr/>
          <p:nvPr/>
        </p:nvCxnSpPr>
        <p:spPr>
          <a:xfrm>
            <a:off x="640080" y="2667000"/>
            <a:ext cx="10911840" cy="0"/>
          </a:xfrm>
          <a:prstGeom prst="line">
            <a:avLst/>
          </a:prstGeom>
          <a:ln w="11430">
            <a:solidFill>
              <a:srgbClr val="D5DEEA"/>
            </a:solidFill>
          </a:ln>
        </p:spPr>
      </p:cxnSp>
      <p:sp>
        <p:nvSpPr>
          <p:cNvPr id="58" name="TextBox 57"/>
          <p:cNvSpPr txBox="1"/>
          <p:nvPr/>
        </p:nvSpPr>
        <p:spPr>
          <a:xfrm>
            <a:off x="640080" y="2926080"/>
            <a:ext cx="838200" cy="746760"/>
          </a:xfrm>
          <a:prstGeom prst="rect">
            <a:avLst/>
          </a:prstGeom>
          <a:noFill/>
        </p:spPr>
        <p:txBody>
          <a:bodyPr wrap="square" lIns="0" tIns="0" rIns="0" bIns="0" anchor="ctr">
            <a:noAutofit/>
          </a:bodyPr>
          <a:lstStyle/>
          <a:p>
            <a:r>
              <a:rPr sz="2400" b="1" lang="es-CO">
                <a:solidFill>
                  <a:srgbClr val="2448FF"/>
                </a:solidFill>
                <a:latin typeface="Courier New"/>
              </a:rPr>
              <a:t>02</a:t>
            </a:r>
          </a:p>
        </p:txBody>
      </p:sp>
      <p:sp>
        <p:nvSpPr>
          <p:cNvPr id="59" name="TextBox 58"/>
          <p:cNvSpPr txBox="1"/>
          <p:nvPr/>
        </p:nvSpPr>
        <p:spPr>
          <a:xfrm>
            <a:off x="1508760" y="2926080"/>
            <a:ext cx="3962400" cy="746760"/>
          </a:xfrm>
          <a:prstGeom prst="rect">
            <a:avLst/>
          </a:prstGeom>
          <a:noFill/>
        </p:spPr>
        <p:txBody>
          <a:bodyPr wrap="square" lIns="0" tIns="0" rIns="0" bIns="0" anchor="ctr">
            <a:noAutofit/>
          </a:bodyPr>
          <a:lstStyle/>
          <a:p>
            <a:r>
              <a:rPr sz="1920" b="1" lang="es-CO">
                <a:solidFill>
                  <a:srgbClr val="071329"/>
                </a:solidFill>
                <a:latin typeface="Calibri"/>
              </a:rPr>
              <a:t>El patrón</a:t>
            </a:r>
          </a:p>
        </p:txBody>
      </p:sp>
      <p:sp>
        <p:nvSpPr>
          <p:cNvPr id="60" name="TextBox 59"/>
          <p:cNvSpPr txBox="1"/>
          <p:nvPr/>
        </p:nvSpPr>
        <p:spPr>
          <a:xfrm>
            <a:off x="5532120" y="2926080"/>
            <a:ext cx="6019800" cy="746760"/>
          </a:xfrm>
          <a:prstGeom prst="rect">
            <a:avLst/>
          </a:prstGeom>
          <a:noFill/>
        </p:spPr>
        <p:txBody>
          <a:bodyPr wrap="square" lIns="0" tIns="0" rIns="0" bIns="0" anchor="ctr">
            <a:noAutofit/>
          </a:bodyPr>
          <a:lstStyle/>
          <a:p>
            <a:r>
              <a:rPr sz="1500" b="0" lang="es-CO">
                <a:solidFill>
                  <a:srgbClr val="475569"/>
                </a:solidFill>
                <a:latin typeface="Calibri"/>
              </a:rPr>
              <a:t>Las piezas para gobernarlo, primero en general y después en AWS.</a:t>
            </a:r>
          </a:p>
        </p:txBody>
      </p:sp>
      <p:cxnSp>
        <p:nvCxnSpPr>
          <p:cNvPr id="61" name="Connector 60"/>
          <p:cNvCxnSpPr/>
          <p:nvPr/>
        </p:nvCxnSpPr>
        <p:spPr>
          <a:xfrm>
            <a:off x="640080" y="3672840"/>
            <a:ext cx="10911840" cy="0"/>
          </a:xfrm>
          <a:prstGeom prst="line">
            <a:avLst/>
          </a:prstGeom>
          <a:ln w="11430">
            <a:solidFill>
              <a:srgbClr val="D5DEEA"/>
            </a:solidFill>
          </a:ln>
        </p:spPr>
      </p:cxnSp>
      <p:sp>
        <p:nvSpPr>
          <p:cNvPr id="62" name="TextBox 61"/>
          <p:cNvSpPr txBox="1"/>
          <p:nvPr/>
        </p:nvSpPr>
        <p:spPr>
          <a:xfrm>
            <a:off x="640080" y="3931920"/>
            <a:ext cx="838200" cy="746760"/>
          </a:xfrm>
          <a:prstGeom prst="rect">
            <a:avLst/>
          </a:prstGeom>
          <a:noFill/>
        </p:spPr>
        <p:txBody>
          <a:bodyPr wrap="square" lIns="0" tIns="0" rIns="0" bIns="0" anchor="ctr">
            <a:noAutofit/>
          </a:bodyPr>
          <a:lstStyle/>
          <a:p>
            <a:r>
              <a:rPr sz="2400" b="1" lang="es-CO">
                <a:solidFill>
                  <a:srgbClr val="2448FF"/>
                </a:solidFill>
                <a:latin typeface="Courier New"/>
              </a:rPr>
              <a:t>03</a:t>
            </a:r>
          </a:p>
        </p:txBody>
      </p:sp>
      <p:sp>
        <p:nvSpPr>
          <p:cNvPr id="63" name="TextBox 62"/>
          <p:cNvSpPr txBox="1"/>
          <p:nvPr/>
        </p:nvSpPr>
        <p:spPr>
          <a:xfrm>
            <a:off x="1508760" y="3931920"/>
            <a:ext cx="3962400" cy="746760"/>
          </a:xfrm>
          <a:prstGeom prst="rect">
            <a:avLst/>
          </a:prstGeom>
          <a:noFill/>
        </p:spPr>
        <p:txBody>
          <a:bodyPr wrap="square" lIns="0" tIns="0" rIns="0" bIns="0" anchor="ctr">
            <a:noAutofit/>
          </a:bodyPr>
          <a:lstStyle/>
          <a:p>
            <a:r>
              <a:rPr sz="1920" b="1" lang="es-CO">
                <a:solidFill>
                  <a:srgbClr val="071329"/>
                </a:solidFill>
                <a:latin typeface="Calibri"/>
              </a:rPr>
              <a:t>Los seis pasos</a:t>
            </a:r>
          </a:p>
        </p:txBody>
      </p:sp>
      <p:sp>
        <p:nvSpPr>
          <p:cNvPr id="64" name="TextBox 63"/>
          <p:cNvSpPr txBox="1"/>
          <p:nvPr/>
        </p:nvSpPr>
        <p:spPr>
          <a:xfrm>
            <a:off x="5532120" y="3931920"/>
            <a:ext cx="6019800" cy="746760"/>
          </a:xfrm>
          <a:prstGeom prst="rect">
            <a:avLst/>
          </a:prstGeom>
          <a:noFill/>
        </p:spPr>
        <p:txBody>
          <a:bodyPr wrap="square" lIns="0" tIns="0" rIns="0" bIns="0" anchor="ctr">
            <a:noAutofit/>
          </a:bodyPr>
          <a:lstStyle/>
          <a:p>
            <a:r>
              <a:rPr sz="1500" b="0" lang="es-CO">
                <a:solidFill>
                  <a:srgbClr val="475569"/>
                </a:solidFill>
                <a:latin typeface="Calibri"/>
              </a:rPr>
              <a:t>Entrenar, optimizar, empaquetar, desplegar, operar sin red y monitorear.</a:t>
            </a:r>
          </a:p>
        </p:txBody>
      </p:sp>
      <p:cxnSp>
        <p:nvCxnSpPr>
          <p:cNvPr id="65" name="Connector 64"/>
          <p:cNvCxnSpPr/>
          <p:nvPr/>
        </p:nvCxnSpPr>
        <p:spPr>
          <a:xfrm>
            <a:off x="640080" y="4678680"/>
            <a:ext cx="10911840" cy="0"/>
          </a:xfrm>
          <a:prstGeom prst="line">
            <a:avLst/>
          </a:prstGeom>
          <a:ln w="11430">
            <a:solidFill>
              <a:srgbClr val="D5DEEA"/>
            </a:solidFill>
          </a:ln>
        </p:spPr>
      </p:cxnSp>
      <p:sp>
        <p:nvSpPr>
          <p:cNvPr id="66" name="TextBox 65"/>
          <p:cNvSpPr txBox="1"/>
          <p:nvPr/>
        </p:nvSpPr>
        <p:spPr>
          <a:xfrm>
            <a:off x="640080" y="4937760"/>
            <a:ext cx="838200" cy="746760"/>
          </a:xfrm>
          <a:prstGeom prst="rect">
            <a:avLst/>
          </a:prstGeom>
          <a:noFill/>
        </p:spPr>
        <p:txBody>
          <a:bodyPr wrap="square" lIns="0" tIns="0" rIns="0" bIns="0" anchor="ctr">
            <a:noAutofit/>
          </a:bodyPr>
          <a:lstStyle/>
          <a:p>
            <a:r>
              <a:rPr sz="2400" b="1" lang="es-CO">
                <a:solidFill>
                  <a:srgbClr val="2448FF"/>
                </a:solidFill>
                <a:latin typeface="Courier New"/>
              </a:rPr>
              <a:t>04</a:t>
            </a:r>
          </a:p>
        </p:txBody>
      </p:sp>
      <p:sp>
        <p:nvSpPr>
          <p:cNvPr id="67" name="TextBox 66"/>
          <p:cNvSpPr txBox="1"/>
          <p:nvPr/>
        </p:nvSpPr>
        <p:spPr>
          <a:xfrm>
            <a:off x="1508760" y="4937760"/>
            <a:ext cx="3962400" cy="746760"/>
          </a:xfrm>
          <a:prstGeom prst="rect">
            <a:avLst/>
          </a:prstGeom>
          <a:noFill/>
        </p:spPr>
        <p:txBody>
          <a:bodyPr wrap="square" lIns="0" tIns="0" rIns="0" bIns="0" anchor="ctr">
            <a:noAutofit/>
          </a:bodyPr>
          <a:lstStyle/>
          <a:p>
            <a:r>
              <a:rPr sz="1920" b="1" lang="es-CO">
                <a:solidFill>
                  <a:srgbClr val="071329"/>
                </a:solidFill>
                <a:latin typeface="Calibri"/>
              </a:rPr>
              <a:t>Demostración</a:t>
            </a:r>
          </a:p>
        </p:txBody>
      </p:sp>
      <p:sp>
        <p:nvSpPr>
          <p:cNvPr id="68" name="TextBox 67"/>
          <p:cNvSpPr txBox="1"/>
          <p:nvPr/>
        </p:nvSpPr>
        <p:spPr>
          <a:xfrm>
            <a:off x="5532120" y="4937760"/>
            <a:ext cx="6019800" cy="746760"/>
          </a:xfrm>
          <a:prstGeom prst="rect">
            <a:avLst/>
          </a:prstGeom>
          <a:noFill/>
        </p:spPr>
        <p:txBody>
          <a:bodyPr wrap="square" lIns="0" tIns="0" rIns="0" bIns="0" anchor="ctr">
            <a:noAutofit/>
          </a:bodyPr>
          <a:lstStyle/>
          <a:p>
            <a:r>
              <a:rPr sz="1500" b="0" lang="es-CO">
                <a:solidFill>
                  <a:srgbClr val="475569"/>
                </a:solidFill>
                <a:latin typeface="Calibri"/>
              </a:rPr>
              <a:t>Cinco equipos con IoT Greengrass: una falla, un corte de red y una reversión automática.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01</a:t>
            </a:r>
          </a:p>
        </p:txBody>
      </p:sp>
      <p:sp>
        <p:nvSpPr>
          <p:cNvPr id="3" name="Title 2"/>
          <p:cNvSpPr>
            <a:spLocks noGrp="1"/>
          </p:cNvSpPr>
          <p:nvPr>
            <p:ph type="title" idx="107"/>
          </p:nvPr>
        </p:nvSpPr>
        <p:spPr/>
        <p:txBody>
          <a:bodyPr lIns="0"/>
          <a:lstStyle/>
          <a:p>
            <a:r>
              <a:rPr lang="es-CO"/>
              <a:t>El problema</a:t>
            </a:r>
          </a:p>
        </p:txBody>
      </p:sp>
      <p:sp>
        <p:nvSpPr>
          <p:cNvPr id="4" name="Text Placeholder 3"/>
          <p:cNvSpPr>
            <a:spLocks noGrp="1"/>
          </p:cNvSpPr>
          <p:nvPr>
            <p:ph type="body" idx="108"/>
          </p:nvPr>
        </p:nvSpPr>
        <p:spPr/>
        <p:txBody>
          <a:bodyPr lIns="0"/>
          <a:lstStyle/>
          <a:p>
            <a:r>
              <a:rPr lang="es-CO"/>
              <a:t>Un modelo que escucha bombas, sin red y sin nadie cerca.</a:t>
            </a:r>
          </a:p>
        </p:txBody>
      </p:sp>
      <p:sp>
        <p:nvSpPr>
          <p:cNvPr id="54"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nube_00_base.png"/>
          <p:cNvPicPr>
            <a:picLocks noChangeAspect="1"/>
          </p:cNvPicPr>
          <p:nvPr/>
        </p:nvPicPr>
        <p:blipFill>
          <a:blip r:embed="rId2"/>
          <a:stretch>
            <a:fillRect/>
          </a:stretch>
        </p:blipFill>
        <p:spPr>
          <a:xfrm>
            <a:off x="716280" y="2125980"/>
            <a:ext cx="10919460" cy="2849880"/>
          </a:xfrm>
          <a:prstGeom prst="rect">
            <a:avLst/>
          </a:prstGeom>
        </p:spPr>
      </p:pic>
      <p:sp>
        <p:nvSpPr>
          <p:cNvPr id="2" name="Text Placeholder 1"/>
          <p:cNvSpPr>
            <a:spLocks noGrp="1"/>
          </p:cNvSpPr>
          <p:nvPr>
            <p:ph type="body" idx="106"/>
          </p:nvPr>
        </p:nvSpPr>
        <p:spPr/>
        <p:txBody>
          <a:bodyPr lIns="0"/>
          <a:lstStyle/>
          <a:p>
            <a:r>
              <a:rPr lang="es-CO"/>
              <a:t>EL PROBLEMA</a:t>
            </a:r>
          </a:p>
        </p:txBody>
      </p:sp>
      <p:sp>
        <p:nvSpPr>
          <p:cNvPr id="3" name="Title 2"/>
          <p:cNvSpPr>
            <a:spLocks noGrp="1"/>
          </p:cNvSpPr>
          <p:nvPr>
            <p:ph type="title" idx="107"/>
          </p:nvPr>
        </p:nvSpPr>
        <p:spPr/>
        <p:txBody>
          <a:bodyPr lIns="0"/>
          <a:lstStyle/>
          <a:p>
            <a:r>
              <a:rPr lang="es-CO"/>
              <a:t>MLOps en la nube: </a:t>
            </a:r>
            <a:r>
              <a:rPr b="1" lang="es-CO">
                <a:solidFill>
                  <a:srgbClr val="6D28D9"/>
                </a:solidFill>
              </a:rPr>
              <a:t>un lazo cerrado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edge_00_base.png"/>
          <p:cNvPicPr>
            <a:picLocks noChangeAspect="1"/>
          </p:cNvPicPr>
          <p:nvPr/>
        </p:nvPicPr>
        <p:blipFill>
          <a:blip r:embed="rId2"/>
          <a:stretch>
            <a:fillRect/>
          </a:stretch>
        </p:blipFill>
        <p:spPr>
          <a:xfrm>
            <a:off x="1329690" y="2125980"/>
            <a:ext cx="10306050" cy="2849880"/>
          </a:xfrm>
          <a:prstGeom prst="rect">
            <a:avLst/>
          </a:prstGeom>
        </p:spPr>
      </p:pic>
      <p:pic>
        <p:nvPicPr>
          <p:cNvPr id="55" name="Capa on3" descr="iso_edge_01_on3.png"/>
          <p:cNvPicPr>
            <a:picLocks noChangeAspect="1"/>
          </p:cNvPicPr>
          <p:nvPr/>
        </p:nvPicPr>
        <p:blipFill>
          <a:blip r:embed="rId3"/>
          <a:stretch>
            <a:fillRect/>
          </a:stretch>
        </p:blipFill>
        <p:spPr>
          <a:xfrm>
            <a:off x="723900" y="2792730"/>
            <a:ext cx="3870960" cy="2933700"/>
          </a:xfrm>
          <a:prstGeom prst="rect">
            <a:avLst/>
          </a:prstGeom>
        </p:spPr>
      </p:pic>
      <p:pic>
        <p:nvPicPr>
          <p:cNvPr id="56" name="Capa base" descr="iso_edge_02_base.png"/>
          <p:cNvPicPr>
            <a:picLocks noChangeAspect="1"/>
          </p:cNvPicPr>
          <p:nvPr/>
        </p:nvPicPr>
        <p:blipFill>
          <a:blip r:embed="rId4"/>
          <a:stretch>
            <a:fillRect/>
          </a:stretch>
        </p:blipFill>
        <p:spPr>
          <a:xfrm>
            <a:off x="1687830" y="2186940"/>
            <a:ext cx="2903220" cy="2217420"/>
          </a:xfrm>
          <a:prstGeom prst="rect">
            <a:avLst/>
          </a:prstGeom>
        </p:spPr>
      </p:pic>
      <p:pic>
        <p:nvPicPr>
          <p:cNvPr id="57" name="Capa on1" descr="iso_edge_03_on1.png"/>
          <p:cNvPicPr>
            <a:picLocks noChangeAspect="1"/>
          </p:cNvPicPr>
          <p:nvPr/>
        </p:nvPicPr>
        <p:blipFill>
          <a:blip r:embed="rId5"/>
          <a:stretch>
            <a:fillRect/>
          </a:stretch>
        </p:blipFill>
        <p:spPr>
          <a:xfrm>
            <a:off x="723900" y="2659380"/>
            <a:ext cx="3185160" cy="2735580"/>
          </a:xfrm>
          <a:prstGeom prst="rect">
            <a:avLst/>
          </a:prstGeom>
        </p:spPr>
      </p:pic>
      <p:pic>
        <p:nvPicPr>
          <p:cNvPr id="58" name="Capa on3" descr="iso_edge_04_on3.png"/>
          <p:cNvPicPr>
            <a:picLocks noChangeAspect="1"/>
          </p:cNvPicPr>
          <p:nvPr/>
        </p:nvPicPr>
        <p:blipFill>
          <a:blip r:embed="rId6"/>
          <a:stretch>
            <a:fillRect/>
          </a:stretch>
        </p:blipFill>
        <p:spPr>
          <a:xfrm>
            <a:off x="2491740" y="2827020"/>
            <a:ext cx="1504950" cy="922020"/>
          </a:xfrm>
          <a:prstGeom prst="rect">
            <a:avLst/>
          </a:prstGeom>
        </p:spPr>
      </p:pic>
      <p:pic>
        <p:nvPicPr>
          <p:cNvPr id="59" name="Capa on2_fog" descr="iso_edge_05_on2_fog.png"/>
          <p:cNvPicPr>
            <a:picLocks noChangeAspect="1"/>
          </p:cNvPicPr>
          <p:nvPr/>
        </p:nvPicPr>
        <p:blipFill>
          <a:blip r:embed="rId7"/>
          <a:stretch>
            <a:fillRect/>
          </a:stretch>
        </p:blipFill>
        <p:spPr>
          <a:xfrm>
            <a:off x="5570220" y="1798320"/>
            <a:ext cx="6469380" cy="3383280"/>
          </a:xfrm>
          <a:prstGeom prst="rect">
            <a:avLst/>
          </a:prstGeom>
        </p:spPr>
      </p:pic>
      <p:pic>
        <p:nvPicPr>
          <p:cNvPr id="60" name="Capa on2" descr="iso_edge_06_on2.png"/>
          <p:cNvPicPr>
            <a:picLocks noChangeAspect="1"/>
          </p:cNvPicPr>
          <p:nvPr/>
        </p:nvPicPr>
        <p:blipFill>
          <a:blip r:embed="rId8"/>
          <a:stretch>
            <a:fillRect/>
          </a:stretch>
        </p:blipFill>
        <p:spPr>
          <a:xfrm>
            <a:off x="4419600" y="2213610"/>
            <a:ext cx="3455670" cy="3139440"/>
          </a:xfrm>
          <a:prstGeom prst="rect">
            <a:avLst/>
          </a:prstGeom>
        </p:spPr>
      </p:pic>
      <p:sp>
        <p:nvSpPr>
          <p:cNvPr id="2" name="Text Placeholder 1"/>
          <p:cNvSpPr>
            <a:spLocks noGrp="1"/>
          </p:cNvSpPr>
          <p:nvPr>
            <p:ph type="body" idx="106"/>
          </p:nvPr>
        </p:nvSpPr>
        <p:spPr/>
        <p:txBody>
          <a:bodyPr lIns="0"/>
          <a:lstStyle/>
          <a:p>
            <a:r>
              <a:rPr lang="es-CO"/>
              <a:t>EL PROBLEMA</a:t>
            </a:r>
          </a:p>
        </p:txBody>
      </p:sp>
      <p:sp>
        <p:nvSpPr>
          <p:cNvPr id="3" name="Title 2"/>
          <p:cNvSpPr>
            <a:spLocks noGrp="1"/>
          </p:cNvSpPr>
          <p:nvPr>
            <p:ph type="title" idx="107"/>
          </p:nvPr>
        </p:nvSpPr>
        <p:spPr/>
        <p:txBody>
          <a:bodyPr lIns="0"/>
          <a:lstStyle/>
          <a:p>
            <a:r>
              <a:rPr lang="es-CO"/>
              <a:t>Las restricciones </a:t>
            </a:r>
            <a:r>
              <a:rPr b="1" lang="es-CO">
                <a:solidFill>
                  <a:srgbClr val="6D28D9"/>
                </a:solidFill>
              </a:rPr>
              <a:t>de la estación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7"/>
                                        </p:tgtEl>
                                        <p:attrNameLst>
                                          <p:attrName>style.visibility</p:attrName>
                                        </p:attrNameLst>
                                      </p:cBhvr>
                                      <p:to>
                                        <p:strVal val="visible"/>
                                      </p:to>
                                    </p:set>
                                    <p:animEffect transition="in" filter="fade">
                                      <p:cBhvr>
                                        <p:cTn id="7" dur="400"/>
                                        <p:tgtEl>
                                          <p:spTgt spid="5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9"/>
                                        </p:tgtEl>
                                        <p:attrNameLst>
                                          <p:attrName>style.visibility</p:attrName>
                                        </p:attrNameLst>
                                      </p:cBhvr>
                                      <p:to>
                                        <p:strVal val="visible"/>
                                      </p:to>
                                    </p:set>
                                    <p:animEffect transition="in" filter="fade">
                                      <p:cBhvr>
                                        <p:cTn id="12" dur="400"/>
                                        <p:tgtEl>
                                          <p:spTgt spid="59"/>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60"/>
                                        </p:tgtEl>
                                        <p:attrNameLst>
                                          <p:attrName>style.visibility</p:attrName>
                                        </p:attrNameLst>
                                      </p:cBhvr>
                                      <p:to>
                                        <p:strVal val="visible"/>
                                      </p:to>
                                    </p:set>
                                    <p:animEffect transition="in" filter="fade">
                                      <p:cBhvr>
                                        <p:cTn id="15" dur="400"/>
                                        <p:tgtEl>
                                          <p:spTgt spid="60"/>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55"/>
                                        </p:tgtEl>
                                        <p:attrNameLst>
                                          <p:attrName>style.visibility</p:attrName>
                                        </p:attrNameLst>
                                      </p:cBhvr>
                                      <p:to>
                                        <p:strVal val="visible"/>
                                      </p:to>
                                    </p:set>
                                    <p:animEffect transition="in" filter="fade">
                                      <p:cBhvr>
                                        <p:cTn id="20" dur="400"/>
                                        <p:tgtEl>
                                          <p:spTgt spid="55"/>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58"/>
                                        </p:tgtEl>
                                        <p:attrNameLst>
                                          <p:attrName>style.visibility</p:attrName>
                                        </p:attrNameLst>
                                      </p:cBhvr>
                                      <p:to>
                                        <p:strVal val="visible"/>
                                      </p:to>
                                    </p:set>
                                    <p:animEffect transition="in" filter="fade">
                                      <p:cBhvr>
                                        <p:cTn id="23" dur="4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EL PROBLEMA</a:t>
            </a:r>
          </a:p>
        </p:txBody>
      </p:sp>
      <p:sp>
        <p:nvSpPr>
          <p:cNvPr id="3" name="Title 2"/>
          <p:cNvSpPr>
            <a:spLocks noGrp="1"/>
          </p:cNvSpPr>
          <p:nvPr>
            <p:ph type="title" idx="107"/>
          </p:nvPr>
        </p:nvSpPr>
        <p:spPr/>
        <p:txBody>
          <a:bodyPr lIns="0"/>
          <a:lstStyle/>
          <a:p>
            <a:r>
              <a:rPr lang="es-CO"/>
              <a:t>Un panel en verde </a:t>
            </a:r>
            <a:r>
              <a:rPr b="1" lang="es-CO">
                <a:solidFill>
                  <a:srgbClr val="6D28D9"/>
                </a:solidFill>
              </a:rPr>
              <a:t>no mide el modelo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tablero_s0.png"/>
          <p:cNvPicPr>
            <a:picLocks noChangeAspect="1"/>
          </p:cNvPicPr>
          <p:nvPr/>
        </p:nvPicPr>
        <p:blipFill>
          <a:blip r:embed="rId2"/>
          <a:stretch>
            <a:fillRect/>
          </a:stretch>
        </p:blipFill>
        <p:spPr>
          <a:xfrm>
            <a:off x="640080" y="1691640"/>
            <a:ext cx="10911840" cy="3931920"/>
          </a:xfrm>
          <a:prstGeom prst="rect">
            <a:avLst/>
          </a:prstGeom>
        </p:spPr>
      </p:pic>
      <p:pic>
        <p:nvPicPr>
          <p:cNvPr id="55" name="Paso 1" descr="tablero_s1.png"/>
          <p:cNvPicPr>
            <a:picLocks noChangeAspect="1"/>
          </p:cNvPicPr>
          <p:nvPr/>
        </p:nvPicPr>
        <p:blipFill>
          <a:blip r:embed="rId3"/>
          <a:stretch>
            <a:fillRect/>
          </a:stretch>
        </p:blipFill>
        <p:spPr>
          <a:xfrm>
            <a:off x="640080" y="1691640"/>
            <a:ext cx="10911840" cy="3931920"/>
          </a:xfrm>
          <a:prstGeom prst="rect">
            <a:avLst/>
          </a:prstGeom>
        </p:spPr>
      </p:pic>
      <p:pic>
        <p:nvPicPr>
          <p:cNvPr id="56" name="Paso 2" descr="tablero_s2.png"/>
          <p:cNvPicPr>
            <a:picLocks noChangeAspect="1"/>
          </p:cNvPicPr>
          <p:nvPr/>
        </p:nvPicPr>
        <p:blipFill>
          <a:blip r:embed="rId4"/>
          <a:stretch>
            <a:fillRect/>
          </a:stretch>
        </p:blipFill>
        <p:spPr>
          <a:xfrm>
            <a:off x="640080" y="1691640"/>
            <a:ext cx="10911840" cy="3931920"/>
          </a:xfrm>
          <a:prstGeom prst="rect">
            <a:avLst/>
          </a:prstGeom>
        </p:spPr>
      </p:pic>
      <p:pic>
        <p:nvPicPr>
          <p:cNvPr id="57" name="Paso 3" descr="tablero_s3.png"/>
          <p:cNvPicPr>
            <a:picLocks noChangeAspect="1"/>
          </p:cNvPicPr>
          <p:nvPr/>
        </p:nvPicPr>
        <p:blipFill>
          <a:blip r:embed="rId5"/>
          <a:stretch>
            <a:fillRect/>
          </a:stretch>
        </p:blipFill>
        <p:spPr>
          <a:xfrm>
            <a:off x="640080" y="1691640"/>
            <a:ext cx="10911840" cy="3931920"/>
          </a:xfrm>
          <a:prstGeom prst="rect">
            <a:avLst/>
          </a:prstGeom>
        </p:spPr>
      </p:pic>
      <p:sp>
        <p:nvSpPr>
          <p:cNvPr id="58"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Medido en la PoC con MIMII DUE (bombas, dominio de entrenamiento contra dominio nuevo)</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 MANO ALZADA · 1 DE 2</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Bloque"/>
          <p:cNvSpPr/>
          <p:nvPr/>
        </p:nvSpPr>
        <p:spPr>
          <a:xfrm>
            <a:off x="640080" y="1143000"/>
            <a:ext cx="10911840" cy="4267200"/>
          </a:xfrm>
          <a:prstGeom prst="rect">
            <a:avLst/>
          </a:prstGeom>
          <a:solidFill>
            <a:srgbClr val="F4F7FC"/>
          </a:solidFill>
          <a:ln w="11430">
            <a:solidFill>
              <a:srgbClr val="D5DEEA"/>
            </a:solidFill>
          </a:ln>
        </p:spPr>
        <p:txBody>
          <a:bodyPr rtlCol="0" anchor="ctr"/>
          <a:lstStyle/>
          <a:p>
            <a:pPr algn="ctr"/>
          </a:p>
        </p:txBody>
      </p:sp>
      <p:sp>
        <p:nvSpPr>
          <p:cNvPr id="55" name="TextBox 54"/>
          <p:cNvSpPr txBox="1"/>
          <p:nvPr/>
        </p:nvSpPr>
        <p:spPr>
          <a:xfrm>
            <a:off x="1249680" y="1219200"/>
            <a:ext cx="9692640" cy="3581400"/>
          </a:xfrm>
          <a:prstGeom prst="rect">
            <a:avLst/>
          </a:prstGeom>
          <a:noFill/>
        </p:spPr>
        <p:txBody>
          <a:bodyPr wrap="square" lIns="0" tIns="0" rIns="0" bIns="0" anchor="ctr">
            <a:noAutofit/>
          </a:bodyPr>
          <a:lstStyle/>
          <a:p>
            <a:pPr>
              <a:lnSpc>
                <a:spcPct val="105000"/>
              </a:lnSpc>
            </a:pPr>
            <a:r>
              <a:rPr sz="3960" b="1" lang="es-CO">
                <a:solidFill>
                  <a:srgbClr val="071329"/>
                </a:solidFill>
                <a:latin typeface="Calibri"/>
              </a:rPr>
              <a:t>¿A quién le ha sonado el pager</a:t>
            </a:r>
            <a:br/>
            <a:r>
              <a:rPr sz="3960" b="1" lang="es-CO">
                <a:solidFill>
                  <a:srgbClr val="6D28D9"/>
                </a:solidFill>
                <a:latin typeface="Calibri"/>
              </a:rPr>
              <a:t>por un modelo</a:t>
            </a:r>
            <a:r>
              <a:rPr sz="3960" b="1" lang="es-CO">
                <a:solidFill>
                  <a:srgbClr val="071329"/>
                </a:solidFill>
                <a:latin typeface="Calibri"/>
              </a:rPr>
              <a:t>?</a:t>
            </a:r>
          </a:p>
          <a:p>
            <a:pPr>
              <a:lnSpc>
                <a:spcPct val="105000"/>
              </a:lnSpc>
              <a:spcBef>
                <a:spcPts val="1800"/>
              </a:spcBef>
            </a:pPr>
            <a:r>
              <a:rPr sz="1920" b="0" lang="es-CO">
                <a:solidFill>
                  <a:srgbClr val="475569"/>
                </a:solidFill>
                <a:latin typeface="Calibri"/>
              </a:rPr>
              <a:t>Levanten la mano.</a:t>
            </a:r>
          </a:p>
        </p:txBody>
      </p:sp>
      <p:sp>
        <p:nvSpPr>
          <p:cNvPr id="56" name="Barra"/>
          <p:cNvSpPr/>
          <p:nvPr/>
        </p:nvSpPr>
        <p:spPr>
          <a:xfrm>
            <a:off x="1249680" y="4770120"/>
            <a:ext cx="4267200" cy="45720"/>
          </a:xfrm>
          <a:prstGeom prst="rect">
            <a:avLst/>
          </a:prstGeom>
          <a:solidFill>
            <a:srgbClr val="D5DEEA"/>
          </a:solidFill>
          <a:ln>
            <a:noFill/>
          </a:ln>
        </p:spPr>
        <p:txBody>
          <a:bodyPr rtlCol="0" anchor="ctr"/>
          <a:lstStyle/>
          <a:p>
            <a:pPr algn="ctr"/>
          </a:p>
        </p:txBody>
      </p:sp>
      <p:sp>
        <p:nvSpPr>
          <p:cNvPr id="57" name="Barra 5 s"/>
          <p:cNvSpPr/>
          <p:nvPr/>
        </p:nvSpPr>
        <p:spPr>
          <a:xfrm>
            <a:off x="1249680" y="4770120"/>
            <a:ext cx="4267200" cy="45720"/>
          </a:xfrm>
          <a:prstGeom prst="rect">
            <a:avLst/>
          </a:prstGeom>
          <a:solidFill>
            <a:srgbClr val="6D28D9"/>
          </a:solidFill>
          <a:ln>
            <a:noFill/>
          </a:ln>
        </p:spPr>
        <p:txBody>
          <a:bodyPr rtlCol="0" anchor="ctr"/>
          <a:lstStyle/>
          <a:p>
            <a:pPr algn="ctr"/>
          </a:p>
        </p:txBody>
      </p:sp>
      <p:sp>
        <p:nvSpPr>
          <p:cNvPr id="58" name="TextBox 57"/>
          <p:cNvSpPr txBox="1"/>
          <p:nvPr/>
        </p:nvSpPr>
        <p:spPr>
          <a:xfrm>
            <a:off x="1249680" y="4953000"/>
            <a:ext cx="2286000" cy="182880"/>
          </a:xfrm>
          <a:prstGeom prst="rect">
            <a:avLst/>
          </a:prstGeom>
          <a:noFill/>
        </p:spPr>
        <p:txBody>
          <a:bodyPr wrap="square" lIns="0" tIns="0" rIns="0" bIns="0" anchor="t">
            <a:noAutofit/>
          </a:bodyPr>
          <a:lstStyle/>
          <a:p>
            <a:r>
              <a:rPr sz="960" b="0" lang="es-CO">
                <a:solidFill>
                  <a:srgbClr val="5C7290"/>
                </a:solidFill>
                <a:latin typeface="Courier New"/>
              </a:rPr>
              <a:t>5 segundos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800"/>
                                  </p:stCondLst>
                                  <p:childTnLst>
                                    <p:set>
                                      <p:cBhvr>
                                        <p:cTn id="6" dur="1" fill="hold">
                                          <p:stCondLst>
                                            <p:cond delay="0"/>
                                          </p:stCondLst>
                                        </p:cTn>
                                        <p:tgtEl>
                                          <p:spTgt spid="57"/>
                                        </p:tgtEl>
                                        <p:attrNameLst>
                                          <p:attrName>style.visibility</p:attrName>
                                        </p:attrNameLst>
                                      </p:cBhvr>
                                      <p:to>
                                        <p:strVal val="visible"/>
                                      </p:to>
                                    </p:set>
                                    <p:animEffect transition="in" filter="wipe(left)">
                                      <p:cBhvr>
                                        <p:cTn id="7" dur="50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 grpId="0"/>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02</a:t>
            </a:r>
          </a:p>
        </p:txBody>
      </p:sp>
      <p:sp>
        <p:nvSpPr>
          <p:cNvPr id="3" name="Title 2"/>
          <p:cNvSpPr>
            <a:spLocks noGrp="1"/>
          </p:cNvSpPr>
          <p:nvPr>
            <p:ph type="title" idx="107"/>
          </p:nvPr>
        </p:nvSpPr>
        <p:spPr/>
        <p:txBody>
          <a:bodyPr lIns="0"/>
          <a:lstStyle/>
          <a:p>
            <a:r>
              <a:rPr lang="es-CO"/>
              <a:t>El patrón</a:t>
            </a:r>
          </a:p>
        </p:txBody>
      </p:sp>
      <p:sp>
        <p:nvSpPr>
          <p:cNvPr id="4" name="Text Placeholder 3"/>
          <p:cNvSpPr>
            <a:spLocks noGrp="1"/>
          </p:cNvSpPr>
          <p:nvPr>
            <p:ph type="body" idx="108"/>
          </p:nvPr>
        </p:nvSpPr>
        <p:spPr/>
        <p:txBody>
          <a:bodyPr lIns="0"/>
          <a:lstStyle/>
          <a:p>
            <a:r>
              <a:rPr lang="es-CO"/>
              <a:t>Qué lleva el equipo y qué hace falta para gobernarlo.</a:t>
            </a:r>
          </a:p>
        </p:txBody>
      </p:sp>
      <p:sp>
        <p:nvSpPr>
          <p:cNvPr id="54"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equipo_00_base.png"/>
          <p:cNvPicPr>
            <a:picLocks noChangeAspect="1"/>
          </p:cNvPicPr>
          <p:nvPr/>
        </p:nvPicPr>
        <p:blipFill>
          <a:blip r:embed="rId2"/>
          <a:stretch>
            <a:fillRect/>
          </a:stretch>
        </p:blipFill>
        <p:spPr>
          <a:xfrm>
            <a:off x="3371850" y="2053590"/>
            <a:ext cx="3547110" cy="3333750"/>
          </a:xfrm>
          <a:prstGeom prst="rect">
            <a:avLst/>
          </a:prstGeom>
        </p:spPr>
      </p:pic>
      <p:pic>
        <p:nvPicPr>
          <p:cNvPr id="55" name="Capa on1" descr="iso_equipo_01_on1.png"/>
          <p:cNvPicPr>
            <a:picLocks noChangeAspect="1"/>
          </p:cNvPicPr>
          <p:nvPr/>
        </p:nvPicPr>
        <p:blipFill>
          <a:blip r:embed="rId3"/>
          <a:stretch>
            <a:fillRect/>
          </a:stretch>
        </p:blipFill>
        <p:spPr>
          <a:xfrm>
            <a:off x="6911340" y="3874770"/>
            <a:ext cx="1287780" cy="259080"/>
          </a:xfrm>
          <a:prstGeom prst="rect">
            <a:avLst/>
          </a:prstGeom>
        </p:spPr>
      </p:pic>
      <p:pic>
        <p:nvPicPr>
          <p:cNvPr id="56" name="Capa base" descr="iso_equipo_02_base.png"/>
          <p:cNvPicPr>
            <a:picLocks noChangeAspect="1"/>
          </p:cNvPicPr>
          <p:nvPr/>
        </p:nvPicPr>
        <p:blipFill>
          <a:blip r:embed="rId4"/>
          <a:stretch>
            <a:fillRect/>
          </a:stretch>
        </p:blipFill>
        <p:spPr>
          <a:xfrm>
            <a:off x="1493520" y="1847850"/>
            <a:ext cx="8427720" cy="3208020"/>
          </a:xfrm>
          <a:prstGeom prst="rect">
            <a:avLst/>
          </a:prstGeom>
        </p:spPr>
      </p:pic>
      <p:pic>
        <p:nvPicPr>
          <p:cNvPr id="57" name="Capa on1" descr="iso_equipo_03_on1.png"/>
          <p:cNvPicPr>
            <a:picLocks noChangeAspect="1"/>
          </p:cNvPicPr>
          <p:nvPr/>
        </p:nvPicPr>
        <p:blipFill>
          <a:blip r:embed="rId5"/>
          <a:stretch>
            <a:fillRect/>
          </a:stretch>
        </p:blipFill>
        <p:spPr>
          <a:xfrm>
            <a:off x="2198370" y="3627120"/>
            <a:ext cx="3543300" cy="361950"/>
          </a:xfrm>
          <a:prstGeom prst="rect">
            <a:avLst/>
          </a:prstGeom>
        </p:spPr>
      </p:pic>
      <p:pic>
        <p:nvPicPr>
          <p:cNvPr id="58" name="Capa on2" descr="iso_equipo_04_on2.png"/>
          <p:cNvPicPr>
            <a:picLocks noChangeAspect="1"/>
          </p:cNvPicPr>
          <p:nvPr/>
        </p:nvPicPr>
        <p:blipFill>
          <a:blip r:embed="rId6"/>
          <a:stretch>
            <a:fillRect/>
          </a:stretch>
        </p:blipFill>
        <p:spPr>
          <a:xfrm>
            <a:off x="6450330" y="2868930"/>
            <a:ext cx="3554730" cy="659130"/>
          </a:xfrm>
          <a:prstGeom prst="rect">
            <a:avLst/>
          </a:prstGeom>
        </p:spPr>
      </p:pic>
      <p:pic>
        <p:nvPicPr>
          <p:cNvPr id="59" name="Capa on3" descr="iso_equipo_05_on3.png"/>
          <p:cNvPicPr>
            <a:picLocks noChangeAspect="1"/>
          </p:cNvPicPr>
          <p:nvPr/>
        </p:nvPicPr>
        <p:blipFill>
          <a:blip r:embed="rId7"/>
          <a:stretch>
            <a:fillRect/>
          </a:stretch>
        </p:blipFill>
        <p:spPr>
          <a:xfrm>
            <a:off x="1935480" y="2114550"/>
            <a:ext cx="3806190" cy="369570"/>
          </a:xfrm>
          <a:prstGeom prst="rect">
            <a:avLst/>
          </a:prstGeom>
        </p:spPr>
      </p:pic>
      <p:sp>
        <p:nvSpPr>
          <p:cNvPr id="2" name="Text Placeholder 1"/>
          <p:cNvSpPr>
            <a:spLocks noGrp="1"/>
          </p:cNvSpPr>
          <p:nvPr>
            <p:ph type="body" idx="106"/>
          </p:nvPr>
        </p:nvSpPr>
        <p:spPr/>
        <p:txBody>
          <a:bodyPr lIns="0"/>
          <a:lstStyle/>
          <a:p>
            <a:r>
              <a:rPr lang="es-CO"/>
              <a:t>EL PATRÓN</a:t>
            </a:r>
          </a:p>
        </p:txBody>
      </p:sp>
      <p:sp>
        <p:nvSpPr>
          <p:cNvPr id="3" name="Title 2"/>
          <p:cNvSpPr>
            <a:spLocks noGrp="1"/>
          </p:cNvSpPr>
          <p:nvPr>
            <p:ph type="title" idx="107"/>
          </p:nvPr>
        </p:nvSpPr>
        <p:spPr/>
        <p:txBody>
          <a:bodyPr lIns="0"/>
          <a:lstStyle/>
          <a:p>
            <a:r>
              <a:rPr lang="es-CO"/>
              <a:t>Arquitectura del </a:t>
            </a:r>
            <a:r>
              <a:rPr b="1" lang="es-CO">
                <a:solidFill>
                  <a:srgbClr val="6D28D9"/>
                </a:solidFill>
              </a:rPr>
              <a:t>equipo en la estación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7"/>
                                        </p:tgtEl>
                                        <p:attrNameLst>
                                          <p:attrName>style.visibility</p:attrName>
                                        </p:attrNameLst>
                                      </p:cBhvr>
                                      <p:to>
                                        <p:strVal val="visible"/>
                                      </p:to>
                                    </p:set>
                                    <p:animEffect transition="in" filter="fade">
                                      <p:cBhvr>
                                        <p:cTn id="10" dur="400"/>
                                        <p:tgtEl>
                                          <p:spTgt spid="5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58"/>
                                        </p:tgtEl>
                                        <p:attrNameLst>
                                          <p:attrName>style.visibility</p:attrName>
                                        </p:attrNameLst>
                                      </p:cBhvr>
                                      <p:to>
                                        <p:strVal val="visible"/>
                                      </p:to>
                                    </p:set>
                                    <p:animEffect transition="in" filter="fade">
                                      <p:cBhvr>
                                        <p:cTn id="15" dur="400"/>
                                        <p:tgtEl>
                                          <p:spTgt spid="58"/>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59"/>
                                        </p:tgtEl>
                                        <p:attrNameLst>
                                          <p:attrName>style.visibility</p:attrName>
                                        </p:attrNameLst>
                                      </p:cBhvr>
                                      <p:to>
                                        <p:strVal val="visible"/>
                                      </p:to>
                                    </p:set>
                                    <p:animEffect transition="in" filter="fade">
                                      <p:cBhvr>
                                        <p:cTn id="20" dur="400"/>
                                        <p:tgtEl>
                                          <p:spTgt spid="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flujo_html0.png"/>
          <p:cNvPicPr>
            <a:picLocks noChangeAspect="1"/>
          </p:cNvPicPr>
          <p:nvPr/>
        </p:nvPicPr>
        <p:blipFill>
          <a:blip r:embed="rId2"/>
          <a:stretch>
            <a:fillRect/>
          </a:stretch>
        </p:blipFill>
        <p:spPr>
          <a:xfrm>
            <a:off x="0" y="655320"/>
            <a:ext cx="12192000" cy="5227320"/>
          </a:xfrm>
          <a:prstGeom prst="rect">
            <a:avLst/>
          </a:prstGeom>
        </p:spPr>
      </p:pic>
      <p:pic>
        <p:nvPicPr>
          <p:cNvPr id="55" name="Paso 1" descr="flujo_html1.png"/>
          <p:cNvPicPr>
            <a:picLocks noChangeAspect="1"/>
          </p:cNvPicPr>
          <p:nvPr/>
        </p:nvPicPr>
        <p:blipFill>
          <a:blip r:embed="rId3"/>
          <a:stretch>
            <a:fillRect/>
          </a:stretch>
        </p:blipFill>
        <p:spPr>
          <a:xfrm>
            <a:off x="0" y="655320"/>
            <a:ext cx="12192000" cy="5227320"/>
          </a:xfrm>
          <a:prstGeom prst="rect">
            <a:avLst/>
          </a:prstGeom>
        </p:spPr>
      </p:pic>
      <p:pic>
        <p:nvPicPr>
          <p:cNvPr id="56" name="Paso 2" descr="flujo_html2.png"/>
          <p:cNvPicPr>
            <a:picLocks noChangeAspect="1"/>
          </p:cNvPicPr>
          <p:nvPr/>
        </p:nvPicPr>
        <p:blipFill>
          <a:blip r:embed="rId4"/>
          <a:stretch>
            <a:fillRect/>
          </a:stretch>
        </p:blipFill>
        <p:spPr>
          <a:xfrm>
            <a:off x="0" y="655320"/>
            <a:ext cx="12192000" cy="5227320"/>
          </a:xfrm>
          <a:prstGeom prst="rect">
            <a:avLst/>
          </a:prstGeom>
        </p:spPr>
      </p:pic>
      <p:pic>
        <p:nvPicPr>
          <p:cNvPr id="57" name="Paso 3" descr="flujo_html3.png"/>
          <p:cNvPicPr>
            <a:picLocks noChangeAspect="1"/>
          </p:cNvPicPr>
          <p:nvPr/>
        </p:nvPicPr>
        <p:blipFill>
          <a:blip r:embed="rId5"/>
          <a:stretch>
            <a:fillRect/>
          </a:stretch>
        </p:blipFill>
        <p:spPr>
          <a:xfrm>
            <a:off x="0" y="655320"/>
            <a:ext cx="12192000" cy="5227320"/>
          </a:xfrm>
          <a:prstGeom prst="rect">
            <a:avLst/>
          </a:prstGeom>
        </p:spPr>
      </p:pic>
      <p:pic>
        <p:nvPicPr>
          <p:cNvPr id="58" name="Paso 4" descr="flujo_html4.png"/>
          <p:cNvPicPr>
            <a:picLocks noChangeAspect="1"/>
          </p:cNvPicPr>
          <p:nvPr/>
        </p:nvPicPr>
        <p:blipFill>
          <a:blip r:embed="rId6"/>
          <a:stretch>
            <a:fillRect/>
          </a:stretch>
        </p:blipFill>
        <p:spPr>
          <a:xfrm>
            <a:off x="0" y="655320"/>
            <a:ext cx="12192000" cy="5227320"/>
          </a:xfrm>
          <a:prstGeom prst="rect">
            <a:avLst/>
          </a:prstGeom>
        </p:spPr>
      </p:pic>
      <p:pic>
        <p:nvPicPr>
          <p:cNvPr id="59" name="Paso 5" descr="flujo_html5.png"/>
          <p:cNvPicPr>
            <a:picLocks noChangeAspect="1"/>
          </p:cNvPicPr>
          <p:nvPr/>
        </p:nvPicPr>
        <p:blipFill>
          <a:blip r:embed="rId7"/>
          <a:stretch>
            <a:fillRect/>
          </a:stretch>
        </p:blipFill>
        <p:spPr>
          <a:xfrm>
            <a:off x="0" y="655320"/>
            <a:ext cx="12192000" cy="5227320"/>
          </a:xfrm>
          <a:prstGeom prst="rect">
            <a:avLst/>
          </a:prstGeom>
        </p:spPr>
      </p:pic>
      <p:pic>
        <p:nvPicPr>
          <p:cNvPr id="60" name="Paso 6" descr="flujo_html6.png"/>
          <p:cNvPicPr>
            <a:picLocks noChangeAspect="1"/>
          </p:cNvPicPr>
          <p:nvPr/>
        </p:nvPicPr>
        <p:blipFill>
          <a:blip r:embed="rId8"/>
          <a:stretch>
            <a:fillRect/>
          </a:stretch>
        </p:blipFill>
        <p:spPr>
          <a:xfrm>
            <a:off x="0" y="655320"/>
            <a:ext cx="12192000" cy="5227320"/>
          </a:xfrm>
          <a:prstGeom prst="rect">
            <a:avLst/>
          </a:prstGeom>
        </p:spPr>
      </p:pic>
      <p:sp>
        <p:nvSpPr>
          <p:cNvPr id="2" name="Text Placeholder 1"/>
          <p:cNvSpPr>
            <a:spLocks noGrp="1"/>
          </p:cNvSpPr>
          <p:nvPr>
            <p:ph type="body" idx="106"/>
          </p:nvPr>
        </p:nvSpPr>
        <p:spPr/>
        <p:txBody>
          <a:bodyPr lIns="0"/>
          <a:lstStyle/>
          <a:p>
            <a:r>
              <a:rPr lang="es-CO"/>
              <a:t>EL PATRÓN</a:t>
            </a:r>
          </a:p>
        </p:txBody>
      </p:sp>
      <p:sp>
        <p:nvSpPr>
          <p:cNvPr id="3" name="Title 2"/>
          <p:cNvSpPr>
            <a:spLocks noGrp="1"/>
          </p:cNvSpPr>
          <p:nvPr>
            <p:ph type="title" idx="107"/>
          </p:nvPr>
        </p:nvSpPr>
        <p:spPr/>
        <p:txBody>
          <a:bodyPr lIns="0"/>
          <a:lstStyle/>
          <a:p>
            <a:r>
              <a:rPr lang="es-CO"/>
              <a:t>Cinco piezas para </a:t>
            </a:r>
            <a:r>
              <a:rPr b="1" lang="es-CO">
                <a:solidFill>
                  <a:srgbClr val="6D28D9"/>
                </a:solidFill>
              </a:rPr>
              <a:t>gobernar el modelo</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aws_html0.png"/>
          <p:cNvPicPr>
            <a:picLocks noChangeAspect="1"/>
          </p:cNvPicPr>
          <p:nvPr/>
        </p:nvPicPr>
        <p:blipFill>
          <a:blip r:embed="rId2"/>
          <a:stretch>
            <a:fillRect/>
          </a:stretch>
        </p:blipFill>
        <p:spPr>
          <a:xfrm>
            <a:off x="0" y="655320"/>
            <a:ext cx="12192000" cy="5227320"/>
          </a:xfrm>
          <a:prstGeom prst="rect">
            <a:avLst/>
          </a:prstGeom>
        </p:spPr>
      </p:pic>
      <p:pic>
        <p:nvPicPr>
          <p:cNvPr id="55" name="Paso 1" descr="aws_html1.png"/>
          <p:cNvPicPr>
            <a:picLocks noChangeAspect="1"/>
          </p:cNvPicPr>
          <p:nvPr/>
        </p:nvPicPr>
        <p:blipFill>
          <a:blip r:embed="rId3"/>
          <a:stretch>
            <a:fillRect/>
          </a:stretch>
        </p:blipFill>
        <p:spPr>
          <a:xfrm>
            <a:off x="0" y="655320"/>
            <a:ext cx="12192000" cy="5227320"/>
          </a:xfrm>
          <a:prstGeom prst="rect">
            <a:avLst/>
          </a:prstGeom>
        </p:spPr>
      </p:pic>
      <p:pic>
        <p:nvPicPr>
          <p:cNvPr id="56" name="Paso 2" descr="aws_html2.png"/>
          <p:cNvPicPr>
            <a:picLocks noChangeAspect="1"/>
          </p:cNvPicPr>
          <p:nvPr/>
        </p:nvPicPr>
        <p:blipFill>
          <a:blip r:embed="rId4"/>
          <a:stretch>
            <a:fillRect/>
          </a:stretch>
        </p:blipFill>
        <p:spPr>
          <a:xfrm>
            <a:off x="0" y="655320"/>
            <a:ext cx="12192000" cy="5227320"/>
          </a:xfrm>
          <a:prstGeom prst="rect">
            <a:avLst/>
          </a:prstGeom>
        </p:spPr>
      </p:pic>
      <p:pic>
        <p:nvPicPr>
          <p:cNvPr id="57" name="Paso 3" descr="aws_html3.png"/>
          <p:cNvPicPr>
            <a:picLocks noChangeAspect="1"/>
          </p:cNvPicPr>
          <p:nvPr/>
        </p:nvPicPr>
        <p:blipFill>
          <a:blip r:embed="rId5"/>
          <a:stretch>
            <a:fillRect/>
          </a:stretch>
        </p:blipFill>
        <p:spPr>
          <a:xfrm>
            <a:off x="0" y="655320"/>
            <a:ext cx="12192000" cy="5227320"/>
          </a:xfrm>
          <a:prstGeom prst="rect">
            <a:avLst/>
          </a:prstGeom>
        </p:spPr>
      </p:pic>
      <p:pic>
        <p:nvPicPr>
          <p:cNvPr id="58" name="Paso 4" descr="aws_html4.png"/>
          <p:cNvPicPr>
            <a:picLocks noChangeAspect="1"/>
          </p:cNvPicPr>
          <p:nvPr/>
        </p:nvPicPr>
        <p:blipFill>
          <a:blip r:embed="rId6"/>
          <a:stretch>
            <a:fillRect/>
          </a:stretch>
        </p:blipFill>
        <p:spPr>
          <a:xfrm>
            <a:off x="0" y="655320"/>
            <a:ext cx="12192000" cy="5227320"/>
          </a:xfrm>
          <a:prstGeom prst="rect">
            <a:avLst/>
          </a:prstGeom>
        </p:spPr>
      </p:pic>
      <p:pic>
        <p:nvPicPr>
          <p:cNvPr id="59" name="Paso 5" descr="aws_html5.png"/>
          <p:cNvPicPr>
            <a:picLocks noChangeAspect="1"/>
          </p:cNvPicPr>
          <p:nvPr/>
        </p:nvPicPr>
        <p:blipFill>
          <a:blip r:embed="rId7"/>
          <a:stretch>
            <a:fillRect/>
          </a:stretch>
        </p:blipFill>
        <p:spPr>
          <a:xfrm>
            <a:off x="0" y="655320"/>
            <a:ext cx="12192000" cy="5227320"/>
          </a:xfrm>
          <a:prstGeom prst="rect">
            <a:avLst/>
          </a:prstGeom>
        </p:spPr>
      </p:pic>
      <p:pic>
        <p:nvPicPr>
          <p:cNvPr id="60" name="Paso 6" descr="aws_html6.png"/>
          <p:cNvPicPr>
            <a:picLocks noChangeAspect="1"/>
          </p:cNvPicPr>
          <p:nvPr/>
        </p:nvPicPr>
        <p:blipFill>
          <a:blip r:embed="rId8"/>
          <a:stretch>
            <a:fillRect/>
          </a:stretch>
        </p:blipFill>
        <p:spPr>
          <a:xfrm>
            <a:off x="0" y="655320"/>
            <a:ext cx="12192000" cy="5227320"/>
          </a:xfrm>
          <a:prstGeom prst="rect">
            <a:avLst/>
          </a:prstGeom>
        </p:spPr>
      </p:pic>
      <p:sp>
        <p:nvSpPr>
          <p:cNvPr id="2" name="Text Placeholder 1"/>
          <p:cNvSpPr>
            <a:spLocks noGrp="1"/>
          </p:cNvSpPr>
          <p:nvPr>
            <p:ph type="body" idx="106"/>
          </p:nvPr>
        </p:nvSpPr>
        <p:spPr/>
        <p:txBody>
          <a:bodyPr lIns="0"/>
          <a:lstStyle/>
          <a:p>
            <a:r>
              <a:rPr lang="es-CO"/>
              <a:t>EL PATRÓN</a:t>
            </a:r>
          </a:p>
        </p:txBody>
      </p:sp>
      <p:sp>
        <p:nvSpPr>
          <p:cNvPr id="3" name="Title 2"/>
          <p:cNvSpPr>
            <a:spLocks noGrp="1"/>
          </p:cNvSpPr>
          <p:nvPr>
            <p:ph type="title" idx="107"/>
          </p:nvPr>
        </p:nvSpPr>
        <p:spPr/>
        <p:txBody>
          <a:bodyPr lIns="0"/>
          <a:lstStyle/>
          <a:p>
            <a:r>
              <a:rPr lang="es-CO"/>
              <a:t>El mismo patrón </a:t>
            </a:r>
            <a:r>
              <a:rPr b="1" lang="es-CO">
                <a:solidFill>
                  <a:srgbClr val="6D28D9"/>
                </a:solidFill>
              </a:rPr>
              <a:t>en AWS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03</a:t>
            </a:r>
          </a:p>
        </p:txBody>
      </p:sp>
      <p:sp>
        <p:nvSpPr>
          <p:cNvPr id="3" name="Title 2"/>
          <p:cNvSpPr>
            <a:spLocks noGrp="1"/>
          </p:cNvSpPr>
          <p:nvPr>
            <p:ph type="title" idx="107"/>
          </p:nvPr>
        </p:nvSpPr>
        <p:spPr/>
        <p:txBody>
          <a:bodyPr lIns="0"/>
          <a:lstStyle/>
          <a:p>
            <a:r>
              <a:rPr lang="es-CO"/>
              <a:t>Los seis pasos</a:t>
            </a:r>
          </a:p>
        </p:txBody>
      </p:sp>
      <p:sp>
        <p:nvSpPr>
          <p:cNvPr id="54"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5" name="Paso 1"/>
          <p:cNvSpPr/>
          <p:nvPr/>
        </p:nvSpPr>
        <p:spPr>
          <a:xfrm>
            <a:off x="640080" y="4968240"/>
            <a:ext cx="1691640" cy="899160"/>
          </a:xfrm>
          <a:prstGeom prst="roundRect">
            <a:avLst>
              <a:gd name="adj" fmla="val 10169"/>
            </a:avLst>
          </a:prstGeom>
          <a:solidFill>
            <a:srgbClr val="FFFFFF"/>
          </a:solidFill>
          <a:ln w="15240">
            <a:solidFill>
              <a:srgbClr val="6D28D9"/>
            </a:solidFill>
          </a:ln>
        </p:spPr>
        <p:txBody>
          <a:bodyPr rtlCol="0" anchor="t" wrap="none" lIns="152400" tIns="144780" rIns="60960" bIns="0">
            <a:noAutofit/>
          </a:bodyPr>
          <a:lstStyle/>
          <a:p>
            <a:pPr algn="l"/>
            <a:r>
              <a:rPr sz="1200" b="1" lang="es-CO">
                <a:solidFill>
                  <a:srgbClr val="6D28D9"/>
                </a:solidFill>
                <a:latin typeface="Courier New"/>
              </a:rPr>
              <a:t>01</a:t>
            </a:r>
          </a:p>
          <a:p>
            <a:pPr algn="l">
              <a:spcBef>
                <a:spcPts val="240"/>
              </a:spcBef>
            </a:pPr>
            <a:r>
              <a:rPr sz="1739" b="1" lang="es-CO">
                <a:solidFill>
                  <a:srgbClr val="071329"/>
                </a:solidFill>
                <a:latin typeface="Calibri"/>
              </a:rPr>
              <a:t>Entrenar</a:t>
            </a:r>
          </a:p>
          <a:p>
            <a:pPr algn="l">
              <a:spcBef>
                <a:spcPts val="179"/>
              </a:spcBef>
            </a:pPr>
            <a:r>
              <a:rPr sz="1080" b="0" lang="es-CO">
                <a:solidFill>
                  <a:srgbClr val="475569"/>
                </a:solidFill>
                <a:latin typeface="Calibri"/>
              </a:rPr>
              <a:t>SageMaker AI · S3</a:t>
            </a:r>
          </a:p>
        </p:txBody>
      </p:sp>
      <p:cxnSp>
        <p:nvCxnSpPr>
          <p:cNvPr id="56" name="Connector 55"/>
          <p:cNvCxnSpPr/>
          <p:nvPr/>
        </p:nvCxnSpPr>
        <p:spPr>
          <a:xfrm>
            <a:off x="2354580" y="5417820"/>
            <a:ext cx="106680" cy="0"/>
          </a:xfrm>
          <a:prstGeom prst="line">
            <a:avLst/>
          </a:prstGeom>
          <a:ln w="16764">
            <a:solidFill>
              <a:srgbClr val="6D28D9"/>
            </a:solidFill>
            <a:tailEnd type="triangle" w="med" len="med"/>
          </a:ln>
        </p:spPr>
      </p:cxnSp>
      <p:sp>
        <p:nvSpPr>
          <p:cNvPr id="57" name="Paso 2"/>
          <p:cNvSpPr/>
          <p:nvPr/>
        </p:nvSpPr>
        <p:spPr>
          <a:xfrm>
            <a:off x="248412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02</a:t>
            </a:r>
          </a:p>
          <a:p>
            <a:pPr algn="l">
              <a:spcBef>
                <a:spcPts val="240"/>
              </a:spcBef>
            </a:pPr>
            <a:r>
              <a:rPr sz="1739" b="1" lang="es-CO">
                <a:solidFill>
                  <a:srgbClr val="071329"/>
                </a:solidFill>
                <a:latin typeface="Calibri"/>
              </a:rPr>
              <a:t>Optimizar</a:t>
            </a:r>
          </a:p>
          <a:p>
            <a:pPr algn="l">
              <a:spcBef>
                <a:spcPts val="179"/>
              </a:spcBef>
            </a:pPr>
            <a:r>
              <a:rPr sz="1080" b="0" lang="es-CO">
                <a:solidFill>
                  <a:srgbClr val="475569"/>
                </a:solidFill>
                <a:latin typeface="Calibri"/>
              </a:rPr>
              <a:t>INT8 por chip</a:t>
            </a:r>
          </a:p>
        </p:txBody>
      </p:sp>
      <p:cxnSp>
        <p:nvCxnSpPr>
          <p:cNvPr id="58" name="Connector 57"/>
          <p:cNvCxnSpPr/>
          <p:nvPr/>
        </p:nvCxnSpPr>
        <p:spPr>
          <a:xfrm>
            <a:off x="4198620" y="5417820"/>
            <a:ext cx="106680" cy="0"/>
          </a:xfrm>
          <a:prstGeom prst="line">
            <a:avLst/>
          </a:prstGeom>
          <a:ln w="16764">
            <a:solidFill>
              <a:srgbClr val="6D28D9"/>
            </a:solidFill>
            <a:tailEnd type="triangle" w="med" len="med"/>
          </a:ln>
        </p:spPr>
      </p:cxnSp>
      <p:sp>
        <p:nvSpPr>
          <p:cNvPr id="59" name="Paso 3"/>
          <p:cNvSpPr/>
          <p:nvPr/>
        </p:nvSpPr>
        <p:spPr>
          <a:xfrm>
            <a:off x="432816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03</a:t>
            </a:r>
          </a:p>
          <a:p>
            <a:pPr algn="l">
              <a:spcBef>
                <a:spcPts val="240"/>
              </a:spcBef>
            </a:pPr>
            <a:r>
              <a:rPr sz="1739" b="1" lang="es-CO">
                <a:solidFill>
                  <a:srgbClr val="071329"/>
                </a:solidFill>
                <a:latin typeface="Calibri"/>
              </a:rPr>
              <a:t>Empaquetar</a:t>
            </a:r>
          </a:p>
          <a:p>
            <a:pPr algn="l">
              <a:spcBef>
                <a:spcPts val="179"/>
              </a:spcBef>
            </a:pPr>
            <a:r>
              <a:rPr sz="1080" b="0" lang="es-CO">
                <a:solidFill>
                  <a:srgbClr val="475569"/>
                </a:solidFill>
                <a:latin typeface="Calibri"/>
              </a:rPr>
              <a:t>componente Greengrass</a:t>
            </a:r>
          </a:p>
        </p:txBody>
      </p:sp>
      <p:cxnSp>
        <p:nvCxnSpPr>
          <p:cNvPr id="60" name="Connector 59"/>
          <p:cNvCxnSpPr/>
          <p:nvPr/>
        </p:nvCxnSpPr>
        <p:spPr>
          <a:xfrm>
            <a:off x="6042660" y="5417820"/>
            <a:ext cx="106680" cy="0"/>
          </a:xfrm>
          <a:prstGeom prst="line">
            <a:avLst/>
          </a:prstGeom>
          <a:ln w="16764">
            <a:solidFill>
              <a:srgbClr val="6D28D9"/>
            </a:solidFill>
            <a:tailEnd type="triangle" w="med" len="med"/>
          </a:ln>
        </p:spPr>
      </p:cxnSp>
      <p:sp>
        <p:nvSpPr>
          <p:cNvPr id="61" name="Paso 4"/>
          <p:cNvSpPr/>
          <p:nvPr/>
        </p:nvSpPr>
        <p:spPr>
          <a:xfrm>
            <a:off x="617220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04</a:t>
            </a:r>
          </a:p>
          <a:p>
            <a:pPr algn="l">
              <a:spcBef>
                <a:spcPts val="240"/>
              </a:spcBef>
            </a:pPr>
            <a:r>
              <a:rPr sz="1739" b="1" lang="es-CO">
                <a:solidFill>
                  <a:srgbClr val="071329"/>
                </a:solidFill>
                <a:latin typeface="Calibri"/>
              </a:rPr>
              <a:t>Desplegar</a:t>
            </a:r>
          </a:p>
          <a:p>
            <a:pPr algn="l">
              <a:spcBef>
                <a:spcPts val="179"/>
              </a:spcBef>
            </a:pPr>
            <a:r>
              <a:rPr sz="1080" b="0" lang="es-CO">
                <a:solidFill>
                  <a:srgbClr val="475569"/>
                </a:solidFill>
                <a:latin typeface="Calibri"/>
              </a:rPr>
              <a:t>anillos · thing groups</a:t>
            </a:r>
          </a:p>
        </p:txBody>
      </p:sp>
      <p:cxnSp>
        <p:nvCxnSpPr>
          <p:cNvPr id="62" name="Connector 61"/>
          <p:cNvCxnSpPr/>
          <p:nvPr/>
        </p:nvCxnSpPr>
        <p:spPr>
          <a:xfrm>
            <a:off x="7886700" y="5417820"/>
            <a:ext cx="106680" cy="0"/>
          </a:xfrm>
          <a:prstGeom prst="line">
            <a:avLst/>
          </a:prstGeom>
          <a:ln w="16764">
            <a:solidFill>
              <a:srgbClr val="6D28D9"/>
            </a:solidFill>
            <a:tailEnd type="triangle" w="med" len="med"/>
          </a:ln>
        </p:spPr>
      </p:cxnSp>
      <p:sp>
        <p:nvSpPr>
          <p:cNvPr id="63" name="Paso 5"/>
          <p:cNvSpPr/>
          <p:nvPr/>
        </p:nvSpPr>
        <p:spPr>
          <a:xfrm>
            <a:off x="801624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05</a:t>
            </a:r>
          </a:p>
          <a:p>
            <a:pPr algn="l">
              <a:spcBef>
                <a:spcPts val="240"/>
              </a:spcBef>
            </a:pPr>
            <a:r>
              <a:rPr sz="1739" b="1" lang="es-CO">
                <a:solidFill>
                  <a:srgbClr val="071329"/>
                </a:solidFill>
                <a:latin typeface="Calibri"/>
              </a:rPr>
              <a:t>Operar sin red</a:t>
            </a:r>
          </a:p>
          <a:p>
            <a:pPr algn="l">
              <a:spcBef>
                <a:spcPts val="179"/>
              </a:spcBef>
            </a:pPr>
            <a:r>
              <a:rPr sz="1080" b="0" lang="es-CO">
                <a:solidFill>
                  <a:srgbClr val="475569"/>
                </a:solidFill>
                <a:latin typeface="Calibri"/>
              </a:rPr>
              <a:t>cola local</a:t>
            </a:r>
          </a:p>
        </p:txBody>
      </p:sp>
      <p:cxnSp>
        <p:nvCxnSpPr>
          <p:cNvPr id="64" name="Connector 63"/>
          <p:cNvCxnSpPr/>
          <p:nvPr/>
        </p:nvCxnSpPr>
        <p:spPr>
          <a:xfrm>
            <a:off x="9730740" y="5417820"/>
            <a:ext cx="106680" cy="0"/>
          </a:xfrm>
          <a:prstGeom prst="line">
            <a:avLst/>
          </a:prstGeom>
          <a:ln w="16764">
            <a:solidFill>
              <a:srgbClr val="6D28D9"/>
            </a:solidFill>
            <a:tailEnd type="triangle" w="med" len="med"/>
          </a:ln>
        </p:spPr>
      </p:cxnSp>
      <p:sp>
        <p:nvSpPr>
          <p:cNvPr id="65" name="Paso 6"/>
          <p:cNvSpPr/>
          <p:nvPr/>
        </p:nvSpPr>
        <p:spPr>
          <a:xfrm>
            <a:off x="986028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06</a:t>
            </a:r>
          </a:p>
          <a:p>
            <a:pPr algn="l">
              <a:spcBef>
                <a:spcPts val="240"/>
              </a:spcBef>
            </a:pPr>
            <a:r>
              <a:rPr sz="1739" b="1" lang="es-CO">
                <a:solidFill>
                  <a:srgbClr val="071329"/>
                </a:solidFill>
                <a:latin typeface="Calibri"/>
              </a:rPr>
              <a:t>Monitorear</a:t>
            </a:r>
          </a:p>
          <a:p>
            <a:pPr algn="l">
              <a:spcBef>
                <a:spcPts val="179"/>
              </a:spcBef>
            </a:pPr>
            <a:r>
              <a:rPr sz="1080" b="0" lang="es-CO">
                <a:solidFill>
                  <a:srgbClr val="475569"/>
                </a:solidFill>
                <a:latin typeface="Calibri"/>
              </a:rPr>
              <a:t>IoT Core · CloudWatch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entrenar_00_base.png"/>
          <p:cNvPicPr>
            <a:picLocks noChangeAspect="1"/>
          </p:cNvPicPr>
          <p:nvPr/>
        </p:nvPicPr>
        <p:blipFill>
          <a:blip r:embed="rId2"/>
          <a:stretch>
            <a:fillRect/>
          </a:stretch>
        </p:blipFill>
        <p:spPr>
          <a:xfrm>
            <a:off x="708660" y="1882140"/>
            <a:ext cx="2941320" cy="1691640"/>
          </a:xfrm>
          <a:prstGeom prst="rect">
            <a:avLst/>
          </a:prstGeom>
        </p:spPr>
      </p:pic>
      <p:pic>
        <p:nvPicPr>
          <p:cNvPr id="55" name="Capa on1" descr="iso_entrenar_01_on1.png"/>
          <p:cNvPicPr>
            <a:picLocks noChangeAspect="1"/>
          </p:cNvPicPr>
          <p:nvPr/>
        </p:nvPicPr>
        <p:blipFill>
          <a:blip r:embed="rId3"/>
          <a:stretch>
            <a:fillRect/>
          </a:stretch>
        </p:blipFill>
        <p:spPr>
          <a:xfrm>
            <a:off x="3630930" y="1882140"/>
            <a:ext cx="4057650" cy="1691640"/>
          </a:xfrm>
          <a:prstGeom prst="rect">
            <a:avLst/>
          </a:prstGeom>
        </p:spPr>
      </p:pic>
      <p:pic>
        <p:nvPicPr>
          <p:cNvPr id="56" name="Capa on2" descr="iso_entrenar_02_on2.png"/>
          <p:cNvPicPr>
            <a:picLocks noChangeAspect="1"/>
          </p:cNvPicPr>
          <p:nvPr/>
        </p:nvPicPr>
        <p:blipFill>
          <a:blip r:embed="rId4"/>
          <a:stretch>
            <a:fillRect/>
          </a:stretch>
        </p:blipFill>
        <p:spPr>
          <a:xfrm>
            <a:off x="7669530" y="1882140"/>
            <a:ext cx="3813810" cy="1691640"/>
          </a:xfrm>
          <a:prstGeom prst="rect">
            <a:avLst/>
          </a:prstGeom>
        </p:spPr>
      </p:pic>
      <p:pic>
        <p:nvPicPr>
          <p:cNvPr id="57" name="Capa on3" descr="iso_entrenar_03_on3.png"/>
          <p:cNvPicPr>
            <a:picLocks noChangeAspect="1"/>
          </p:cNvPicPr>
          <p:nvPr/>
        </p:nvPicPr>
        <p:blipFill>
          <a:blip r:embed="rId5"/>
          <a:stretch>
            <a:fillRect/>
          </a:stretch>
        </p:blipFill>
        <p:spPr>
          <a:xfrm>
            <a:off x="708660" y="3787140"/>
            <a:ext cx="10774680" cy="160020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6D28D9"/>
          </a:solidFill>
          <a:ln w="11430">
            <a:solidFill>
              <a:srgbClr val="6D28D9"/>
            </a:solidFill>
            <a:round/>
          </a:ln>
        </p:spPr>
        <p:txBody>
          <a:bodyPr rtlCol="0" anchor="ctr" wrap="none" lIns="137160" tIns="0" rIns="30480" bIns="0">
            <a:noAutofit/>
          </a:bodyPr>
          <a:lstStyle/>
          <a:p>
            <a:pPr algn="l"/>
            <a:r>
              <a:rPr sz="1140" b="1" lang="es-CO">
                <a:solidFill>
                  <a:srgbClr val="FFFFFF"/>
                </a:solidFill>
                <a:latin typeface="Courier New"/>
              </a:rPr>
              <a:t>1</a:t>
            </a:r>
            <a:r>
              <a:rPr sz="1140" b="0" lang="es-CO">
                <a:solidFill>
                  <a:srgbClr val="071329"/>
                </a:solidFill>
                <a:latin typeface="Courier New"/>
              </a:rPr>
              <a:t> </a:t>
            </a:r>
            <a:r>
              <a:rPr sz="1140" b="1" lang="es-CO">
                <a:solidFill>
                  <a:srgbClr val="FFFFFF"/>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5C7290"/>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5C7290"/>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5C7290"/>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5C7290"/>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1 ·</a:t>
            </a:r>
            <a:r>
              <a:rPr lang="es-CO"/>
              <a:t> Entrenar </a:t>
            </a:r>
            <a:r>
              <a:rPr b="1" lang="es-CO">
                <a:solidFill>
                  <a:srgbClr val="6D28D9"/>
                </a:solidFill>
              </a:rPr>
              <a:t>con sonido normal</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p:cTn id="12" dur="400"/>
                                        <p:tgtEl>
                                          <p:spTgt spid="5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7"/>
                                        </p:tgtEl>
                                        <p:attrNameLst>
                                          <p:attrName>style.visibility</p:attrName>
                                        </p:attrNameLst>
                                      </p:cBhvr>
                                      <p:to>
                                        <p:strVal val="visible"/>
                                      </p:to>
                                    </p:set>
                                    <p:animEffect transition="in" filter="fade">
                                      <p:cBhvr>
                                        <p:cTn id="17" dur="4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optimizar_00_base.png"/>
          <p:cNvPicPr>
            <a:picLocks noChangeAspect="1"/>
          </p:cNvPicPr>
          <p:nvPr/>
        </p:nvPicPr>
        <p:blipFill>
          <a:blip r:embed="rId2"/>
          <a:stretch>
            <a:fillRect/>
          </a:stretch>
        </p:blipFill>
        <p:spPr>
          <a:xfrm>
            <a:off x="708660" y="1927860"/>
            <a:ext cx="2331720" cy="2346960"/>
          </a:xfrm>
          <a:prstGeom prst="rect">
            <a:avLst/>
          </a:prstGeom>
        </p:spPr>
      </p:pic>
      <p:pic>
        <p:nvPicPr>
          <p:cNvPr id="55" name="Capa on1" descr="iso_optimizar_01_on1.png"/>
          <p:cNvPicPr>
            <a:picLocks noChangeAspect="1"/>
          </p:cNvPicPr>
          <p:nvPr/>
        </p:nvPicPr>
        <p:blipFill>
          <a:blip r:embed="rId3"/>
          <a:stretch>
            <a:fillRect/>
          </a:stretch>
        </p:blipFill>
        <p:spPr>
          <a:xfrm>
            <a:off x="3021330" y="1927860"/>
            <a:ext cx="3036570" cy="2346960"/>
          </a:xfrm>
          <a:prstGeom prst="rect">
            <a:avLst/>
          </a:prstGeom>
        </p:spPr>
      </p:pic>
      <p:pic>
        <p:nvPicPr>
          <p:cNvPr id="56" name="Capa on2" descr="iso_optimizar_02_on2.png"/>
          <p:cNvPicPr>
            <a:picLocks noChangeAspect="1"/>
          </p:cNvPicPr>
          <p:nvPr/>
        </p:nvPicPr>
        <p:blipFill>
          <a:blip r:embed="rId4"/>
          <a:stretch>
            <a:fillRect/>
          </a:stretch>
        </p:blipFill>
        <p:spPr>
          <a:xfrm>
            <a:off x="6042660" y="1927860"/>
            <a:ext cx="5440680" cy="2346960"/>
          </a:xfrm>
          <a:prstGeom prst="rect">
            <a:avLst/>
          </a:prstGeom>
        </p:spPr>
      </p:pic>
      <p:pic>
        <p:nvPicPr>
          <p:cNvPr id="57" name="Capa on3" descr="iso_optimizar_03_on3.png"/>
          <p:cNvPicPr>
            <a:picLocks noChangeAspect="1"/>
          </p:cNvPicPr>
          <p:nvPr/>
        </p:nvPicPr>
        <p:blipFill>
          <a:blip r:embed="rId5"/>
          <a:stretch>
            <a:fillRect/>
          </a:stretch>
        </p:blipFill>
        <p:spPr>
          <a:xfrm>
            <a:off x="708660" y="4442460"/>
            <a:ext cx="10774680" cy="92964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2</a:t>
            </a:r>
            <a:r>
              <a:rPr sz="1140" b="0" lang="es-CO">
                <a:solidFill>
                  <a:srgbClr val="071329"/>
                </a:solidFill>
                <a:latin typeface="Courier New"/>
              </a:rPr>
              <a:t> </a:t>
            </a:r>
            <a:r>
              <a:rPr sz="1140" b="1" lang="es-CO">
                <a:solidFill>
                  <a:srgbClr val="FFFFFF"/>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5C7290"/>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5C7290"/>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5C7290"/>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2 ·</a:t>
            </a:r>
            <a:r>
              <a:rPr lang="es-CO"/>
              <a:t> Optimizar </a:t>
            </a:r>
            <a:r>
              <a:rPr b="1" lang="es-CO">
                <a:solidFill>
                  <a:srgbClr val="6D28D9"/>
                </a:solidFill>
              </a:rPr>
              <a:t>para cada chip</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p:cTn id="12" dur="400"/>
                                        <p:tgtEl>
                                          <p:spTgt spid="5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7"/>
                                        </p:tgtEl>
                                        <p:attrNameLst>
                                          <p:attrName>style.visibility</p:attrName>
                                        </p:attrNameLst>
                                      </p:cBhvr>
                                      <p:to>
                                        <p:strVal val="visible"/>
                                      </p:to>
                                    </p:set>
                                    <p:animEffect transition="in" filter="fade">
                                      <p:cBhvr>
                                        <p:cTn id="17" dur="4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receta_00_base.png"/>
          <p:cNvPicPr>
            <a:picLocks noChangeAspect="1"/>
          </p:cNvPicPr>
          <p:nvPr/>
        </p:nvPicPr>
        <p:blipFill>
          <a:blip r:embed="rId2"/>
          <a:stretch>
            <a:fillRect/>
          </a:stretch>
        </p:blipFill>
        <p:spPr>
          <a:xfrm>
            <a:off x="708660" y="1775460"/>
            <a:ext cx="10774680" cy="3032760"/>
          </a:xfrm>
          <a:prstGeom prst="rect">
            <a:avLst/>
          </a:prstGeom>
        </p:spPr>
      </p:pic>
      <p:pic>
        <p:nvPicPr>
          <p:cNvPr id="55" name="Capa on1" descr="iso_receta_01_on1.png"/>
          <p:cNvPicPr>
            <a:picLocks noChangeAspect="1"/>
          </p:cNvPicPr>
          <p:nvPr/>
        </p:nvPicPr>
        <p:blipFill>
          <a:blip r:embed="rId3"/>
          <a:stretch>
            <a:fillRect/>
          </a:stretch>
        </p:blipFill>
        <p:spPr>
          <a:xfrm>
            <a:off x="723900" y="3737610"/>
            <a:ext cx="10660380" cy="1573530"/>
          </a:xfrm>
          <a:prstGeom prst="rect">
            <a:avLst/>
          </a:prstGeom>
        </p:spPr>
      </p:pic>
      <p:pic>
        <p:nvPicPr>
          <p:cNvPr id="56" name="Capa on2" descr="iso_receta_02_on2.png"/>
          <p:cNvPicPr>
            <a:picLocks noChangeAspect="1"/>
          </p:cNvPicPr>
          <p:nvPr/>
        </p:nvPicPr>
        <p:blipFill>
          <a:blip r:embed="rId4"/>
          <a:stretch>
            <a:fillRect/>
          </a:stretch>
        </p:blipFill>
        <p:spPr>
          <a:xfrm>
            <a:off x="3406140" y="2754630"/>
            <a:ext cx="7978140" cy="2556510"/>
          </a:xfrm>
          <a:prstGeom prst="rect">
            <a:avLst/>
          </a:prstGeom>
        </p:spPr>
      </p:pic>
      <p:pic>
        <p:nvPicPr>
          <p:cNvPr id="57" name="Capa on3" descr="iso_receta_03_on3.png"/>
          <p:cNvPicPr>
            <a:picLocks noChangeAspect="1"/>
          </p:cNvPicPr>
          <p:nvPr/>
        </p:nvPicPr>
        <p:blipFill>
          <a:blip r:embed="rId5"/>
          <a:stretch>
            <a:fillRect/>
          </a:stretch>
        </p:blipFill>
        <p:spPr>
          <a:xfrm>
            <a:off x="807720" y="2918460"/>
            <a:ext cx="7498080" cy="2392680"/>
          </a:xfrm>
          <a:prstGeom prst="rect">
            <a:avLst/>
          </a:prstGeom>
        </p:spPr>
      </p:pic>
      <p:pic>
        <p:nvPicPr>
          <p:cNvPr id="58" name="Capa on4" descr="iso_receta_04_on4.png"/>
          <p:cNvPicPr>
            <a:picLocks noChangeAspect="1"/>
          </p:cNvPicPr>
          <p:nvPr/>
        </p:nvPicPr>
        <p:blipFill>
          <a:blip r:embed="rId6"/>
          <a:stretch>
            <a:fillRect/>
          </a:stretch>
        </p:blipFill>
        <p:spPr>
          <a:xfrm>
            <a:off x="807720" y="3409950"/>
            <a:ext cx="10187940" cy="1901190"/>
          </a:xfrm>
          <a:prstGeom prst="rect">
            <a:avLst/>
          </a:prstGeom>
        </p:spPr>
      </p:pic>
      <p:pic>
        <p:nvPicPr>
          <p:cNvPr id="59" name="Capa base" descr="iso_receta_05_base.png"/>
          <p:cNvPicPr>
            <a:picLocks noChangeAspect="1"/>
          </p:cNvPicPr>
          <p:nvPr/>
        </p:nvPicPr>
        <p:blipFill>
          <a:blip r:embed="rId7"/>
          <a:stretch>
            <a:fillRect/>
          </a:stretch>
        </p:blipFill>
        <p:spPr>
          <a:xfrm>
            <a:off x="918210" y="2305050"/>
            <a:ext cx="9886950" cy="227838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071329"/>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3</a:t>
            </a:r>
            <a:r>
              <a:rPr sz="1140" b="0" lang="es-CO">
                <a:solidFill>
                  <a:srgbClr val="071329"/>
                </a:solidFill>
                <a:latin typeface="Courier New"/>
              </a:rPr>
              <a:t> </a:t>
            </a:r>
            <a:r>
              <a:rPr sz="1140" b="1" lang="es-CO">
                <a:solidFill>
                  <a:srgbClr val="FFFFFF"/>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5C7290"/>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5C7290"/>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3 ·</a:t>
            </a:r>
            <a:r>
              <a:rPr lang="es-CO"/>
              <a:t> Empaquetar </a:t>
            </a:r>
            <a:r>
              <a:rPr b="1" lang="es-CO">
                <a:solidFill>
                  <a:srgbClr val="6D28D9"/>
                </a:solidFill>
              </a:rPr>
              <a:t>como componente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p:cTn id="12" dur="400"/>
                                        <p:tgtEl>
                                          <p:spTgt spid="5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7"/>
                                        </p:tgtEl>
                                        <p:attrNameLst>
                                          <p:attrName>style.visibility</p:attrName>
                                        </p:attrNameLst>
                                      </p:cBhvr>
                                      <p:to>
                                        <p:strVal val="visible"/>
                                      </p:to>
                                    </p:set>
                                    <p:animEffect transition="in" filter="fade">
                                      <p:cBhvr>
                                        <p:cTn id="17" dur="400"/>
                                        <p:tgtEl>
                                          <p:spTgt spid="5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58"/>
                                        </p:tgtEl>
                                        <p:attrNameLst>
                                          <p:attrName>style.visibility</p:attrName>
                                        </p:attrNameLst>
                                      </p:cBhvr>
                                      <p:to>
                                        <p:strVal val="visible"/>
                                      </p:to>
                                    </p:set>
                                    <p:animEffect transition="in" filter="fade">
                                      <p:cBhvr>
                                        <p:cTn id="22" dur="4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anillos_00_base.png"/>
          <p:cNvPicPr>
            <a:picLocks noChangeAspect="1"/>
          </p:cNvPicPr>
          <p:nvPr/>
        </p:nvPicPr>
        <p:blipFill>
          <a:blip r:embed="rId2"/>
          <a:stretch>
            <a:fillRect/>
          </a:stretch>
        </p:blipFill>
        <p:spPr>
          <a:xfrm>
            <a:off x="708660" y="1866900"/>
            <a:ext cx="3246120" cy="1600200"/>
          </a:xfrm>
          <a:prstGeom prst="rect">
            <a:avLst/>
          </a:prstGeom>
        </p:spPr>
      </p:pic>
      <p:pic>
        <p:nvPicPr>
          <p:cNvPr id="55" name="Capa on3" descr="iso_anillos_01_on3.png"/>
          <p:cNvPicPr>
            <a:picLocks noChangeAspect="1"/>
          </p:cNvPicPr>
          <p:nvPr/>
        </p:nvPicPr>
        <p:blipFill>
          <a:blip r:embed="rId3"/>
          <a:stretch>
            <a:fillRect/>
          </a:stretch>
        </p:blipFill>
        <p:spPr>
          <a:xfrm>
            <a:off x="1394460" y="2994660"/>
            <a:ext cx="1805940" cy="289560"/>
          </a:xfrm>
          <a:prstGeom prst="rect">
            <a:avLst/>
          </a:prstGeom>
        </p:spPr>
      </p:pic>
      <p:pic>
        <p:nvPicPr>
          <p:cNvPr id="56" name="Capa on1" descr="iso_anillos_02_on1.png"/>
          <p:cNvPicPr>
            <a:picLocks noChangeAspect="1"/>
          </p:cNvPicPr>
          <p:nvPr/>
        </p:nvPicPr>
        <p:blipFill>
          <a:blip r:embed="rId4"/>
          <a:stretch>
            <a:fillRect/>
          </a:stretch>
        </p:blipFill>
        <p:spPr>
          <a:xfrm>
            <a:off x="3909060" y="1866900"/>
            <a:ext cx="7574280" cy="1600200"/>
          </a:xfrm>
          <a:prstGeom prst="rect">
            <a:avLst/>
          </a:prstGeom>
        </p:spPr>
      </p:pic>
      <p:pic>
        <p:nvPicPr>
          <p:cNvPr id="57" name="Capa on2" descr="iso_anillos_03_on2.png"/>
          <p:cNvPicPr>
            <a:picLocks noChangeAspect="1"/>
          </p:cNvPicPr>
          <p:nvPr/>
        </p:nvPicPr>
        <p:blipFill>
          <a:blip r:embed="rId5"/>
          <a:stretch>
            <a:fillRect/>
          </a:stretch>
        </p:blipFill>
        <p:spPr>
          <a:xfrm>
            <a:off x="4579620" y="3695700"/>
            <a:ext cx="6903720" cy="1600200"/>
          </a:xfrm>
          <a:prstGeom prst="rect">
            <a:avLst/>
          </a:prstGeom>
        </p:spPr>
      </p:pic>
      <p:pic>
        <p:nvPicPr>
          <p:cNvPr id="58" name="Capa on3" descr="iso_anillos_04_on3.png"/>
          <p:cNvPicPr>
            <a:picLocks noChangeAspect="1"/>
          </p:cNvPicPr>
          <p:nvPr/>
        </p:nvPicPr>
        <p:blipFill>
          <a:blip r:embed="rId6"/>
          <a:stretch>
            <a:fillRect/>
          </a:stretch>
        </p:blipFill>
        <p:spPr>
          <a:xfrm>
            <a:off x="716280" y="2438400"/>
            <a:ext cx="3779520" cy="277749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071329"/>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071329"/>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4</a:t>
            </a:r>
            <a:r>
              <a:rPr sz="1140" b="0" lang="es-CO">
                <a:solidFill>
                  <a:srgbClr val="071329"/>
                </a:solidFill>
                <a:latin typeface="Courier New"/>
              </a:rPr>
              <a:t> </a:t>
            </a:r>
            <a:r>
              <a:rPr sz="1140" b="1" lang="es-CO">
                <a:solidFill>
                  <a:srgbClr val="FFFFFF"/>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5C7290"/>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4 ·</a:t>
            </a:r>
            <a:r>
              <a:rPr lang="es-CO"/>
              <a:t> Desplegar </a:t>
            </a:r>
            <a:r>
              <a:rPr b="1" lang="es-CO">
                <a:solidFill>
                  <a:srgbClr val="6D28D9"/>
                </a:solidFill>
              </a:rPr>
              <a:t>por anillos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6"/>
                                        </p:tgtEl>
                                        <p:attrNameLst>
                                          <p:attrName>style.visibility</p:attrName>
                                        </p:attrNameLst>
                                      </p:cBhvr>
                                      <p:to>
                                        <p:strVal val="visible"/>
                                      </p:to>
                                    </p:set>
                                    <p:animEffect transition="in" filter="fade">
                                      <p:cBhvr>
                                        <p:cTn id="7" dur="400"/>
                                        <p:tgtEl>
                                          <p:spTgt spid="5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7"/>
                                        </p:tgtEl>
                                        <p:attrNameLst>
                                          <p:attrName>style.visibility</p:attrName>
                                        </p:attrNameLst>
                                      </p:cBhvr>
                                      <p:to>
                                        <p:strVal val="visible"/>
                                      </p:to>
                                    </p:set>
                                    <p:animEffect transition="in" filter="fade">
                                      <p:cBhvr>
                                        <p:cTn id="12" dur="400"/>
                                        <p:tgtEl>
                                          <p:spTgt spid="5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5"/>
                                        </p:tgtEl>
                                        <p:attrNameLst>
                                          <p:attrName>style.visibility</p:attrName>
                                        </p:attrNameLst>
                                      </p:cBhvr>
                                      <p:to>
                                        <p:strVal val="visible"/>
                                      </p:to>
                                    </p:set>
                                    <p:animEffect transition="in" filter="fade">
                                      <p:cBhvr>
                                        <p:cTn id="17" dur="400"/>
                                        <p:tgtEl>
                                          <p:spTgt spid="5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58"/>
                                        </p:tgtEl>
                                        <p:attrNameLst>
                                          <p:attrName>style.visibility</p:attrName>
                                        </p:attrNameLst>
                                      </p:cBhvr>
                                      <p:to>
                                        <p:strVal val="visible"/>
                                      </p:to>
                                    </p:set>
                                    <p:animEffect transition="in" filter="fade">
                                      <p:cBhvr>
                                        <p:cTn id="20" dur="4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sinred_00_base.png"/>
          <p:cNvPicPr>
            <a:picLocks noChangeAspect="1"/>
          </p:cNvPicPr>
          <p:nvPr/>
        </p:nvPicPr>
        <p:blipFill>
          <a:blip r:embed="rId2"/>
          <a:stretch>
            <a:fillRect/>
          </a:stretch>
        </p:blipFill>
        <p:spPr>
          <a:xfrm>
            <a:off x="708660" y="1805940"/>
            <a:ext cx="5227320" cy="2987040"/>
          </a:xfrm>
          <a:prstGeom prst="rect">
            <a:avLst/>
          </a:prstGeom>
        </p:spPr>
      </p:pic>
      <p:pic>
        <p:nvPicPr>
          <p:cNvPr id="55" name="Capa on1" descr="iso_sinred_01_on1.png"/>
          <p:cNvPicPr>
            <a:picLocks noChangeAspect="1"/>
          </p:cNvPicPr>
          <p:nvPr/>
        </p:nvPicPr>
        <p:blipFill>
          <a:blip r:embed="rId3"/>
          <a:stretch>
            <a:fillRect/>
          </a:stretch>
        </p:blipFill>
        <p:spPr>
          <a:xfrm>
            <a:off x="6256020" y="1805940"/>
            <a:ext cx="5227320" cy="2987040"/>
          </a:xfrm>
          <a:prstGeom prst="rect">
            <a:avLst/>
          </a:prstGeom>
        </p:spPr>
      </p:pic>
      <p:pic>
        <p:nvPicPr>
          <p:cNvPr id="56" name="Capa on2" descr="iso_sinred_02_on2.png"/>
          <p:cNvPicPr>
            <a:picLocks noChangeAspect="1"/>
          </p:cNvPicPr>
          <p:nvPr/>
        </p:nvPicPr>
        <p:blipFill>
          <a:blip r:embed="rId4"/>
          <a:stretch>
            <a:fillRect/>
          </a:stretch>
        </p:blipFill>
        <p:spPr>
          <a:xfrm>
            <a:off x="708660" y="4869180"/>
            <a:ext cx="10774680" cy="50292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071329"/>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071329"/>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071329"/>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5</a:t>
            </a:r>
            <a:r>
              <a:rPr sz="1140" b="0" lang="es-CO">
                <a:solidFill>
                  <a:srgbClr val="071329"/>
                </a:solidFill>
                <a:latin typeface="Courier New"/>
              </a:rPr>
              <a:t> </a:t>
            </a:r>
            <a:r>
              <a:rPr sz="1140" b="1" lang="es-CO">
                <a:solidFill>
                  <a:srgbClr val="FFFFFF"/>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5 ·</a:t>
            </a:r>
            <a:r>
              <a:rPr lang="es-CO"/>
              <a:t> Operar </a:t>
            </a:r>
            <a:r>
              <a:rPr b="1" lang="es-CO">
                <a:solidFill>
                  <a:srgbClr val="6D28D9"/>
                </a:solidFill>
              </a:rPr>
              <a:t>sin red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p:cTn id="12"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monitoreo_00_base.png"/>
          <p:cNvPicPr>
            <a:picLocks noChangeAspect="1"/>
          </p:cNvPicPr>
          <p:nvPr/>
        </p:nvPicPr>
        <p:blipFill>
          <a:blip r:embed="rId2"/>
          <a:stretch>
            <a:fillRect/>
          </a:stretch>
        </p:blipFill>
        <p:spPr>
          <a:xfrm>
            <a:off x="754380" y="2011680"/>
            <a:ext cx="1108710" cy="1009650"/>
          </a:xfrm>
          <a:prstGeom prst="rect">
            <a:avLst/>
          </a:prstGeom>
        </p:spPr>
      </p:pic>
      <p:pic>
        <p:nvPicPr>
          <p:cNvPr id="55" name="Capa on1" descr="iso_monitoreo_01_on1.png"/>
          <p:cNvPicPr>
            <a:picLocks noChangeAspect="1"/>
          </p:cNvPicPr>
          <p:nvPr/>
        </p:nvPicPr>
        <p:blipFill>
          <a:blip r:embed="rId3"/>
          <a:stretch>
            <a:fillRect/>
          </a:stretch>
        </p:blipFill>
        <p:spPr>
          <a:xfrm>
            <a:off x="708660" y="2030730"/>
            <a:ext cx="5227320" cy="2686050"/>
          </a:xfrm>
          <a:prstGeom prst="rect">
            <a:avLst/>
          </a:prstGeom>
        </p:spPr>
      </p:pic>
      <p:pic>
        <p:nvPicPr>
          <p:cNvPr id="56" name="Capa on2" descr="iso_monitoreo_02_on2.png"/>
          <p:cNvPicPr>
            <a:picLocks noChangeAspect="1"/>
          </p:cNvPicPr>
          <p:nvPr/>
        </p:nvPicPr>
        <p:blipFill>
          <a:blip r:embed="rId4"/>
          <a:stretch>
            <a:fillRect/>
          </a:stretch>
        </p:blipFill>
        <p:spPr>
          <a:xfrm>
            <a:off x="3524250" y="2091690"/>
            <a:ext cx="2205990" cy="929640"/>
          </a:xfrm>
          <a:prstGeom prst="rect">
            <a:avLst/>
          </a:prstGeom>
        </p:spPr>
      </p:pic>
      <p:pic>
        <p:nvPicPr>
          <p:cNvPr id="57" name="Capa on3" descr="iso_monitoreo_03_on3.png"/>
          <p:cNvPicPr>
            <a:picLocks noChangeAspect="1"/>
          </p:cNvPicPr>
          <p:nvPr/>
        </p:nvPicPr>
        <p:blipFill>
          <a:blip r:embed="rId5"/>
          <a:stretch>
            <a:fillRect/>
          </a:stretch>
        </p:blipFill>
        <p:spPr>
          <a:xfrm>
            <a:off x="5414010" y="2011680"/>
            <a:ext cx="6069330" cy="2705100"/>
          </a:xfrm>
          <a:prstGeom prst="rect">
            <a:avLst/>
          </a:prstGeom>
        </p:spPr>
      </p:pic>
      <p:pic>
        <p:nvPicPr>
          <p:cNvPr id="58" name="Capa on4" descr="iso_monitoreo_04_on4.png"/>
          <p:cNvPicPr>
            <a:picLocks noChangeAspect="1"/>
          </p:cNvPicPr>
          <p:nvPr/>
        </p:nvPicPr>
        <p:blipFill>
          <a:blip r:embed="rId6"/>
          <a:stretch>
            <a:fillRect/>
          </a:stretch>
        </p:blipFill>
        <p:spPr>
          <a:xfrm>
            <a:off x="7303770" y="2030730"/>
            <a:ext cx="2396490" cy="975360"/>
          </a:xfrm>
          <a:prstGeom prst="rect">
            <a:avLst/>
          </a:prstGeom>
        </p:spPr>
      </p:pic>
      <p:pic>
        <p:nvPicPr>
          <p:cNvPr id="59" name="Capa on5" descr="iso_monitoreo_05_on5.png"/>
          <p:cNvPicPr>
            <a:picLocks noChangeAspect="1"/>
          </p:cNvPicPr>
          <p:nvPr/>
        </p:nvPicPr>
        <p:blipFill>
          <a:blip r:embed="rId7"/>
          <a:stretch>
            <a:fillRect/>
          </a:stretch>
        </p:blipFill>
        <p:spPr>
          <a:xfrm>
            <a:off x="708660" y="2011680"/>
            <a:ext cx="10774680" cy="336042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071329"/>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071329"/>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071329"/>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071329"/>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6</a:t>
            </a:r>
            <a:r>
              <a:rPr sz="1140" b="0" lang="es-CO">
                <a:solidFill>
                  <a:srgbClr val="071329"/>
                </a:solidFill>
                <a:latin typeface="Courier New"/>
              </a:rPr>
              <a:t> </a:t>
            </a:r>
            <a:r>
              <a:rPr sz="1140" b="1" lang="es-CO">
                <a:solidFill>
                  <a:srgbClr val="FFFFFF"/>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6 ·</a:t>
            </a:r>
            <a:r>
              <a:rPr lang="es-CO"/>
              <a:t> Monitorear </a:t>
            </a:r>
            <a:r>
              <a:rPr b="1" lang="es-CO">
                <a:solidFill>
                  <a:srgbClr val="6D28D9"/>
                </a:solidFill>
              </a:rPr>
              <a:t>lo que decide el modelo</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p:cTn id="12" dur="400"/>
                                        <p:tgtEl>
                                          <p:spTgt spid="5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7"/>
                                        </p:tgtEl>
                                        <p:attrNameLst>
                                          <p:attrName>style.visibility</p:attrName>
                                        </p:attrNameLst>
                                      </p:cBhvr>
                                      <p:to>
                                        <p:strVal val="visible"/>
                                      </p:to>
                                    </p:set>
                                    <p:animEffect transition="in" filter="fade">
                                      <p:cBhvr>
                                        <p:cTn id="17" dur="400"/>
                                        <p:tgtEl>
                                          <p:spTgt spid="5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58"/>
                                        </p:tgtEl>
                                        <p:attrNameLst>
                                          <p:attrName>style.visibility</p:attrName>
                                        </p:attrNameLst>
                                      </p:cBhvr>
                                      <p:to>
                                        <p:strVal val="visible"/>
                                      </p:to>
                                    </p:set>
                                    <p:animEffect transition="in" filter="fade">
                                      <p:cBhvr>
                                        <p:cTn id="22" dur="400"/>
                                        <p:tgtEl>
                                          <p:spTgt spid="5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9"/>
                                        </p:tgtEl>
                                        <p:attrNameLst>
                                          <p:attrName>style.visibility</p:attrName>
                                        </p:attrNameLst>
                                      </p:cBhvr>
                                      <p:to>
                                        <p:strVal val="visible"/>
                                      </p:to>
                                    </p:set>
                                    <p:animEffect transition="in" filter="fade">
                                      <p:cBhvr>
                                        <p:cTn id="27" dur="400"/>
                                        <p:tgtEl>
                                          <p:spTgt spid="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 MANO ALZADA · 2 DE 2</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Bloque"/>
          <p:cNvSpPr/>
          <p:nvPr/>
        </p:nvSpPr>
        <p:spPr>
          <a:xfrm>
            <a:off x="640080" y="1143000"/>
            <a:ext cx="10911840" cy="4267200"/>
          </a:xfrm>
          <a:prstGeom prst="rect">
            <a:avLst/>
          </a:prstGeom>
          <a:solidFill>
            <a:srgbClr val="F4F7FC"/>
          </a:solidFill>
          <a:ln w="11430">
            <a:solidFill>
              <a:srgbClr val="D5DEEA"/>
            </a:solidFill>
          </a:ln>
        </p:spPr>
        <p:txBody>
          <a:bodyPr rtlCol="0" anchor="ctr"/>
          <a:lstStyle/>
          <a:p>
            <a:pPr algn="ctr"/>
          </a:p>
        </p:txBody>
      </p:sp>
      <p:sp>
        <p:nvSpPr>
          <p:cNvPr id="55" name="Pregunta"/>
          <p:cNvSpPr txBox="1"/>
          <p:nvPr/>
        </p:nvSpPr>
        <p:spPr>
          <a:xfrm>
            <a:off x="1249680" y="2478176"/>
            <a:ext cx="9692640" cy="613562"/>
          </a:xfrm>
          <a:prstGeom prst="rect">
            <a:avLst/>
          </a:prstGeom>
          <a:noFill/>
        </p:spPr>
        <p:txBody>
          <a:bodyPr wrap="square" lIns="0" tIns="0" rIns="0" bIns="0" anchor="t">
            <a:noAutofit/>
          </a:bodyPr>
          <a:lstStyle/>
          <a:p>
            <a:r>
              <a:rPr sz="3960" b="1" lang="es-CO">
                <a:solidFill>
                  <a:srgbClr val="071329"/>
                </a:solidFill>
                <a:latin typeface="Calibri"/>
              </a:rPr>
              <a:t>¿Qué versión corre </a:t>
            </a:r>
            <a:r>
              <a:rPr sz="3960" b="1" lang="es-CO">
                <a:solidFill>
                  <a:srgbClr val="6D28D9"/>
                </a:solidFill>
                <a:latin typeface="Calibri"/>
              </a:rPr>
              <a:t>en cada equipo</a:t>
            </a:r>
            <a:r>
              <a:rPr sz="3960" b="1" lang="es-CO">
                <a:solidFill>
                  <a:srgbClr val="071329"/>
                </a:solidFill>
                <a:latin typeface="Calibri"/>
              </a:rPr>
              <a:t>?</a:t>
            </a:r>
          </a:p>
        </p:txBody>
      </p:sp>
      <p:sp>
        <p:nvSpPr>
          <p:cNvPr id="56" name="Frase"/>
          <p:cNvSpPr txBox="1"/>
          <p:nvPr/>
        </p:nvSpPr>
        <p:spPr>
          <a:xfrm>
            <a:off x="1249680" y="3295193"/>
            <a:ext cx="9692640" cy="327965"/>
          </a:xfrm>
          <a:prstGeom prst="rect">
            <a:avLst/>
          </a:prstGeom>
          <a:noFill/>
        </p:spPr>
        <p:txBody>
          <a:bodyPr wrap="square" lIns="0" tIns="0" rIns="0" bIns="0" anchor="t">
            <a:noAutofit/>
          </a:bodyPr>
          <a:lstStyle/>
          <a:p>
            <a:r>
              <a:rPr sz="1920" b="0" lang="es-CO">
                <a:solidFill>
                  <a:srgbClr val="475569"/>
                </a:solidFill>
                <a:latin typeface="Calibri"/>
              </a:rPr>
              <a:t>Levanten la mano… y bájenla si tuvieron que pensarlo.</a:t>
            </a:r>
          </a:p>
        </p:txBody>
      </p:sp>
      <p:sp>
        <p:nvSpPr>
          <p:cNvPr id="57" name="Fondo de la respuesta"/>
          <p:cNvSpPr/>
          <p:nvPr/>
        </p:nvSpPr>
        <p:spPr>
          <a:xfrm>
            <a:off x="914400" y="3200400"/>
            <a:ext cx="10363200" cy="1524000"/>
          </a:xfrm>
          <a:prstGeom prst="rect">
            <a:avLst/>
          </a:prstGeom>
          <a:solidFill>
            <a:srgbClr val="F4F7FC"/>
          </a:solidFill>
          <a:ln>
            <a:noFill/>
          </a:ln>
        </p:spPr>
        <p:txBody>
          <a:bodyPr rtlCol="0" anchor="ctr"/>
          <a:lstStyle/>
          <a:p>
            <a:pPr algn="ctr"/>
          </a:p>
        </p:txBody>
      </p:sp>
      <p:sp>
        <p:nvSpPr>
          <p:cNvPr id="58" name="TextBox 57"/>
          <p:cNvSpPr txBox="1"/>
          <p:nvPr/>
        </p:nvSpPr>
        <p:spPr>
          <a:xfrm>
            <a:off x="1249680" y="3291840"/>
            <a:ext cx="9692640" cy="223114"/>
          </a:xfrm>
          <a:prstGeom prst="rect">
            <a:avLst/>
          </a:prstGeom>
          <a:noFill/>
        </p:spPr>
        <p:txBody>
          <a:bodyPr wrap="square" lIns="0" tIns="0" rIns="0" bIns="0" anchor="t">
            <a:noAutofit/>
          </a:bodyPr>
          <a:lstStyle/>
          <a:p>
            <a:r>
              <a:rPr sz="1439" b="1" lang="es-CO">
                <a:solidFill>
                  <a:srgbClr val="6D28D9"/>
                </a:solidFill>
                <a:latin typeface="Calibri"/>
              </a:rPr>
              <a:t>La respuesta está en la nube: el estado del despliegue, por thing group</a:t>
            </a:r>
          </a:p>
        </p:txBody>
      </p:sp>
      <p:sp>
        <p:nvSpPr>
          <p:cNvPr id="59" name="TextBox 58"/>
          <p:cNvSpPr txBox="1"/>
          <p:nvPr/>
        </p:nvSpPr>
        <p:spPr>
          <a:xfrm>
            <a:off x="1249680" y="3621634"/>
            <a:ext cx="1905000" cy="121920"/>
          </a:xfrm>
          <a:prstGeom prst="rect">
            <a:avLst/>
          </a:prstGeom>
          <a:noFill/>
        </p:spPr>
        <p:txBody>
          <a:bodyPr wrap="square" lIns="0" tIns="0" rIns="0" bIns="0" anchor="t">
            <a:noAutofit/>
          </a:bodyPr>
          <a:lstStyle/>
          <a:p>
            <a:r>
              <a:rPr sz="840" b="1" spc="84" lang="es-CO">
                <a:solidFill>
                  <a:srgbClr val="5C7290"/>
                </a:solidFill>
                <a:latin typeface="Courier New"/>
              </a:rPr>
              <a:t>THING GROUP</a:t>
            </a:r>
          </a:p>
        </p:txBody>
      </p:sp>
      <p:sp>
        <p:nvSpPr>
          <p:cNvPr id="60" name="TextBox 59"/>
          <p:cNvSpPr txBox="1"/>
          <p:nvPr/>
        </p:nvSpPr>
        <p:spPr>
          <a:xfrm>
            <a:off x="3276600" y="3621634"/>
            <a:ext cx="2286000" cy="121920"/>
          </a:xfrm>
          <a:prstGeom prst="rect">
            <a:avLst/>
          </a:prstGeom>
          <a:noFill/>
        </p:spPr>
        <p:txBody>
          <a:bodyPr wrap="square" lIns="0" tIns="0" rIns="0" bIns="0" anchor="t">
            <a:noAutofit/>
          </a:bodyPr>
          <a:lstStyle/>
          <a:p>
            <a:r>
              <a:rPr sz="840" b="1" spc="84" lang="es-CO">
                <a:solidFill>
                  <a:srgbClr val="5C7290"/>
                </a:solidFill>
                <a:latin typeface="Courier New"/>
              </a:rPr>
              <a:t>EQUIPOS</a:t>
            </a:r>
          </a:p>
        </p:txBody>
      </p:sp>
      <p:sp>
        <p:nvSpPr>
          <p:cNvPr id="61" name="TextBox 60"/>
          <p:cNvSpPr txBox="1"/>
          <p:nvPr/>
        </p:nvSpPr>
        <p:spPr>
          <a:xfrm>
            <a:off x="5684520" y="3621634"/>
            <a:ext cx="3688080" cy="121920"/>
          </a:xfrm>
          <a:prstGeom prst="rect">
            <a:avLst/>
          </a:prstGeom>
          <a:noFill/>
        </p:spPr>
        <p:txBody>
          <a:bodyPr wrap="square" lIns="0" tIns="0" rIns="0" bIns="0" anchor="t">
            <a:noAutofit/>
          </a:bodyPr>
          <a:lstStyle/>
          <a:p>
            <a:r>
              <a:rPr sz="840" b="1" spc="84" lang="es-CO">
                <a:solidFill>
                  <a:srgbClr val="5C7290"/>
                </a:solidFill>
                <a:latin typeface="Courier New"/>
              </a:rPr>
              <a:t>COMPONENTE</a:t>
            </a:r>
          </a:p>
        </p:txBody>
      </p:sp>
      <p:sp>
        <p:nvSpPr>
          <p:cNvPr id="62" name="TextBox 61"/>
          <p:cNvSpPr txBox="1"/>
          <p:nvPr/>
        </p:nvSpPr>
        <p:spPr>
          <a:xfrm>
            <a:off x="9494520" y="3621634"/>
            <a:ext cx="1447800" cy="121920"/>
          </a:xfrm>
          <a:prstGeom prst="rect">
            <a:avLst/>
          </a:prstGeom>
          <a:noFill/>
        </p:spPr>
        <p:txBody>
          <a:bodyPr wrap="square" lIns="0" tIns="0" rIns="0" bIns="0" anchor="t">
            <a:noAutofit/>
          </a:bodyPr>
          <a:lstStyle/>
          <a:p>
            <a:r>
              <a:rPr sz="840" b="1" spc="84" lang="es-CO">
                <a:solidFill>
                  <a:srgbClr val="5C7290"/>
                </a:solidFill>
                <a:latin typeface="Courier New"/>
              </a:rPr>
              <a:t>ESTADO</a:t>
            </a:r>
          </a:p>
        </p:txBody>
      </p:sp>
      <p:cxnSp>
        <p:nvCxnSpPr>
          <p:cNvPr id="63" name="Connector 62"/>
          <p:cNvCxnSpPr/>
          <p:nvPr/>
        </p:nvCxnSpPr>
        <p:spPr>
          <a:xfrm>
            <a:off x="1249680" y="3803142"/>
            <a:ext cx="9692640" cy="0"/>
          </a:xfrm>
          <a:prstGeom prst="line">
            <a:avLst/>
          </a:prstGeom>
          <a:ln w="11430">
            <a:solidFill>
              <a:srgbClr val="D5DEEA"/>
            </a:solidFill>
          </a:ln>
        </p:spPr>
      </p:cxnSp>
      <p:sp>
        <p:nvSpPr>
          <p:cNvPr id="64" name="TextBox 63"/>
          <p:cNvSpPr txBox="1"/>
          <p:nvPr/>
        </p:nvSpPr>
        <p:spPr>
          <a:xfrm>
            <a:off x="1249680" y="3906012"/>
            <a:ext cx="1905000" cy="213360"/>
          </a:xfrm>
          <a:prstGeom prst="rect">
            <a:avLst/>
          </a:prstGeom>
          <a:noFill/>
        </p:spPr>
        <p:txBody>
          <a:bodyPr wrap="square" lIns="0" tIns="0" rIns="0" bIns="0" anchor="t">
            <a:noAutofit/>
          </a:bodyPr>
          <a:lstStyle/>
          <a:p>
            <a:r>
              <a:rPr sz="1439" b="0" lang="es-CO">
                <a:solidFill>
                  <a:srgbClr val="071329"/>
                </a:solidFill>
                <a:latin typeface="Courier New"/>
              </a:rPr>
              <a:t>StationRing0</a:t>
            </a:r>
          </a:p>
        </p:txBody>
      </p:sp>
      <p:sp>
        <p:nvSpPr>
          <p:cNvPr id="65" name="TextBox 64"/>
          <p:cNvSpPr txBox="1"/>
          <p:nvPr/>
        </p:nvSpPr>
        <p:spPr>
          <a:xfrm>
            <a:off x="3276600" y="3906012"/>
            <a:ext cx="2286000" cy="213360"/>
          </a:xfrm>
          <a:prstGeom prst="rect">
            <a:avLst/>
          </a:prstGeom>
          <a:noFill/>
        </p:spPr>
        <p:txBody>
          <a:bodyPr wrap="square" lIns="0" tIns="0" rIns="0" bIns="0" anchor="t">
            <a:noAutofit/>
          </a:bodyPr>
          <a:lstStyle/>
          <a:p>
            <a:r>
              <a:rPr sz="1439" b="0" lang="es-CO">
                <a:solidFill>
                  <a:srgbClr val="071329"/>
                </a:solidFill>
                <a:latin typeface="Courier New"/>
              </a:rPr>
              <a:t>pump-01</a:t>
            </a:r>
          </a:p>
        </p:txBody>
      </p:sp>
      <p:sp>
        <p:nvSpPr>
          <p:cNvPr id="66" name="TextBox 65"/>
          <p:cNvSpPr txBox="1"/>
          <p:nvPr/>
        </p:nvSpPr>
        <p:spPr>
          <a:xfrm>
            <a:off x="5684520" y="3906012"/>
            <a:ext cx="3688080" cy="213360"/>
          </a:xfrm>
          <a:prstGeom prst="rect">
            <a:avLst/>
          </a:prstGeom>
          <a:noFill/>
        </p:spPr>
        <p:txBody>
          <a:bodyPr wrap="square" lIns="0" tIns="0" rIns="0" bIns="0" anchor="t">
            <a:noAutofit/>
          </a:bodyPr>
          <a:lstStyle/>
          <a:p>
            <a:r>
              <a:rPr sz="1439" b="0" lang="es-CO">
                <a:solidFill>
                  <a:srgbClr val="071329"/>
                </a:solidFill>
                <a:latin typeface="Courier New"/>
              </a:rPr>
              <a:t>com.station.Listener 1.0.0</a:t>
            </a:r>
          </a:p>
        </p:txBody>
      </p:sp>
      <p:sp>
        <p:nvSpPr>
          <p:cNvPr id="67" name="TextBox 66"/>
          <p:cNvSpPr txBox="1"/>
          <p:nvPr/>
        </p:nvSpPr>
        <p:spPr>
          <a:xfrm>
            <a:off x="9494520" y="3906012"/>
            <a:ext cx="1447800" cy="213360"/>
          </a:xfrm>
          <a:prstGeom prst="rect">
            <a:avLst/>
          </a:prstGeom>
          <a:noFill/>
        </p:spPr>
        <p:txBody>
          <a:bodyPr wrap="square" lIns="0" tIns="0" rIns="0" bIns="0" anchor="t">
            <a:noAutofit/>
          </a:bodyPr>
          <a:lstStyle/>
          <a:p>
            <a:r>
              <a:rPr sz="1439" b="1" lang="es-CO">
                <a:solidFill>
                  <a:srgbClr val="6D28D9"/>
                </a:solidFill>
                <a:latin typeface="Courier New"/>
              </a:rPr>
              <a:t>ACTIVE</a:t>
            </a:r>
          </a:p>
        </p:txBody>
      </p:sp>
      <p:cxnSp>
        <p:nvCxnSpPr>
          <p:cNvPr id="68" name="Connector 67"/>
          <p:cNvCxnSpPr/>
          <p:nvPr/>
        </p:nvCxnSpPr>
        <p:spPr>
          <a:xfrm>
            <a:off x="1249680" y="4204106"/>
            <a:ext cx="9692640" cy="0"/>
          </a:xfrm>
          <a:prstGeom prst="line">
            <a:avLst/>
          </a:prstGeom>
          <a:ln w="11430">
            <a:solidFill>
              <a:srgbClr val="D5DEEA"/>
            </a:solidFill>
          </a:ln>
        </p:spPr>
      </p:cxnSp>
      <p:sp>
        <p:nvSpPr>
          <p:cNvPr id="69" name="TextBox 68"/>
          <p:cNvSpPr txBox="1"/>
          <p:nvPr/>
        </p:nvSpPr>
        <p:spPr>
          <a:xfrm>
            <a:off x="1249680" y="4306976"/>
            <a:ext cx="1905000" cy="213360"/>
          </a:xfrm>
          <a:prstGeom prst="rect">
            <a:avLst/>
          </a:prstGeom>
          <a:noFill/>
        </p:spPr>
        <p:txBody>
          <a:bodyPr wrap="square" lIns="0" tIns="0" rIns="0" bIns="0" anchor="t">
            <a:noAutofit/>
          </a:bodyPr>
          <a:lstStyle/>
          <a:p>
            <a:r>
              <a:rPr sz="1439" b="0" lang="es-CO">
                <a:solidFill>
                  <a:srgbClr val="071329"/>
                </a:solidFill>
                <a:latin typeface="Courier New"/>
              </a:rPr>
              <a:t>StationRing1</a:t>
            </a:r>
          </a:p>
        </p:txBody>
      </p:sp>
      <p:sp>
        <p:nvSpPr>
          <p:cNvPr id="70" name="TextBox 69"/>
          <p:cNvSpPr txBox="1"/>
          <p:nvPr/>
        </p:nvSpPr>
        <p:spPr>
          <a:xfrm>
            <a:off x="3276600" y="4306976"/>
            <a:ext cx="2286000" cy="213360"/>
          </a:xfrm>
          <a:prstGeom prst="rect">
            <a:avLst/>
          </a:prstGeom>
          <a:noFill/>
        </p:spPr>
        <p:txBody>
          <a:bodyPr wrap="square" lIns="0" tIns="0" rIns="0" bIns="0" anchor="t">
            <a:noAutofit/>
          </a:bodyPr>
          <a:lstStyle/>
          <a:p>
            <a:r>
              <a:rPr sz="1439" b="0" lang="es-CO">
                <a:solidFill>
                  <a:srgbClr val="071329"/>
                </a:solidFill>
                <a:latin typeface="Courier New"/>
              </a:rPr>
              <a:t>pump-02 a pump-05</a:t>
            </a:r>
          </a:p>
        </p:txBody>
      </p:sp>
      <p:sp>
        <p:nvSpPr>
          <p:cNvPr id="71" name="TextBox 70"/>
          <p:cNvSpPr txBox="1"/>
          <p:nvPr/>
        </p:nvSpPr>
        <p:spPr>
          <a:xfrm>
            <a:off x="5684520" y="4306976"/>
            <a:ext cx="3688080" cy="213360"/>
          </a:xfrm>
          <a:prstGeom prst="rect">
            <a:avLst/>
          </a:prstGeom>
          <a:noFill/>
        </p:spPr>
        <p:txBody>
          <a:bodyPr wrap="square" lIns="0" tIns="0" rIns="0" bIns="0" anchor="t">
            <a:noAutofit/>
          </a:bodyPr>
          <a:lstStyle/>
          <a:p>
            <a:r>
              <a:rPr sz="1439" b="0" lang="es-CO">
                <a:solidFill>
                  <a:srgbClr val="071329"/>
                </a:solidFill>
                <a:latin typeface="Courier New"/>
              </a:rPr>
              <a:t>com.station.Listener 1.0.0</a:t>
            </a:r>
          </a:p>
        </p:txBody>
      </p:sp>
      <p:sp>
        <p:nvSpPr>
          <p:cNvPr id="72" name="TextBox 71"/>
          <p:cNvSpPr txBox="1"/>
          <p:nvPr/>
        </p:nvSpPr>
        <p:spPr>
          <a:xfrm>
            <a:off x="9494520" y="4306976"/>
            <a:ext cx="1447800" cy="213360"/>
          </a:xfrm>
          <a:prstGeom prst="rect">
            <a:avLst/>
          </a:prstGeom>
          <a:noFill/>
        </p:spPr>
        <p:txBody>
          <a:bodyPr wrap="square" lIns="0" tIns="0" rIns="0" bIns="0" anchor="t">
            <a:noAutofit/>
          </a:bodyPr>
          <a:lstStyle/>
          <a:p>
            <a:r>
              <a:rPr sz="1439" b="1" lang="es-CO">
                <a:solidFill>
                  <a:srgbClr val="6D28D9"/>
                </a:solidFill>
                <a:latin typeface="Courier New"/>
              </a:rPr>
              <a:t>ACTIVE</a:t>
            </a:r>
          </a:p>
        </p:txBody>
      </p:sp>
      <p:sp>
        <p:nvSpPr>
          <p:cNvPr id="73" name="Barra"/>
          <p:cNvSpPr/>
          <p:nvPr/>
        </p:nvSpPr>
        <p:spPr>
          <a:xfrm>
            <a:off x="1249680" y="4770120"/>
            <a:ext cx="4267200" cy="45720"/>
          </a:xfrm>
          <a:prstGeom prst="rect">
            <a:avLst/>
          </a:prstGeom>
          <a:solidFill>
            <a:srgbClr val="D5DEEA"/>
          </a:solidFill>
          <a:ln>
            <a:noFill/>
          </a:ln>
        </p:spPr>
        <p:txBody>
          <a:bodyPr rtlCol="0" anchor="ctr"/>
          <a:lstStyle/>
          <a:p>
            <a:pPr algn="ctr"/>
          </a:p>
        </p:txBody>
      </p:sp>
      <p:sp>
        <p:nvSpPr>
          <p:cNvPr id="74" name="Barra 5 s"/>
          <p:cNvSpPr/>
          <p:nvPr/>
        </p:nvSpPr>
        <p:spPr>
          <a:xfrm>
            <a:off x="1249680" y="4770120"/>
            <a:ext cx="4267200" cy="45720"/>
          </a:xfrm>
          <a:prstGeom prst="rect">
            <a:avLst/>
          </a:prstGeom>
          <a:solidFill>
            <a:srgbClr val="6D28D9"/>
          </a:solidFill>
          <a:ln>
            <a:noFill/>
          </a:ln>
        </p:spPr>
        <p:txBody>
          <a:bodyPr rtlCol="0" anchor="ctr"/>
          <a:lstStyle/>
          <a:p>
            <a:pPr algn="ctr"/>
          </a:p>
        </p:txBody>
      </p:sp>
      <p:sp>
        <p:nvSpPr>
          <p:cNvPr id="75" name="TextBox 74"/>
          <p:cNvSpPr txBox="1"/>
          <p:nvPr/>
        </p:nvSpPr>
        <p:spPr>
          <a:xfrm>
            <a:off x="1249680" y="4953000"/>
            <a:ext cx="2286000" cy="182880"/>
          </a:xfrm>
          <a:prstGeom prst="rect">
            <a:avLst/>
          </a:prstGeom>
          <a:noFill/>
        </p:spPr>
        <p:txBody>
          <a:bodyPr wrap="square" lIns="0" tIns="0" rIns="0" bIns="0" anchor="t">
            <a:noAutofit/>
          </a:bodyPr>
          <a:lstStyle/>
          <a:p>
            <a:r>
              <a:rPr sz="960" b="0" lang="es-CO">
                <a:solidFill>
                  <a:srgbClr val="5C7290"/>
                </a:solidFill>
                <a:latin typeface="Courier New"/>
              </a:rPr>
              <a:t>5 segundos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800"/>
                                  </p:stCondLst>
                                  <p:childTnLst>
                                    <p:set>
                                      <p:cBhvr>
                                        <p:cTn id="6" dur="1" fill="hold">
                                          <p:stCondLst>
                                            <p:cond delay="0"/>
                                          </p:stCondLst>
                                        </p:cTn>
                                        <p:tgtEl>
                                          <p:spTgt spid="74"/>
                                        </p:tgtEl>
                                        <p:attrNameLst>
                                          <p:attrName>style.visibility</p:attrName>
                                        </p:attrNameLst>
                                      </p:cBhvr>
                                      <p:to>
                                        <p:strVal val="visible"/>
                                      </p:to>
                                    </p:set>
                                    <p:animEffect transition="in" filter="wipe(left)">
                                      <p:cBhvr>
                                        <p:cTn id="7" dur="5000"/>
                                        <p:tgtEl>
                                          <p:spTgt spid="7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xit" presetSubtype="0" fill="hold" grpId="1" nodeType="clickEffect">
                                  <p:stCondLst>
                                    <p:cond delay="0"/>
                                  </p:stCondLst>
                                  <p:childTnLst>
                                    <p:animEffect transition="out" filter="fade">
                                      <p:cBhvr>
                                        <p:cTn id="11" dur="400"/>
                                        <p:tgtEl>
                                          <p:spTgt spid="56"/>
                                        </p:tgtEl>
                                      </p:cBhvr>
                                    </p:animEffect>
                                    <p:set>
                                      <p:cBhvr>
                                        <p:cTn id="12" dur="1" fill="hold">
                                          <p:stCondLst>
                                            <p:cond delay="399"/>
                                          </p:stCondLst>
                                        </p:cTn>
                                        <p:tgtEl>
                                          <p:spTgt spid="56"/>
                                        </p:tgtEl>
                                        <p:attrNameLst>
                                          <p:attrName>style.visibility</p:attrName>
                                        </p:attrNameLst>
                                      </p:cBhvr>
                                      <p:to>
                                        <p:strVal val="hidden"/>
                                      </p:to>
                                    </p:set>
                                  </p:childTnLst>
                                </p:cTn>
                              </p:par>
                              <p:par>
                                <p:cTn id="13" presetID="10" presetClass="entr" presetSubtype="0" fill="hold" grpId="0" nodeType="withEffect">
                                  <p:stCondLst>
                                    <p:cond delay="0"/>
                                  </p:stCondLst>
                                  <p:childTnLst>
                                    <p:set>
                                      <p:cBhvr>
                                        <p:cTn id="14" dur="1" fill="hold">
                                          <p:stCondLst>
                                            <p:cond delay="0"/>
                                          </p:stCondLst>
                                        </p:cTn>
                                        <p:tgtEl>
                                          <p:spTgt spid="57"/>
                                        </p:tgtEl>
                                        <p:attrNameLst>
                                          <p:attrName>style.visibility</p:attrName>
                                        </p:attrNameLst>
                                      </p:cBhvr>
                                      <p:to>
                                        <p:strVal val="visible"/>
                                      </p:to>
                                    </p:set>
                                    <p:animEffect transition="in" filter="fade">
                                      <p:cBhvr>
                                        <p:cTn id="15" dur="400"/>
                                        <p:tgtEl>
                                          <p:spTgt spid="5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58"/>
                                        </p:tgtEl>
                                        <p:attrNameLst>
                                          <p:attrName>style.visibility</p:attrName>
                                        </p:attrNameLst>
                                      </p:cBhvr>
                                      <p:to>
                                        <p:strVal val="visible"/>
                                      </p:to>
                                    </p:set>
                                    <p:animEffect transition="in" filter="fade">
                                      <p:cBhvr>
                                        <p:cTn id="18" dur="400"/>
                                        <p:tgtEl>
                                          <p:spTgt spid="5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59"/>
                                        </p:tgtEl>
                                        <p:attrNameLst>
                                          <p:attrName>style.visibility</p:attrName>
                                        </p:attrNameLst>
                                      </p:cBhvr>
                                      <p:to>
                                        <p:strVal val="visible"/>
                                      </p:to>
                                    </p:set>
                                    <p:animEffect transition="in" filter="fade">
                                      <p:cBhvr>
                                        <p:cTn id="21" dur="400"/>
                                        <p:tgtEl>
                                          <p:spTgt spid="5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60"/>
                                        </p:tgtEl>
                                        <p:attrNameLst>
                                          <p:attrName>style.visibility</p:attrName>
                                        </p:attrNameLst>
                                      </p:cBhvr>
                                      <p:to>
                                        <p:strVal val="visible"/>
                                      </p:to>
                                    </p:set>
                                    <p:animEffect transition="in" filter="fade">
                                      <p:cBhvr>
                                        <p:cTn id="24" dur="400"/>
                                        <p:tgtEl>
                                          <p:spTgt spid="6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61"/>
                                        </p:tgtEl>
                                        <p:attrNameLst>
                                          <p:attrName>style.visibility</p:attrName>
                                        </p:attrNameLst>
                                      </p:cBhvr>
                                      <p:to>
                                        <p:strVal val="visible"/>
                                      </p:to>
                                    </p:set>
                                    <p:animEffect transition="in" filter="fade">
                                      <p:cBhvr>
                                        <p:cTn id="27" dur="400"/>
                                        <p:tgtEl>
                                          <p:spTgt spid="6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62"/>
                                        </p:tgtEl>
                                        <p:attrNameLst>
                                          <p:attrName>style.visibility</p:attrName>
                                        </p:attrNameLst>
                                      </p:cBhvr>
                                      <p:to>
                                        <p:strVal val="visible"/>
                                      </p:to>
                                    </p:set>
                                    <p:animEffect transition="in" filter="fade">
                                      <p:cBhvr>
                                        <p:cTn id="30" dur="400"/>
                                        <p:tgtEl>
                                          <p:spTgt spid="6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63"/>
                                        </p:tgtEl>
                                        <p:attrNameLst>
                                          <p:attrName>style.visibility</p:attrName>
                                        </p:attrNameLst>
                                      </p:cBhvr>
                                      <p:to>
                                        <p:strVal val="visible"/>
                                      </p:to>
                                    </p:set>
                                    <p:animEffect transition="in" filter="fade">
                                      <p:cBhvr>
                                        <p:cTn id="33" dur="400"/>
                                        <p:tgtEl>
                                          <p:spTgt spid="6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64"/>
                                        </p:tgtEl>
                                        <p:attrNameLst>
                                          <p:attrName>style.visibility</p:attrName>
                                        </p:attrNameLst>
                                      </p:cBhvr>
                                      <p:to>
                                        <p:strVal val="visible"/>
                                      </p:to>
                                    </p:set>
                                    <p:animEffect transition="in" filter="fade">
                                      <p:cBhvr>
                                        <p:cTn id="36" dur="400"/>
                                        <p:tgtEl>
                                          <p:spTgt spid="64"/>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65"/>
                                        </p:tgtEl>
                                        <p:attrNameLst>
                                          <p:attrName>style.visibility</p:attrName>
                                        </p:attrNameLst>
                                      </p:cBhvr>
                                      <p:to>
                                        <p:strVal val="visible"/>
                                      </p:to>
                                    </p:set>
                                    <p:animEffect transition="in" filter="fade">
                                      <p:cBhvr>
                                        <p:cTn id="39" dur="400"/>
                                        <p:tgtEl>
                                          <p:spTgt spid="65"/>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66"/>
                                        </p:tgtEl>
                                        <p:attrNameLst>
                                          <p:attrName>style.visibility</p:attrName>
                                        </p:attrNameLst>
                                      </p:cBhvr>
                                      <p:to>
                                        <p:strVal val="visible"/>
                                      </p:to>
                                    </p:set>
                                    <p:animEffect transition="in" filter="fade">
                                      <p:cBhvr>
                                        <p:cTn id="42" dur="400"/>
                                        <p:tgtEl>
                                          <p:spTgt spid="66"/>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67"/>
                                        </p:tgtEl>
                                        <p:attrNameLst>
                                          <p:attrName>style.visibility</p:attrName>
                                        </p:attrNameLst>
                                      </p:cBhvr>
                                      <p:to>
                                        <p:strVal val="visible"/>
                                      </p:to>
                                    </p:set>
                                    <p:animEffect transition="in" filter="fade">
                                      <p:cBhvr>
                                        <p:cTn id="45" dur="400"/>
                                        <p:tgtEl>
                                          <p:spTgt spid="67"/>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68"/>
                                        </p:tgtEl>
                                        <p:attrNameLst>
                                          <p:attrName>style.visibility</p:attrName>
                                        </p:attrNameLst>
                                      </p:cBhvr>
                                      <p:to>
                                        <p:strVal val="visible"/>
                                      </p:to>
                                    </p:set>
                                    <p:animEffect transition="in" filter="fade">
                                      <p:cBhvr>
                                        <p:cTn id="48" dur="400"/>
                                        <p:tgtEl>
                                          <p:spTgt spid="68"/>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69"/>
                                        </p:tgtEl>
                                        <p:attrNameLst>
                                          <p:attrName>style.visibility</p:attrName>
                                        </p:attrNameLst>
                                      </p:cBhvr>
                                      <p:to>
                                        <p:strVal val="visible"/>
                                      </p:to>
                                    </p:set>
                                    <p:animEffect transition="in" filter="fade">
                                      <p:cBhvr>
                                        <p:cTn id="51" dur="400"/>
                                        <p:tgtEl>
                                          <p:spTgt spid="69"/>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70"/>
                                        </p:tgtEl>
                                        <p:attrNameLst>
                                          <p:attrName>style.visibility</p:attrName>
                                        </p:attrNameLst>
                                      </p:cBhvr>
                                      <p:to>
                                        <p:strVal val="visible"/>
                                      </p:to>
                                    </p:set>
                                    <p:animEffect transition="in" filter="fade">
                                      <p:cBhvr>
                                        <p:cTn id="54" dur="400"/>
                                        <p:tgtEl>
                                          <p:spTgt spid="70"/>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71"/>
                                        </p:tgtEl>
                                        <p:attrNameLst>
                                          <p:attrName>style.visibility</p:attrName>
                                        </p:attrNameLst>
                                      </p:cBhvr>
                                      <p:to>
                                        <p:strVal val="visible"/>
                                      </p:to>
                                    </p:set>
                                    <p:animEffect transition="in" filter="fade">
                                      <p:cBhvr>
                                        <p:cTn id="57" dur="400"/>
                                        <p:tgtEl>
                                          <p:spTgt spid="71"/>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72"/>
                                        </p:tgtEl>
                                        <p:attrNameLst>
                                          <p:attrName>style.visibility</p:attrName>
                                        </p:attrNameLst>
                                      </p:cBhvr>
                                      <p:to>
                                        <p:strVal val="visible"/>
                                      </p:to>
                                    </p:set>
                                    <p:animEffect transition="in" filter="fade">
                                      <p:cBhvr>
                                        <p:cTn id="60" dur="400"/>
                                        <p:tgtEl>
                                          <p:spTgt spid="7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4" grpId="0"/>
      <p:bldP spid="56" grpId="1"/>
      <p:bldP spid="57" grpId="0"/>
      <p:bldP spid="58" grpId="0"/>
      <p:bldP spid="59" grpId="0"/>
      <p:bldP spid="60" grpId="0"/>
      <p:bldP spid="61" grpId="0"/>
      <p:bldP spid="62" grpId="0"/>
      <p:bldP spid="63" grpId="0" animBg="1"/>
      <p:bldP spid="64" grpId="0"/>
      <p:bldP spid="65" grpId="0"/>
      <p:bldP spid="66" grpId="0"/>
      <p:bldP spid="67" grpId="0"/>
      <p:bldP spid="68" grpId="0" animBg="1"/>
      <p:bldP spid="69" grpId="0"/>
      <p:bldP spid="70" grpId="0"/>
      <p:bldP spid="71" grpId="0"/>
      <p:bldP spid="72" grpId="0"/>
    </p:bld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04</a:t>
            </a:r>
          </a:p>
        </p:txBody>
      </p:sp>
      <p:sp>
        <p:nvSpPr>
          <p:cNvPr id="3" name="Title 2"/>
          <p:cNvSpPr>
            <a:spLocks noGrp="1"/>
          </p:cNvSpPr>
          <p:nvPr>
            <p:ph type="title" idx="107"/>
          </p:nvPr>
        </p:nvSpPr>
        <p:spPr/>
        <p:txBody>
          <a:bodyPr lIns="0"/>
          <a:lstStyle/>
          <a:p>
            <a:r>
              <a:rPr lang="es-CO"/>
              <a:t>Demostración</a:t>
            </a:r>
          </a:p>
        </p:txBody>
      </p:sp>
      <p:sp>
        <p:nvSpPr>
          <p:cNvPr id="4" name="Text Placeholder 3"/>
          <p:cNvSpPr>
            <a:spLocks noGrp="1"/>
          </p:cNvSpPr>
          <p:nvPr>
            <p:ph type="body" idx="108"/>
          </p:nvPr>
        </p:nvSpPr>
        <p:spPr/>
        <p:txBody>
          <a:bodyPr lIns="0"/>
          <a:lstStyle/>
          <a:p>
            <a:r>
              <a:rPr lang="es-CO"/>
              <a:t>Cinco bombas simuladas, una falla, un corte de red y una versión mala.</a:t>
            </a:r>
          </a:p>
        </p:txBody>
      </p:sp>
      <p:sp>
        <p:nvSpPr>
          <p:cNvPr id="54"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poc_html0.png"/>
          <p:cNvPicPr>
            <a:picLocks noChangeAspect="1"/>
          </p:cNvPicPr>
          <p:nvPr/>
        </p:nvPicPr>
        <p:blipFill>
          <a:blip r:embed="rId2"/>
          <a:stretch>
            <a:fillRect/>
          </a:stretch>
        </p:blipFill>
        <p:spPr>
          <a:xfrm>
            <a:off x="0" y="655320"/>
            <a:ext cx="12192000" cy="5227320"/>
          </a:xfrm>
          <a:prstGeom prst="rect">
            <a:avLst/>
          </a:prstGeom>
        </p:spPr>
      </p:pic>
      <p:sp>
        <p:nvSpPr>
          <p:cNvPr id="2" name="Text Placeholder 1"/>
          <p:cNvSpPr>
            <a:spLocks noGrp="1"/>
          </p:cNvSpPr>
          <p:nvPr>
            <p:ph type="body" idx="106"/>
          </p:nvPr>
        </p:nvSpPr>
        <p:spPr/>
        <p:txBody>
          <a:bodyPr lIns="0"/>
          <a:lstStyle/>
          <a:p>
            <a:r>
              <a:rPr lang="es-CO"/>
              <a:t>DEMOSTRACIÓN</a:t>
            </a:r>
          </a:p>
        </p:txBody>
      </p:sp>
      <p:sp>
        <p:nvSpPr>
          <p:cNvPr id="3" name="Title 2"/>
          <p:cNvSpPr>
            <a:spLocks noGrp="1"/>
          </p:cNvSpPr>
          <p:nvPr>
            <p:ph type="title" idx="107"/>
          </p:nvPr>
        </p:nvSpPr>
        <p:spPr/>
        <p:txBody>
          <a:bodyPr lIns="0"/>
          <a:lstStyle/>
          <a:p>
            <a:r>
              <a:rPr lang="es-CO"/>
              <a:t>Arquitectura </a:t>
            </a:r>
            <a:r>
              <a:rPr b="1" lang="es-CO">
                <a:solidFill>
                  <a:srgbClr val="6D28D9"/>
                </a:solidFill>
              </a:rPr>
              <a:t>de la demostración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DEMOSTRACIÓN</a:t>
            </a:r>
          </a:p>
        </p:txBody>
      </p:sp>
      <p:sp>
        <p:nvSpPr>
          <p:cNvPr id="3" name="Title 2"/>
          <p:cNvSpPr>
            <a:spLocks noGrp="1"/>
          </p:cNvSpPr>
          <p:nvPr>
            <p:ph type="title" idx="107"/>
          </p:nvPr>
        </p:nvSpPr>
        <p:spPr/>
        <p:txBody>
          <a:bodyPr lIns="0"/>
          <a:lstStyle/>
          <a:p>
            <a:r>
              <a:rPr lang="es-CO"/>
              <a:t>Demostración </a:t>
            </a:r>
            <a:r>
              <a:rPr b="1" lang="es-CO">
                <a:solidFill>
                  <a:srgbClr val="6D28D9"/>
                </a:solidFill>
              </a:rPr>
              <a:t>en tres actos</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22120"/>
            <a:ext cx="533400" cy="846582"/>
          </a:xfrm>
          <a:prstGeom prst="rect">
            <a:avLst/>
          </a:prstGeom>
          <a:noFill/>
        </p:spPr>
        <p:txBody>
          <a:bodyPr wrap="square" lIns="0" tIns="0" rIns="0" bIns="0" anchor="ctr">
            <a:noAutofit/>
          </a:bodyPr>
          <a:lstStyle/>
          <a:p>
            <a:r>
              <a:rPr sz="2640" b="1" lang="es-CO">
                <a:solidFill>
                  <a:srgbClr val="2448FF"/>
                </a:solidFill>
                <a:latin typeface="Courier New"/>
              </a:rPr>
              <a:t>1</a:t>
            </a:r>
          </a:p>
        </p:txBody>
      </p:sp>
      <p:sp>
        <p:nvSpPr>
          <p:cNvPr id="55" name="TextBox 54"/>
          <p:cNvSpPr txBox="1"/>
          <p:nvPr/>
        </p:nvSpPr>
        <p:spPr>
          <a:xfrm>
            <a:off x="1386840" y="1843735"/>
            <a:ext cx="5989320" cy="316078"/>
          </a:xfrm>
          <a:prstGeom prst="rect">
            <a:avLst/>
          </a:prstGeom>
          <a:noFill/>
        </p:spPr>
        <p:txBody>
          <a:bodyPr wrap="square" lIns="0" tIns="0" rIns="0" bIns="0" anchor="t">
            <a:noAutofit/>
          </a:bodyPr>
          <a:lstStyle/>
          <a:p>
            <a:r>
              <a:rPr sz="2039" b="1" lang="es-CO">
                <a:solidFill>
                  <a:srgbClr val="071329"/>
                </a:solidFill>
                <a:latin typeface="Calibri"/>
              </a:rPr>
              <a:t>Escuchar</a:t>
            </a:r>
          </a:p>
        </p:txBody>
      </p:sp>
      <p:sp>
        <p:nvSpPr>
          <p:cNvPr id="56" name="TextBox 55"/>
          <p:cNvSpPr txBox="1"/>
          <p:nvPr/>
        </p:nvSpPr>
        <p:spPr>
          <a:xfrm>
            <a:off x="1386840" y="2205228"/>
            <a:ext cx="5989320" cy="256794"/>
          </a:xfrm>
          <a:prstGeom prst="rect">
            <a:avLst/>
          </a:prstGeom>
          <a:noFill/>
        </p:spPr>
        <p:txBody>
          <a:bodyPr wrap="square" lIns="0" tIns="0" rIns="0" bIns="0" anchor="t">
            <a:noAutofit/>
          </a:bodyPr>
          <a:lstStyle/>
          <a:p>
            <a:pPr>
              <a:lnSpc>
                <a:spcPct val="110700"/>
              </a:lnSpc>
            </a:pPr>
            <a:r>
              <a:rPr sz="1320" b="0" lang="es-CO">
                <a:solidFill>
                  <a:srgbClr val="475569"/>
                </a:solidFill>
                <a:latin typeface="Calibri"/>
              </a:rPr>
              <a:t>La bomba 3 suena como la B del inicio y aparece la alerta.</a:t>
            </a:r>
          </a:p>
        </p:txBody>
      </p:sp>
      <p:sp>
        <p:nvSpPr>
          <p:cNvPr id="57" name="Comando"/>
          <p:cNvSpPr/>
          <p:nvPr/>
        </p:nvSpPr>
        <p:spPr>
          <a:xfrm>
            <a:off x="7589520" y="1993011"/>
            <a:ext cx="3962400" cy="304800"/>
          </a:xfrm>
          <a:prstGeom prst="roundRect">
            <a:avLst>
              <a:gd name="adj" fmla="val 15000"/>
            </a:avLst>
          </a:prstGeom>
          <a:solidFill>
            <a:srgbClr val="F4F7FC"/>
          </a:solidFill>
          <a:ln w="11430">
            <a:solidFill>
              <a:srgbClr val="D5DEEA"/>
            </a:solidFill>
          </a:ln>
        </p:spPr>
        <p:txBody>
          <a:bodyPr rtlCol="0" anchor="ctr" wrap="none" lIns="106680" tIns="0" rIns="60960" bIns="0">
            <a:noAutofit/>
          </a:bodyPr>
          <a:lstStyle/>
          <a:p>
            <a:pPr algn="l"/>
            <a:r>
              <a:rPr sz="1200" b="0" lang="es-CO">
                <a:solidFill>
                  <a:srgbClr val="071329"/>
                </a:solidFill>
                <a:latin typeface="Courier New"/>
              </a:rPr>
              <a:t>./demo/fault.sh pump-03</a:t>
            </a:r>
          </a:p>
        </p:txBody>
      </p:sp>
      <p:cxnSp>
        <p:nvCxnSpPr>
          <p:cNvPr id="58" name="Connector 57"/>
          <p:cNvCxnSpPr/>
          <p:nvPr/>
        </p:nvCxnSpPr>
        <p:spPr>
          <a:xfrm>
            <a:off x="640080" y="2568702"/>
            <a:ext cx="10911840" cy="0"/>
          </a:xfrm>
          <a:prstGeom prst="line">
            <a:avLst/>
          </a:prstGeom>
          <a:ln w="11430">
            <a:solidFill>
              <a:srgbClr val="D5DEEA"/>
            </a:solidFill>
          </a:ln>
        </p:spPr>
      </p:cxnSp>
      <p:sp>
        <p:nvSpPr>
          <p:cNvPr id="59" name="TextBox 58"/>
          <p:cNvSpPr txBox="1"/>
          <p:nvPr/>
        </p:nvSpPr>
        <p:spPr>
          <a:xfrm>
            <a:off x="640080" y="2568702"/>
            <a:ext cx="533400" cy="1072896"/>
          </a:xfrm>
          <a:prstGeom prst="rect">
            <a:avLst/>
          </a:prstGeom>
          <a:noFill/>
        </p:spPr>
        <p:txBody>
          <a:bodyPr wrap="square" lIns="0" tIns="0" rIns="0" bIns="0" anchor="ctr">
            <a:noAutofit/>
          </a:bodyPr>
          <a:lstStyle/>
          <a:p>
            <a:r>
              <a:rPr sz="2640" b="1" lang="es-CO">
                <a:solidFill>
                  <a:srgbClr val="2448FF"/>
                </a:solidFill>
                <a:latin typeface="Courier New"/>
              </a:rPr>
              <a:t>2</a:t>
            </a:r>
          </a:p>
        </p:txBody>
      </p:sp>
      <p:sp>
        <p:nvSpPr>
          <p:cNvPr id="60" name="TextBox 59"/>
          <p:cNvSpPr txBox="1"/>
          <p:nvPr/>
        </p:nvSpPr>
        <p:spPr>
          <a:xfrm>
            <a:off x="1386840" y="2690317"/>
            <a:ext cx="5989320" cy="316078"/>
          </a:xfrm>
          <a:prstGeom prst="rect">
            <a:avLst/>
          </a:prstGeom>
          <a:noFill/>
        </p:spPr>
        <p:txBody>
          <a:bodyPr wrap="square" lIns="0" tIns="0" rIns="0" bIns="0" anchor="t">
            <a:noAutofit/>
          </a:bodyPr>
          <a:lstStyle/>
          <a:p>
            <a:r>
              <a:rPr sz="2039" b="1" lang="es-CO">
                <a:solidFill>
                  <a:srgbClr val="071329"/>
                </a:solidFill>
                <a:latin typeface="Calibri"/>
              </a:rPr>
              <a:t>Sin red</a:t>
            </a:r>
          </a:p>
        </p:txBody>
      </p:sp>
      <p:sp>
        <p:nvSpPr>
          <p:cNvPr id="61" name="TextBox 60"/>
          <p:cNvSpPr txBox="1"/>
          <p:nvPr/>
        </p:nvSpPr>
        <p:spPr>
          <a:xfrm>
            <a:off x="1386840" y="3051810"/>
            <a:ext cx="5989320" cy="483108"/>
          </a:xfrm>
          <a:prstGeom prst="rect">
            <a:avLst/>
          </a:prstGeom>
          <a:noFill/>
        </p:spPr>
        <p:txBody>
          <a:bodyPr wrap="square" lIns="0" tIns="0" rIns="0" bIns="0" anchor="t">
            <a:noAutofit/>
          </a:bodyPr>
          <a:lstStyle/>
          <a:p>
            <a:pPr>
              <a:lnSpc>
                <a:spcPct val="110700"/>
              </a:lnSpc>
            </a:pPr>
            <a:r>
              <a:rPr sz="1320" b="0" lang="es-CO">
                <a:solidFill>
                  <a:srgbClr val="475569"/>
                </a:solidFill>
                <a:latin typeface="Calibri"/>
              </a:rPr>
              <a:t>La 3 se calla y las otras cuatro siguen. Al volver la red, sus alertas llegan tarde y no se pierde ninguna.</a:t>
            </a:r>
          </a:p>
        </p:txBody>
      </p:sp>
      <p:sp>
        <p:nvSpPr>
          <p:cNvPr id="62" name="Comando"/>
          <p:cNvSpPr/>
          <p:nvPr/>
        </p:nvSpPr>
        <p:spPr>
          <a:xfrm>
            <a:off x="7589520" y="2769870"/>
            <a:ext cx="3962400" cy="304800"/>
          </a:xfrm>
          <a:prstGeom prst="roundRect">
            <a:avLst>
              <a:gd name="adj" fmla="val 15000"/>
            </a:avLst>
          </a:prstGeom>
          <a:solidFill>
            <a:srgbClr val="F4F7FC"/>
          </a:solidFill>
          <a:ln w="11430">
            <a:solidFill>
              <a:srgbClr val="D5DEEA"/>
            </a:solidFill>
          </a:ln>
        </p:spPr>
        <p:txBody>
          <a:bodyPr rtlCol="0" anchor="ctr" wrap="none" lIns="106680" tIns="0" rIns="60960" bIns="0">
            <a:noAutofit/>
          </a:bodyPr>
          <a:lstStyle/>
          <a:p>
            <a:pPr algn="l"/>
            <a:r>
              <a:rPr sz="1200" b="0" lang="es-CO">
                <a:solidFill>
                  <a:srgbClr val="071329"/>
                </a:solidFill>
                <a:latin typeface="Courier New"/>
              </a:rPr>
              <a:t>./demo/network.sh off pump-03</a:t>
            </a:r>
          </a:p>
        </p:txBody>
      </p:sp>
      <p:sp>
        <p:nvSpPr>
          <p:cNvPr id="63" name="Comando"/>
          <p:cNvSpPr/>
          <p:nvPr/>
        </p:nvSpPr>
        <p:spPr>
          <a:xfrm>
            <a:off x="7589520" y="3135630"/>
            <a:ext cx="3962400" cy="304800"/>
          </a:xfrm>
          <a:prstGeom prst="roundRect">
            <a:avLst>
              <a:gd name="adj" fmla="val 15000"/>
            </a:avLst>
          </a:prstGeom>
          <a:solidFill>
            <a:srgbClr val="F4F7FC"/>
          </a:solidFill>
          <a:ln w="11430">
            <a:solidFill>
              <a:srgbClr val="D5DEEA"/>
            </a:solidFill>
          </a:ln>
        </p:spPr>
        <p:txBody>
          <a:bodyPr rtlCol="0" anchor="ctr" wrap="none" lIns="106680" tIns="0" rIns="60960" bIns="0">
            <a:noAutofit/>
          </a:bodyPr>
          <a:lstStyle/>
          <a:p>
            <a:pPr algn="l"/>
            <a:r>
              <a:rPr sz="1200" b="0" lang="es-CO">
                <a:solidFill>
                  <a:srgbClr val="071329"/>
                </a:solidFill>
                <a:latin typeface="Courier New"/>
              </a:rPr>
              <a:t>./demo/network.sh on pump-03</a:t>
            </a:r>
          </a:p>
        </p:txBody>
      </p:sp>
      <p:cxnSp>
        <p:nvCxnSpPr>
          <p:cNvPr id="64" name="Connector 63"/>
          <p:cNvCxnSpPr/>
          <p:nvPr/>
        </p:nvCxnSpPr>
        <p:spPr>
          <a:xfrm>
            <a:off x="640080" y="3641598"/>
            <a:ext cx="10911840" cy="0"/>
          </a:xfrm>
          <a:prstGeom prst="line">
            <a:avLst/>
          </a:prstGeom>
          <a:ln w="11430">
            <a:solidFill>
              <a:srgbClr val="D5DEEA"/>
            </a:solidFill>
          </a:ln>
        </p:spPr>
      </p:cxnSp>
      <p:sp>
        <p:nvSpPr>
          <p:cNvPr id="65" name="TextBox 64"/>
          <p:cNvSpPr txBox="1"/>
          <p:nvPr/>
        </p:nvSpPr>
        <p:spPr>
          <a:xfrm>
            <a:off x="640080" y="3641598"/>
            <a:ext cx="533400" cy="1072896"/>
          </a:xfrm>
          <a:prstGeom prst="rect">
            <a:avLst/>
          </a:prstGeom>
          <a:noFill/>
        </p:spPr>
        <p:txBody>
          <a:bodyPr wrap="square" lIns="0" tIns="0" rIns="0" bIns="0" anchor="ctr">
            <a:noAutofit/>
          </a:bodyPr>
          <a:lstStyle/>
          <a:p>
            <a:r>
              <a:rPr sz="2640" b="1" lang="es-CO">
                <a:solidFill>
                  <a:srgbClr val="6D28D9"/>
                </a:solidFill>
                <a:latin typeface="Courier New"/>
              </a:rPr>
              <a:t>3</a:t>
            </a:r>
          </a:p>
        </p:txBody>
      </p:sp>
      <p:sp>
        <p:nvSpPr>
          <p:cNvPr id="66" name="TextBox 65"/>
          <p:cNvSpPr txBox="1"/>
          <p:nvPr/>
        </p:nvSpPr>
        <p:spPr>
          <a:xfrm>
            <a:off x="1386840" y="3763213"/>
            <a:ext cx="5989320" cy="316078"/>
          </a:xfrm>
          <a:prstGeom prst="rect">
            <a:avLst/>
          </a:prstGeom>
          <a:noFill/>
        </p:spPr>
        <p:txBody>
          <a:bodyPr wrap="square" lIns="0" tIns="0" rIns="0" bIns="0" anchor="t">
            <a:noAutofit/>
          </a:bodyPr>
          <a:lstStyle/>
          <a:p>
            <a:r>
              <a:rPr sz="2039" b="1" lang="es-CO">
                <a:solidFill>
                  <a:srgbClr val="6D28D9"/>
                </a:solidFill>
                <a:latin typeface="Calibri"/>
              </a:rPr>
              <a:t>Desplegar por anillos y volver</a:t>
            </a:r>
          </a:p>
        </p:txBody>
      </p:sp>
      <p:sp>
        <p:nvSpPr>
          <p:cNvPr id="67" name="TextBox 66"/>
          <p:cNvSpPr txBox="1"/>
          <p:nvPr/>
        </p:nvSpPr>
        <p:spPr>
          <a:xfrm>
            <a:off x="1386840" y="4124706"/>
            <a:ext cx="5989320" cy="483108"/>
          </a:xfrm>
          <a:prstGeom prst="rect">
            <a:avLst/>
          </a:prstGeom>
          <a:noFill/>
        </p:spPr>
        <p:txBody>
          <a:bodyPr wrap="square" lIns="0" tIns="0" rIns="0" bIns="0" anchor="t">
            <a:noAutofit/>
          </a:bodyPr>
          <a:lstStyle/>
          <a:p>
            <a:pPr>
              <a:lnSpc>
                <a:spcPct val="110700"/>
              </a:lnSpc>
            </a:pPr>
            <a:r>
              <a:rPr sz="1320" b="0" lang="es-CO">
                <a:solidFill>
                  <a:srgbClr val="475569"/>
                </a:solidFill>
                <a:latin typeface="Calibri"/>
              </a:rPr>
              <a:t>La 1 pasa a la v2 y no oye la falla. La alarma dispara la Lambda y la 1 vuelve a la v1. El anillo 1 nunca recibió la v2.</a:t>
            </a:r>
          </a:p>
        </p:txBody>
      </p:sp>
      <p:sp>
        <p:nvSpPr>
          <p:cNvPr id="68" name="Comando"/>
          <p:cNvSpPr/>
          <p:nvPr/>
        </p:nvSpPr>
        <p:spPr>
          <a:xfrm>
            <a:off x="7589520" y="3842766"/>
            <a:ext cx="3962400" cy="304800"/>
          </a:xfrm>
          <a:prstGeom prst="roundRect">
            <a:avLst>
              <a:gd name="adj" fmla="val 15000"/>
            </a:avLst>
          </a:prstGeom>
          <a:solidFill>
            <a:srgbClr val="F4F7FC"/>
          </a:solidFill>
          <a:ln w="11430">
            <a:solidFill>
              <a:srgbClr val="D5DEEA"/>
            </a:solidFill>
          </a:ln>
        </p:spPr>
        <p:txBody>
          <a:bodyPr rtlCol="0" anchor="ctr" wrap="none" lIns="106680" tIns="0" rIns="60960" bIns="0">
            <a:noAutofit/>
          </a:bodyPr>
          <a:lstStyle/>
          <a:p>
            <a:pPr algn="l"/>
            <a:r>
              <a:rPr sz="1200" b="0" lang="es-CO">
                <a:solidFill>
                  <a:srgbClr val="071329"/>
                </a:solidFill>
                <a:latin typeface="Courier New"/>
              </a:rPr>
              <a:t>./demo/deploy.sh 2.0.0 ring-0</a:t>
            </a:r>
          </a:p>
        </p:txBody>
      </p:sp>
      <p:sp>
        <p:nvSpPr>
          <p:cNvPr id="69" name="Comando"/>
          <p:cNvSpPr/>
          <p:nvPr/>
        </p:nvSpPr>
        <p:spPr>
          <a:xfrm>
            <a:off x="7589520" y="4208526"/>
            <a:ext cx="3962400" cy="304800"/>
          </a:xfrm>
          <a:prstGeom prst="roundRect">
            <a:avLst>
              <a:gd name="adj" fmla="val 15000"/>
            </a:avLst>
          </a:prstGeom>
          <a:solidFill>
            <a:srgbClr val="F4F7FC"/>
          </a:solidFill>
          <a:ln w="11430">
            <a:solidFill>
              <a:srgbClr val="D5DEEA"/>
            </a:solidFill>
          </a:ln>
        </p:spPr>
        <p:txBody>
          <a:bodyPr rtlCol="0" anchor="ctr" wrap="none" lIns="106680" tIns="0" rIns="60960" bIns="0">
            <a:noAutofit/>
          </a:bodyPr>
          <a:lstStyle/>
          <a:p>
            <a:pPr algn="l"/>
            <a:r>
              <a:rPr sz="1200" b="0" lang="es-CO">
                <a:solidFill>
                  <a:srgbClr val="071329"/>
                </a:solidFill>
                <a:latin typeface="Courier New"/>
              </a:rPr>
              <a:t>./demo/fault.sh pump-01</a:t>
            </a:r>
          </a:p>
        </p:txBody>
      </p:sp>
      <p:sp>
        <p:nvSpPr>
          <p:cNvPr id="70" name="Remate"/>
          <p:cNvSpPr txBox="1"/>
          <p:nvPr/>
        </p:nvSpPr>
        <p:spPr>
          <a:xfrm>
            <a:off x="640080" y="5212080"/>
            <a:ext cx="10911840" cy="290779"/>
          </a:xfrm>
          <a:prstGeom prst="rect">
            <a:avLst/>
          </a:prstGeom>
          <a:noFill/>
        </p:spPr>
        <p:txBody>
          <a:bodyPr wrap="square" lIns="0" tIns="0" rIns="0" bIns="0" anchor="t">
            <a:noAutofit/>
          </a:bodyPr>
          <a:lstStyle/>
          <a:p>
            <a:r>
              <a:rPr sz="1680" b="0" lang="es-CO">
                <a:solidFill>
                  <a:srgbClr val="071329"/>
                </a:solidFill>
                <a:latin typeface="Calibri"/>
              </a:rPr>
              <a:t>Greengrass revierte despliegues fallidos, </a:t>
            </a:r>
            <a:r>
              <a:rPr sz="1680" b="1" lang="es-CO">
                <a:solidFill>
                  <a:srgbClr val="6D28D9"/>
                </a:solidFill>
                <a:latin typeface="Calibri"/>
              </a:rPr>
              <a:t>no modelos equivocados</a:t>
            </a:r>
            <a:r>
              <a:rPr sz="1680" b="0" lang="es-CO">
                <a:solidFill>
                  <a:srgbClr val="071329"/>
                </a:solidFill>
                <a:latin typeface="Calibri"/>
              </a:rPr>
              <a:t>: esa compuerta la pones tú.</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fade">
                                      <p:cBhvr>
                                        <p:cTn id="7" dur="400"/>
                                        <p:tgtEl>
                                          <p:spTgt spid="5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9"/>
                                        </p:tgtEl>
                                        <p:attrNameLst>
                                          <p:attrName>style.visibility</p:attrName>
                                        </p:attrNameLst>
                                      </p:cBhvr>
                                      <p:to>
                                        <p:strVal val="visible"/>
                                      </p:to>
                                    </p:set>
                                    <p:animEffect transition="in" filter="fade">
                                      <p:cBhvr>
                                        <p:cTn id="10" dur="400"/>
                                        <p:tgtEl>
                                          <p:spTgt spid="59"/>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0"/>
                                        </p:tgtEl>
                                        <p:attrNameLst>
                                          <p:attrName>style.visibility</p:attrName>
                                        </p:attrNameLst>
                                      </p:cBhvr>
                                      <p:to>
                                        <p:strVal val="visible"/>
                                      </p:to>
                                    </p:set>
                                    <p:animEffect transition="in" filter="fade">
                                      <p:cBhvr>
                                        <p:cTn id="13" dur="400"/>
                                        <p:tgtEl>
                                          <p:spTgt spid="60"/>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1"/>
                                        </p:tgtEl>
                                        <p:attrNameLst>
                                          <p:attrName>style.visibility</p:attrName>
                                        </p:attrNameLst>
                                      </p:cBhvr>
                                      <p:to>
                                        <p:strVal val="visible"/>
                                      </p:to>
                                    </p:set>
                                    <p:animEffect transition="in" filter="fade">
                                      <p:cBhvr>
                                        <p:cTn id="16" dur="400"/>
                                        <p:tgtEl>
                                          <p:spTgt spid="61"/>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62"/>
                                        </p:tgtEl>
                                        <p:attrNameLst>
                                          <p:attrName>style.visibility</p:attrName>
                                        </p:attrNameLst>
                                      </p:cBhvr>
                                      <p:to>
                                        <p:strVal val="visible"/>
                                      </p:to>
                                    </p:set>
                                    <p:animEffect transition="in" filter="fade">
                                      <p:cBhvr>
                                        <p:cTn id="19" dur="400"/>
                                        <p:tgtEl>
                                          <p:spTgt spid="62"/>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63"/>
                                        </p:tgtEl>
                                        <p:attrNameLst>
                                          <p:attrName>style.visibility</p:attrName>
                                        </p:attrNameLst>
                                      </p:cBhvr>
                                      <p:to>
                                        <p:strVal val="visible"/>
                                      </p:to>
                                    </p:set>
                                    <p:animEffect transition="in" filter="fade">
                                      <p:cBhvr>
                                        <p:cTn id="22" dur="400"/>
                                        <p:tgtEl>
                                          <p:spTgt spid="6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64"/>
                                        </p:tgtEl>
                                        <p:attrNameLst>
                                          <p:attrName>style.visibility</p:attrName>
                                        </p:attrNameLst>
                                      </p:cBhvr>
                                      <p:to>
                                        <p:strVal val="visible"/>
                                      </p:to>
                                    </p:set>
                                    <p:animEffect transition="in" filter="fade">
                                      <p:cBhvr>
                                        <p:cTn id="27" dur="400"/>
                                        <p:tgtEl>
                                          <p:spTgt spid="64"/>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65"/>
                                        </p:tgtEl>
                                        <p:attrNameLst>
                                          <p:attrName>style.visibility</p:attrName>
                                        </p:attrNameLst>
                                      </p:cBhvr>
                                      <p:to>
                                        <p:strVal val="visible"/>
                                      </p:to>
                                    </p:set>
                                    <p:animEffect transition="in" filter="fade">
                                      <p:cBhvr>
                                        <p:cTn id="30" dur="400"/>
                                        <p:tgtEl>
                                          <p:spTgt spid="65"/>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66"/>
                                        </p:tgtEl>
                                        <p:attrNameLst>
                                          <p:attrName>style.visibility</p:attrName>
                                        </p:attrNameLst>
                                      </p:cBhvr>
                                      <p:to>
                                        <p:strVal val="visible"/>
                                      </p:to>
                                    </p:set>
                                    <p:animEffect transition="in" filter="fade">
                                      <p:cBhvr>
                                        <p:cTn id="33" dur="400"/>
                                        <p:tgtEl>
                                          <p:spTgt spid="66"/>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67"/>
                                        </p:tgtEl>
                                        <p:attrNameLst>
                                          <p:attrName>style.visibility</p:attrName>
                                        </p:attrNameLst>
                                      </p:cBhvr>
                                      <p:to>
                                        <p:strVal val="visible"/>
                                      </p:to>
                                    </p:set>
                                    <p:animEffect transition="in" filter="fade">
                                      <p:cBhvr>
                                        <p:cTn id="36" dur="400"/>
                                        <p:tgtEl>
                                          <p:spTgt spid="67"/>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68"/>
                                        </p:tgtEl>
                                        <p:attrNameLst>
                                          <p:attrName>style.visibility</p:attrName>
                                        </p:attrNameLst>
                                      </p:cBhvr>
                                      <p:to>
                                        <p:strVal val="visible"/>
                                      </p:to>
                                    </p:set>
                                    <p:animEffect transition="in" filter="fade">
                                      <p:cBhvr>
                                        <p:cTn id="39" dur="400"/>
                                        <p:tgtEl>
                                          <p:spTgt spid="68"/>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69"/>
                                        </p:tgtEl>
                                        <p:attrNameLst>
                                          <p:attrName>style.visibility</p:attrName>
                                        </p:attrNameLst>
                                      </p:cBhvr>
                                      <p:to>
                                        <p:strVal val="visible"/>
                                      </p:to>
                                    </p:set>
                                    <p:animEffect transition="in" filter="fade">
                                      <p:cBhvr>
                                        <p:cTn id="42" dur="400"/>
                                        <p:tgtEl>
                                          <p:spTgt spid="69"/>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70"/>
                                        </p:tgtEl>
                                        <p:attrNameLst>
                                          <p:attrName>style.visibility</p:attrName>
                                        </p:attrNameLst>
                                      </p:cBhvr>
                                      <p:to>
                                        <p:strVal val="visible"/>
                                      </p:to>
                                    </p:set>
                                    <p:animEffect transition="in" filter="fade">
                                      <p:cBhvr>
                                        <p:cTn id="45" dur="40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animBg="1"/>
      <p:bldP spid="59" grpId="0"/>
      <p:bldP spid="60" grpId="0"/>
      <p:bldP spid="61" grpId="0"/>
      <p:bldP spid="62" grpId="0"/>
      <p:bldP spid="63" grpId="0"/>
      <p:bldP spid="64" grpId="0" animBg="1"/>
      <p:bldP spid="65" grpId="0"/>
      <p:bldP spid="66" grpId="0"/>
      <p:bldP spid="67" grpId="0"/>
      <p:bldP spid="68" grpId="0"/>
      <p:bldP spid="69" grpId="0"/>
      <p:bldP spid="70" grpId="0"/>
    </p:bld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CONCLUSIONES</a:t>
            </a:r>
          </a:p>
        </p:txBody>
      </p:sp>
      <p:sp>
        <p:nvSpPr>
          <p:cNvPr id="3" name="Title 2"/>
          <p:cNvSpPr>
            <a:spLocks noGrp="1"/>
          </p:cNvSpPr>
          <p:nvPr>
            <p:ph type="title" idx="107"/>
          </p:nvPr>
        </p:nvSpPr>
        <p:spPr/>
        <p:txBody>
          <a:bodyPr lIns="0"/>
          <a:lstStyle/>
          <a:p>
            <a:r>
              <a:rPr lang="es-CO"/>
              <a:t>Cinco </a:t>
            </a:r>
            <a:r>
              <a:rPr b="1" lang="es-CO">
                <a:solidFill>
                  <a:srgbClr val="6D28D9"/>
                </a:solidFill>
              </a:rPr>
              <a:t>recomendaciones</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868680" cy="609600"/>
          </a:xfrm>
          <a:prstGeom prst="rect">
            <a:avLst/>
          </a:prstGeom>
          <a:noFill/>
        </p:spPr>
        <p:txBody>
          <a:bodyPr wrap="square" lIns="0" tIns="0" rIns="0" bIns="0" anchor="ctr">
            <a:noAutofit/>
          </a:bodyPr>
          <a:lstStyle/>
          <a:p>
            <a:r>
              <a:rPr sz="2400" b="1" lang="es-CO">
                <a:solidFill>
                  <a:srgbClr val="2448FF"/>
                </a:solidFill>
                <a:latin typeface="Courier New"/>
              </a:rPr>
              <a:t>01</a:t>
            </a:r>
          </a:p>
        </p:txBody>
      </p:sp>
      <p:sp>
        <p:nvSpPr>
          <p:cNvPr id="55" name="TextBox 54"/>
          <p:cNvSpPr txBox="1"/>
          <p:nvPr/>
        </p:nvSpPr>
        <p:spPr>
          <a:xfrm>
            <a:off x="1691640" y="17983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El modelo es un artefacto más: </a:t>
            </a:r>
            <a:r>
              <a:rPr sz="1920" b="1" lang="es-CO">
                <a:solidFill>
                  <a:srgbClr val="071329"/>
                </a:solidFill>
                <a:latin typeface="Calibri"/>
              </a:rPr>
              <a:t>versión, digest y receta</a:t>
            </a:r>
            <a:r>
              <a:rPr sz="1920" b="0" lang="es-CO">
                <a:solidFill>
                  <a:srgbClr val="071329"/>
                </a:solidFill>
                <a:latin typeface="Calibri"/>
              </a:rPr>
              <a:t>.</a:t>
            </a:r>
          </a:p>
        </p:txBody>
      </p:sp>
      <p:cxnSp>
        <p:nvCxnSpPr>
          <p:cNvPr id="56" name="Connector 55"/>
          <p:cNvCxnSpPr/>
          <p:nvPr/>
        </p:nvCxnSpPr>
        <p:spPr>
          <a:xfrm>
            <a:off x="640080" y="2407920"/>
            <a:ext cx="10911840" cy="0"/>
          </a:xfrm>
          <a:prstGeom prst="line">
            <a:avLst/>
          </a:prstGeom>
          <a:ln w="11430">
            <a:solidFill>
              <a:srgbClr val="D5DEEA"/>
            </a:solidFill>
          </a:ln>
        </p:spPr>
      </p:cxnSp>
      <p:sp>
        <p:nvSpPr>
          <p:cNvPr id="57" name="TextBox 56"/>
          <p:cNvSpPr txBox="1"/>
          <p:nvPr/>
        </p:nvSpPr>
        <p:spPr>
          <a:xfrm>
            <a:off x="640080" y="2407920"/>
            <a:ext cx="868680" cy="609600"/>
          </a:xfrm>
          <a:prstGeom prst="rect">
            <a:avLst/>
          </a:prstGeom>
          <a:noFill/>
        </p:spPr>
        <p:txBody>
          <a:bodyPr wrap="square" lIns="0" tIns="0" rIns="0" bIns="0" anchor="ctr">
            <a:noAutofit/>
          </a:bodyPr>
          <a:lstStyle/>
          <a:p>
            <a:r>
              <a:rPr sz="2400" b="1" lang="es-CO">
                <a:solidFill>
                  <a:srgbClr val="2448FF"/>
                </a:solidFill>
                <a:latin typeface="Courier New"/>
              </a:rPr>
              <a:t>02</a:t>
            </a:r>
          </a:p>
        </p:txBody>
      </p:sp>
      <p:sp>
        <p:nvSpPr>
          <p:cNvPr id="58" name="TextBox 57"/>
          <p:cNvSpPr txBox="1"/>
          <p:nvPr/>
        </p:nvSpPr>
        <p:spPr>
          <a:xfrm>
            <a:off x="1691640" y="24079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Optimiza por chip y </a:t>
            </a:r>
            <a:r>
              <a:rPr sz="1920" b="1" lang="es-CO">
                <a:solidFill>
                  <a:srgbClr val="071329"/>
                </a:solidFill>
                <a:latin typeface="Calibri"/>
              </a:rPr>
              <a:t>mide en el chip</a:t>
            </a:r>
            <a:r>
              <a:rPr sz="1920" b="0" lang="es-CO">
                <a:solidFill>
                  <a:srgbClr val="071329"/>
                </a:solidFill>
                <a:latin typeface="Calibri"/>
              </a:rPr>
              <a:t>.</a:t>
            </a:r>
          </a:p>
        </p:txBody>
      </p:sp>
      <p:cxnSp>
        <p:nvCxnSpPr>
          <p:cNvPr id="59" name="Connector 58"/>
          <p:cNvCxnSpPr/>
          <p:nvPr/>
        </p:nvCxnSpPr>
        <p:spPr>
          <a:xfrm>
            <a:off x="640080" y="3017520"/>
            <a:ext cx="10911840" cy="0"/>
          </a:xfrm>
          <a:prstGeom prst="line">
            <a:avLst/>
          </a:prstGeom>
          <a:ln w="11430">
            <a:solidFill>
              <a:srgbClr val="D5DEEA"/>
            </a:solidFill>
          </a:ln>
        </p:spPr>
      </p:cxnSp>
      <p:sp>
        <p:nvSpPr>
          <p:cNvPr id="60" name="TextBox 59"/>
          <p:cNvSpPr txBox="1"/>
          <p:nvPr/>
        </p:nvSpPr>
        <p:spPr>
          <a:xfrm>
            <a:off x="640080" y="3017520"/>
            <a:ext cx="868680" cy="609600"/>
          </a:xfrm>
          <a:prstGeom prst="rect">
            <a:avLst/>
          </a:prstGeom>
          <a:noFill/>
        </p:spPr>
        <p:txBody>
          <a:bodyPr wrap="square" lIns="0" tIns="0" rIns="0" bIns="0" anchor="ctr">
            <a:noAutofit/>
          </a:bodyPr>
          <a:lstStyle/>
          <a:p>
            <a:r>
              <a:rPr sz="2400" b="1" lang="es-CO">
                <a:solidFill>
                  <a:srgbClr val="2448FF"/>
                </a:solidFill>
                <a:latin typeface="Courier New"/>
              </a:rPr>
              <a:t>03</a:t>
            </a:r>
          </a:p>
        </p:txBody>
      </p:sp>
      <p:sp>
        <p:nvSpPr>
          <p:cNvPr id="61" name="TextBox 60"/>
          <p:cNvSpPr txBox="1"/>
          <p:nvPr/>
        </p:nvSpPr>
        <p:spPr>
          <a:xfrm>
            <a:off x="1691640" y="30175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Despliega por anillos, con una compuerta que </a:t>
            </a:r>
            <a:r>
              <a:rPr sz="1920" b="1" lang="es-CO">
                <a:solidFill>
                  <a:srgbClr val="071329"/>
                </a:solidFill>
                <a:latin typeface="Calibri"/>
              </a:rPr>
              <a:t>mire al modelo</a:t>
            </a:r>
            <a:r>
              <a:rPr sz="1920" b="0" lang="es-CO">
                <a:solidFill>
                  <a:srgbClr val="071329"/>
                </a:solidFill>
                <a:latin typeface="Calibri"/>
              </a:rPr>
              <a:t> y no solo al proceso.</a:t>
            </a:r>
          </a:p>
        </p:txBody>
      </p:sp>
      <p:cxnSp>
        <p:nvCxnSpPr>
          <p:cNvPr id="62" name="Connector 61"/>
          <p:cNvCxnSpPr/>
          <p:nvPr/>
        </p:nvCxnSpPr>
        <p:spPr>
          <a:xfrm>
            <a:off x="640080" y="3627120"/>
            <a:ext cx="10911840" cy="0"/>
          </a:xfrm>
          <a:prstGeom prst="line">
            <a:avLst/>
          </a:prstGeom>
          <a:ln w="11430">
            <a:solidFill>
              <a:srgbClr val="D5DEEA"/>
            </a:solidFill>
          </a:ln>
        </p:spPr>
      </p:cxnSp>
      <p:sp>
        <p:nvSpPr>
          <p:cNvPr id="63" name="TextBox 62"/>
          <p:cNvSpPr txBox="1"/>
          <p:nvPr/>
        </p:nvSpPr>
        <p:spPr>
          <a:xfrm>
            <a:off x="640080" y="3627120"/>
            <a:ext cx="868680" cy="609600"/>
          </a:xfrm>
          <a:prstGeom prst="rect">
            <a:avLst/>
          </a:prstGeom>
          <a:noFill/>
        </p:spPr>
        <p:txBody>
          <a:bodyPr wrap="square" lIns="0" tIns="0" rIns="0" bIns="0" anchor="ctr">
            <a:noAutofit/>
          </a:bodyPr>
          <a:lstStyle/>
          <a:p>
            <a:r>
              <a:rPr sz="2400" b="1" lang="es-CO">
                <a:solidFill>
                  <a:srgbClr val="2448FF"/>
                </a:solidFill>
                <a:latin typeface="Courier New"/>
              </a:rPr>
              <a:t>04</a:t>
            </a:r>
          </a:p>
        </p:txBody>
      </p:sp>
      <p:sp>
        <p:nvSpPr>
          <p:cNvPr id="64" name="TextBox 63"/>
          <p:cNvSpPr txBox="1"/>
          <p:nvPr/>
        </p:nvSpPr>
        <p:spPr>
          <a:xfrm>
            <a:off x="1691640" y="36271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Diseña para estar sin red: </a:t>
            </a:r>
            <a:r>
              <a:rPr sz="1920" b="1" lang="es-CO">
                <a:solidFill>
                  <a:srgbClr val="071329"/>
                </a:solidFill>
                <a:latin typeface="Calibri"/>
              </a:rPr>
              <a:t>cola local y decisiones locales</a:t>
            </a:r>
            <a:r>
              <a:rPr sz="1920" b="0" lang="es-CO">
                <a:solidFill>
                  <a:srgbClr val="071329"/>
                </a:solidFill>
                <a:latin typeface="Calibri"/>
              </a:rPr>
              <a:t>.</a:t>
            </a:r>
          </a:p>
        </p:txBody>
      </p:sp>
      <p:cxnSp>
        <p:nvCxnSpPr>
          <p:cNvPr id="65" name="Connector 64"/>
          <p:cNvCxnSpPr/>
          <p:nvPr/>
        </p:nvCxnSpPr>
        <p:spPr>
          <a:xfrm>
            <a:off x="640080" y="4236720"/>
            <a:ext cx="10911840" cy="0"/>
          </a:xfrm>
          <a:prstGeom prst="line">
            <a:avLst/>
          </a:prstGeom>
          <a:ln w="11430">
            <a:solidFill>
              <a:srgbClr val="D5DEEA"/>
            </a:solidFill>
          </a:ln>
        </p:spPr>
      </p:cxnSp>
      <p:sp>
        <p:nvSpPr>
          <p:cNvPr id="66" name="TextBox 65"/>
          <p:cNvSpPr txBox="1"/>
          <p:nvPr/>
        </p:nvSpPr>
        <p:spPr>
          <a:xfrm>
            <a:off x="640080" y="4236720"/>
            <a:ext cx="868680" cy="609600"/>
          </a:xfrm>
          <a:prstGeom prst="rect">
            <a:avLst/>
          </a:prstGeom>
          <a:noFill/>
        </p:spPr>
        <p:txBody>
          <a:bodyPr wrap="square" lIns="0" tIns="0" rIns="0" bIns="0" anchor="ctr">
            <a:noAutofit/>
          </a:bodyPr>
          <a:lstStyle/>
          <a:p>
            <a:r>
              <a:rPr sz="2400" b="1" lang="es-CO">
                <a:solidFill>
                  <a:srgbClr val="2448FF"/>
                </a:solidFill>
                <a:latin typeface="Courier New"/>
              </a:rPr>
              <a:t>05</a:t>
            </a:r>
          </a:p>
        </p:txBody>
      </p:sp>
      <p:sp>
        <p:nvSpPr>
          <p:cNvPr id="67" name="TextBox 66"/>
          <p:cNvSpPr txBox="1"/>
          <p:nvPr/>
        </p:nvSpPr>
        <p:spPr>
          <a:xfrm>
            <a:off x="1691640" y="42367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Que el modelo cuente qué decide; </a:t>
            </a:r>
            <a:r>
              <a:rPr sz="1920" b="1" lang="es-CO">
                <a:solidFill>
                  <a:srgbClr val="6D28D9"/>
                </a:solidFill>
                <a:latin typeface="Calibri"/>
              </a:rPr>
              <a:t>el dato crudo se queda en el equipo</a:t>
            </a:r>
            <a:r>
              <a:rPr sz="1920" b="0" lang="es-CO">
                <a:solidFill>
                  <a:srgbClr val="071329"/>
                </a:solidFill>
                <a:latin typeface="Calibri"/>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6"/>
                                        </p:tgtEl>
                                        <p:attrNameLst>
                                          <p:attrName>style.visibility</p:attrName>
                                        </p:attrNameLst>
                                      </p:cBhvr>
                                      <p:to>
                                        <p:strVal val="visible"/>
                                      </p:to>
                                    </p:set>
                                    <p:animEffect transition="in" filter="fade">
                                      <p:cBhvr>
                                        <p:cTn id="7" dur="400"/>
                                        <p:tgtEl>
                                          <p:spTgt spid="5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7"/>
                                        </p:tgtEl>
                                        <p:attrNameLst>
                                          <p:attrName>style.visibility</p:attrName>
                                        </p:attrNameLst>
                                      </p:cBhvr>
                                      <p:to>
                                        <p:strVal val="visible"/>
                                      </p:to>
                                    </p:set>
                                    <p:animEffect transition="in" filter="fade">
                                      <p:cBhvr>
                                        <p:cTn id="10" dur="400"/>
                                        <p:tgtEl>
                                          <p:spTgt spid="5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8"/>
                                        </p:tgtEl>
                                        <p:attrNameLst>
                                          <p:attrName>style.visibility</p:attrName>
                                        </p:attrNameLst>
                                      </p:cBhvr>
                                      <p:to>
                                        <p:strVal val="visible"/>
                                      </p:to>
                                    </p:set>
                                    <p:animEffect transition="in" filter="fade">
                                      <p:cBhvr>
                                        <p:cTn id="13" dur="400"/>
                                        <p:tgtEl>
                                          <p:spTgt spid="58"/>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59"/>
                                        </p:tgtEl>
                                        <p:attrNameLst>
                                          <p:attrName>style.visibility</p:attrName>
                                        </p:attrNameLst>
                                      </p:cBhvr>
                                      <p:to>
                                        <p:strVal val="visible"/>
                                      </p:to>
                                    </p:set>
                                    <p:animEffect transition="in" filter="fade">
                                      <p:cBhvr>
                                        <p:cTn id="18" dur="400"/>
                                        <p:tgtEl>
                                          <p:spTgt spid="59"/>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60"/>
                                        </p:tgtEl>
                                        <p:attrNameLst>
                                          <p:attrName>style.visibility</p:attrName>
                                        </p:attrNameLst>
                                      </p:cBhvr>
                                      <p:to>
                                        <p:strVal val="visible"/>
                                      </p:to>
                                    </p:set>
                                    <p:animEffect transition="in" filter="fade">
                                      <p:cBhvr>
                                        <p:cTn id="21" dur="400"/>
                                        <p:tgtEl>
                                          <p:spTgt spid="60"/>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61"/>
                                        </p:tgtEl>
                                        <p:attrNameLst>
                                          <p:attrName>style.visibility</p:attrName>
                                        </p:attrNameLst>
                                      </p:cBhvr>
                                      <p:to>
                                        <p:strVal val="visible"/>
                                      </p:to>
                                    </p:set>
                                    <p:animEffect transition="in" filter="fade">
                                      <p:cBhvr>
                                        <p:cTn id="24" dur="400"/>
                                        <p:tgtEl>
                                          <p:spTgt spid="61"/>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62"/>
                                        </p:tgtEl>
                                        <p:attrNameLst>
                                          <p:attrName>style.visibility</p:attrName>
                                        </p:attrNameLst>
                                      </p:cBhvr>
                                      <p:to>
                                        <p:strVal val="visible"/>
                                      </p:to>
                                    </p:set>
                                    <p:animEffect transition="in" filter="fade">
                                      <p:cBhvr>
                                        <p:cTn id="29" dur="400"/>
                                        <p:tgtEl>
                                          <p:spTgt spid="62"/>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63"/>
                                        </p:tgtEl>
                                        <p:attrNameLst>
                                          <p:attrName>style.visibility</p:attrName>
                                        </p:attrNameLst>
                                      </p:cBhvr>
                                      <p:to>
                                        <p:strVal val="visible"/>
                                      </p:to>
                                    </p:set>
                                    <p:animEffect transition="in" filter="fade">
                                      <p:cBhvr>
                                        <p:cTn id="32" dur="400"/>
                                        <p:tgtEl>
                                          <p:spTgt spid="63"/>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64"/>
                                        </p:tgtEl>
                                        <p:attrNameLst>
                                          <p:attrName>style.visibility</p:attrName>
                                        </p:attrNameLst>
                                      </p:cBhvr>
                                      <p:to>
                                        <p:strVal val="visible"/>
                                      </p:to>
                                    </p:set>
                                    <p:animEffect transition="in" filter="fade">
                                      <p:cBhvr>
                                        <p:cTn id="35" dur="400"/>
                                        <p:tgtEl>
                                          <p:spTgt spid="64"/>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65"/>
                                        </p:tgtEl>
                                        <p:attrNameLst>
                                          <p:attrName>style.visibility</p:attrName>
                                        </p:attrNameLst>
                                      </p:cBhvr>
                                      <p:to>
                                        <p:strVal val="visible"/>
                                      </p:to>
                                    </p:set>
                                    <p:animEffect transition="in" filter="fade">
                                      <p:cBhvr>
                                        <p:cTn id="40" dur="400"/>
                                        <p:tgtEl>
                                          <p:spTgt spid="65"/>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66"/>
                                        </p:tgtEl>
                                        <p:attrNameLst>
                                          <p:attrName>style.visibility</p:attrName>
                                        </p:attrNameLst>
                                      </p:cBhvr>
                                      <p:to>
                                        <p:strVal val="visible"/>
                                      </p:to>
                                    </p:set>
                                    <p:animEffect transition="in" filter="fade">
                                      <p:cBhvr>
                                        <p:cTn id="43" dur="400"/>
                                        <p:tgtEl>
                                          <p:spTgt spid="66"/>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67"/>
                                        </p:tgtEl>
                                        <p:attrNameLst>
                                          <p:attrName>style.visibility</p:attrName>
                                        </p:attrNameLst>
                                      </p:cBhvr>
                                      <p:to>
                                        <p:strVal val="visible"/>
                                      </p:to>
                                    </p:set>
                                    <p:animEffect transition="in" filter="fade">
                                      <p:cBhvr>
                                        <p:cTn id="46" dur="40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6" grpId="0" animBg="1"/>
      <p:bldP spid="57" grpId="0"/>
      <p:bldP spid="58" grpId="0"/>
      <p:bldP spid="59" grpId="0" animBg="1"/>
      <p:bldP spid="60" grpId="0"/>
      <p:bldP spid="61" grpId="0"/>
      <p:bldP spid="62" grpId="0" animBg="1"/>
      <p:bldP spid="63" grpId="0"/>
      <p:bldP spid="64" grpId="0"/>
      <p:bldP spid="65" grpId="0" animBg="1"/>
      <p:bldP spid="66" grpId="0"/>
      <p:bldP spid="67" grpId="0"/>
    </p:bld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6"/>
          </p:nvPr>
        </p:nvSpPr>
        <p:spPr>
          <a:xfrm>
            <a:off x="640080" y="1263396"/>
            <a:ext cx="10911840" cy="681228"/>
          </a:xfrm>
        </p:spPr>
        <p:txBody>
          <a:bodyPr lIns="0" rIns="0" tIns="0" bIns="0"/>
          <a:lstStyle/>
          <a:p>
            <a:r>
              <a:rPr sz="4200" lang="es-CO"/>
              <a:t>¿Esta bomba está </a:t>
            </a:r>
            <a:r>
              <a:rPr sz="4200" b="1" lang="es-CO">
                <a:solidFill>
                  <a:srgbClr val="6D28D9"/>
                </a:solidFill>
              </a:rPr>
              <a:t>fallando</a:t>
            </a:r>
            <a:r>
              <a:rPr sz="4200" lang="es-CO"/>
              <a:t>?</a:t>
            </a:r>
          </a:p>
        </p:txBody>
      </p:sp>
      <p:sp>
        <p:nvSpPr>
          <p:cNvPr id="52"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3" name="Audio bomba A">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853440" y="2255520"/>
            <a:ext cx="60960" cy="121920"/>
          </a:xfrm>
          <a:prstGeom prst="rect">
            <a:avLst/>
          </a:prstGeom>
        </p:spPr>
      </p:pic>
      <p:grpSp>
        <p:nvGrpSpPr>
          <p:cNvPr id="3" name="Botón A"/>
          <p:cNvGrpSpPr/>
          <p:nvPr/>
        </p:nvGrpSpPr>
        <p:grpSpPr>
          <a:xfrm>
            <a:off x="640080" y="2103120"/>
            <a:ext cx="1534478" cy="426720"/>
            <a:chOff x="640080" y="2103120"/>
            <a:chExt cx="1534478" cy="426720"/>
          </a:xfrm>
        </p:grpSpPr>
        <p:sp>
          <p:nvSpPr>
            <p:cNvPr id="54" name="Fondo"/>
            <p:cNvSpPr/>
            <p:nvPr/>
          </p:nvSpPr>
          <p:spPr>
            <a:xfrm>
              <a:off x="640080" y="2103120"/>
              <a:ext cx="1534478" cy="426720"/>
            </a:xfrm>
            <a:prstGeom prst="roundRect">
              <a:avLst>
                <a:gd name="adj" fmla="val 50000"/>
              </a:avLst>
            </a:prstGeom>
            <a:solidFill>
              <a:srgbClr val="6D28D9"/>
            </a:solidFill>
            <a:ln>
              <a:noFill/>
            </a:ln>
          </p:spPr>
          <p:txBody>
            <a:bodyPr rtlCol="0" anchor="ctr"/>
            <a:lstStyle/>
            <a:p>
              <a:pPr algn="ctr"/>
            </a:p>
          </p:txBody>
        </p:sp>
        <p:sp>
          <p:nvSpPr>
            <p:cNvPr id="4" name="Triángulo"/>
            <p:cNvSpPr/>
            <p:nvPr/>
          </p:nvSpPr>
          <p:spPr>
            <a:xfrm>
              <a:off x="929640" y="2225040"/>
              <a:ext cx="144780" cy="182880"/>
            </a:xfrm>
            <a:custGeom>
              <a:avLst/>
              <a:gdLst/>
              <a:ahLst/>
              <a:cxnLst/>
              <a:rect l="l" t="t" r="r" b="b"/>
              <a:pathLst>
                <a:path w="144780" h="182880">
                  <a:moveTo>
                    <a:pt x="0" y="0"/>
                  </a:moveTo>
                  <a:lnTo>
                    <a:pt x="144780" y="91440"/>
                  </a:lnTo>
                  <a:lnTo>
                    <a:pt x="0" y="182880"/>
                  </a:lnTo>
                  <a:close/>
                </a:path>
              </a:pathLst>
            </a:custGeom>
            <a:solidFill>
              <a:srgbClr val="FFFFFF"/>
            </a:solidFill>
            <a:ln>
              <a:noFill/>
            </a:ln>
          </p:spPr>
          <p:txBody>
            <a:bodyPr rtlCol="0" anchor="ctr"/>
            <a:lstStyle/>
            <a:p>
              <a:pPr algn="ctr"/>
            </a:p>
          </p:txBody>
        </p:sp>
        <p:sp>
          <p:nvSpPr>
            <p:cNvPr id="55" name="Rótulo"/>
            <p:cNvSpPr txBox="1"/>
            <p:nvPr/>
          </p:nvSpPr>
          <p:spPr>
            <a:xfrm>
              <a:off x="1196340" y="2103120"/>
              <a:ext cx="902018" cy="426720"/>
            </a:xfrm>
            <a:prstGeom prst="rect">
              <a:avLst/>
            </a:prstGeom>
            <a:noFill/>
          </p:spPr>
          <p:txBody>
            <a:bodyPr wrap="square" lIns="0" tIns="0" rIns="0" bIns="0" anchor="ctr">
              <a:noAutofit/>
            </a:bodyPr>
            <a:lstStyle/>
            <a:p>
              <a:r>
                <a:rPr sz="1500" b="1" lang="es-CO">
                  <a:solidFill>
                    <a:srgbClr val="FFFFFF"/>
                  </a:solidFill>
                  <a:latin typeface="Calibri"/>
                </a:rPr>
                <a:t>Bomba A</a:t>
              </a:r>
            </a:p>
          </p:txBody>
        </p:sp>
      </p:grpSp>
      <p:pic>
        <p:nvPicPr>
          <p:cNvPr id="56" name="Audio bomba B">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2570798" y="2255520"/>
            <a:ext cx="60960" cy="121920"/>
          </a:xfrm>
          <a:prstGeom prst="rect">
            <a:avLst/>
          </a:prstGeom>
        </p:spPr>
      </p:pic>
      <p:grpSp>
        <p:nvGrpSpPr>
          <p:cNvPr id="5" name="Botón B"/>
          <p:cNvGrpSpPr/>
          <p:nvPr/>
        </p:nvGrpSpPr>
        <p:grpSpPr>
          <a:xfrm>
            <a:off x="2357438" y="2103120"/>
            <a:ext cx="1525786" cy="426720"/>
            <a:chOff x="2357438" y="2103120"/>
            <a:chExt cx="1525786" cy="426720"/>
          </a:xfrm>
        </p:grpSpPr>
        <p:sp>
          <p:nvSpPr>
            <p:cNvPr id="57" name="Fondo"/>
            <p:cNvSpPr/>
            <p:nvPr/>
          </p:nvSpPr>
          <p:spPr>
            <a:xfrm>
              <a:off x="2357438" y="2103120"/>
              <a:ext cx="1525786" cy="426720"/>
            </a:xfrm>
            <a:prstGeom prst="roundRect">
              <a:avLst>
                <a:gd name="adj" fmla="val 50000"/>
              </a:avLst>
            </a:prstGeom>
            <a:solidFill>
              <a:srgbClr val="6D28D9"/>
            </a:solidFill>
            <a:ln>
              <a:noFill/>
            </a:ln>
          </p:spPr>
          <p:txBody>
            <a:bodyPr rtlCol="0" anchor="ctr"/>
            <a:lstStyle/>
            <a:p>
              <a:pPr algn="ctr"/>
            </a:p>
          </p:txBody>
        </p:sp>
        <p:sp>
          <p:nvSpPr>
            <p:cNvPr id="6" name="Triángulo"/>
            <p:cNvSpPr/>
            <p:nvPr/>
          </p:nvSpPr>
          <p:spPr>
            <a:xfrm>
              <a:off x="2646998" y="2225040"/>
              <a:ext cx="144780" cy="182880"/>
            </a:xfrm>
            <a:custGeom>
              <a:avLst/>
              <a:gdLst/>
              <a:ahLst/>
              <a:cxnLst/>
              <a:rect l="l" t="t" r="r" b="b"/>
              <a:pathLst>
                <a:path w="144780" h="182880">
                  <a:moveTo>
                    <a:pt x="0" y="0"/>
                  </a:moveTo>
                  <a:lnTo>
                    <a:pt x="144780" y="91440"/>
                  </a:lnTo>
                  <a:lnTo>
                    <a:pt x="0" y="182880"/>
                  </a:lnTo>
                  <a:close/>
                </a:path>
              </a:pathLst>
            </a:custGeom>
            <a:solidFill>
              <a:srgbClr val="FFFFFF"/>
            </a:solidFill>
            <a:ln>
              <a:noFill/>
            </a:ln>
          </p:spPr>
          <p:txBody>
            <a:bodyPr rtlCol="0" anchor="ctr"/>
            <a:lstStyle/>
            <a:p>
              <a:pPr algn="ctr"/>
            </a:p>
          </p:txBody>
        </p:sp>
        <p:sp>
          <p:nvSpPr>
            <p:cNvPr id="58" name="Rótulo"/>
            <p:cNvSpPr txBox="1"/>
            <p:nvPr/>
          </p:nvSpPr>
          <p:spPr>
            <a:xfrm>
              <a:off x="2913698" y="2103120"/>
              <a:ext cx="893326" cy="426720"/>
            </a:xfrm>
            <a:prstGeom prst="rect">
              <a:avLst/>
            </a:prstGeom>
            <a:noFill/>
          </p:spPr>
          <p:txBody>
            <a:bodyPr wrap="square" lIns="0" tIns="0" rIns="0" bIns="0" anchor="ctr">
              <a:noAutofit/>
            </a:bodyPr>
            <a:lstStyle/>
            <a:p>
              <a:r>
                <a:rPr sz="1500" b="1" lang="es-CO">
                  <a:solidFill>
                    <a:srgbClr val="FFFFFF"/>
                  </a:solidFill>
                  <a:latin typeface="Calibri"/>
                </a:rPr>
                <a:t>Bomba B</a:t>
              </a:r>
            </a:p>
          </p:txBody>
        </p:sp>
      </p:grpSp>
      <p:sp>
        <p:nvSpPr>
          <p:cNvPr id="59" name="Marca"/>
          <p:cNvSpPr/>
          <p:nvPr/>
        </p:nvSpPr>
        <p:spPr>
          <a:xfrm>
            <a:off x="640080" y="2834640"/>
            <a:ext cx="228600" cy="1127760"/>
          </a:xfrm>
          <a:prstGeom prst="roundRect">
            <a:avLst>
              <a:gd name="adj" fmla="val 33333"/>
            </a:avLst>
          </a:prstGeom>
          <a:solidFill>
            <a:srgbClr val="6D28D9"/>
          </a:solidFill>
          <a:ln>
            <a:noFill/>
          </a:ln>
        </p:spPr>
        <p:txBody>
          <a:bodyPr rtlCol="0" anchor="ctr"/>
          <a:lstStyle/>
          <a:p>
            <a:pPr algn="ctr"/>
          </a:p>
        </p:txBody>
      </p:sp>
      <p:sp>
        <p:nvSpPr>
          <p:cNvPr id="60" name="Evento"/>
          <p:cNvSpPr/>
          <p:nvPr/>
        </p:nvSpPr>
        <p:spPr>
          <a:xfrm>
            <a:off x="685800" y="2834640"/>
            <a:ext cx="10866120" cy="1127760"/>
          </a:xfrm>
          <a:prstGeom prst="roundRect">
            <a:avLst>
              <a:gd name="adj" fmla="val 6756"/>
            </a:avLst>
          </a:prstGeom>
          <a:solidFill>
            <a:srgbClr val="F4F7FC"/>
          </a:solidFill>
          <a:ln w="11430">
            <a:solidFill>
              <a:srgbClr val="D5DEEA"/>
            </a:solidFill>
          </a:ln>
        </p:spPr>
        <p:txBody>
          <a:bodyPr rtlCol="0" anchor="ctr"/>
          <a:lstStyle/>
          <a:p>
            <a:pPr algn="ctr"/>
          </a:p>
        </p:txBody>
      </p:sp>
      <p:sp>
        <p:nvSpPr>
          <p:cNvPr id="61" name="TextBox 60"/>
          <p:cNvSpPr txBox="1"/>
          <p:nvPr/>
        </p:nvSpPr>
        <p:spPr>
          <a:xfrm>
            <a:off x="929640" y="2998470"/>
            <a:ext cx="9906000" cy="167335"/>
          </a:xfrm>
          <a:prstGeom prst="rect">
            <a:avLst/>
          </a:prstGeom>
          <a:noFill/>
        </p:spPr>
        <p:txBody>
          <a:bodyPr wrap="square" lIns="0" tIns="0" rIns="0" bIns="0" anchor="t">
            <a:noAutofit/>
          </a:bodyPr>
          <a:lstStyle/>
          <a:p>
            <a:r>
              <a:rPr sz="900" b="1" spc="90" lang="es-CO">
                <a:solidFill>
                  <a:srgbClr val="5C7290"/>
                </a:solidFill>
                <a:latin typeface="Calibri"/>
              </a:rPr>
              <a:t>LO QUE SALE DE LA ESTACIÓN · BOMBA B</a:t>
            </a:r>
          </a:p>
        </p:txBody>
      </p:sp>
      <p:sp>
        <p:nvSpPr>
          <p:cNvPr id="62" name="TextBox 61"/>
          <p:cNvSpPr txBox="1"/>
          <p:nvPr/>
        </p:nvSpPr>
        <p:spPr>
          <a:xfrm>
            <a:off x="929640" y="3257245"/>
            <a:ext cx="10515600" cy="259080"/>
          </a:xfrm>
          <a:prstGeom prst="rect">
            <a:avLst/>
          </a:prstGeom>
          <a:noFill/>
        </p:spPr>
        <p:txBody>
          <a:bodyPr wrap="square" lIns="0" tIns="0" rIns="0" bIns="0" anchor="t">
            <a:noAutofit/>
          </a:bodyPr>
          <a:lstStyle/>
          <a:p>
            <a:r>
              <a:rPr sz="1800" b="0" lang="es-CO">
                <a:solidFill>
                  <a:srgbClr val="071329"/>
                </a:solidFill>
                <a:latin typeface="Courier New"/>
              </a:rPr>
              <a:t>pump-03</a:t>
            </a:r>
            <a:r>
              <a:rPr sz="1800" b="0" lang="es-CO">
                <a:solidFill>
                  <a:srgbClr val="5C7290"/>
                </a:solidFill>
                <a:latin typeface="Courier New"/>
              </a:rPr>
              <a:t> ·</a:t>
            </a:r>
            <a:r>
              <a:rPr sz="1800" b="0" lang="es-CO">
                <a:solidFill>
                  <a:srgbClr val="071329"/>
                </a:solidFill>
                <a:latin typeface="Courier New"/>
              </a:rPr>
              <a:t> v1.0.0</a:t>
            </a:r>
            <a:r>
              <a:rPr sz="1800" b="0" lang="es-CO">
                <a:solidFill>
                  <a:srgbClr val="5C7290"/>
                </a:solidFill>
                <a:latin typeface="Courier New"/>
              </a:rPr>
              <a:t> ·</a:t>
            </a:r>
            <a:r>
              <a:rPr sz="1800" b="1" lang="es-CO">
                <a:solidFill>
                  <a:srgbClr val="6D28D9"/>
                </a:solidFill>
                <a:latin typeface="Courier New"/>
              </a:rPr>
              <a:t> ALERT</a:t>
            </a:r>
            <a:r>
              <a:rPr sz="1800" b="0" lang="es-CO">
                <a:solidFill>
                  <a:srgbClr val="5C7290"/>
                </a:solidFill>
                <a:latin typeface="Courier New"/>
              </a:rPr>
              <a:t> ·</a:t>
            </a:r>
            <a:r>
              <a:rPr sz="1800" b="0" lang="es-CO">
                <a:solidFill>
                  <a:srgbClr val="071329"/>
                </a:solidFill>
                <a:latin typeface="Courier New"/>
              </a:rPr>
              <a:t> score 0.42 (threshold 0.34)</a:t>
            </a:r>
            <a:r>
              <a:rPr sz="1800" b="0" lang="es-CO">
                <a:solidFill>
                  <a:srgbClr val="5C7290"/>
                </a:solidFill>
                <a:latin typeface="Courier New"/>
              </a:rPr>
              <a:t> ·</a:t>
            </a:r>
            <a:r>
              <a:rPr sz="1800" b="0" lang="es-CO">
                <a:solidFill>
                  <a:srgbClr val="071329"/>
                </a:solidFill>
                <a:latin typeface="Courier New"/>
              </a:rPr>
              <a:t> input 0.7</a:t>
            </a:r>
          </a:p>
        </p:txBody>
      </p:sp>
      <p:sp>
        <p:nvSpPr>
          <p:cNvPr id="63" name="TextBox 62"/>
          <p:cNvSpPr txBox="1"/>
          <p:nvPr/>
        </p:nvSpPr>
        <p:spPr>
          <a:xfrm>
            <a:off x="929640" y="3607765"/>
            <a:ext cx="10515600" cy="204521"/>
          </a:xfrm>
          <a:prstGeom prst="rect">
            <a:avLst/>
          </a:prstGeom>
          <a:noFill/>
        </p:spPr>
        <p:txBody>
          <a:bodyPr wrap="square" lIns="0" tIns="0" rIns="0" bIns="0" anchor="t">
            <a:noAutofit/>
          </a:bodyPr>
          <a:lstStyle/>
          <a:p>
            <a:r>
              <a:rPr sz="1320" b="0" lang="es-CO">
                <a:solidFill>
                  <a:srgbClr val="475569"/>
                </a:solidFill>
                <a:latin typeface="Calibri"/>
              </a:rPr>
              <a:t>Unos cientos de bytes. El audio se quedó en la estación.</a:t>
            </a:r>
          </a:p>
        </p:txBody>
      </p:sp>
      <p:sp>
        <p:nvSpPr>
          <p:cNvPr id="64" name="Frase"/>
          <p:cNvSpPr txBox="1"/>
          <p:nvPr/>
        </p:nvSpPr>
        <p:spPr>
          <a:xfrm>
            <a:off x="640080" y="4522622"/>
            <a:ext cx="10911840" cy="1122883"/>
          </a:xfrm>
          <a:prstGeom prst="rect">
            <a:avLst/>
          </a:prstGeom>
          <a:noFill/>
        </p:spPr>
        <p:txBody>
          <a:bodyPr wrap="square" lIns="0" tIns="0" rIns="0" bIns="0" anchor="t">
            <a:noAutofit/>
          </a:bodyPr>
          <a:lstStyle/>
          <a:p>
            <a:pPr>
              <a:lnSpc>
                <a:spcPct val="93400"/>
              </a:lnSpc>
            </a:pPr>
            <a:r>
              <a:rPr sz="3719" b="1" lang="es-CO">
                <a:solidFill>
                  <a:srgbClr val="071329"/>
                </a:solidFill>
                <a:latin typeface="Calibri"/>
              </a:rPr>
              <a:t>No necesitas </a:t>
            </a:r>
            <a:r>
              <a:rPr sz="3719" b="1" lang="es-CO">
                <a:solidFill>
                  <a:srgbClr val="6D28D9"/>
                </a:solidFill>
                <a:latin typeface="Calibri"/>
              </a:rPr>
              <a:t>ver</a:t>
            </a:r>
            <a:r>
              <a:rPr sz="3719" b="1" lang="es-CO">
                <a:solidFill>
                  <a:srgbClr val="071329"/>
                </a:solidFill>
                <a:latin typeface="Calibri"/>
              </a:rPr>
              <a:t> el modelo.</a:t>
            </a:r>
            <a:br/>
            <a:r>
              <a:rPr sz="3719" b="1" lang="es-CO">
                <a:solidFill>
                  <a:srgbClr val="071329"/>
                </a:solidFill>
                <a:latin typeface="Calibri"/>
              </a:rPr>
              <a:t>Necesitas que </a:t>
            </a:r>
            <a:r>
              <a:rPr sz="3719" b="1" lang="es-CO">
                <a:solidFill>
                  <a:srgbClr val="6D28D9"/>
                </a:solidFill>
                <a:latin typeface="Calibri"/>
              </a:rPr>
              <a:t>te cuente</a:t>
            </a:r>
            <a:r>
              <a:rPr sz="3719" b="1" lang="es-CO">
                <a:solidFill>
                  <a:srgbClr val="071329"/>
                </a:solidFill>
                <a:latin typeface="Calibri"/>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400"/>
                                        <p:tgtEl>
                                          <p:spTgt spid="5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0"/>
                                        </p:tgtEl>
                                        <p:attrNameLst>
                                          <p:attrName>style.visibility</p:attrName>
                                        </p:attrNameLst>
                                      </p:cBhvr>
                                      <p:to>
                                        <p:strVal val="visible"/>
                                      </p:to>
                                    </p:set>
                                    <p:animEffect transition="in" filter="fade">
                                      <p:cBhvr>
                                        <p:cTn id="10" dur="400"/>
                                        <p:tgtEl>
                                          <p:spTgt spid="6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1"/>
                                        </p:tgtEl>
                                        <p:attrNameLst>
                                          <p:attrName>style.visibility</p:attrName>
                                        </p:attrNameLst>
                                      </p:cBhvr>
                                      <p:to>
                                        <p:strVal val="visible"/>
                                      </p:to>
                                    </p:set>
                                    <p:animEffect transition="in" filter="fade">
                                      <p:cBhvr>
                                        <p:cTn id="13" dur="400"/>
                                        <p:tgtEl>
                                          <p:spTgt spid="6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2"/>
                                        </p:tgtEl>
                                        <p:attrNameLst>
                                          <p:attrName>style.visibility</p:attrName>
                                        </p:attrNameLst>
                                      </p:cBhvr>
                                      <p:to>
                                        <p:strVal val="visible"/>
                                      </p:to>
                                    </p:set>
                                    <p:animEffect transition="in" filter="fade">
                                      <p:cBhvr>
                                        <p:cTn id="16" dur="400"/>
                                        <p:tgtEl>
                                          <p:spTgt spid="6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63"/>
                                        </p:tgtEl>
                                        <p:attrNameLst>
                                          <p:attrName>style.visibility</p:attrName>
                                        </p:attrNameLst>
                                      </p:cBhvr>
                                      <p:to>
                                        <p:strVal val="visible"/>
                                      </p:to>
                                    </p:set>
                                    <p:animEffect transition="in" filter="fade">
                                      <p:cBhvr>
                                        <p:cTn id="19" dur="400"/>
                                        <p:tgtEl>
                                          <p:spTgt spid="63"/>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64"/>
                                        </p:tgtEl>
                                        <p:attrNameLst>
                                          <p:attrName>style.visibility</p:attrName>
                                        </p:attrNameLst>
                                      </p:cBhvr>
                                      <p:to>
                                        <p:strVal val="visible"/>
                                      </p:to>
                                    </p:set>
                                    <p:animEffect transition="in" filter="fade">
                                      <p:cBhvr>
                                        <p:cTn id="24" dur="4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5" restart="whenNotActive" fill="hold" evtFilter="cancelBubble" nodeType="interactiveSeq">
                <p:stCondLst>
                  <p:cond evt="onClick" delay="0">
                    <p:tgtEl>
                      <p:spTgt spid="3"/>
                    </p:tgtEl>
                  </p:cond>
                </p:stCondLst>
                <p:endSyncLst>
                  <p:cond evt="onEnd" delay="0">
                    <p:rtn val="all"/>
                  </p:cond>
                </p:endSyncLst>
                <p:childTnLst>
                  <p:par>
                    <p:cTn id="26" fill="hold">
                      <p:stCondLst>
                        <p:cond delay="0"/>
                      </p:stCondLst>
                      <p:childTnLst>
                        <p:par>
                          <p:cTn id="27" fill="hold">
                            <p:stCondLst>
                              <p:cond delay="0"/>
                            </p:stCondLst>
                            <p:childTnLst>
                              <p:par>
                                <p:cTn id="28" presetID="1" presetClass="mediacall" presetSubtype="0" fill="hold" nodeType="clickEffect">
                                  <p:stCondLst>
                                    <p:cond delay="0"/>
                                  </p:stCondLst>
                                  <p:childTnLst>
                                    <p:cmd type="call" cmd="playFrom(0.0)">
                                      <p:cBhvr>
                                        <p:cTn id="29" dur="1" fill="hold"/>
                                        <p:tgtEl>
                                          <p:spTgt spid="53"/>
                                        </p:tgtEl>
                                      </p:cBhvr>
                                    </p:cmd>
                                  </p:childTnLst>
                                </p:cTn>
                              </p:par>
                            </p:childTnLst>
                          </p:cTn>
                        </p:par>
                      </p:childTnLst>
                    </p:cTn>
                  </p:par>
                </p:childTnLst>
              </p:cTn>
              <p:nextCondLst>
                <p:cond evt="onClick" delay="0">
                  <p:tgtEl>
                    <p:spTgt spid="3"/>
                  </p:tgtEl>
                </p:cond>
              </p:nextCondLst>
            </p:seq>
            <p:seq concurrent="1" nextAc="seek">
              <p:cTn id="30" restart="whenNotActive" fill="hold" evtFilter="cancelBubble" nodeType="interactiveSeq">
                <p:stCondLst>
                  <p:cond evt="onClick" delay="0">
                    <p:tgtEl>
                      <p:spTgt spid="5"/>
                    </p:tgtEl>
                  </p:cond>
                </p:stCondLst>
                <p:endSyncLst>
                  <p:cond evt="onEnd" delay="0">
                    <p:rtn val="all"/>
                  </p:cond>
                </p:endSyncLst>
                <p:childTnLst>
                  <p:par>
                    <p:cTn id="31" fill="hold">
                      <p:stCondLst>
                        <p:cond delay="0"/>
                      </p:stCondLst>
                      <p:childTnLst>
                        <p:par>
                          <p:cTn id="32" fill="hold">
                            <p:stCondLst>
                              <p:cond delay="0"/>
                            </p:stCondLst>
                            <p:childTnLst>
                              <p:par>
                                <p:cTn id="33" presetID="1" presetClass="mediacall" presetSubtype="0" fill="hold" nodeType="clickEffect">
                                  <p:stCondLst>
                                    <p:cond delay="0"/>
                                  </p:stCondLst>
                                  <p:childTnLst>
                                    <p:cmd type="call" cmd="playFrom(0.0)">
                                      <p:cBhvr>
                                        <p:cTn id="34" dur="1" fill="hold"/>
                                        <p:tgtEl>
                                          <p:spTgt spid="56"/>
                                        </p:tgtEl>
                                      </p:cBhvr>
                                    </p:cmd>
                                  </p:childTnLst>
                                </p:cTn>
                              </p:par>
                            </p:childTnLst>
                          </p:cTn>
                        </p:par>
                      </p:childTnLst>
                    </p:cTn>
                  </p:par>
                </p:childTnLst>
              </p:cTn>
              <p:nextCondLst>
                <p:cond evt="onClick" delay="0">
                  <p:tgtEl>
                    <p:spTgt spid="5"/>
                  </p:tgtEl>
                </p:cond>
              </p:nextCondLst>
            </p:seq>
          </p:childTnLst>
        </p:cTn>
      </p:par>
    </p:tnLst>
    <p:bldLst>
      <p:bldP spid="59" grpId="0"/>
      <p:bldP spid="60" grpId="0"/>
      <p:bldP spid="61" grpId="0"/>
      <p:bldP spid="62" grpId="0"/>
      <p:bldP spid="63" grpId="0"/>
      <p:bldP spid="64" grpId="0"/>
    </p:bldLst>
  </p:timing>
  <p:timing>
    <p:tnLst>
      <p:par>
        <p:cTn id="1" dur="indefinite" restart="never" nodeType="tmRoot">
          <p:childTnLst>
            <p:video>
              <p:cMediaNode vol="80000">
                <p:cTn id="2" fill="hold" display="0">
                  <p:stCondLst>
                    <p:cond delay="indefinite"/>
                  </p:stCondLst>
                </p:cTn>
                <p:tgtEl>
                  <p:spTgt spid="53"/>
                </p:tgtEl>
              </p:cMediaNode>
            </p:video>
            <p:video>
              <p:cMediaNode vol="80000">
                <p:cTn id="3" fill="hold" display="0">
                  <p:stCondLst>
                    <p:cond delay="indefinite"/>
                  </p:stCondLst>
                </p:cTn>
                <p:tgtEl>
                  <p:spTgt spid="56"/>
                </p:tgtEl>
              </p:cMediaNode>
            </p:video>
          </p:childTnLst>
        </p:cTn>
      </p:par>
    </p:tn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RECURSOS</a:t>
            </a:r>
          </a:p>
        </p:txBody>
      </p:sp>
      <p:sp>
        <p:nvSpPr>
          <p:cNvPr id="3" name="Title 2"/>
          <p:cNvSpPr>
            <a:spLocks noGrp="1"/>
          </p:cNvSpPr>
          <p:nvPr>
            <p:ph type="title" idx="107"/>
          </p:nvPr>
        </p:nvSpPr>
        <p:spPr/>
        <p:txBody>
          <a:bodyPr lIns="0"/>
          <a:lstStyle/>
          <a:p>
            <a:r>
              <a:rPr lang="es-CO"/>
              <a:t>Recursos </a:t>
            </a:r>
            <a:r>
              <a:rPr b="1" lang="es-CO">
                <a:solidFill>
                  <a:srgbClr val="6D28D9"/>
                </a:solidFill>
              </a:rPr>
              <a:t>y contacto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965960"/>
            <a:ext cx="3124200" cy="563880"/>
          </a:xfrm>
          <a:prstGeom prst="rect">
            <a:avLst/>
          </a:prstGeom>
          <a:noFill/>
        </p:spPr>
        <p:txBody>
          <a:bodyPr wrap="square" lIns="0" tIns="0" rIns="0" bIns="0" anchor="ctr">
            <a:noAutofit/>
          </a:bodyPr>
          <a:lstStyle/>
          <a:p>
            <a:r>
              <a:rPr sz="1620" b="1" lang="es-CO">
                <a:solidFill>
                  <a:srgbClr val="071329"/>
                </a:solidFill>
                <a:latin typeface="Calibri"/>
              </a:rPr>
              <a:t>Código de la demo</a:t>
            </a:r>
          </a:p>
        </p:txBody>
      </p:sp>
      <p:sp>
        <p:nvSpPr>
          <p:cNvPr id="55" name="TextBox 54"/>
          <p:cNvSpPr txBox="1"/>
          <p:nvPr/>
        </p:nvSpPr>
        <p:spPr>
          <a:xfrm>
            <a:off x="3840480" y="1965960"/>
            <a:ext cx="4754880" cy="563880"/>
          </a:xfrm>
          <a:prstGeom prst="rect">
            <a:avLst/>
          </a:prstGeom>
          <a:noFill/>
        </p:spPr>
        <p:txBody>
          <a:bodyPr wrap="square" lIns="0" tIns="0" rIns="0" bIns="0" anchor="ctr">
            <a:noAutofit/>
          </a:bodyPr>
          <a:lstStyle/>
          <a:p>
            <a:r>
              <a:rPr sz="1320" b="0" lang="es-CO">
                <a:solidFill>
                  <a:srgbClr val="1F6C93"/>
                </a:solidFill>
                <a:latin typeface="Courier New"/>
              </a:rPr>
              <a:t>github.com/alejandro945/mlops-a-ciegas</a:t>
            </a:r>
          </a:p>
        </p:txBody>
      </p:sp>
      <p:cxnSp>
        <p:nvCxnSpPr>
          <p:cNvPr id="56" name="Connector 55"/>
          <p:cNvCxnSpPr/>
          <p:nvPr/>
        </p:nvCxnSpPr>
        <p:spPr>
          <a:xfrm>
            <a:off x="640080" y="2529840"/>
            <a:ext cx="7955280" cy="0"/>
          </a:xfrm>
          <a:prstGeom prst="line">
            <a:avLst/>
          </a:prstGeom>
          <a:ln w="11430">
            <a:solidFill>
              <a:srgbClr val="D5DEEA"/>
            </a:solidFill>
          </a:ln>
        </p:spPr>
      </p:cxnSp>
      <p:sp>
        <p:nvSpPr>
          <p:cNvPr id="57" name="TextBox 56"/>
          <p:cNvSpPr txBox="1"/>
          <p:nvPr/>
        </p:nvSpPr>
        <p:spPr>
          <a:xfrm>
            <a:off x="640080" y="2834640"/>
            <a:ext cx="3124200" cy="563880"/>
          </a:xfrm>
          <a:prstGeom prst="rect">
            <a:avLst/>
          </a:prstGeom>
          <a:noFill/>
        </p:spPr>
        <p:txBody>
          <a:bodyPr wrap="square" lIns="0" tIns="0" rIns="0" bIns="0" anchor="ctr">
            <a:noAutofit/>
          </a:bodyPr>
          <a:lstStyle/>
          <a:p>
            <a:r>
              <a:rPr sz="1620" b="1" lang="es-CO">
                <a:solidFill>
                  <a:srgbClr val="071329"/>
                </a:solidFill>
                <a:latin typeface="Calibri"/>
              </a:rPr>
              <a:t>Láminas y guion</a:t>
            </a:r>
          </a:p>
        </p:txBody>
      </p:sp>
      <p:sp>
        <p:nvSpPr>
          <p:cNvPr id="58" name="TextBox 57"/>
          <p:cNvSpPr txBox="1"/>
          <p:nvPr/>
        </p:nvSpPr>
        <p:spPr>
          <a:xfrm>
            <a:off x="3840480" y="2834640"/>
            <a:ext cx="4754880" cy="563880"/>
          </a:xfrm>
          <a:prstGeom prst="rect">
            <a:avLst/>
          </a:prstGeom>
          <a:noFill/>
        </p:spPr>
        <p:txBody>
          <a:bodyPr wrap="square" lIns="0" tIns="0" rIns="0" bIns="0" anchor="ctr">
            <a:noAutofit/>
          </a:bodyPr>
          <a:lstStyle/>
          <a:p>
            <a:r>
              <a:rPr sz="1320" b="0" lang="es-CO">
                <a:solidFill>
                  <a:srgbClr val="1F6C93"/>
                </a:solidFill>
                <a:latin typeface="Courier New"/>
              </a:rPr>
              <a:t>github.com/alejandro945/mlops-a-ciegas · talk/</a:t>
            </a:r>
          </a:p>
        </p:txBody>
      </p:sp>
      <p:cxnSp>
        <p:nvCxnSpPr>
          <p:cNvPr id="59" name="Connector 58"/>
          <p:cNvCxnSpPr/>
          <p:nvPr/>
        </p:nvCxnSpPr>
        <p:spPr>
          <a:xfrm>
            <a:off x="640080" y="3398520"/>
            <a:ext cx="7955280" cy="0"/>
          </a:xfrm>
          <a:prstGeom prst="line">
            <a:avLst/>
          </a:prstGeom>
          <a:ln w="11430">
            <a:solidFill>
              <a:srgbClr val="D5DEEA"/>
            </a:solidFill>
          </a:ln>
        </p:spPr>
      </p:cxnSp>
      <p:sp>
        <p:nvSpPr>
          <p:cNvPr id="60" name="TextBox 59"/>
          <p:cNvSpPr txBox="1"/>
          <p:nvPr/>
        </p:nvSpPr>
        <p:spPr>
          <a:xfrm>
            <a:off x="640080" y="3703320"/>
            <a:ext cx="3124200" cy="563880"/>
          </a:xfrm>
          <a:prstGeom prst="rect">
            <a:avLst/>
          </a:prstGeom>
          <a:noFill/>
        </p:spPr>
        <p:txBody>
          <a:bodyPr wrap="square" lIns="0" tIns="0" rIns="0" bIns="0" anchor="ctr">
            <a:noAutofit/>
          </a:bodyPr>
          <a:lstStyle/>
          <a:p>
            <a:r>
              <a:rPr sz="1620" b="1" lang="es-CO">
                <a:solidFill>
                  <a:srgbClr val="071329"/>
                </a:solidFill>
                <a:latin typeface="Calibri"/>
              </a:rPr>
              <a:t>Lectura recomendada</a:t>
            </a:r>
          </a:p>
        </p:txBody>
      </p:sp>
      <p:sp>
        <p:nvSpPr>
          <p:cNvPr id="61" name="TextBox 60"/>
          <p:cNvSpPr txBox="1"/>
          <p:nvPr/>
        </p:nvSpPr>
        <p:spPr>
          <a:xfrm>
            <a:off x="3840480" y="3703320"/>
            <a:ext cx="4754880" cy="563880"/>
          </a:xfrm>
          <a:prstGeom prst="rect">
            <a:avLst/>
          </a:prstGeom>
          <a:noFill/>
        </p:spPr>
        <p:txBody>
          <a:bodyPr wrap="square" lIns="0" tIns="0" rIns="0" bIns="0" anchor="ctr">
            <a:noAutofit/>
          </a:bodyPr>
          <a:lstStyle/>
          <a:p>
            <a:r>
              <a:rPr sz="1320" b="0" lang="es-CO">
                <a:solidFill>
                  <a:srgbClr val="1F6C93"/>
                </a:solidFill>
                <a:latin typeface="Courier New"/>
              </a:rPr>
              <a:t>The ML Test Score · Breck et al., Google, 2017</a:t>
            </a:r>
          </a:p>
        </p:txBody>
      </p:sp>
      <p:cxnSp>
        <p:nvCxnSpPr>
          <p:cNvPr id="62" name="Connector 61"/>
          <p:cNvCxnSpPr/>
          <p:nvPr/>
        </p:nvCxnSpPr>
        <p:spPr>
          <a:xfrm>
            <a:off x="640080" y="4267200"/>
            <a:ext cx="7955280" cy="0"/>
          </a:xfrm>
          <a:prstGeom prst="line">
            <a:avLst/>
          </a:prstGeom>
          <a:ln w="11430">
            <a:solidFill>
              <a:srgbClr val="D5DEEA"/>
            </a:solidFill>
          </a:ln>
        </p:spPr>
      </p:cxnSp>
      <p:sp>
        <p:nvSpPr>
          <p:cNvPr id="63" name="TextBox 62"/>
          <p:cNvSpPr txBox="1"/>
          <p:nvPr/>
        </p:nvSpPr>
        <p:spPr>
          <a:xfrm>
            <a:off x="640080" y="4572000"/>
            <a:ext cx="3124200" cy="563880"/>
          </a:xfrm>
          <a:prstGeom prst="rect">
            <a:avLst/>
          </a:prstGeom>
          <a:noFill/>
        </p:spPr>
        <p:txBody>
          <a:bodyPr wrap="square" lIns="0" tIns="0" rIns="0" bIns="0" anchor="ctr">
            <a:noAutofit/>
          </a:bodyPr>
          <a:lstStyle/>
          <a:p>
            <a:r>
              <a:rPr sz="1620" b="1" lang="es-CO">
                <a:solidFill>
                  <a:srgbClr val="071329"/>
                </a:solidFill>
                <a:latin typeface="Calibri"/>
              </a:rPr>
              <a:t>Dónde encontrarme</a:t>
            </a:r>
          </a:p>
        </p:txBody>
      </p:sp>
      <p:sp>
        <p:nvSpPr>
          <p:cNvPr id="64" name="TextBox 63"/>
          <p:cNvSpPr txBox="1"/>
          <p:nvPr/>
        </p:nvSpPr>
        <p:spPr>
          <a:xfrm>
            <a:off x="3840480" y="4572000"/>
            <a:ext cx="4754880" cy="563880"/>
          </a:xfrm>
          <a:prstGeom prst="rect">
            <a:avLst/>
          </a:prstGeom>
          <a:noFill/>
        </p:spPr>
        <p:txBody>
          <a:bodyPr wrap="square" lIns="0" tIns="0" rIns="0" bIns="0" anchor="ctr">
            <a:noAutofit/>
          </a:bodyPr>
          <a:lstStyle/>
          <a:p>
            <a:r>
              <a:rPr sz="1320" b="0" lang="es-CO">
                <a:solidFill>
                  <a:srgbClr val="1F6C93"/>
                </a:solidFill>
                <a:latin typeface="Courier New"/>
              </a:rPr>
              <a:t>linkedin.com/in/alejandro-varela-fr</a:t>
            </a:r>
          </a:p>
        </p:txBody>
      </p:sp>
      <p:sp>
        <p:nvSpPr>
          <p:cNvPr id="65" name="Marco QR"/>
          <p:cNvSpPr/>
          <p:nvPr/>
        </p:nvSpPr>
        <p:spPr>
          <a:xfrm>
            <a:off x="9052560" y="1965960"/>
            <a:ext cx="2499360" cy="2499360"/>
          </a:xfrm>
          <a:prstGeom prst="rect">
            <a:avLst/>
          </a:prstGeom>
          <a:solidFill>
            <a:srgbClr val="F4F7FC"/>
          </a:solidFill>
          <a:ln w="11430">
            <a:solidFill>
              <a:srgbClr val="D5DEEA"/>
            </a:solidFill>
          </a:ln>
        </p:spPr>
        <p:txBody>
          <a:bodyPr rtlCol="0" anchor="ctr"/>
          <a:lstStyle/>
          <a:p>
            <a:pPr algn="ctr"/>
          </a:p>
        </p:txBody>
      </p:sp>
      <p:pic>
        <p:nvPicPr>
          <p:cNvPr id="66" name="QR" descr="qr.png"/>
          <p:cNvPicPr>
            <a:picLocks noChangeAspect="1"/>
          </p:cNvPicPr>
          <p:nvPr/>
        </p:nvPicPr>
        <p:blipFill>
          <a:blip r:embed="rId2"/>
          <a:stretch>
            <a:fillRect/>
          </a:stretch>
        </p:blipFill>
        <p:spPr>
          <a:xfrm>
            <a:off x="9265920" y="2179320"/>
            <a:ext cx="2072640" cy="2072640"/>
          </a:xfrm>
          <a:prstGeom prst="rect">
            <a:avLst/>
          </a:prstGeom>
        </p:spPr>
      </p:pic>
      <p:sp>
        <p:nvSpPr>
          <p:cNvPr id="67" name="TextBox 66"/>
          <p:cNvSpPr txBox="1"/>
          <p:nvPr/>
        </p:nvSpPr>
        <p:spPr>
          <a:xfrm>
            <a:off x="9052560" y="4572000"/>
            <a:ext cx="2499360" cy="381000"/>
          </a:xfrm>
          <a:prstGeom prst="rect">
            <a:avLst/>
          </a:prstGeom>
          <a:noFill/>
        </p:spPr>
        <p:txBody>
          <a:bodyPr wrap="square" lIns="0" tIns="0" rIns="0" bIns="0" anchor="t">
            <a:noAutofit/>
          </a:bodyPr>
          <a:lstStyle/>
          <a:p>
            <a:pPr algn="ctr"/>
            <a:r>
              <a:rPr sz="1080" b="0" lang="es-CO">
                <a:solidFill>
                  <a:srgbClr val="475569"/>
                </a:solidFill>
                <a:latin typeface="Calibri"/>
              </a:rPr>
              <a:t>El repo, con el paso a paso de la demo</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4"/>
          </p:nvPr>
        </p:nvSpPr>
        <p:spPr/>
        <p:txBody>
          <a:bodyPr lIns="0"/>
          <a:lstStyle/>
          <a:p>
            <a:r>
              <a:rPr lang="es-CO"/>
              <a:t>Gracias</a:t>
            </a:r>
          </a:p>
        </p:txBody>
      </p:sp>
      <p:sp>
        <p:nvSpPr>
          <p:cNvPr id="3" name="Text Placeholder 2"/>
          <p:cNvSpPr>
            <a:spLocks noGrp="1"/>
          </p:cNvSpPr>
          <p:nvPr>
            <p:ph type="body" idx="105"/>
          </p:nvPr>
        </p:nvSpPr>
        <p:spPr/>
        <p:txBody>
          <a:bodyPr lIns="0"/>
          <a:lstStyle/>
          <a:p>
            <a:r>
              <a:rPr sz="2220" b="1" lang="es-CO">
                <a:solidFill>
                  <a:srgbClr val="071329"/>
                </a:solidFill>
              </a:rPr>
              <a:t>¿Preguntas?</a:t>
            </a:r>
          </a:p>
          <a:p>
            <a:r>
              <a:rPr sz="1019" lang="es-CO"/>
              <a:t> </a:t>
            </a:r>
          </a:p>
          <a:p>
            <a:r>
              <a:rPr sz="1680" lang="es-CO">
                <a:solidFill>
                  <a:srgbClr val="475569"/>
                </a:solidFill>
              </a:rPr>
              <a:t>Alejandro Varela</a:t>
            </a:r>
          </a:p>
          <a:p>
            <a:r>
              <a:rPr sz="1200" lang="es-CO">
                <a:solidFill>
                  <a:srgbClr val="1F6C93"/>
                </a:solidFill>
                <a:latin typeface="Courier New"/>
              </a:rPr>
              <a:t>linkedin.com/in/alejandro-varela-fr</a:t>
            </a:r>
          </a:p>
          <a:p>
            <a:r>
              <a:rPr sz="1200" lang="es-CO">
                <a:solidFill>
                  <a:srgbClr val="1F6C93"/>
                </a:solidFill>
                <a:latin typeface="Courier New"/>
              </a:rPr>
              <a:t>github.com/alejandro945/mlops-a-ciegas</a:t>
            </a:r>
          </a:p>
          <a:p>
            <a:r>
              <a:rPr sz="719" lang="es-CO"/>
              <a:t> </a:t>
            </a:r>
          </a:p>
          <a:p>
            <a:r>
              <a:rPr sz="1200" b="1" lang="es-CO">
                <a:solidFill>
                  <a:srgbClr val="6D28D9"/>
                </a:solidFill>
              </a:rPr>
              <a:t>#DevOpsDaysBogota</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El evento de la demo, </a:t>
            </a:r>
            <a:r>
              <a:rPr b="1" lang="es-CO">
                <a:solidFill>
                  <a:srgbClr val="6D28D9"/>
                </a:solidFill>
              </a:rPr>
              <a:t>campo por campo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3775862" cy="167640"/>
          </a:xfrm>
          <a:prstGeom prst="rect">
            <a:avLst/>
          </a:prstGeom>
          <a:noFill/>
        </p:spPr>
        <p:txBody>
          <a:bodyPr wrap="square" lIns="0" tIns="0" rIns="0" bIns="0" anchor="t">
            <a:noAutofit/>
          </a:bodyPr>
          <a:lstStyle/>
          <a:p>
            <a:r>
              <a:rPr sz="900" b="1" spc="90" lang="es-CO">
                <a:solidFill>
                  <a:srgbClr val="5C7290"/>
                </a:solidFill>
                <a:latin typeface="Calibri"/>
              </a:rPr>
              <a:t>CAMPO</a:t>
            </a:r>
          </a:p>
        </p:txBody>
      </p:sp>
      <p:sp>
        <p:nvSpPr>
          <p:cNvPr id="55" name="TextBox 54"/>
          <p:cNvSpPr txBox="1"/>
          <p:nvPr/>
        </p:nvSpPr>
        <p:spPr>
          <a:xfrm>
            <a:off x="4568342" y="1798320"/>
            <a:ext cx="6831178" cy="167640"/>
          </a:xfrm>
          <a:prstGeom prst="rect">
            <a:avLst/>
          </a:prstGeom>
          <a:noFill/>
        </p:spPr>
        <p:txBody>
          <a:bodyPr wrap="square" lIns="0" tIns="0" rIns="0" bIns="0" anchor="t">
            <a:noAutofit/>
          </a:bodyPr>
          <a:lstStyle/>
          <a:p>
            <a:r>
              <a:rPr sz="900" b="1" spc="90" lang="es-CO">
                <a:solidFill>
                  <a:srgbClr val="5C7290"/>
                </a:solidFill>
                <a:latin typeface="Calibri"/>
              </a:rPr>
              <a:t>QUÉ GUARDA</a:t>
            </a:r>
          </a:p>
        </p:txBody>
      </p:sp>
      <p:cxnSp>
        <p:nvCxnSpPr>
          <p:cNvPr id="56" name="Connector 55"/>
          <p:cNvCxnSpPr/>
          <p:nvPr/>
        </p:nvCxnSpPr>
        <p:spPr>
          <a:xfrm>
            <a:off x="640080" y="2057400"/>
            <a:ext cx="10911840" cy="0"/>
          </a:xfrm>
          <a:prstGeom prst="line">
            <a:avLst/>
          </a:prstGeom>
          <a:ln w="11430">
            <a:solidFill>
              <a:srgbClr val="D5DEEA"/>
            </a:solidFill>
          </a:ln>
        </p:spPr>
      </p:cxnSp>
      <p:sp>
        <p:nvSpPr>
          <p:cNvPr id="57" name="TextBox 56"/>
          <p:cNvSpPr txBox="1"/>
          <p:nvPr/>
        </p:nvSpPr>
        <p:spPr>
          <a:xfrm>
            <a:off x="640080" y="2141220"/>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device · model_version · sha256</a:t>
            </a:r>
          </a:p>
        </p:txBody>
      </p:sp>
      <p:sp>
        <p:nvSpPr>
          <p:cNvPr id="58" name="TextBox 57"/>
          <p:cNvSpPr txBox="1"/>
          <p:nvPr/>
        </p:nvSpPr>
        <p:spPr>
          <a:xfrm>
            <a:off x="4568342" y="2141220"/>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Quién decidió, con qué versión y la huella exacta de </a:t>
            </a:r>
            <a:r>
              <a:rPr sz="1080" b="0" lang="es-CO">
                <a:solidFill>
                  <a:srgbClr val="071329"/>
                </a:solidFill>
                <a:latin typeface="Courier New"/>
              </a:rPr>
              <a:t>model.onnx</a:t>
            </a:r>
          </a:p>
        </p:txBody>
      </p:sp>
      <p:cxnSp>
        <p:nvCxnSpPr>
          <p:cNvPr id="59" name="Connector 58"/>
          <p:cNvCxnSpPr/>
          <p:nvPr/>
        </p:nvCxnSpPr>
        <p:spPr>
          <a:xfrm>
            <a:off x="640080" y="2426208"/>
            <a:ext cx="10911840" cy="0"/>
          </a:xfrm>
          <a:prstGeom prst="line">
            <a:avLst/>
          </a:prstGeom>
          <a:ln w="11430">
            <a:solidFill>
              <a:srgbClr val="D5DEEA"/>
            </a:solidFill>
          </a:ln>
        </p:spPr>
      </p:cxnSp>
      <p:sp>
        <p:nvSpPr>
          <p:cNvPr id="60" name="TextBox 59"/>
          <p:cNvSpPr txBox="1"/>
          <p:nvPr/>
        </p:nvSpPr>
        <p:spPr>
          <a:xfrm>
            <a:off x="640080" y="2510028"/>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seq · ts</a:t>
            </a:r>
          </a:p>
        </p:txBody>
      </p:sp>
      <p:sp>
        <p:nvSpPr>
          <p:cNvPr id="61" name="TextBox 60"/>
          <p:cNvSpPr txBox="1"/>
          <p:nvPr/>
        </p:nvSpPr>
        <p:spPr>
          <a:xfrm>
            <a:off x="4568342" y="2510028"/>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Número de evento y el instante, en milisegundos, en que el equipo decidió</a:t>
            </a:r>
          </a:p>
        </p:txBody>
      </p:sp>
      <p:cxnSp>
        <p:nvCxnSpPr>
          <p:cNvPr id="62" name="Connector 61"/>
          <p:cNvCxnSpPr/>
          <p:nvPr/>
        </p:nvCxnSpPr>
        <p:spPr>
          <a:xfrm>
            <a:off x="640080" y="2795016"/>
            <a:ext cx="10911840" cy="0"/>
          </a:xfrm>
          <a:prstGeom prst="line">
            <a:avLst/>
          </a:prstGeom>
          <a:ln w="11430">
            <a:solidFill>
              <a:srgbClr val="D5DEEA"/>
            </a:solidFill>
          </a:ln>
        </p:spPr>
      </p:cxnSp>
      <p:sp>
        <p:nvSpPr>
          <p:cNvPr id="63" name="TextBox 62"/>
          <p:cNvSpPr txBox="1"/>
          <p:nvPr/>
        </p:nvSpPr>
        <p:spPr>
          <a:xfrm>
            <a:off x="640080" y="2878836"/>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clip · domain</a:t>
            </a:r>
          </a:p>
        </p:txBody>
      </p:sp>
      <p:sp>
        <p:nvSpPr>
          <p:cNvPr id="64" name="TextBox 63"/>
          <p:cNvSpPr txBox="1"/>
          <p:nvPr/>
        </p:nvSpPr>
        <p:spPr>
          <a:xfrm>
            <a:off x="4568342" y="2878836"/>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Qué audio escuchó y de qué dominio venía: </a:t>
            </a:r>
            <a:r>
              <a:rPr sz="1080" b="0" lang="es-CO">
                <a:solidFill>
                  <a:srgbClr val="071329"/>
                </a:solidFill>
                <a:latin typeface="Courier New"/>
              </a:rPr>
              <a:t>source</a:t>
            </a:r>
            <a:r>
              <a:rPr sz="1200" b="0" lang="es-CO">
                <a:solidFill>
                  <a:srgbClr val="071329"/>
                </a:solidFill>
                <a:latin typeface="Calibri"/>
              </a:rPr>
              <a:t> o </a:t>
            </a:r>
            <a:r>
              <a:rPr sz="1080" b="0" lang="es-CO">
                <a:solidFill>
                  <a:srgbClr val="071329"/>
                </a:solidFill>
                <a:latin typeface="Courier New"/>
              </a:rPr>
              <a:t>target</a:t>
            </a:r>
          </a:p>
        </p:txBody>
      </p:sp>
      <p:cxnSp>
        <p:nvCxnSpPr>
          <p:cNvPr id="65" name="Connector 64"/>
          <p:cNvCxnSpPr/>
          <p:nvPr/>
        </p:nvCxnSpPr>
        <p:spPr>
          <a:xfrm>
            <a:off x="640080" y="3163824"/>
            <a:ext cx="10911840" cy="0"/>
          </a:xfrm>
          <a:prstGeom prst="line">
            <a:avLst/>
          </a:prstGeom>
          <a:ln w="11430">
            <a:solidFill>
              <a:srgbClr val="D5DEEA"/>
            </a:solidFill>
          </a:ln>
        </p:spPr>
      </p:cxnSp>
      <p:sp>
        <p:nvSpPr>
          <p:cNvPr id="66" name="TextBox 65"/>
          <p:cNvSpPr txBox="1"/>
          <p:nvPr/>
        </p:nvSpPr>
        <p:spPr>
          <a:xfrm>
            <a:off x="640080" y="3247644"/>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score · threshold · alert</a:t>
            </a:r>
          </a:p>
        </p:txBody>
      </p:sp>
      <p:sp>
        <p:nvSpPr>
          <p:cNvPr id="67" name="TextBox 66"/>
          <p:cNvSpPr txBox="1"/>
          <p:nvPr/>
        </p:nvSpPr>
        <p:spPr>
          <a:xfrm>
            <a:off x="4568342" y="3247644"/>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El error de reconstrucción, el umbral de esa versión y la decisión</a:t>
            </a:r>
          </a:p>
        </p:txBody>
      </p:sp>
      <p:cxnSp>
        <p:nvCxnSpPr>
          <p:cNvPr id="68" name="Connector 67"/>
          <p:cNvCxnSpPr/>
          <p:nvPr/>
        </p:nvCxnSpPr>
        <p:spPr>
          <a:xfrm>
            <a:off x="640080" y="3532632"/>
            <a:ext cx="10911840" cy="0"/>
          </a:xfrm>
          <a:prstGeom prst="line">
            <a:avLst/>
          </a:prstGeom>
          <a:ln w="15240">
            <a:solidFill>
              <a:srgbClr val="6D28D9"/>
            </a:solidFill>
          </a:ln>
        </p:spPr>
      </p:cxnSp>
      <p:sp>
        <p:nvSpPr>
          <p:cNvPr id="69" name="TextBox 68"/>
          <p:cNvSpPr txBox="1"/>
          <p:nvPr/>
        </p:nvSpPr>
        <p:spPr>
          <a:xfrm>
            <a:off x="640080" y="3616452"/>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input_z</a:t>
            </a:r>
          </a:p>
        </p:txBody>
      </p:sp>
      <p:sp>
        <p:nvSpPr>
          <p:cNvPr id="70" name="TextBox 69"/>
          <p:cNvSpPr txBox="1"/>
          <p:nvPr/>
        </p:nvSpPr>
        <p:spPr>
          <a:xfrm>
            <a:off x="4568342" y="3616452"/>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La entrada, resumida: distancia media a la huella de lo normal. El audio no sale del equipo</a:t>
            </a:r>
          </a:p>
        </p:txBody>
      </p:sp>
      <p:cxnSp>
        <p:nvCxnSpPr>
          <p:cNvPr id="71" name="Connector 70"/>
          <p:cNvCxnSpPr/>
          <p:nvPr/>
        </p:nvCxnSpPr>
        <p:spPr>
          <a:xfrm>
            <a:off x="640080" y="3901440"/>
            <a:ext cx="10911840" cy="0"/>
          </a:xfrm>
          <a:prstGeom prst="line">
            <a:avLst/>
          </a:prstGeom>
          <a:ln w="11430">
            <a:solidFill>
              <a:srgbClr val="D5DEEA"/>
            </a:solidFill>
          </a:ln>
        </p:spPr>
      </p:cxnSp>
      <p:sp>
        <p:nvSpPr>
          <p:cNvPr id="72" name="TextBox 71"/>
          <p:cNvSpPr txBox="1"/>
          <p:nvPr/>
        </p:nvSpPr>
        <p:spPr>
          <a:xfrm>
            <a:off x="640080" y="3985260"/>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latency_ms</a:t>
            </a:r>
          </a:p>
        </p:txBody>
      </p:sp>
      <p:sp>
        <p:nvSpPr>
          <p:cNvPr id="73" name="TextBox 72"/>
          <p:cNvSpPr txBox="1"/>
          <p:nvPr/>
        </p:nvSpPr>
        <p:spPr>
          <a:xfrm>
            <a:off x="4568342" y="3985260"/>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En cuánto tiempo decidió</a:t>
            </a:r>
          </a:p>
        </p:txBody>
      </p:sp>
      <p:cxnSp>
        <p:nvCxnSpPr>
          <p:cNvPr id="74" name="Connector 73"/>
          <p:cNvCxnSpPr/>
          <p:nvPr/>
        </p:nvCxnSpPr>
        <p:spPr>
          <a:xfrm>
            <a:off x="640080" y="4270248"/>
            <a:ext cx="10911840" cy="0"/>
          </a:xfrm>
          <a:prstGeom prst="line">
            <a:avLst/>
          </a:prstGeom>
          <a:ln w="11430">
            <a:solidFill>
              <a:srgbClr val="D5DEEA"/>
            </a:solidFill>
          </a:ln>
        </p:spPr>
      </p:cxnSp>
      <p:sp>
        <p:nvSpPr>
          <p:cNvPr id="75" name="TextBox 74"/>
          <p:cNvSpPr txBox="1"/>
          <p:nvPr/>
        </p:nvSpPr>
        <p:spPr>
          <a:xfrm>
            <a:off x="640080" y="4354068"/>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truth</a:t>
            </a:r>
          </a:p>
        </p:txBody>
      </p:sp>
      <p:sp>
        <p:nvSpPr>
          <p:cNvPr id="76" name="TextBox 75"/>
          <p:cNvSpPr txBox="1"/>
          <p:nvPr/>
        </p:nvSpPr>
        <p:spPr>
          <a:xfrm>
            <a:off x="4568342" y="4354068"/>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Solo en la demo, porque sabemos qué audio suena</a:t>
            </a:r>
          </a:p>
        </p:txBody>
      </p:sp>
      <p:cxnSp>
        <p:nvCxnSpPr>
          <p:cNvPr id="77" name="Connector 76"/>
          <p:cNvCxnSpPr/>
          <p:nvPr/>
        </p:nvCxnSpPr>
        <p:spPr>
          <a:xfrm>
            <a:off x="640080" y="4639056"/>
            <a:ext cx="10911840" cy="0"/>
          </a:xfrm>
          <a:prstGeom prst="line">
            <a:avLst/>
          </a:prstGeom>
          <a:ln w="11430">
            <a:solidFill>
              <a:srgbClr val="D5DEEA"/>
            </a:solidFill>
          </a:ln>
        </p:spPr>
      </p:cxnSp>
      <p:sp>
        <p:nvSpPr>
          <p:cNvPr id="78" name="TextBox 77"/>
          <p:cNvSpPr txBox="1"/>
          <p:nvPr/>
        </p:nvSpPr>
        <p:spPr>
          <a:xfrm>
            <a:off x="640080" y="4722876"/>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arrived_ts</a:t>
            </a:r>
          </a:p>
        </p:txBody>
      </p:sp>
      <p:sp>
        <p:nvSpPr>
          <p:cNvPr id="79" name="TextBox 78"/>
          <p:cNvSpPr txBox="1"/>
          <p:nvPr/>
        </p:nvSpPr>
        <p:spPr>
          <a:xfrm>
            <a:off x="4568342" y="4722876"/>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Lo suma la regla de IoT al llegar. Su diferencia con </a:t>
            </a:r>
            <a:r>
              <a:rPr sz="1080" b="0" lang="es-CO">
                <a:solidFill>
                  <a:srgbClr val="071329"/>
                </a:solidFill>
                <a:latin typeface="Courier New"/>
              </a:rPr>
              <a:t>ts</a:t>
            </a:r>
            <a:r>
              <a:rPr sz="1200" b="0" lang="es-CO">
                <a:solidFill>
                  <a:srgbClr val="071329"/>
                </a:solidFill>
                <a:latin typeface="Calibri"/>
              </a:rPr>
              <a:t> es el tiempo que la estación estuvo sin red</a:t>
            </a:r>
          </a:p>
        </p:txBody>
      </p:sp>
      <p:cxnSp>
        <p:nvCxnSpPr>
          <p:cNvPr id="80" name="Connector 79"/>
          <p:cNvCxnSpPr/>
          <p:nvPr/>
        </p:nvCxnSpPr>
        <p:spPr>
          <a:xfrm>
            <a:off x="640080" y="5007864"/>
            <a:ext cx="10911840" cy="0"/>
          </a:xfrm>
          <a:prstGeom prst="line">
            <a:avLst/>
          </a:prstGeom>
          <a:ln w="11430">
            <a:solidFill>
              <a:srgbClr val="D5DEEA"/>
            </a:solidFill>
          </a:ln>
        </p:spPr>
      </p:cxnSp>
      <p:sp>
        <p:nvSpPr>
          <p:cNvPr id="81"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poc-devopsdays/component/inference.py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a2_html0.png"/>
          <p:cNvPicPr>
            <a:picLocks noChangeAspect="1"/>
          </p:cNvPicPr>
          <p:nvPr/>
        </p:nvPicPr>
        <p:blipFill>
          <a:blip r:embed="rId2"/>
          <a:stretch>
            <a:fillRect/>
          </a:stretch>
        </p:blipFill>
        <p:spPr>
          <a:xfrm>
            <a:off x="0" y="1447800"/>
            <a:ext cx="12192000" cy="4434840"/>
          </a:xfrm>
          <a:prstGeom prst="rect">
            <a:avLst/>
          </a:prstGeom>
        </p:spPr>
      </p:pic>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La vuelta automática, </a:t>
            </a:r>
            <a:r>
              <a:rPr b="1" lang="es-CO">
                <a:solidFill>
                  <a:srgbClr val="6D28D9"/>
                </a:solidFill>
              </a:rPr>
              <a:t>paso a paso</a:t>
            </a:r>
          </a:p>
        </p:txBody>
      </p:sp>
      <p:sp>
        <p:nvSpPr>
          <p:cNvPr id="55"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poc-devopsdays/cloud · poc-devopsdays/demo/deploy.sh</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¿Qué revierte Greengrass </a:t>
            </a:r>
            <a:r>
              <a:rPr b="1" lang="es-CO">
                <a:solidFill>
                  <a:srgbClr val="6D28D9"/>
                </a:solidFill>
              </a:rPr>
              <a:t>solo</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3339389" cy="167640"/>
          </a:xfrm>
          <a:prstGeom prst="rect">
            <a:avLst/>
          </a:prstGeom>
          <a:noFill/>
        </p:spPr>
        <p:txBody>
          <a:bodyPr wrap="square" lIns="0" tIns="0" rIns="0" bIns="0" anchor="t">
            <a:noAutofit/>
          </a:bodyPr>
          <a:lstStyle/>
          <a:p>
            <a:r>
              <a:rPr sz="900" b="1" spc="90" lang="es-CO">
                <a:solidFill>
                  <a:srgbClr val="5C7290"/>
                </a:solidFill>
                <a:latin typeface="Calibri"/>
              </a:rPr>
              <a:t>QUÉ PASA</a:t>
            </a:r>
          </a:p>
        </p:txBody>
      </p:sp>
      <p:sp>
        <p:nvSpPr>
          <p:cNvPr id="55" name="TextBox 54"/>
          <p:cNvSpPr txBox="1"/>
          <p:nvPr/>
        </p:nvSpPr>
        <p:spPr>
          <a:xfrm>
            <a:off x="4131869" y="1798320"/>
            <a:ext cx="3121152" cy="167640"/>
          </a:xfrm>
          <a:prstGeom prst="rect">
            <a:avLst/>
          </a:prstGeom>
          <a:noFill/>
        </p:spPr>
        <p:txBody>
          <a:bodyPr wrap="square" lIns="0" tIns="0" rIns="0" bIns="0" anchor="t">
            <a:noAutofit/>
          </a:bodyPr>
          <a:lstStyle/>
          <a:p>
            <a:r>
              <a:rPr sz="900" b="1" spc="90" lang="es-CO">
                <a:solidFill>
                  <a:srgbClr val="5C7290"/>
                </a:solidFill>
                <a:latin typeface="Calibri"/>
              </a:rPr>
              <a:t>¿GREENGRASS VUELVE ATRÁS?</a:t>
            </a:r>
          </a:p>
        </p:txBody>
      </p:sp>
      <p:sp>
        <p:nvSpPr>
          <p:cNvPr id="56" name="TextBox 55"/>
          <p:cNvSpPr txBox="1"/>
          <p:nvPr/>
        </p:nvSpPr>
        <p:spPr>
          <a:xfrm>
            <a:off x="7405421" y="1798320"/>
            <a:ext cx="3994099" cy="167640"/>
          </a:xfrm>
          <a:prstGeom prst="rect">
            <a:avLst/>
          </a:prstGeom>
          <a:noFill/>
        </p:spPr>
        <p:txBody>
          <a:bodyPr wrap="square" lIns="0" tIns="0" rIns="0" bIns="0" anchor="t">
            <a:noAutofit/>
          </a:bodyPr>
          <a:lstStyle/>
          <a:p>
            <a:r>
              <a:rPr sz="900" b="1" spc="90" lang="es-CO">
                <a:solidFill>
                  <a:srgbClr val="5C7290"/>
                </a:solidFill>
                <a:latin typeface="Calibri"/>
              </a:rPr>
              <a:t>CON QUÉ</a:t>
            </a:r>
          </a:p>
        </p:txBody>
      </p:sp>
      <p:cxnSp>
        <p:nvCxnSpPr>
          <p:cNvPr id="57" name="Connector 56"/>
          <p:cNvCxnSpPr/>
          <p:nvPr/>
        </p:nvCxnSpPr>
        <p:spPr>
          <a:xfrm>
            <a:off x="640080" y="2057400"/>
            <a:ext cx="10911840" cy="0"/>
          </a:xfrm>
          <a:prstGeom prst="line">
            <a:avLst/>
          </a:prstGeom>
          <a:ln w="11430">
            <a:solidFill>
              <a:srgbClr val="D5DEEA"/>
            </a:solidFill>
          </a:ln>
        </p:spPr>
      </p:cxnSp>
      <p:sp>
        <p:nvSpPr>
          <p:cNvPr id="58" name="TextBox 57"/>
          <p:cNvSpPr txBox="1"/>
          <p:nvPr/>
        </p:nvSpPr>
        <p:spPr>
          <a:xfrm>
            <a:off x="640080" y="2179320"/>
            <a:ext cx="3339389"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El artefacto en S3 cambió</a:t>
            </a:r>
          </a:p>
        </p:txBody>
      </p:sp>
      <p:sp>
        <p:nvSpPr>
          <p:cNvPr id="59" name="TextBox 58"/>
          <p:cNvSpPr txBox="1"/>
          <p:nvPr/>
        </p:nvSpPr>
        <p:spPr>
          <a:xfrm>
            <a:off x="4131869" y="2179320"/>
            <a:ext cx="3121152"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Sí: el despliegue falla</a:t>
            </a:r>
          </a:p>
        </p:txBody>
      </p:sp>
      <p:sp>
        <p:nvSpPr>
          <p:cNvPr id="60" name="TextBox 59"/>
          <p:cNvSpPr txBox="1"/>
          <p:nvPr/>
        </p:nvSpPr>
        <p:spPr>
          <a:xfrm>
            <a:off x="7405421" y="2179320"/>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El digest que calcula al crear la versión</a:t>
            </a:r>
          </a:p>
        </p:txBody>
      </p:sp>
      <p:cxnSp>
        <p:nvCxnSpPr>
          <p:cNvPr id="61" name="Connector 60"/>
          <p:cNvCxnSpPr/>
          <p:nvPr/>
        </p:nvCxnSpPr>
        <p:spPr>
          <a:xfrm>
            <a:off x="640080" y="2522525"/>
            <a:ext cx="10911840" cy="0"/>
          </a:xfrm>
          <a:prstGeom prst="line">
            <a:avLst/>
          </a:prstGeom>
          <a:ln w="11430">
            <a:solidFill>
              <a:srgbClr val="D5DEEA"/>
            </a:solidFill>
          </a:ln>
        </p:spPr>
      </p:cxnSp>
      <p:sp>
        <p:nvSpPr>
          <p:cNvPr id="62" name="TextBox 61"/>
          <p:cNvSpPr txBox="1"/>
          <p:nvPr/>
        </p:nvSpPr>
        <p:spPr>
          <a:xfrm>
            <a:off x="640080" y="2644445"/>
            <a:ext cx="3339389"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El componente no instala o no arranca</a:t>
            </a:r>
          </a:p>
        </p:txBody>
      </p:sp>
      <p:sp>
        <p:nvSpPr>
          <p:cNvPr id="63" name="TextBox 62"/>
          <p:cNvSpPr txBox="1"/>
          <p:nvPr/>
        </p:nvSpPr>
        <p:spPr>
          <a:xfrm>
            <a:off x="4131869" y="2644445"/>
            <a:ext cx="3121152"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Sí: vuelve a la anterior</a:t>
            </a:r>
          </a:p>
        </p:txBody>
      </p:sp>
      <p:sp>
        <p:nvSpPr>
          <p:cNvPr id="64" name="TextBox 63"/>
          <p:cNvSpPr txBox="1"/>
          <p:nvPr/>
        </p:nvSpPr>
        <p:spPr>
          <a:xfrm>
            <a:off x="7405421" y="2644445"/>
            <a:ext cx="3994099" cy="221285"/>
          </a:xfrm>
          <a:prstGeom prst="rect">
            <a:avLst/>
          </a:prstGeom>
          <a:noFill/>
        </p:spPr>
        <p:txBody>
          <a:bodyPr wrap="square" lIns="0" tIns="0" rIns="0" bIns="0" anchor="t">
            <a:noAutofit/>
          </a:bodyPr>
          <a:lstStyle/>
          <a:p>
            <a:pPr>
              <a:lnSpc>
                <a:spcPct val="110000"/>
              </a:lnSpc>
            </a:pPr>
            <a:r>
              <a:rPr sz="1080" b="0" lang="es-CO">
                <a:solidFill>
                  <a:srgbClr val="071329"/>
                </a:solidFill>
                <a:latin typeface="Courier New"/>
              </a:rPr>
              <a:t>failureHandlingPolicy</a:t>
            </a:r>
            <a:r>
              <a:rPr sz="1320" b="0" lang="es-CO">
                <a:solidFill>
                  <a:srgbClr val="071329"/>
                </a:solidFill>
                <a:latin typeface="Calibri"/>
              </a:rPr>
              <a:t> = </a:t>
            </a:r>
            <a:r>
              <a:rPr sz="1080" b="0" lang="es-CO">
                <a:solidFill>
                  <a:srgbClr val="071329"/>
                </a:solidFill>
                <a:latin typeface="Courier New"/>
              </a:rPr>
              <a:t>ROLLBACK</a:t>
            </a:r>
            <a:r>
              <a:rPr sz="1320" b="0" lang="es-CO">
                <a:solidFill>
                  <a:srgbClr val="071329"/>
                </a:solidFill>
                <a:latin typeface="Calibri"/>
              </a:rPr>
              <a:t> (por defecto)</a:t>
            </a:r>
          </a:p>
        </p:txBody>
      </p:sp>
      <p:cxnSp>
        <p:nvCxnSpPr>
          <p:cNvPr id="65" name="Connector 64"/>
          <p:cNvCxnSpPr/>
          <p:nvPr/>
        </p:nvCxnSpPr>
        <p:spPr>
          <a:xfrm>
            <a:off x="640080" y="2987650"/>
            <a:ext cx="10911840" cy="0"/>
          </a:xfrm>
          <a:prstGeom prst="line">
            <a:avLst/>
          </a:prstGeom>
          <a:ln w="11430">
            <a:solidFill>
              <a:srgbClr val="D5DEEA"/>
            </a:solidFill>
          </a:ln>
        </p:spPr>
      </p:cxnSp>
      <p:sp>
        <p:nvSpPr>
          <p:cNvPr id="66" name="TextBox 65"/>
          <p:cNvSpPr txBox="1"/>
          <p:nvPr/>
        </p:nvSpPr>
        <p:spPr>
          <a:xfrm>
            <a:off x="640080" y="3109570"/>
            <a:ext cx="3339389"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Fallan muchos equipos del anillo</a:t>
            </a:r>
          </a:p>
        </p:txBody>
      </p:sp>
      <p:sp>
        <p:nvSpPr>
          <p:cNvPr id="67" name="TextBox 66"/>
          <p:cNvSpPr txBox="1"/>
          <p:nvPr/>
        </p:nvSpPr>
        <p:spPr>
          <a:xfrm>
            <a:off x="4131869" y="3109570"/>
            <a:ext cx="3121152"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Sí: cancela el despliegue</a:t>
            </a:r>
          </a:p>
        </p:txBody>
      </p:sp>
      <p:sp>
        <p:nvSpPr>
          <p:cNvPr id="68" name="TextBox 67"/>
          <p:cNvSpPr txBox="1"/>
          <p:nvPr/>
        </p:nvSpPr>
        <p:spPr>
          <a:xfrm>
            <a:off x="7405421" y="3109570"/>
            <a:ext cx="3994099" cy="221285"/>
          </a:xfrm>
          <a:prstGeom prst="rect">
            <a:avLst/>
          </a:prstGeom>
          <a:noFill/>
        </p:spPr>
        <p:txBody>
          <a:bodyPr wrap="square" lIns="0" tIns="0" rIns="0" bIns="0" anchor="t">
            <a:noAutofit/>
          </a:bodyPr>
          <a:lstStyle/>
          <a:p>
            <a:pPr>
              <a:lnSpc>
                <a:spcPct val="110000"/>
              </a:lnSpc>
            </a:pPr>
            <a:r>
              <a:rPr sz="1080" b="0" lang="es-CO">
                <a:solidFill>
                  <a:srgbClr val="071329"/>
                </a:solidFill>
                <a:latin typeface="Courier New"/>
              </a:rPr>
              <a:t>abortConfig</a:t>
            </a:r>
            <a:r>
              <a:rPr sz="1320" b="0" lang="es-CO">
                <a:solidFill>
                  <a:srgbClr val="071329"/>
                </a:solidFill>
                <a:latin typeface="Calibri"/>
              </a:rPr>
              <a:t>: FAILED · REJECTED · TIMED_OUT</a:t>
            </a:r>
          </a:p>
        </p:txBody>
      </p:sp>
      <p:cxnSp>
        <p:nvCxnSpPr>
          <p:cNvPr id="69" name="Connector 68"/>
          <p:cNvCxnSpPr/>
          <p:nvPr/>
        </p:nvCxnSpPr>
        <p:spPr>
          <a:xfrm>
            <a:off x="640080" y="3452774"/>
            <a:ext cx="10911840" cy="0"/>
          </a:xfrm>
          <a:prstGeom prst="line">
            <a:avLst/>
          </a:prstGeom>
          <a:ln w="15240">
            <a:solidFill>
              <a:srgbClr val="6D28D9"/>
            </a:solidFill>
          </a:ln>
        </p:spPr>
      </p:cxnSp>
      <p:sp>
        <p:nvSpPr>
          <p:cNvPr id="70" name="TextBox 69"/>
          <p:cNvSpPr txBox="1"/>
          <p:nvPr/>
        </p:nvSpPr>
        <p:spPr>
          <a:xfrm>
            <a:off x="640080" y="3574694"/>
            <a:ext cx="3339389" cy="221285"/>
          </a:xfrm>
          <a:prstGeom prst="rect">
            <a:avLst/>
          </a:prstGeom>
          <a:noFill/>
        </p:spPr>
        <p:txBody>
          <a:bodyPr wrap="square" lIns="0" tIns="0" rIns="0" bIns="0" anchor="t">
            <a:noAutofit/>
          </a:bodyPr>
          <a:lstStyle/>
          <a:p>
            <a:pPr>
              <a:lnSpc>
                <a:spcPct val="110000"/>
              </a:lnSpc>
            </a:pPr>
            <a:r>
              <a:rPr sz="1320" b="1" lang="es-CO">
                <a:solidFill>
                  <a:srgbClr val="6D28D9"/>
                </a:solidFill>
                <a:latin typeface="Calibri"/>
              </a:rPr>
              <a:t>Corre bien y decide mal</a:t>
            </a:r>
          </a:p>
        </p:txBody>
      </p:sp>
      <p:sp>
        <p:nvSpPr>
          <p:cNvPr id="71" name="TextBox 70"/>
          <p:cNvSpPr txBox="1"/>
          <p:nvPr/>
        </p:nvSpPr>
        <p:spPr>
          <a:xfrm>
            <a:off x="4131869" y="3574694"/>
            <a:ext cx="3121152" cy="221285"/>
          </a:xfrm>
          <a:prstGeom prst="rect">
            <a:avLst/>
          </a:prstGeom>
          <a:noFill/>
        </p:spPr>
        <p:txBody>
          <a:bodyPr wrap="square" lIns="0" tIns="0" rIns="0" bIns="0" anchor="t">
            <a:noAutofit/>
          </a:bodyPr>
          <a:lstStyle/>
          <a:p>
            <a:pPr>
              <a:lnSpc>
                <a:spcPct val="110000"/>
              </a:lnSpc>
            </a:pPr>
            <a:r>
              <a:rPr sz="1320" b="1" lang="es-CO">
                <a:solidFill>
                  <a:srgbClr val="6D28D9"/>
                </a:solidFill>
                <a:latin typeface="Calibri"/>
              </a:rPr>
              <a:t>No: para Greengrass salió bien</a:t>
            </a:r>
          </a:p>
        </p:txBody>
      </p:sp>
      <p:sp>
        <p:nvSpPr>
          <p:cNvPr id="72" name="TextBox 71"/>
          <p:cNvSpPr txBox="1"/>
          <p:nvPr/>
        </p:nvSpPr>
        <p:spPr>
          <a:xfrm>
            <a:off x="7405421" y="3574694"/>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Los eventos del modelo y una alarma que los mire</a:t>
            </a:r>
          </a:p>
        </p:txBody>
      </p:sp>
      <p:cxnSp>
        <p:nvCxnSpPr>
          <p:cNvPr id="73" name="Connector 72"/>
          <p:cNvCxnSpPr/>
          <p:nvPr/>
        </p:nvCxnSpPr>
        <p:spPr>
          <a:xfrm>
            <a:off x="640080" y="3917899"/>
            <a:ext cx="10911840" cy="0"/>
          </a:xfrm>
          <a:prstGeom prst="line">
            <a:avLst/>
          </a:prstGeom>
          <a:ln w="11430">
            <a:solidFill>
              <a:srgbClr val="D5DEEA"/>
            </a:solidFill>
          </a:ln>
        </p:spPr>
      </p:cxn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Permisos </a:t>
            </a:r>
            <a:r>
              <a:rPr b="1" lang="es-CO">
                <a:solidFill>
                  <a:srgbClr val="6D28D9"/>
                </a:solidFill>
              </a:rPr>
              <a:t>y costo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2793797" cy="167640"/>
          </a:xfrm>
          <a:prstGeom prst="rect">
            <a:avLst/>
          </a:prstGeom>
          <a:noFill/>
        </p:spPr>
        <p:txBody>
          <a:bodyPr wrap="square" lIns="0" tIns="0" rIns="0" bIns="0" anchor="t">
            <a:noAutofit/>
          </a:bodyPr>
          <a:lstStyle/>
          <a:p>
            <a:r>
              <a:rPr sz="900" b="1" spc="90" lang="es-CO">
                <a:solidFill>
                  <a:srgbClr val="5C7290"/>
                </a:solidFill>
                <a:latin typeface="Calibri"/>
              </a:rPr>
              <a:t>ROL O POLÍTICA</a:t>
            </a:r>
          </a:p>
        </p:txBody>
      </p:sp>
      <p:sp>
        <p:nvSpPr>
          <p:cNvPr id="55" name="TextBox 54"/>
          <p:cNvSpPr txBox="1"/>
          <p:nvPr/>
        </p:nvSpPr>
        <p:spPr>
          <a:xfrm>
            <a:off x="3586277" y="1798320"/>
            <a:ext cx="2139086" cy="167640"/>
          </a:xfrm>
          <a:prstGeom prst="rect">
            <a:avLst/>
          </a:prstGeom>
          <a:noFill/>
        </p:spPr>
        <p:txBody>
          <a:bodyPr wrap="square" lIns="0" tIns="0" rIns="0" bIns="0" anchor="t">
            <a:noAutofit/>
          </a:bodyPr>
          <a:lstStyle/>
          <a:p>
            <a:r>
              <a:rPr sz="900" b="1" spc="90" lang="es-CO">
                <a:solidFill>
                  <a:srgbClr val="5C7290"/>
                </a:solidFill>
                <a:latin typeface="Calibri"/>
              </a:rPr>
              <a:t>PARA QUÉ</a:t>
            </a:r>
          </a:p>
        </p:txBody>
      </p:sp>
      <p:sp>
        <p:nvSpPr>
          <p:cNvPr id="56" name="TextBox 55"/>
          <p:cNvSpPr txBox="1"/>
          <p:nvPr/>
        </p:nvSpPr>
        <p:spPr>
          <a:xfrm>
            <a:off x="5877763" y="1798320"/>
            <a:ext cx="2793797" cy="167640"/>
          </a:xfrm>
          <a:prstGeom prst="rect">
            <a:avLst/>
          </a:prstGeom>
          <a:noFill/>
        </p:spPr>
        <p:txBody>
          <a:bodyPr wrap="square" lIns="0" tIns="0" rIns="0" bIns="0" anchor="t">
            <a:noAutofit/>
          </a:bodyPr>
          <a:lstStyle/>
          <a:p>
            <a:r>
              <a:rPr sz="900" b="1" spc="90" lang="es-CO">
                <a:solidFill>
                  <a:srgbClr val="5C7290"/>
                </a:solidFill>
                <a:latin typeface="Calibri"/>
              </a:rPr>
              <a:t>EN LA POC</a:t>
            </a:r>
          </a:p>
        </p:txBody>
      </p:sp>
      <p:sp>
        <p:nvSpPr>
          <p:cNvPr id="57" name="TextBox 56"/>
          <p:cNvSpPr txBox="1"/>
          <p:nvPr/>
        </p:nvSpPr>
        <p:spPr>
          <a:xfrm>
            <a:off x="8823960" y="1798320"/>
            <a:ext cx="2575560" cy="167640"/>
          </a:xfrm>
          <a:prstGeom prst="rect">
            <a:avLst/>
          </a:prstGeom>
          <a:noFill/>
        </p:spPr>
        <p:txBody>
          <a:bodyPr wrap="square" lIns="0" tIns="0" rIns="0" bIns="0" anchor="t">
            <a:noAutofit/>
          </a:bodyPr>
          <a:lstStyle/>
          <a:p>
            <a:r>
              <a:rPr sz="900" b="1" spc="90" lang="es-CO">
                <a:solidFill>
                  <a:srgbClr val="5C7290"/>
                </a:solidFill>
                <a:latin typeface="Calibri"/>
              </a:rPr>
              <a:t>EN PRODUCCIÓN</a:t>
            </a:r>
          </a:p>
        </p:txBody>
      </p:sp>
      <p:cxnSp>
        <p:nvCxnSpPr>
          <p:cNvPr id="58" name="Connector 57"/>
          <p:cNvCxnSpPr/>
          <p:nvPr/>
        </p:nvCxnSpPr>
        <p:spPr>
          <a:xfrm>
            <a:off x="640080" y="2057400"/>
            <a:ext cx="10911840" cy="0"/>
          </a:xfrm>
          <a:prstGeom prst="line">
            <a:avLst/>
          </a:prstGeom>
          <a:ln w="11430">
            <a:solidFill>
              <a:srgbClr val="D5DEEA"/>
            </a:solidFill>
          </a:ln>
        </p:spPr>
      </p:cxnSp>
      <p:sp>
        <p:nvSpPr>
          <p:cNvPr id="59" name="TextBox 58"/>
          <p:cNvSpPr txBox="1"/>
          <p:nvPr/>
        </p:nvSpPr>
        <p:spPr>
          <a:xfrm>
            <a:off x="640080" y="2141220"/>
            <a:ext cx="2793797"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GreengrassV2TokenExchangeRole</a:t>
            </a:r>
          </a:p>
        </p:txBody>
      </p:sp>
      <p:sp>
        <p:nvSpPr>
          <p:cNvPr id="60" name="TextBox 59"/>
          <p:cNvSpPr txBox="1"/>
          <p:nvPr/>
        </p:nvSpPr>
        <p:spPr>
          <a:xfrm>
            <a:off x="3586277" y="2141220"/>
            <a:ext cx="2139086" cy="181051"/>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El equipo baja artefactos</a:t>
            </a:r>
          </a:p>
        </p:txBody>
      </p:sp>
      <p:sp>
        <p:nvSpPr>
          <p:cNvPr id="61" name="TextBox 60"/>
          <p:cNvSpPr txBox="1"/>
          <p:nvPr/>
        </p:nvSpPr>
        <p:spPr>
          <a:xfrm>
            <a:off x="5877763" y="2141220"/>
            <a:ext cx="2793797" cy="181051"/>
          </a:xfrm>
          <a:prstGeom prst="rect">
            <a:avLst/>
          </a:prstGeom>
          <a:noFill/>
        </p:spPr>
        <p:txBody>
          <a:bodyPr wrap="square" lIns="0" tIns="0" rIns="0" bIns="0" anchor="t">
            <a:noAutofit/>
          </a:bodyPr>
          <a:lstStyle/>
          <a:p>
            <a:pPr>
              <a:lnSpc>
                <a:spcPct val="110000"/>
              </a:lnSpc>
            </a:pPr>
            <a:r>
              <a:rPr sz="960" b="0" lang="es-CO">
                <a:solidFill>
                  <a:srgbClr val="071329"/>
                </a:solidFill>
                <a:latin typeface="Courier New"/>
              </a:rPr>
              <a:t>s3:GetObject</a:t>
            </a:r>
            <a:r>
              <a:rPr sz="1080" b="0" lang="es-CO">
                <a:solidFill>
                  <a:srgbClr val="071329"/>
                </a:solidFill>
                <a:latin typeface="Calibri"/>
              </a:rPr>
              <a:t> sobre el bucket</a:t>
            </a:r>
          </a:p>
        </p:txBody>
      </p:sp>
      <p:sp>
        <p:nvSpPr>
          <p:cNvPr id="62" name="TextBox 61"/>
          <p:cNvSpPr txBox="1"/>
          <p:nvPr/>
        </p:nvSpPr>
        <p:spPr>
          <a:xfrm>
            <a:off x="8823960" y="2141220"/>
            <a:ext cx="2575560" cy="181051"/>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Igual, acotado por prefijo</a:t>
            </a:r>
          </a:p>
        </p:txBody>
      </p:sp>
      <p:cxnSp>
        <p:nvCxnSpPr>
          <p:cNvPr id="63" name="Connector 62"/>
          <p:cNvCxnSpPr/>
          <p:nvPr/>
        </p:nvCxnSpPr>
        <p:spPr>
          <a:xfrm>
            <a:off x="640080" y="2406091"/>
            <a:ext cx="10911840" cy="0"/>
          </a:xfrm>
          <a:prstGeom prst="line">
            <a:avLst/>
          </a:prstGeom>
          <a:ln w="11430">
            <a:solidFill>
              <a:srgbClr val="D5DEEA"/>
            </a:solidFill>
          </a:ln>
        </p:spPr>
      </p:cxnSp>
      <p:sp>
        <p:nvSpPr>
          <p:cNvPr id="64" name="TextBox 63"/>
          <p:cNvSpPr txBox="1"/>
          <p:nvPr/>
        </p:nvSpPr>
        <p:spPr>
          <a:xfrm>
            <a:off x="640080" y="2489911"/>
            <a:ext cx="2793797" cy="362102"/>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StationThingPolicy</a:t>
            </a:r>
          </a:p>
        </p:txBody>
      </p:sp>
      <p:sp>
        <p:nvSpPr>
          <p:cNvPr id="65" name="TextBox 64"/>
          <p:cNvSpPr txBox="1"/>
          <p:nvPr/>
        </p:nvSpPr>
        <p:spPr>
          <a:xfrm>
            <a:off x="3586277" y="2489911"/>
            <a:ext cx="2139086"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El equipo habla MQTT</a:t>
            </a:r>
          </a:p>
        </p:txBody>
      </p:sp>
      <p:sp>
        <p:nvSpPr>
          <p:cNvPr id="66" name="TextBox 65"/>
          <p:cNvSpPr txBox="1"/>
          <p:nvPr/>
        </p:nvSpPr>
        <p:spPr>
          <a:xfrm>
            <a:off x="5877763" y="2489911"/>
            <a:ext cx="2793797"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Conectar como </a:t>
            </a:r>
            <a:r>
              <a:rPr sz="960" b="0" lang="es-CO">
                <a:solidFill>
                  <a:srgbClr val="071329"/>
                </a:solidFill>
                <a:latin typeface="Courier New"/>
              </a:rPr>
              <a:t>pump-*</a:t>
            </a:r>
            <a:r>
              <a:rPr sz="1080" b="0" lang="es-CO">
                <a:solidFill>
                  <a:srgbClr val="071329"/>
                </a:solidFill>
                <a:latin typeface="Calibri"/>
              </a:rPr>
              <a:t> y publicar solo en </a:t>
            </a:r>
            <a:r>
              <a:rPr sz="960" b="0" lang="es-CO">
                <a:solidFill>
                  <a:srgbClr val="071329"/>
                </a:solidFill>
                <a:latin typeface="Courier New"/>
              </a:rPr>
              <a:t>station/events</a:t>
            </a:r>
          </a:p>
        </p:txBody>
      </p:sp>
      <p:sp>
        <p:nvSpPr>
          <p:cNvPr id="67" name="TextBox 66"/>
          <p:cNvSpPr txBox="1"/>
          <p:nvPr/>
        </p:nvSpPr>
        <p:spPr>
          <a:xfrm>
            <a:off x="8823960" y="2489911"/>
            <a:ext cx="2575560"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Igual, una identidad por equipo</a:t>
            </a:r>
          </a:p>
        </p:txBody>
      </p:sp>
      <p:cxnSp>
        <p:nvCxnSpPr>
          <p:cNvPr id="68" name="Connector 67"/>
          <p:cNvCxnSpPr/>
          <p:nvPr/>
        </p:nvCxnSpPr>
        <p:spPr>
          <a:xfrm>
            <a:off x="640080" y="2935834"/>
            <a:ext cx="10911840" cy="0"/>
          </a:xfrm>
          <a:prstGeom prst="line">
            <a:avLst/>
          </a:prstGeom>
          <a:ln w="11430">
            <a:solidFill>
              <a:srgbClr val="D5DEEA"/>
            </a:solidFill>
          </a:ln>
        </p:spPr>
      </p:cxnSp>
      <p:sp>
        <p:nvSpPr>
          <p:cNvPr id="69" name="TextBox 68"/>
          <p:cNvSpPr txBox="1"/>
          <p:nvPr/>
        </p:nvSpPr>
        <p:spPr>
          <a:xfrm>
            <a:off x="640080" y="3019654"/>
            <a:ext cx="2793797"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Rol de la regla station_events</a:t>
            </a:r>
          </a:p>
        </p:txBody>
      </p:sp>
      <p:sp>
        <p:nvSpPr>
          <p:cNvPr id="70" name="TextBox 69"/>
          <p:cNvSpPr txBox="1"/>
          <p:nvPr/>
        </p:nvSpPr>
        <p:spPr>
          <a:xfrm>
            <a:off x="3586277" y="3019654"/>
            <a:ext cx="2139086" cy="181051"/>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La regla escribe en Logs</a:t>
            </a:r>
          </a:p>
        </p:txBody>
      </p:sp>
      <p:sp>
        <p:nvSpPr>
          <p:cNvPr id="71" name="TextBox 70"/>
          <p:cNvSpPr txBox="1"/>
          <p:nvPr/>
        </p:nvSpPr>
        <p:spPr>
          <a:xfrm>
            <a:off x="5877763" y="3019654"/>
            <a:ext cx="2793797" cy="181051"/>
          </a:xfrm>
          <a:prstGeom prst="rect">
            <a:avLst/>
          </a:prstGeom>
          <a:noFill/>
        </p:spPr>
        <p:txBody>
          <a:bodyPr wrap="square" lIns="0" tIns="0" rIns="0" bIns="0" anchor="t">
            <a:noAutofit/>
          </a:bodyPr>
          <a:lstStyle/>
          <a:p>
            <a:pPr>
              <a:lnSpc>
                <a:spcPct val="110000"/>
              </a:lnSpc>
            </a:pPr>
            <a:r>
              <a:rPr sz="960" b="0" lang="es-CO">
                <a:solidFill>
                  <a:srgbClr val="071329"/>
                </a:solidFill>
                <a:latin typeface="Courier New"/>
              </a:rPr>
              <a:t>logs:PutLogEvents</a:t>
            </a:r>
            <a:r>
              <a:rPr sz="1080" b="0" lang="es-CO">
                <a:solidFill>
                  <a:srgbClr val="071329"/>
                </a:solidFill>
                <a:latin typeface="Calibri"/>
              </a:rPr>
              <a:t> sobre </a:t>
            </a:r>
            <a:r>
              <a:rPr sz="960" b="0" lang="es-CO">
                <a:solidFill>
                  <a:srgbClr val="071329"/>
                </a:solidFill>
                <a:latin typeface="Courier New"/>
              </a:rPr>
              <a:t>/station/events</a:t>
            </a:r>
          </a:p>
        </p:txBody>
      </p:sp>
      <p:sp>
        <p:nvSpPr>
          <p:cNvPr id="72" name="TextBox 71"/>
          <p:cNvSpPr txBox="1"/>
          <p:nvPr/>
        </p:nvSpPr>
        <p:spPr>
          <a:xfrm>
            <a:off x="8823960" y="3019654"/>
            <a:ext cx="2575560" cy="181051"/>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Igual</a:t>
            </a:r>
          </a:p>
        </p:txBody>
      </p:sp>
      <p:cxnSp>
        <p:nvCxnSpPr>
          <p:cNvPr id="73" name="Connector 72"/>
          <p:cNvCxnSpPr/>
          <p:nvPr/>
        </p:nvCxnSpPr>
        <p:spPr>
          <a:xfrm>
            <a:off x="640080" y="3284525"/>
            <a:ext cx="10911840" cy="0"/>
          </a:xfrm>
          <a:prstGeom prst="line">
            <a:avLst/>
          </a:prstGeom>
          <a:ln w="15240">
            <a:solidFill>
              <a:srgbClr val="6D28D9"/>
            </a:solidFill>
          </a:ln>
        </p:spPr>
      </p:cxnSp>
      <p:sp>
        <p:nvSpPr>
          <p:cNvPr id="74" name="TextBox 73"/>
          <p:cNvSpPr txBox="1"/>
          <p:nvPr/>
        </p:nvSpPr>
        <p:spPr>
          <a:xfrm>
            <a:off x="640080" y="3368345"/>
            <a:ext cx="2793797" cy="362102"/>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Rol de la Lambda station-rollback</a:t>
            </a:r>
          </a:p>
        </p:txBody>
      </p:sp>
      <p:sp>
        <p:nvSpPr>
          <p:cNvPr id="75" name="TextBox 74"/>
          <p:cNvSpPr txBox="1"/>
          <p:nvPr/>
        </p:nvSpPr>
        <p:spPr>
          <a:xfrm>
            <a:off x="3586277" y="3368345"/>
            <a:ext cx="2139086"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La Lambda despliega</a:t>
            </a:r>
          </a:p>
        </p:txBody>
      </p:sp>
      <p:sp>
        <p:nvSpPr>
          <p:cNvPr id="76" name="TextBox 75"/>
          <p:cNvSpPr txBox="1"/>
          <p:nvPr/>
        </p:nvSpPr>
        <p:spPr>
          <a:xfrm>
            <a:off x="5877763" y="3368345"/>
            <a:ext cx="2793797" cy="362102"/>
          </a:xfrm>
          <a:prstGeom prst="rect">
            <a:avLst/>
          </a:prstGeom>
          <a:noFill/>
        </p:spPr>
        <p:txBody>
          <a:bodyPr wrap="square" lIns="0" tIns="0" rIns="0" bIns="0" anchor="t">
            <a:noAutofit/>
          </a:bodyPr>
          <a:lstStyle/>
          <a:p>
            <a:pPr>
              <a:lnSpc>
                <a:spcPct val="110000"/>
              </a:lnSpc>
            </a:pPr>
            <a:r>
              <a:rPr sz="960" b="1" lang="es-CO">
                <a:solidFill>
                  <a:srgbClr val="6D28D9"/>
                </a:solidFill>
                <a:latin typeface="Courier New"/>
              </a:rPr>
              <a:t>CreateDeployment</a:t>
            </a:r>
            <a:r>
              <a:rPr sz="1080" b="1" lang="es-CO">
                <a:solidFill>
                  <a:srgbClr val="6D28D9"/>
                </a:solidFill>
                <a:latin typeface="Calibri"/>
              </a:rPr>
              <a:t>, las acciones de IoT que ese despliegue usa y </a:t>
            </a:r>
            <a:r>
              <a:rPr sz="960" b="1" lang="es-CO">
                <a:solidFill>
                  <a:srgbClr val="6D28D9"/>
                </a:solidFill>
                <a:latin typeface="Courier New"/>
              </a:rPr>
              <a:t>ssm:GetParameter</a:t>
            </a:r>
          </a:p>
        </p:txBody>
      </p:sp>
      <p:sp>
        <p:nvSpPr>
          <p:cNvPr id="77" name="TextBox 76"/>
          <p:cNvSpPr txBox="1"/>
          <p:nvPr/>
        </p:nvSpPr>
        <p:spPr>
          <a:xfrm>
            <a:off x="8823960" y="3368345"/>
            <a:ext cx="2575560"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Igual, acotado a los thing groups de la flota</a:t>
            </a:r>
          </a:p>
        </p:txBody>
      </p:sp>
      <p:cxnSp>
        <p:nvCxnSpPr>
          <p:cNvPr id="78" name="Connector 77"/>
          <p:cNvCxnSpPr/>
          <p:nvPr/>
        </p:nvCxnSpPr>
        <p:spPr>
          <a:xfrm>
            <a:off x="640080" y="3814267"/>
            <a:ext cx="10911840" cy="0"/>
          </a:xfrm>
          <a:prstGeom prst="line">
            <a:avLst/>
          </a:prstGeom>
          <a:ln w="11430">
            <a:solidFill>
              <a:srgbClr val="D5DEEA"/>
            </a:solidFill>
          </a:ln>
        </p:spPr>
      </p:cxnSp>
      <p:sp>
        <p:nvSpPr>
          <p:cNvPr id="79" name="TextBox 78"/>
          <p:cNvSpPr txBox="1"/>
          <p:nvPr/>
        </p:nvSpPr>
        <p:spPr>
          <a:xfrm>
            <a:off x="640080" y="4042867"/>
            <a:ext cx="10911840" cy="469392"/>
          </a:xfrm>
          <a:prstGeom prst="rect">
            <a:avLst/>
          </a:prstGeom>
          <a:noFill/>
        </p:spPr>
        <p:txBody>
          <a:bodyPr wrap="square" lIns="0" tIns="0" rIns="0" bIns="0" anchor="t">
            <a:noAutofit/>
          </a:bodyPr>
          <a:lstStyle/>
          <a:p>
            <a:pPr>
              <a:lnSpc>
                <a:spcPct val="114800"/>
              </a:lnSpc>
            </a:pPr>
            <a:r>
              <a:rPr sz="1320" b="1" lang="es-CO">
                <a:solidFill>
                  <a:srgbClr val="071329"/>
                </a:solidFill>
                <a:latin typeface="Calibri"/>
              </a:rPr>
              <a:t>Lo que cobra:</a:t>
            </a:r>
            <a:r>
              <a:rPr sz="1320" b="0" lang="es-CO">
                <a:solidFill>
                  <a:srgbClr val="071329"/>
                </a:solidFill>
                <a:latin typeface="Calibri"/>
              </a:rPr>
              <a:t> la EC2 que hospeda las cinco bombas, los mensajes de IoT Core, los core devices de IoT Greengrass, CloudWatch y Lambda. </a:t>
            </a:r>
            <a:r>
              <a:rPr sz="1320" b="1" lang="es-CO">
                <a:solidFill>
                  <a:srgbClr val="071329"/>
                </a:solidFill>
                <a:latin typeface="Calibri"/>
              </a:rPr>
              <a:t>Para dejar de pagar:</a:t>
            </a:r>
            <a:r>
              <a:rPr sz="1320" b="0" lang="es-CO">
                <a:solidFill>
                  <a:srgbClr val="071329"/>
                </a:solidFill>
                <a:latin typeface="Calibri"/>
              </a:rPr>
              <a:t> </a:t>
            </a:r>
            <a:r>
              <a:rPr sz="1140" b="0" lang="es-CO">
                <a:solidFill>
                  <a:srgbClr val="071329"/>
                </a:solidFill>
                <a:latin typeface="Courier New"/>
              </a:rPr>
              <a:t>infra</a:t>
            </a:r>
            <a:r>
              <a:rPr sz="1320" b="0" lang="es-CO">
                <a:solidFill>
                  <a:srgbClr val="071329"/>
                </a:solidFill>
                <a:latin typeface="Calibri"/>
              </a:rPr>
              <a:t> → Run workflow → </a:t>
            </a:r>
            <a:r>
              <a:rPr sz="1140" b="0" lang="es-CO">
                <a:solidFill>
                  <a:srgbClr val="071329"/>
                </a:solidFill>
                <a:latin typeface="Courier New"/>
              </a:rPr>
              <a:t>destroy</a:t>
            </a:r>
            <a:r>
              <a:rPr sz="1320" b="0" lang="es-CO">
                <a:solidFill>
                  <a:srgbClr val="071329"/>
                </a:solidFill>
                <a:latin typeface="Calibri"/>
              </a:rPr>
              <a:t>.</a:t>
            </a:r>
          </a:p>
        </p:txBody>
      </p:sp>
      <p:sp>
        <p:nvSpPr>
          <p:cNvPr id="80"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poc-devopsdays/cloud · poc-devopsdays/fleet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De la demo </a:t>
            </a:r>
            <a:r>
              <a:rPr b="1" lang="es-CO">
                <a:solidFill>
                  <a:srgbClr val="6D28D9"/>
                </a:solidFill>
              </a:rPr>
              <a:t>a producción</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3048000" cy="167640"/>
          </a:xfrm>
          <a:prstGeom prst="rect">
            <a:avLst/>
          </a:prstGeom>
          <a:noFill/>
        </p:spPr>
        <p:txBody>
          <a:bodyPr wrap="square" lIns="0" tIns="0" rIns="0" bIns="0" anchor="t">
            <a:noAutofit/>
          </a:bodyPr>
          <a:lstStyle/>
          <a:p>
            <a:r>
              <a:rPr sz="900" b="1" spc="90" lang="es-CO">
                <a:solidFill>
                  <a:srgbClr val="5C7290"/>
                </a:solidFill>
                <a:latin typeface="Calibri"/>
              </a:rPr>
              <a:t>EN LA DEMO</a:t>
            </a:r>
          </a:p>
        </p:txBody>
      </p:sp>
      <p:sp>
        <p:nvSpPr>
          <p:cNvPr id="55" name="TextBox 54"/>
          <p:cNvSpPr txBox="1"/>
          <p:nvPr/>
        </p:nvSpPr>
        <p:spPr>
          <a:xfrm>
            <a:off x="4450080" y="1798320"/>
            <a:ext cx="6858000" cy="167640"/>
          </a:xfrm>
          <a:prstGeom prst="rect">
            <a:avLst/>
          </a:prstGeom>
          <a:noFill/>
        </p:spPr>
        <p:txBody>
          <a:bodyPr wrap="square" lIns="0" tIns="0" rIns="0" bIns="0" anchor="t">
            <a:noAutofit/>
          </a:bodyPr>
          <a:lstStyle/>
          <a:p>
            <a:r>
              <a:rPr sz="900" b="1" spc="90" lang="es-CO">
                <a:solidFill>
                  <a:srgbClr val="5C7290"/>
                </a:solidFill>
                <a:latin typeface="Calibri"/>
              </a:rPr>
              <a:t>EN PRODUCCIÓN</a:t>
            </a:r>
          </a:p>
        </p:txBody>
      </p:sp>
      <p:cxnSp>
        <p:nvCxnSpPr>
          <p:cNvPr id="56" name="Connector 55"/>
          <p:cNvCxnSpPr/>
          <p:nvPr/>
        </p:nvCxnSpPr>
        <p:spPr>
          <a:xfrm>
            <a:off x="640080" y="2057400"/>
            <a:ext cx="10911840" cy="0"/>
          </a:xfrm>
          <a:prstGeom prst="line">
            <a:avLst/>
          </a:prstGeom>
          <a:ln w="11430">
            <a:solidFill>
              <a:srgbClr val="D5DEEA"/>
            </a:solidFill>
          </a:ln>
        </p:spPr>
      </p:cxnSp>
      <p:sp>
        <p:nvSpPr>
          <p:cNvPr id="57" name="TextBox 56"/>
          <p:cNvSpPr txBox="1"/>
          <p:nvPr/>
        </p:nvSpPr>
        <p:spPr>
          <a:xfrm>
            <a:off x="640080" y="2209800"/>
            <a:ext cx="3200400" cy="278892"/>
          </a:xfrm>
          <a:prstGeom prst="rect">
            <a:avLst/>
          </a:prstGeom>
          <a:noFill/>
        </p:spPr>
        <p:txBody>
          <a:bodyPr wrap="square" lIns="0" tIns="0" rIns="0" bIns="0" anchor="t">
            <a:noAutofit/>
          </a:bodyPr>
          <a:lstStyle/>
          <a:p>
            <a:r>
              <a:rPr sz="1800" b="0" lang="es-CO">
                <a:solidFill>
                  <a:srgbClr val="071329"/>
                </a:solidFill>
                <a:latin typeface="Calibri"/>
              </a:rPr>
              <a:t>Un evento por clip escuchado</a:t>
            </a:r>
          </a:p>
        </p:txBody>
      </p:sp>
      <p:sp>
        <p:nvSpPr>
          <p:cNvPr id="58" name="TextBox 57"/>
          <p:cNvSpPr txBox="1"/>
          <p:nvPr/>
        </p:nvSpPr>
        <p:spPr>
          <a:xfrm>
            <a:off x="3840480" y="2209800"/>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59" name="TextBox 58"/>
          <p:cNvSpPr txBox="1"/>
          <p:nvPr/>
        </p:nvSpPr>
        <p:spPr>
          <a:xfrm>
            <a:off x="4450080" y="2209800"/>
            <a:ext cx="7101840" cy="278892"/>
          </a:xfrm>
          <a:prstGeom prst="rect">
            <a:avLst/>
          </a:prstGeom>
          <a:noFill/>
        </p:spPr>
        <p:txBody>
          <a:bodyPr wrap="square" lIns="0" tIns="0" rIns="0" bIns="0" anchor="t">
            <a:noAutofit/>
          </a:bodyPr>
          <a:lstStyle/>
          <a:p>
            <a:r>
              <a:rPr sz="1800" b="1" lang="es-CO">
                <a:solidFill>
                  <a:srgbClr val="071329"/>
                </a:solidFill>
                <a:latin typeface="Calibri"/>
              </a:rPr>
              <a:t>Un resumen por minuto + el detalle cuando algo cambia</a:t>
            </a:r>
          </a:p>
        </p:txBody>
      </p:sp>
      <p:cxnSp>
        <p:nvCxnSpPr>
          <p:cNvPr id="60" name="Connector 59"/>
          <p:cNvCxnSpPr/>
          <p:nvPr/>
        </p:nvCxnSpPr>
        <p:spPr>
          <a:xfrm>
            <a:off x="640080" y="2641092"/>
            <a:ext cx="10911840" cy="0"/>
          </a:xfrm>
          <a:prstGeom prst="line">
            <a:avLst/>
          </a:prstGeom>
          <a:ln w="11430">
            <a:solidFill>
              <a:srgbClr val="D5DEEA"/>
            </a:solidFill>
          </a:ln>
        </p:spPr>
      </p:cxnSp>
      <p:sp>
        <p:nvSpPr>
          <p:cNvPr id="61" name="TextBox 60"/>
          <p:cNvSpPr txBox="1"/>
          <p:nvPr/>
        </p:nvSpPr>
        <p:spPr>
          <a:xfrm>
            <a:off x="640080" y="2793492"/>
            <a:ext cx="3200400" cy="278892"/>
          </a:xfrm>
          <a:prstGeom prst="rect">
            <a:avLst/>
          </a:prstGeom>
          <a:noFill/>
        </p:spPr>
        <p:txBody>
          <a:bodyPr wrap="square" lIns="0" tIns="0" rIns="0" bIns="0" anchor="t">
            <a:noAutofit/>
          </a:bodyPr>
          <a:lstStyle/>
          <a:p>
            <a:r>
              <a:rPr sz="1800" b="0" lang="es-CO">
                <a:solidFill>
                  <a:srgbClr val="071329"/>
                </a:solidFill>
                <a:latin typeface="Calibri"/>
              </a:rPr>
              <a:t>Cola en memoria</a:t>
            </a:r>
          </a:p>
        </p:txBody>
      </p:sp>
      <p:sp>
        <p:nvSpPr>
          <p:cNvPr id="62" name="TextBox 61"/>
          <p:cNvSpPr txBox="1"/>
          <p:nvPr/>
        </p:nvSpPr>
        <p:spPr>
          <a:xfrm>
            <a:off x="3840480" y="2793492"/>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63" name="TextBox 62"/>
          <p:cNvSpPr txBox="1"/>
          <p:nvPr/>
        </p:nvSpPr>
        <p:spPr>
          <a:xfrm>
            <a:off x="4450080" y="2793492"/>
            <a:ext cx="7101840" cy="278892"/>
          </a:xfrm>
          <a:prstGeom prst="rect">
            <a:avLst/>
          </a:prstGeom>
          <a:noFill/>
        </p:spPr>
        <p:txBody>
          <a:bodyPr wrap="square" lIns="0" tIns="0" rIns="0" bIns="0" anchor="t">
            <a:noAutofit/>
          </a:bodyPr>
          <a:lstStyle/>
          <a:p>
            <a:r>
              <a:rPr sz="1800" b="1" lang="es-CO">
                <a:solidFill>
                  <a:srgbClr val="071329"/>
                </a:solidFill>
                <a:latin typeface="Calibri"/>
              </a:rPr>
              <a:t>Cola en disco (DiskSpooler), con tope y prioridad</a:t>
            </a:r>
          </a:p>
        </p:txBody>
      </p:sp>
      <p:cxnSp>
        <p:nvCxnSpPr>
          <p:cNvPr id="64" name="Connector 63"/>
          <p:cNvCxnSpPr/>
          <p:nvPr/>
        </p:nvCxnSpPr>
        <p:spPr>
          <a:xfrm>
            <a:off x="640080" y="3224784"/>
            <a:ext cx="10911840" cy="0"/>
          </a:xfrm>
          <a:prstGeom prst="line">
            <a:avLst/>
          </a:prstGeom>
          <a:ln w="11430">
            <a:solidFill>
              <a:srgbClr val="D5DEEA"/>
            </a:solidFill>
          </a:ln>
        </p:spPr>
      </p:cxnSp>
      <p:sp>
        <p:nvSpPr>
          <p:cNvPr id="65" name="TextBox 64"/>
          <p:cNvSpPr txBox="1"/>
          <p:nvPr/>
        </p:nvSpPr>
        <p:spPr>
          <a:xfrm>
            <a:off x="640080" y="3377184"/>
            <a:ext cx="3200400" cy="278892"/>
          </a:xfrm>
          <a:prstGeom prst="rect">
            <a:avLst/>
          </a:prstGeom>
          <a:noFill/>
        </p:spPr>
        <p:txBody>
          <a:bodyPr wrap="square" lIns="0" tIns="0" rIns="0" bIns="0" anchor="t">
            <a:noAutofit/>
          </a:bodyPr>
          <a:lstStyle/>
          <a:p>
            <a:r>
              <a:rPr sz="1800" b="0" lang="es-CO">
                <a:solidFill>
                  <a:srgbClr val="071329"/>
                </a:solidFill>
                <a:latin typeface="Calibri"/>
              </a:rPr>
              <a:t>El nucleus en un contenedor</a:t>
            </a:r>
          </a:p>
        </p:txBody>
      </p:sp>
      <p:sp>
        <p:nvSpPr>
          <p:cNvPr id="66" name="TextBox 65"/>
          <p:cNvSpPr txBox="1"/>
          <p:nvPr/>
        </p:nvSpPr>
        <p:spPr>
          <a:xfrm>
            <a:off x="3840480" y="3377184"/>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67" name="TextBox 66"/>
          <p:cNvSpPr txBox="1"/>
          <p:nvPr/>
        </p:nvSpPr>
        <p:spPr>
          <a:xfrm>
            <a:off x="4450080" y="3377184"/>
            <a:ext cx="7101840" cy="278892"/>
          </a:xfrm>
          <a:prstGeom prst="rect">
            <a:avLst/>
          </a:prstGeom>
          <a:noFill/>
        </p:spPr>
        <p:txBody>
          <a:bodyPr wrap="square" lIns="0" tIns="0" rIns="0" bIns="0" anchor="t">
            <a:noAutofit/>
          </a:bodyPr>
          <a:lstStyle/>
          <a:p>
            <a:r>
              <a:rPr sz="1800" b="1" lang="es-CO">
                <a:solidFill>
                  <a:srgbClr val="071329"/>
                </a:solidFill>
                <a:latin typeface="Calibri"/>
              </a:rPr>
              <a:t>Nucleus lite en el equipo pequeño</a:t>
            </a:r>
          </a:p>
        </p:txBody>
      </p:sp>
      <p:cxnSp>
        <p:nvCxnSpPr>
          <p:cNvPr id="68" name="Connector 67"/>
          <p:cNvCxnSpPr/>
          <p:nvPr/>
        </p:nvCxnSpPr>
        <p:spPr>
          <a:xfrm>
            <a:off x="640080" y="3808476"/>
            <a:ext cx="10911840" cy="0"/>
          </a:xfrm>
          <a:prstGeom prst="line">
            <a:avLst/>
          </a:prstGeom>
          <a:ln w="11430">
            <a:solidFill>
              <a:srgbClr val="D5DEEA"/>
            </a:solidFill>
          </a:ln>
        </p:spPr>
      </p:cxnSp>
      <p:sp>
        <p:nvSpPr>
          <p:cNvPr id="69" name="TextBox 68"/>
          <p:cNvSpPr txBox="1"/>
          <p:nvPr/>
        </p:nvSpPr>
        <p:spPr>
          <a:xfrm>
            <a:off x="640080" y="3960876"/>
            <a:ext cx="3200400" cy="278892"/>
          </a:xfrm>
          <a:prstGeom prst="rect">
            <a:avLst/>
          </a:prstGeom>
          <a:noFill/>
        </p:spPr>
        <p:txBody>
          <a:bodyPr wrap="square" lIns="0" tIns="0" rIns="0" bIns="0" anchor="t">
            <a:noAutofit/>
          </a:bodyPr>
          <a:lstStyle/>
          <a:p>
            <a:r>
              <a:rPr sz="1800" b="0" lang="es-CO">
                <a:solidFill>
                  <a:srgbClr val="071329"/>
                </a:solidFill>
                <a:latin typeface="Calibri"/>
              </a:rPr>
              <a:t>Un anillo de una estación</a:t>
            </a:r>
          </a:p>
        </p:txBody>
      </p:sp>
      <p:sp>
        <p:nvSpPr>
          <p:cNvPr id="70" name="TextBox 69"/>
          <p:cNvSpPr txBox="1"/>
          <p:nvPr/>
        </p:nvSpPr>
        <p:spPr>
          <a:xfrm>
            <a:off x="3840480" y="3960876"/>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71" name="TextBox 70"/>
          <p:cNvSpPr txBox="1"/>
          <p:nvPr/>
        </p:nvSpPr>
        <p:spPr>
          <a:xfrm>
            <a:off x="4450080" y="3960876"/>
            <a:ext cx="7101840" cy="278892"/>
          </a:xfrm>
          <a:prstGeom prst="rect">
            <a:avLst/>
          </a:prstGeom>
          <a:noFill/>
        </p:spPr>
        <p:txBody>
          <a:bodyPr wrap="square" lIns="0" tIns="0" rIns="0" bIns="0" anchor="t">
            <a:noAutofit/>
          </a:bodyPr>
          <a:lstStyle/>
          <a:p>
            <a:r>
              <a:rPr sz="1800" b="1" lang="es-CO">
                <a:solidFill>
                  <a:srgbClr val="071329"/>
                </a:solidFill>
                <a:latin typeface="Calibri"/>
              </a:rPr>
              <a:t>Compuerta canario contra anillo: pasa si el modelo sigue oyendo</a:t>
            </a:r>
          </a:p>
        </p:txBody>
      </p:sp>
      <p:cxnSp>
        <p:nvCxnSpPr>
          <p:cNvPr id="72" name="Connector 71"/>
          <p:cNvCxnSpPr/>
          <p:nvPr/>
        </p:nvCxnSpPr>
        <p:spPr>
          <a:xfrm>
            <a:off x="640080" y="4392168"/>
            <a:ext cx="10911840" cy="0"/>
          </a:xfrm>
          <a:prstGeom prst="line">
            <a:avLst/>
          </a:prstGeom>
          <a:ln w="11430">
            <a:solidFill>
              <a:srgbClr val="D5DEEA"/>
            </a:solidFill>
          </a:ln>
        </p:spPr>
      </p:cxnSp>
      <p:sp>
        <p:nvSpPr>
          <p:cNvPr id="73" name="TextBox 72"/>
          <p:cNvSpPr txBox="1"/>
          <p:nvPr/>
        </p:nvSpPr>
        <p:spPr>
          <a:xfrm>
            <a:off x="640080" y="4544568"/>
            <a:ext cx="3200400" cy="278892"/>
          </a:xfrm>
          <a:prstGeom prst="rect">
            <a:avLst/>
          </a:prstGeom>
          <a:noFill/>
        </p:spPr>
        <p:txBody>
          <a:bodyPr wrap="square" lIns="0" tIns="0" rIns="0" bIns="0" anchor="t">
            <a:noAutofit/>
          </a:bodyPr>
          <a:lstStyle/>
          <a:p>
            <a:r>
              <a:rPr sz="1800" b="0" lang="es-CO">
                <a:solidFill>
                  <a:srgbClr val="071329"/>
                </a:solidFill>
                <a:latin typeface="Calibri"/>
              </a:rPr>
              <a:t>Sabemos qué audio suena</a:t>
            </a:r>
          </a:p>
        </p:txBody>
      </p:sp>
      <p:sp>
        <p:nvSpPr>
          <p:cNvPr id="74" name="TextBox 73"/>
          <p:cNvSpPr txBox="1"/>
          <p:nvPr/>
        </p:nvSpPr>
        <p:spPr>
          <a:xfrm>
            <a:off x="3840480" y="4544568"/>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75" name="TextBox 74"/>
          <p:cNvSpPr txBox="1"/>
          <p:nvPr/>
        </p:nvSpPr>
        <p:spPr>
          <a:xfrm>
            <a:off x="4450080" y="4544568"/>
            <a:ext cx="7101840" cy="278892"/>
          </a:xfrm>
          <a:prstGeom prst="rect">
            <a:avLst/>
          </a:prstGeom>
          <a:noFill/>
        </p:spPr>
        <p:txBody>
          <a:bodyPr wrap="square" lIns="0" tIns="0" rIns="0" bIns="0" anchor="t">
            <a:noAutofit/>
          </a:bodyPr>
          <a:lstStyle/>
          <a:p>
            <a:r>
              <a:rPr sz="1800" b="1" lang="es-CO">
                <a:solidFill>
                  <a:srgbClr val="071329"/>
                </a:solidFill>
                <a:latin typeface="Calibri"/>
              </a:rPr>
              <a:t>Etiquetas tardías: la orden de mantenimiento dice cuándo fue falla</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¿Qué método de drift </a:t>
            </a:r>
            <a:r>
              <a:rPr b="1" lang="es-CO">
                <a:solidFill>
                  <a:srgbClr val="6D28D9"/>
                </a:solidFill>
              </a:rPr>
              <a:t>uso</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2248205" cy="167640"/>
          </a:xfrm>
          <a:prstGeom prst="rect">
            <a:avLst/>
          </a:prstGeom>
          <a:noFill/>
        </p:spPr>
        <p:txBody>
          <a:bodyPr wrap="square" lIns="0" tIns="0" rIns="0" bIns="0" anchor="t">
            <a:noAutofit/>
          </a:bodyPr>
          <a:lstStyle/>
          <a:p>
            <a:r>
              <a:rPr sz="900" b="1" spc="90" lang="es-CO">
                <a:solidFill>
                  <a:srgbClr val="5C7290"/>
                </a:solidFill>
                <a:latin typeface="Calibri"/>
              </a:rPr>
              <a:t>MÉTODO</a:t>
            </a:r>
          </a:p>
        </p:txBody>
      </p:sp>
      <p:sp>
        <p:nvSpPr>
          <p:cNvPr id="55" name="TextBox 54"/>
          <p:cNvSpPr txBox="1"/>
          <p:nvPr/>
        </p:nvSpPr>
        <p:spPr>
          <a:xfrm>
            <a:off x="3040685" y="1798320"/>
            <a:ext cx="4212336" cy="167640"/>
          </a:xfrm>
          <a:prstGeom prst="rect">
            <a:avLst/>
          </a:prstGeom>
          <a:noFill/>
        </p:spPr>
        <p:txBody>
          <a:bodyPr wrap="square" lIns="0" tIns="0" rIns="0" bIns="0" anchor="t">
            <a:noAutofit/>
          </a:bodyPr>
          <a:lstStyle/>
          <a:p>
            <a:r>
              <a:rPr sz="900" b="1" spc="90" lang="es-CO">
                <a:solidFill>
                  <a:srgbClr val="5C7290"/>
                </a:solidFill>
                <a:latin typeface="Calibri"/>
              </a:rPr>
              <a:t>PARA QUÉ</a:t>
            </a:r>
          </a:p>
        </p:txBody>
      </p:sp>
      <p:sp>
        <p:nvSpPr>
          <p:cNvPr id="56" name="TextBox 55"/>
          <p:cNvSpPr txBox="1"/>
          <p:nvPr/>
        </p:nvSpPr>
        <p:spPr>
          <a:xfrm>
            <a:off x="7405421" y="1798320"/>
            <a:ext cx="3994099" cy="167640"/>
          </a:xfrm>
          <a:prstGeom prst="rect">
            <a:avLst/>
          </a:prstGeom>
          <a:noFill/>
        </p:spPr>
        <p:txBody>
          <a:bodyPr wrap="square" lIns="0" tIns="0" rIns="0" bIns="0" anchor="t">
            <a:noAutofit/>
          </a:bodyPr>
          <a:lstStyle/>
          <a:p>
            <a:r>
              <a:rPr sz="900" b="1" spc="90" lang="es-CO">
                <a:solidFill>
                  <a:srgbClr val="5C7290"/>
                </a:solidFill>
                <a:latin typeface="Calibri"/>
              </a:rPr>
              <a:t>CUIDADO</a:t>
            </a:r>
          </a:p>
        </p:txBody>
      </p:sp>
      <p:cxnSp>
        <p:nvCxnSpPr>
          <p:cNvPr id="57" name="Connector 56"/>
          <p:cNvCxnSpPr/>
          <p:nvPr/>
        </p:nvCxnSpPr>
        <p:spPr>
          <a:xfrm>
            <a:off x="640080" y="2057400"/>
            <a:ext cx="10911840" cy="0"/>
          </a:xfrm>
          <a:prstGeom prst="line">
            <a:avLst/>
          </a:prstGeom>
          <a:ln w="11430">
            <a:solidFill>
              <a:srgbClr val="D5DEEA"/>
            </a:solidFill>
          </a:ln>
        </p:spPr>
      </p:cxnSp>
      <p:sp>
        <p:nvSpPr>
          <p:cNvPr id="58" name="TextBox 57"/>
          <p:cNvSpPr txBox="1"/>
          <p:nvPr/>
        </p:nvSpPr>
        <p:spPr>
          <a:xfrm>
            <a:off x="640080" y="2179320"/>
            <a:ext cx="2248205" cy="442570"/>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PSI</a:t>
            </a:r>
          </a:p>
        </p:txBody>
      </p:sp>
      <p:sp>
        <p:nvSpPr>
          <p:cNvPr id="59" name="TextBox 58"/>
          <p:cNvSpPr txBox="1"/>
          <p:nvPr/>
        </p:nvSpPr>
        <p:spPr>
          <a:xfrm>
            <a:off x="3040685" y="2179320"/>
            <a:ext cx="4212336" cy="442570"/>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Variables por rangos o categorías; muy usado en riesgo de crédito</a:t>
            </a:r>
          </a:p>
        </p:txBody>
      </p:sp>
      <p:sp>
        <p:nvSpPr>
          <p:cNvPr id="60" name="TextBox 59"/>
          <p:cNvSpPr txBox="1"/>
          <p:nvPr/>
        </p:nvSpPr>
        <p:spPr>
          <a:xfrm>
            <a:off x="7405421" y="2179320"/>
            <a:ext cx="3994099" cy="442570"/>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Los umbrales 0,1 y 0,25 son costumbre, no estadística; se rompe con rangos vacíos</a:t>
            </a:r>
          </a:p>
        </p:txBody>
      </p:sp>
      <p:cxnSp>
        <p:nvCxnSpPr>
          <p:cNvPr id="61" name="Connector 60"/>
          <p:cNvCxnSpPr/>
          <p:nvPr/>
        </p:nvCxnSpPr>
        <p:spPr>
          <a:xfrm>
            <a:off x="640080" y="2743810"/>
            <a:ext cx="10911840" cy="0"/>
          </a:xfrm>
          <a:prstGeom prst="line">
            <a:avLst/>
          </a:prstGeom>
          <a:ln w="11430">
            <a:solidFill>
              <a:srgbClr val="D5DEEA"/>
            </a:solidFill>
          </a:ln>
        </p:spPr>
      </p:cxnSp>
      <p:sp>
        <p:nvSpPr>
          <p:cNvPr id="62" name="TextBox 61"/>
          <p:cNvSpPr txBox="1"/>
          <p:nvPr/>
        </p:nvSpPr>
        <p:spPr>
          <a:xfrm>
            <a:off x="640080" y="2865730"/>
            <a:ext cx="2248205"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Kolmogorov-Smirnov</a:t>
            </a:r>
          </a:p>
        </p:txBody>
      </p:sp>
      <p:sp>
        <p:nvSpPr>
          <p:cNvPr id="63" name="TextBox 62"/>
          <p:cNvSpPr txBox="1"/>
          <p:nvPr/>
        </p:nvSpPr>
        <p:spPr>
          <a:xfrm>
            <a:off x="3040685" y="2865730"/>
            <a:ext cx="4212336"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Variables numéricas, muestras pequeñas</a:t>
            </a:r>
          </a:p>
        </p:txBody>
      </p:sp>
      <p:sp>
        <p:nvSpPr>
          <p:cNvPr id="64" name="TextBox 63"/>
          <p:cNvSpPr txBox="1"/>
          <p:nvPr/>
        </p:nvSpPr>
        <p:spPr>
          <a:xfrm>
            <a:off x="7405421" y="2865730"/>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Con muchos datos da falsas alarmas</a:t>
            </a:r>
          </a:p>
        </p:txBody>
      </p:sp>
      <p:cxnSp>
        <p:nvCxnSpPr>
          <p:cNvPr id="65" name="Connector 64"/>
          <p:cNvCxnSpPr/>
          <p:nvPr/>
        </p:nvCxnSpPr>
        <p:spPr>
          <a:xfrm>
            <a:off x="640080" y="3208934"/>
            <a:ext cx="10911840" cy="0"/>
          </a:xfrm>
          <a:prstGeom prst="line">
            <a:avLst/>
          </a:prstGeom>
          <a:ln w="11430">
            <a:solidFill>
              <a:srgbClr val="D5DEEA"/>
            </a:solidFill>
          </a:ln>
        </p:spPr>
      </p:cxnSp>
      <p:sp>
        <p:nvSpPr>
          <p:cNvPr id="66" name="TextBox 65"/>
          <p:cNvSpPr txBox="1"/>
          <p:nvPr/>
        </p:nvSpPr>
        <p:spPr>
          <a:xfrm>
            <a:off x="640080" y="3330854"/>
            <a:ext cx="2248205"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Wasserstein</a:t>
            </a:r>
          </a:p>
        </p:txBody>
      </p:sp>
      <p:sp>
        <p:nvSpPr>
          <p:cNvPr id="67" name="TextBox 66"/>
          <p:cNvSpPr txBox="1"/>
          <p:nvPr/>
        </p:nvSpPr>
        <p:spPr>
          <a:xfrm>
            <a:off x="3040685" y="3330854"/>
            <a:ext cx="4212336"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Variables numéricas, muestras grandes: cuánto se movió</a:t>
            </a:r>
          </a:p>
        </p:txBody>
      </p:sp>
      <p:sp>
        <p:nvSpPr>
          <p:cNvPr id="68" name="TextBox 67"/>
          <p:cNvSpPr txBox="1"/>
          <p:nvPr/>
        </p:nvSpPr>
        <p:spPr>
          <a:xfrm>
            <a:off x="7405421" y="3330854"/>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Sensible a valores extremos</a:t>
            </a:r>
          </a:p>
        </p:txBody>
      </p:sp>
      <p:cxnSp>
        <p:nvCxnSpPr>
          <p:cNvPr id="69" name="Connector 68"/>
          <p:cNvCxnSpPr/>
          <p:nvPr/>
        </p:nvCxnSpPr>
        <p:spPr>
          <a:xfrm>
            <a:off x="640080" y="3674059"/>
            <a:ext cx="10911840" cy="0"/>
          </a:xfrm>
          <a:prstGeom prst="line">
            <a:avLst/>
          </a:prstGeom>
          <a:ln w="15240">
            <a:solidFill>
              <a:srgbClr val="6D28D9"/>
            </a:solidFill>
          </a:ln>
        </p:spPr>
      </p:cxnSp>
      <p:sp>
        <p:nvSpPr>
          <p:cNvPr id="70" name="TextBox 69"/>
          <p:cNvSpPr txBox="1"/>
          <p:nvPr/>
        </p:nvSpPr>
        <p:spPr>
          <a:xfrm>
            <a:off x="640080" y="3795979"/>
            <a:ext cx="2248205" cy="221285"/>
          </a:xfrm>
          <a:prstGeom prst="rect">
            <a:avLst/>
          </a:prstGeom>
          <a:noFill/>
        </p:spPr>
        <p:txBody>
          <a:bodyPr wrap="square" lIns="0" tIns="0" rIns="0" bIns="0" anchor="t">
            <a:noAutofit/>
          </a:bodyPr>
          <a:lstStyle/>
          <a:p>
            <a:pPr>
              <a:lnSpc>
                <a:spcPct val="110000"/>
              </a:lnSpc>
            </a:pPr>
            <a:r>
              <a:rPr sz="1320" b="1" lang="es-CO">
                <a:solidFill>
                  <a:srgbClr val="6D28D9"/>
                </a:solidFill>
                <a:latin typeface="Calibri"/>
              </a:rPr>
              <a:t>Jensen-Shannon</a:t>
            </a:r>
          </a:p>
        </p:txBody>
      </p:sp>
      <p:sp>
        <p:nvSpPr>
          <p:cNvPr id="71" name="TextBox 70"/>
          <p:cNvSpPr txBox="1"/>
          <p:nvPr/>
        </p:nvSpPr>
        <p:spPr>
          <a:xfrm>
            <a:off x="3040685" y="3795979"/>
            <a:ext cx="4212336"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Numéricas y categóricas; acotada entre 0 y 1</a:t>
            </a:r>
          </a:p>
        </p:txBody>
      </p:sp>
      <p:sp>
        <p:nvSpPr>
          <p:cNvPr id="72" name="TextBox 71"/>
          <p:cNvSpPr txBox="1"/>
          <p:nvPr/>
        </p:nvSpPr>
        <p:spPr>
          <a:xfrm>
            <a:off x="7405421" y="3795979"/>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No distingue un drift fuerte de uno extremo</a:t>
            </a:r>
          </a:p>
        </p:txBody>
      </p:sp>
      <p:cxnSp>
        <p:nvCxnSpPr>
          <p:cNvPr id="73" name="Connector 72"/>
          <p:cNvCxnSpPr/>
          <p:nvPr/>
        </p:nvCxnSpPr>
        <p:spPr>
          <a:xfrm>
            <a:off x="640080" y="4139184"/>
            <a:ext cx="10911840" cy="0"/>
          </a:xfrm>
          <a:prstGeom prst="line">
            <a:avLst/>
          </a:prstGeom>
          <a:ln w="11430">
            <a:solidFill>
              <a:srgbClr val="D5DEEA"/>
            </a:solidFill>
          </a:ln>
        </p:spPr>
      </p:cxnSp>
      <p:sp>
        <p:nvSpPr>
          <p:cNvPr id="74"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Documentación de Evidently (métodos de data drift) y NannyML (comparación de métodos univariados) · crítica a los umbrales del PSI: arXiv:2303.01227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Regulación: ¿quién más te va a pedir </a:t>
            </a:r>
            <a:r>
              <a:rPr b="1" lang="es-CO">
                <a:solidFill>
                  <a:srgbClr val="6D28D9"/>
                </a:solidFill>
              </a:rPr>
              <a:t>cuentas</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Rectangle 53"/>
          <p:cNvSpPr/>
          <p:nvPr/>
        </p:nvSpPr>
        <p:spPr>
          <a:xfrm>
            <a:off x="640080" y="1828800"/>
            <a:ext cx="3474720" cy="2819400"/>
          </a:xfrm>
          <a:prstGeom prst="rect">
            <a:avLst/>
          </a:prstGeom>
          <a:solidFill>
            <a:srgbClr val="FFFFFF"/>
          </a:solidFill>
          <a:ln w="11430">
            <a:solidFill>
              <a:srgbClr val="D5DEEA"/>
            </a:solidFill>
          </a:ln>
        </p:spPr>
        <p:txBody>
          <a:bodyPr rtlCol="0" anchor="ctr"/>
          <a:lstStyle/>
          <a:p>
            <a:pPr algn="ctr"/>
          </a:p>
        </p:txBody>
      </p:sp>
      <p:sp>
        <p:nvSpPr>
          <p:cNvPr id="55" name="TextBox 54"/>
          <p:cNvSpPr txBox="1"/>
          <p:nvPr/>
        </p:nvSpPr>
        <p:spPr>
          <a:xfrm>
            <a:off x="853440" y="2011680"/>
            <a:ext cx="3048000" cy="167640"/>
          </a:xfrm>
          <a:prstGeom prst="rect">
            <a:avLst/>
          </a:prstGeom>
          <a:noFill/>
        </p:spPr>
        <p:txBody>
          <a:bodyPr wrap="square" lIns="0" tIns="0" rIns="0" bIns="0" anchor="t">
            <a:noAutofit/>
          </a:bodyPr>
          <a:lstStyle/>
          <a:p>
            <a:r>
              <a:rPr sz="900" b="1" lang="es-CO">
                <a:solidFill>
                  <a:srgbClr val="6D28D9"/>
                </a:solidFill>
                <a:latin typeface="Courier New"/>
              </a:rPr>
              <a:t>UNIÓN EUROPEA · AI ACT</a:t>
            </a:r>
          </a:p>
        </p:txBody>
      </p:sp>
      <p:sp>
        <p:nvSpPr>
          <p:cNvPr id="56" name="TextBox 55"/>
          <p:cNvSpPr txBox="1"/>
          <p:nvPr/>
        </p:nvSpPr>
        <p:spPr>
          <a:xfrm>
            <a:off x="853440" y="2255520"/>
            <a:ext cx="3048000" cy="548640"/>
          </a:xfrm>
          <a:prstGeom prst="rect">
            <a:avLst/>
          </a:prstGeom>
          <a:noFill/>
        </p:spPr>
        <p:txBody>
          <a:bodyPr wrap="square" lIns="0" tIns="0" rIns="0" bIns="0" anchor="t">
            <a:noAutofit/>
          </a:bodyPr>
          <a:lstStyle/>
          <a:p>
            <a:pPr>
              <a:lnSpc>
                <a:spcPct val="100000"/>
              </a:lnSpc>
            </a:pPr>
            <a:r>
              <a:rPr sz="1800" b="1" lang="es-CO">
                <a:solidFill>
                  <a:srgbClr val="071329"/>
                </a:solidFill>
                <a:latin typeface="Calibri"/>
              </a:rPr>
              <a:t>Registros automáticos </a:t>
            </a:r>
            <a:r>
              <a:rPr sz="1800" b="1" lang="es-CO">
                <a:solidFill>
                  <a:srgbClr val="6D28D9"/>
                </a:solidFill>
                <a:latin typeface="Calibri"/>
              </a:rPr>
              <a:t>durante toda la vida</a:t>
            </a:r>
            <a:r>
              <a:rPr sz="1800" b="1" lang="es-CO">
                <a:solidFill>
                  <a:srgbClr val="071329"/>
                </a:solidFill>
                <a:latin typeface="Calibri"/>
              </a:rPr>
              <a:t> del sistema</a:t>
            </a:r>
          </a:p>
        </p:txBody>
      </p:sp>
      <p:cxnSp>
        <p:nvCxnSpPr>
          <p:cNvPr id="57" name="Connector 56"/>
          <p:cNvCxnSpPr/>
          <p:nvPr/>
        </p:nvCxnSpPr>
        <p:spPr>
          <a:xfrm>
            <a:off x="853440" y="2926080"/>
            <a:ext cx="3048000" cy="0"/>
          </a:xfrm>
          <a:prstGeom prst="line">
            <a:avLst/>
          </a:prstGeom>
          <a:ln w="11430">
            <a:solidFill>
              <a:srgbClr val="D5DEEA"/>
            </a:solidFill>
          </a:ln>
        </p:spPr>
      </p:cxnSp>
      <p:sp>
        <p:nvSpPr>
          <p:cNvPr id="58" name="TextBox 57"/>
          <p:cNvSpPr txBox="1"/>
          <p:nvPr/>
        </p:nvSpPr>
        <p:spPr>
          <a:xfrm>
            <a:off x="853440" y="299466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Art. 12 · el sistema registra eventos solo</a:t>
            </a:r>
          </a:p>
        </p:txBody>
      </p:sp>
      <p:cxnSp>
        <p:nvCxnSpPr>
          <p:cNvPr id="59" name="Connector 58"/>
          <p:cNvCxnSpPr/>
          <p:nvPr/>
        </p:nvCxnSpPr>
        <p:spPr>
          <a:xfrm>
            <a:off x="853440" y="3261360"/>
            <a:ext cx="3048000" cy="0"/>
          </a:xfrm>
          <a:prstGeom prst="line">
            <a:avLst/>
          </a:prstGeom>
          <a:ln w="11430">
            <a:solidFill>
              <a:srgbClr val="D5DEEA"/>
            </a:solidFill>
          </a:ln>
        </p:spPr>
      </p:cxnSp>
      <p:sp>
        <p:nvSpPr>
          <p:cNvPr id="60" name="TextBox 59"/>
          <p:cNvSpPr txBox="1"/>
          <p:nvPr/>
        </p:nvSpPr>
        <p:spPr>
          <a:xfrm>
            <a:off x="853440" y="332994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Art. 19 · se guardan al menos seis meses</a:t>
            </a:r>
          </a:p>
        </p:txBody>
      </p:sp>
      <p:cxnSp>
        <p:nvCxnSpPr>
          <p:cNvPr id="61" name="Connector 60"/>
          <p:cNvCxnSpPr/>
          <p:nvPr/>
        </p:nvCxnSpPr>
        <p:spPr>
          <a:xfrm>
            <a:off x="853440" y="3596640"/>
            <a:ext cx="3048000" cy="0"/>
          </a:xfrm>
          <a:prstGeom prst="line">
            <a:avLst/>
          </a:prstGeom>
          <a:ln w="11430">
            <a:solidFill>
              <a:srgbClr val="D5DEEA"/>
            </a:solidFill>
          </a:ln>
        </p:spPr>
      </p:cxnSp>
      <p:sp>
        <p:nvSpPr>
          <p:cNvPr id="62" name="TextBox 61"/>
          <p:cNvSpPr txBox="1"/>
          <p:nvPr/>
        </p:nvSpPr>
        <p:spPr>
          <a:xfrm>
            <a:off x="853440" y="3665220"/>
            <a:ext cx="3048000" cy="39624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Art. 72 · monitoreo después de salir al mercado</a:t>
            </a:r>
          </a:p>
        </p:txBody>
      </p:sp>
      <p:sp>
        <p:nvSpPr>
          <p:cNvPr id="63" name="TextBox 62"/>
          <p:cNvSpPr txBox="1"/>
          <p:nvPr/>
        </p:nvSpPr>
        <p:spPr>
          <a:xfrm>
            <a:off x="853440" y="4312920"/>
            <a:ext cx="3048000" cy="167640"/>
          </a:xfrm>
          <a:prstGeom prst="rect">
            <a:avLst/>
          </a:prstGeom>
          <a:noFill/>
        </p:spPr>
        <p:txBody>
          <a:bodyPr wrap="square" lIns="0" tIns="0" rIns="0" bIns="0" anchor="t">
            <a:noAutofit/>
          </a:bodyPr>
          <a:lstStyle/>
          <a:p>
            <a:r>
              <a:rPr sz="960" b="0" lang="es-CO">
                <a:solidFill>
                  <a:srgbClr val="5C7290"/>
                </a:solidFill>
                <a:latin typeface="Calibri"/>
              </a:rPr>
              <a:t>Alto riesgo: dic. 2027 (Anexo III) · ago. 2028 (Anexo I)</a:t>
            </a:r>
          </a:p>
        </p:txBody>
      </p:sp>
      <p:sp>
        <p:nvSpPr>
          <p:cNvPr id="64" name="Rectangle 63"/>
          <p:cNvSpPr/>
          <p:nvPr/>
        </p:nvSpPr>
        <p:spPr>
          <a:xfrm>
            <a:off x="4358640" y="1828800"/>
            <a:ext cx="3474720" cy="2819400"/>
          </a:xfrm>
          <a:prstGeom prst="rect">
            <a:avLst/>
          </a:prstGeom>
          <a:solidFill>
            <a:srgbClr val="FFFFFF"/>
          </a:solidFill>
          <a:ln w="11430">
            <a:solidFill>
              <a:srgbClr val="D5DEEA"/>
            </a:solidFill>
          </a:ln>
        </p:spPr>
        <p:txBody>
          <a:bodyPr rtlCol="0" anchor="ctr"/>
          <a:lstStyle/>
          <a:p>
            <a:pPr algn="ctr"/>
          </a:p>
        </p:txBody>
      </p:sp>
      <p:sp>
        <p:nvSpPr>
          <p:cNvPr id="65" name="TextBox 64"/>
          <p:cNvSpPr txBox="1"/>
          <p:nvPr/>
        </p:nvSpPr>
        <p:spPr>
          <a:xfrm>
            <a:off x="4572000" y="2011680"/>
            <a:ext cx="3048000" cy="167640"/>
          </a:xfrm>
          <a:prstGeom prst="rect">
            <a:avLst/>
          </a:prstGeom>
          <a:noFill/>
        </p:spPr>
        <p:txBody>
          <a:bodyPr wrap="square" lIns="0" tIns="0" rIns="0" bIns="0" anchor="t">
            <a:noAutofit/>
          </a:bodyPr>
          <a:lstStyle/>
          <a:p>
            <a:r>
              <a:rPr sz="900" b="1" lang="es-CO">
                <a:solidFill>
                  <a:srgbClr val="6D28D9"/>
                </a:solidFill>
                <a:latin typeface="Courier New"/>
              </a:rPr>
              <a:t>NIST · AI RMF 1.0</a:t>
            </a:r>
          </a:p>
        </p:txBody>
      </p:sp>
      <p:sp>
        <p:nvSpPr>
          <p:cNvPr id="66" name="TextBox 65"/>
          <p:cNvSpPr txBox="1"/>
          <p:nvPr/>
        </p:nvSpPr>
        <p:spPr>
          <a:xfrm>
            <a:off x="4572000" y="2255520"/>
            <a:ext cx="3048000" cy="548640"/>
          </a:xfrm>
          <a:prstGeom prst="rect">
            <a:avLst/>
          </a:prstGeom>
          <a:noFill/>
        </p:spPr>
        <p:txBody>
          <a:bodyPr wrap="square" lIns="0" tIns="0" rIns="0" bIns="0" anchor="t">
            <a:noAutofit/>
          </a:bodyPr>
          <a:lstStyle/>
          <a:p>
            <a:pPr>
              <a:lnSpc>
                <a:spcPct val="100000"/>
              </a:lnSpc>
            </a:pPr>
            <a:r>
              <a:rPr sz="1800" b="1" lang="es-CO">
                <a:solidFill>
                  <a:srgbClr val="071329"/>
                </a:solidFill>
                <a:latin typeface="Calibri"/>
              </a:rPr>
              <a:t>Gobernar, mapear, </a:t>
            </a:r>
            <a:r>
              <a:rPr sz="1800" b="1" lang="es-CO">
                <a:solidFill>
                  <a:srgbClr val="6D28D9"/>
                </a:solidFill>
                <a:latin typeface="Calibri"/>
              </a:rPr>
              <a:t>medir</a:t>
            </a:r>
            <a:r>
              <a:rPr sz="1800" b="1" lang="es-CO">
                <a:solidFill>
                  <a:srgbClr val="071329"/>
                </a:solidFill>
                <a:latin typeface="Calibri"/>
              </a:rPr>
              <a:t> y gestionar</a:t>
            </a:r>
          </a:p>
        </p:txBody>
      </p:sp>
      <p:cxnSp>
        <p:nvCxnSpPr>
          <p:cNvPr id="67" name="Connector 66"/>
          <p:cNvCxnSpPr/>
          <p:nvPr/>
        </p:nvCxnSpPr>
        <p:spPr>
          <a:xfrm>
            <a:off x="4572000" y="2926080"/>
            <a:ext cx="3048000" cy="0"/>
          </a:xfrm>
          <a:prstGeom prst="line">
            <a:avLst/>
          </a:prstGeom>
          <a:ln w="11430">
            <a:solidFill>
              <a:srgbClr val="D5DEEA"/>
            </a:solidFill>
          </a:ln>
        </p:spPr>
      </p:cxnSp>
      <p:sp>
        <p:nvSpPr>
          <p:cNvPr id="68" name="TextBox 67"/>
          <p:cNvSpPr txBox="1"/>
          <p:nvPr/>
        </p:nvSpPr>
        <p:spPr>
          <a:xfrm>
            <a:off x="4572000" y="299466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Voluntario</a:t>
            </a:r>
          </a:p>
        </p:txBody>
      </p:sp>
      <p:cxnSp>
        <p:nvCxnSpPr>
          <p:cNvPr id="69" name="Connector 68"/>
          <p:cNvCxnSpPr/>
          <p:nvPr/>
        </p:nvCxnSpPr>
        <p:spPr>
          <a:xfrm>
            <a:off x="4572000" y="3261360"/>
            <a:ext cx="3048000" cy="0"/>
          </a:xfrm>
          <a:prstGeom prst="line">
            <a:avLst/>
          </a:prstGeom>
          <a:ln w="11430">
            <a:solidFill>
              <a:srgbClr val="D5DEEA"/>
            </a:solidFill>
          </a:ln>
        </p:spPr>
      </p:cxnSp>
      <p:sp>
        <p:nvSpPr>
          <p:cNvPr id="70" name="TextBox 69"/>
          <p:cNvSpPr txBox="1"/>
          <p:nvPr/>
        </p:nvSpPr>
        <p:spPr>
          <a:xfrm>
            <a:off x="4572000" y="332994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El idioma común del riesgo en IA</a:t>
            </a:r>
          </a:p>
        </p:txBody>
      </p:sp>
      <p:sp>
        <p:nvSpPr>
          <p:cNvPr id="71" name="TextBox 70"/>
          <p:cNvSpPr txBox="1"/>
          <p:nvPr/>
        </p:nvSpPr>
        <p:spPr>
          <a:xfrm>
            <a:off x="4572000" y="4312920"/>
            <a:ext cx="3048000" cy="167640"/>
          </a:xfrm>
          <a:prstGeom prst="rect">
            <a:avLst/>
          </a:prstGeom>
          <a:noFill/>
        </p:spPr>
        <p:txBody>
          <a:bodyPr wrap="square" lIns="0" tIns="0" rIns="0" bIns="0" anchor="t">
            <a:noAutofit/>
          </a:bodyPr>
          <a:lstStyle/>
          <a:p>
            <a:r>
              <a:rPr sz="960" b="0" lang="es-CO">
                <a:solidFill>
                  <a:srgbClr val="5C7290"/>
                </a:solidFill>
                <a:latin typeface="Calibri"/>
              </a:rPr>
              <a:t>NIST AI 100-1 · enero 2023</a:t>
            </a:r>
          </a:p>
        </p:txBody>
      </p:sp>
      <p:sp>
        <p:nvSpPr>
          <p:cNvPr id="72" name="Rectangle 71"/>
          <p:cNvSpPr/>
          <p:nvPr/>
        </p:nvSpPr>
        <p:spPr>
          <a:xfrm>
            <a:off x="8077200" y="1828800"/>
            <a:ext cx="3474720" cy="2819400"/>
          </a:xfrm>
          <a:prstGeom prst="rect">
            <a:avLst/>
          </a:prstGeom>
          <a:solidFill>
            <a:srgbClr val="FFFFFF"/>
          </a:solidFill>
          <a:ln w="11430">
            <a:solidFill>
              <a:srgbClr val="D5DEEA"/>
            </a:solidFill>
          </a:ln>
        </p:spPr>
        <p:txBody>
          <a:bodyPr rtlCol="0" anchor="ctr"/>
          <a:lstStyle/>
          <a:p>
            <a:pPr algn="ctr"/>
          </a:p>
        </p:txBody>
      </p:sp>
      <p:sp>
        <p:nvSpPr>
          <p:cNvPr id="73" name="TextBox 72"/>
          <p:cNvSpPr txBox="1"/>
          <p:nvPr/>
        </p:nvSpPr>
        <p:spPr>
          <a:xfrm>
            <a:off x="8290560" y="2011680"/>
            <a:ext cx="3048000" cy="167640"/>
          </a:xfrm>
          <a:prstGeom prst="rect">
            <a:avLst/>
          </a:prstGeom>
          <a:noFill/>
        </p:spPr>
        <p:txBody>
          <a:bodyPr wrap="square" lIns="0" tIns="0" rIns="0" bIns="0" anchor="t">
            <a:noAutofit/>
          </a:bodyPr>
          <a:lstStyle/>
          <a:p>
            <a:r>
              <a:rPr sz="900" b="1" lang="es-CO">
                <a:solidFill>
                  <a:srgbClr val="6D28D9"/>
                </a:solidFill>
                <a:latin typeface="Courier New"/>
              </a:rPr>
              <a:t>ISO/IEC 42001</a:t>
            </a:r>
          </a:p>
        </p:txBody>
      </p:sp>
      <p:sp>
        <p:nvSpPr>
          <p:cNvPr id="74" name="TextBox 73"/>
          <p:cNvSpPr txBox="1"/>
          <p:nvPr/>
        </p:nvSpPr>
        <p:spPr>
          <a:xfrm>
            <a:off x="8290560" y="2255520"/>
            <a:ext cx="3048000" cy="548640"/>
          </a:xfrm>
          <a:prstGeom prst="rect">
            <a:avLst/>
          </a:prstGeom>
          <a:noFill/>
        </p:spPr>
        <p:txBody>
          <a:bodyPr wrap="square" lIns="0" tIns="0" rIns="0" bIns="0" anchor="t">
            <a:noAutofit/>
          </a:bodyPr>
          <a:lstStyle/>
          <a:p>
            <a:pPr>
              <a:lnSpc>
                <a:spcPct val="100000"/>
              </a:lnSpc>
            </a:pPr>
            <a:r>
              <a:rPr sz="1800" b="1" lang="es-CO">
                <a:solidFill>
                  <a:srgbClr val="071329"/>
                </a:solidFill>
                <a:latin typeface="Calibri"/>
              </a:rPr>
              <a:t>Un sistema de gestión de IA, </a:t>
            </a:r>
            <a:r>
              <a:rPr sz="1800" b="1" lang="es-CO">
                <a:solidFill>
                  <a:srgbClr val="6D28D9"/>
                </a:solidFill>
                <a:latin typeface="Calibri"/>
              </a:rPr>
              <a:t>certificable</a:t>
            </a:r>
          </a:p>
        </p:txBody>
      </p:sp>
      <p:cxnSp>
        <p:nvCxnSpPr>
          <p:cNvPr id="75" name="Connector 74"/>
          <p:cNvCxnSpPr/>
          <p:nvPr/>
        </p:nvCxnSpPr>
        <p:spPr>
          <a:xfrm>
            <a:off x="8290560" y="2926080"/>
            <a:ext cx="3048000" cy="0"/>
          </a:xfrm>
          <a:prstGeom prst="line">
            <a:avLst/>
          </a:prstGeom>
          <a:ln w="11430">
            <a:solidFill>
              <a:srgbClr val="D5DEEA"/>
            </a:solidFill>
          </a:ln>
        </p:spPr>
      </p:cxnSp>
      <p:sp>
        <p:nvSpPr>
          <p:cNvPr id="76" name="TextBox 75"/>
          <p:cNvSpPr txBox="1"/>
          <p:nvPr/>
        </p:nvSpPr>
        <p:spPr>
          <a:xfrm>
            <a:off x="8290560" y="299466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La lógica de ISO 27001, aplicada a la IA</a:t>
            </a:r>
          </a:p>
        </p:txBody>
      </p:sp>
      <p:cxnSp>
        <p:nvCxnSpPr>
          <p:cNvPr id="77" name="Connector 76"/>
          <p:cNvCxnSpPr/>
          <p:nvPr/>
        </p:nvCxnSpPr>
        <p:spPr>
          <a:xfrm>
            <a:off x="8290560" y="3261360"/>
            <a:ext cx="3048000" cy="0"/>
          </a:xfrm>
          <a:prstGeom prst="line">
            <a:avLst/>
          </a:prstGeom>
          <a:ln w="11430">
            <a:solidFill>
              <a:srgbClr val="D5DEEA"/>
            </a:solidFill>
          </a:ln>
        </p:spPr>
      </p:cxnSp>
      <p:sp>
        <p:nvSpPr>
          <p:cNvPr id="78" name="TextBox 77"/>
          <p:cNvSpPr txBox="1"/>
          <p:nvPr/>
        </p:nvSpPr>
        <p:spPr>
          <a:xfrm>
            <a:off x="8290560" y="332994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Auditoría externa</a:t>
            </a:r>
          </a:p>
        </p:txBody>
      </p:sp>
      <p:sp>
        <p:nvSpPr>
          <p:cNvPr id="79" name="TextBox 78"/>
          <p:cNvSpPr txBox="1"/>
          <p:nvPr/>
        </p:nvSpPr>
        <p:spPr>
          <a:xfrm>
            <a:off x="8290560" y="4312920"/>
            <a:ext cx="3048000" cy="167640"/>
          </a:xfrm>
          <a:prstGeom prst="rect">
            <a:avLst/>
          </a:prstGeom>
          <a:noFill/>
        </p:spPr>
        <p:txBody>
          <a:bodyPr wrap="square" lIns="0" tIns="0" rIns="0" bIns="0" anchor="t">
            <a:noAutofit/>
          </a:bodyPr>
          <a:lstStyle/>
          <a:p>
            <a:r>
              <a:rPr sz="960" b="0" lang="es-CO">
                <a:solidFill>
                  <a:srgbClr val="5C7290"/>
                </a:solidFill>
                <a:latin typeface="Calibri"/>
              </a:rPr>
              <a:t>ISO/IEC 42001:2023</a:t>
            </a:r>
          </a:p>
        </p:txBody>
      </p:sp>
      <p:sp>
        <p:nvSpPr>
          <p:cNvPr id="80" name="TextBox 79"/>
          <p:cNvSpPr txBox="1"/>
          <p:nvPr/>
        </p:nvSpPr>
        <p:spPr>
          <a:xfrm>
            <a:off x="640080" y="4953000"/>
            <a:ext cx="10911840" cy="350520"/>
          </a:xfrm>
          <a:prstGeom prst="rect">
            <a:avLst/>
          </a:prstGeom>
          <a:noFill/>
        </p:spPr>
        <p:txBody>
          <a:bodyPr wrap="square" lIns="0" tIns="0" rIns="0" bIns="0" anchor="t">
            <a:noAutofit/>
          </a:bodyPr>
          <a:lstStyle/>
          <a:p>
            <a:r>
              <a:rPr sz="2039" b="0" lang="es-CO">
                <a:solidFill>
                  <a:srgbClr val="071329"/>
                </a:solidFill>
                <a:latin typeface="Calibri"/>
              </a:rPr>
              <a:t>Piden lo mismo que necesitas para operar: </a:t>
            </a:r>
            <a:r>
              <a:rPr sz="2039" b="1" lang="es-CO">
                <a:solidFill>
                  <a:srgbClr val="6D28D9"/>
                </a:solidFill>
                <a:latin typeface="Calibri"/>
              </a:rPr>
              <a:t>qué corre, qué decidió y cómo volver</a:t>
            </a:r>
            <a:r>
              <a:rPr sz="2039" b="0" lang="es-CO">
                <a:solidFill>
                  <a:srgbClr val="071329"/>
                </a:solidFill>
                <a:latin typeface="Calibri"/>
              </a:rPr>
              <a:t>.</a:t>
            </a:r>
          </a:p>
        </p:txBody>
      </p:sp>
      <p:sp>
        <p:nvSpPr>
          <p:cNvPr id="81"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Reglamento (UE) 2024/1689, arts. 12, 19 y 72, con las fechas del Reglamento (UE) 2026/1744 · NIST AI 100-1 · ISO/IEC 42001:2023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4"/>
                                        </p:tgtEl>
                                        <p:attrNameLst>
                                          <p:attrName>style.visibility</p:attrName>
                                        </p:attrNameLst>
                                      </p:cBhvr>
                                      <p:to>
                                        <p:strVal val="visible"/>
                                      </p:to>
                                    </p:set>
                                    <p:animEffect transition="in" filter="fade">
                                      <p:cBhvr>
                                        <p:cTn id="7" dur="400"/>
                                        <p:tgtEl>
                                          <p:spTgt spid="6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5"/>
                                        </p:tgtEl>
                                        <p:attrNameLst>
                                          <p:attrName>style.visibility</p:attrName>
                                        </p:attrNameLst>
                                      </p:cBhvr>
                                      <p:to>
                                        <p:strVal val="visible"/>
                                      </p:to>
                                    </p:set>
                                    <p:animEffect transition="in" filter="fade">
                                      <p:cBhvr>
                                        <p:cTn id="10" dur="400"/>
                                        <p:tgtEl>
                                          <p:spTgt spid="6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6"/>
                                        </p:tgtEl>
                                        <p:attrNameLst>
                                          <p:attrName>style.visibility</p:attrName>
                                        </p:attrNameLst>
                                      </p:cBhvr>
                                      <p:to>
                                        <p:strVal val="visible"/>
                                      </p:to>
                                    </p:set>
                                    <p:animEffect transition="in" filter="fade">
                                      <p:cBhvr>
                                        <p:cTn id="13" dur="400"/>
                                        <p:tgtEl>
                                          <p:spTgt spid="6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7"/>
                                        </p:tgtEl>
                                        <p:attrNameLst>
                                          <p:attrName>style.visibility</p:attrName>
                                        </p:attrNameLst>
                                      </p:cBhvr>
                                      <p:to>
                                        <p:strVal val="visible"/>
                                      </p:to>
                                    </p:set>
                                    <p:animEffect transition="in" filter="fade">
                                      <p:cBhvr>
                                        <p:cTn id="16" dur="400"/>
                                        <p:tgtEl>
                                          <p:spTgt spid="6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68"/>
                                        </p:tgtEl>
                                        <p:attrNameLst>
                                          <p:attrName>style.visibility</p:attrName>
                                        </p:attrNameLst>
                                      </p:cBhvr>
                                      <p:to>
                                        <p:strVal val="visible"/>
                                      </p:to>
                                    </p:set>
                                    <p:animEffect transition="in" filter="fade">
                                      <p:cBhvr>
                                        <p:cTn id="19" dur="400"/>
                                        <p:tgtEl>
                                          <p:spTgt spid="6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69"/>
                                        </p:tgtEl>
                                        <p:attrNameLst>
                                          <p:attrName>style.visibility</p:attrName>
                                        </p:attrNameLst>
                                      </p:cBhvr>
                                      <p:to>
                                        <p:strVal val="visible"/>
                                      </p:to>
                                    </p:set>
                                    <p:animEffect transition="in" filter="fade">
                                      <p:cBhvr>
                                        <p:cTn id="22" dur="400"/>
                                        <p:tgtEl>
                                          <p:spTgt spid="6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70"/>
                                        </p:tgtEl>
                                        <p:attrNameLst>
                                          <p:attrName>style.visibility</p:attrName>
                                        </p:attrNameLst>
                                      </p:cBhvr>
                                      <p:to>
                                        <p:strVal val="visible"/>
                                      </p:to>
                                    </p:set>
                                    <p:animEffect transition="in" filter="fade">
                                      <p:cBhvr>
                                        <p:cTn id="25" dur="400"/>
                                        <p:tgtEl>
                                          <p:spTgt spid="7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71"/>
                                        </p:tgtEl>
                                        <p:attrNameLst>
                                          <p:attrName>style.visibility</p:attrName>
                                        </p:attrNameLst>
                                      </p:cBhvr>
                                      <p:to>
                                        <p:strVal val="visible"/>
                                      </p:to>
                                    </p:set>
                                    <p:animEffect transition="in" filter="fade">
                                      <p:cBhvr>
                                        <p:cTn id="28" dur="400"/>
                                        <p:tgtEl>
                                          <p:spTgt spid="71"/>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72"/>
                                        </p:tgtEl>
                                        <p:attrNameLst>
                                          <p:attrName>style.visibility</p:attrName>
                                        </p:attrNameLst>
                                      </p:cBhvr>
                                      <p:to>
                                        <p:strVal val="visible"/>
                                      </p:to>
                                    </p:set>
                                    <p:animEffect transition="in" filter="fade">
                                      <p:cBhvr>
                                        <p:cTn id="33" dur="400"/>
                                        <p:tgtEl>
                                          <p:spTgt spid="7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73"/>
                                        </p:tgtEl>
                                        <p:attrNameLst>
                                          <p:attrName>style.visibility</p:attrName>
                                        </p:attrNameLst>
                                      </p:cBhvr>
                                      <p:to>
                                        <p:strVal val="visible"/>
                                      </p:to>
                                    </p:set>
                                    <p:animEffect transition="in" filter="fade">
                                      <p:cBhvr>
                                        <p:cTn id="36" dur="400"/>
                                        <p:tgtEl>
                                          <p:spTgt spid="73"/>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74"/>
                                        </p:tgtEl>
                                        <p:attrNameLst>
                                          <p:attrName>style.visibility</p:attrName>
                                        </p:attrNameLst>
                                      </p:cBhvr>
                                      <p:to>
                                        <p:strVal val="visible"/>
                                      </p:to>
                                    </p:set>
                                    <p:animEffect transition="in" filter="fade">
                                      <p:cBhvr>
                                        <p:cTn id="39" dur="400"/>
                                        <p:tgtEl>
                                          <p:spTgt spid="7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75"/>
                                        </p:tgtEl>
                                        <p:attrNameLst>
                                          <p:attrName>style.visibility</p:attrName>
                                        </p:attrNameLst>
                                      </p:cBhvr>
                                      <p:to>
                                        <p:strVal val="visible"/>
                                      </p:to>
                                    </p:set>
                                    <p:animEffect transition="in" filter="fade">
                                      <p:cBhvr>
                                        <p:cTn id="42" dur="400"/>
                                        <p:tgtEl>
                                          <p:spTgt spid="75"/>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76"/>
                                        </p:tgtEl>
                                        <p:attrNameLst>
                                          <p:attrName>style.visibility</p:attrName>
                                        </p:attrNameLst>
                                      </p:cBhvr>
                                      <p:to>
                                        <p:strVal val="visible"/>
                                      </p:to>
                                    </p:set>
                                    <p:animEffect transition="in" filter="fade">
                                      <p:cBhvr>
                                        <p:cTn id="45" dur="400"/>
                                        <p:tgtEl>
                                          <p:spTgt spid="76"/>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77"/>
                                        </p:tgtEl>
                                        <p:attrNameLst>
                                          <p:attrName>style.visibility</p:attrName>
                                        </p:attrNameLst>
                                      </p:cBhvr>
                                      <p:to>
                                        <p:strVal val="visible"/>
                                      </p:to>
                                    </p:set>
                                    <p:animEffect transition="in" filter="fade">
                                      <p:cBhvr>
                                        <p:cTn id="48" dur="400"/>
                                        <p:tgtEl>
                                          <p:spTgt spid="7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78"/>
                                        </p:tgtEl>
                                        <p:attrNameLst>
                                          <p:attrName>style.visibility</p:attrName>
                                        </p:attrNameLst>
                                      </p:cBhvr>
                                      <p:to>
                                        <p:strVal val="visible"/>
                                      </p:to>
                                    </p:set>
                                    <p:animEffect transition="in" filter="fade">
                                      <p:cBhvr>
                                        <p:cTn id="51" dur="400"/>
                                        <p:tgtEl>
                                          <p:spTgt spid="78"/>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79"/>
                                        </p:tgtEl>
                                        <p:attrNameLst>
                                          <p:attrName>style.visibility</p:attrName>
                                        </p:attrNameLst>
                                      </p:cBhvr>
                                      <p:to>
                                        <p:strVal val="visible"/>
                                      </p:to>
                                    </p:set>
                                    <p:animEffect transition="in" filter="fade">
                                      <p:cBhvr>
                                        <p:cTn id="54" dur="400"/>
                                        <p:tgtEl>
                                          <p:spTgt spid="79"/>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grpId="0" nodeType="clickEffect">
                                  <p:stCondLst>
                                    <p:cond delay="0"/>
                                  </p:stCondLst>
                                  <p:childTnLst>
                                    <p:set>
                                      <p:cBhvr>
                                        <p:cTn id="58" dur="1" fill="hold">
                                          <p:stCondLst>
                                            <p:cond delay="0"/>
                                          </p:stCondLst>
                                        </p:cTn>
                                        <p:tgtEl>
                                          <p:spTgt spid="80"/>
                                        </p:tgtEl>
                                        <p:attrNameLst>
                                          <p:attrName>style.visibility</p:attrName>
                                        </p:attrNameLst>
                                      </p:cBhvr>
                                      <p:to>
                                        <p:strVal val="visible"/>
                                      </p:to>
                                    </p:set>
                                    <p:animEffect transition="in" filter="fade">
                                      <p:cBhvr>
                                        <p:cTn id="59" dur="400"/>
                                        <p:tgtEl>
                                          <p:spTgt spid="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4" grpId="0"/>
      <p:bldP spid="65" grpId="0"/>
      <p:bldP spid="66" grpId="0"/>
      <p:bldP spid="67" grpId="0" animBg="1"/>
      <p:bldP spid="68" grpId="0"/>
      <p:bldP spid="69" grpId="0" animBg="1"/>
      <p:bldP spid="70" grpId="0"/>
      <p:bldP spid="71" grpId="0"/>
      <p:bldP spid="72" grpId="0"/>
      <p:bldP spid="73" grpId="0"/>
      <p:bldP spid="74" grpId="0"/>
      <p:bldP spid="75" grpId="0" animBg="1"/>
      <p:bldP spid="76" grpId="0"/>
      <p:bldP spid="77" grpId="0" animBg="1"/>
      <p:bldP spid="78" grpId="0"/>
      <p:bldP spid="79" grpId="0"/>
      <p:bldP spid="80" grpId="0"/>
    </p:bldLst>
  </p:timing>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Fuentes</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22120"/>
            <a:ext cx="4648810" cy="167640"/>
          </a:xfrm>
          <a:prstGeom prst="rect">
            <a:avLst/>
          </a:prstGeom>
          <a:noFill/>
        </p:spPr>
        <p:txBody>
          <a:bodyPr wrap="square" lIns="0" tIns="0" rIns="0" bIns="0" anchor="t">
            <a:noAutofit/>
          </a:bodyPr>
          <a:lstStyle/>
          <a:p>
            <a:r>
              <a:rPr sz="900" b="1" spc="90" lang="es-CO">
                <a:solidFill>
                  <a:srgbClr val="5C7290"/>
                </a:solidFill>
                <a:latin typeface="Calibri"/>
              </a:rPr>
              <a:t>QUÉ</a:t>
            </a:r>
          </a:p>
        </p:txBody>
      </p:sp>
      <p:sp>
        <p:nvSpPr>
          <p:cNvPr id="55" name="TextBox 54"/>
          <p:cNvSpPr txBox="1"/>
          <p:nvPr/>
        </p:nvSpPr>
        <p:spPr>
          <a:xfrm>
            <a:off x="5441290" y="1722120"/>
            <a:ext cx="5958230" cy="167640"/>
          </a:xfrm>
          <a:prstGeom prst="rect">
            <a:avLst/>
          </a:prstGeom>
          <a:noFill/>
        </p:spPr>
        <p:txBody>
          <a:bodyPr wrap="square" lIns="0" tIns="0" rIns="0" bIns="0" anchor="t">
            <a:noAutofit/>
          </a:bodyPr>
          <a:lstStyle/>
          <a:p>
            <a:r>
              <a:rPr sz="900" b="1" spc="90" lang="es-CO">
                <a:solidFill>
                  <a:srgbClr val="5C7290"/>
                </a:solidFill>
                <a:latin typeface="Calibri"/>
              </a:rPr>
              <a:t>DÓNDE</a:t>
            </a:r>
          </a:p>
        </p:txBody>
      </p:sp>
      <p:cxnSp>
        <p:nvCxnSpPr>
          <p:cNvPr id="56" name="Connector 55"/>
          <p:cNvCxnSpPr/>
          <p:nvPr/>
        </p:nvCxnSpPr>
        <p:spPr>
          <a:xfrm>
            <a:off x="640080" y="1981200"/>
            <a:ext cx="10911840" cy="0"/>
          </a:xfrm>
          <a:prstGeom prst="line">
            <a:avLst/>
          </a:prstGeom>
          <a:ln w="11430">
            <a:solidFill>
              <a:srgbClr val="D5DEEA"/>
            </a:solidFill>
          </a:ln>
        </p:spPr>
      </p:cxnSp>
      <p:sp>
        <p:nvSpPr>
          <p:cNvPr id="57" name="TextBox 56"/>
          <p:cNvSpPr txBox="1"/>
          <p:nvPr/>
        </p:nvSpPr>
        <p:spPr>
          <a:xfrm>
            <a:off x="640080" y="2065020"/>
            <a:ext cx="4648810" cy="362102"/>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MIMII DUE · Tanabe et al., Hitachi (2021) · bombas, </a:t>
            </a:r>
            <a:r>
              <a:rPr sz="960" b="1" lang="es-CO">
                <a:solidFill>
                  <a:srgbClr val="071329"/>
                </a:solidFill>
                <a:latin typeface="Courier New"/>
              </a:rPr>
              <a:t>dev_data_pump</a:t>
            </a:r>
            <a:r>
              <a:rPr sz="1080" b="1" lang="es-CO">
                <a:solidFill>
                  <a:srgbClr val="071329"/>
                </a:solidFill>
                <a:latin typeface="Calibri"/>
              </a:rPr>
              <a:t> · CC BY-NC-SA 4.0</a:t>
            </a:r>
          </a:p>
        </p:txBody>
      </p:sp>
      <p:sp>
        <p:nvSpPr>
          <p:cNvPr id="58" name="TextBox 57"/>
          <p:cNvSpPr txBox="1"/>
          <p:nvPr/>
        </p:nvSpPr>
        <p:spPr>
          <a:xfrm>
            <a:off x="5441290" y="2065020"/>
            <a:ext cx="5958230" cy="362102"/>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arxiv.org/abs/2105.02702 · doi.org/10.5281/zenodo.4740355</a:t>
            </a:r>
          </a:p>
        </p:txBody>
      </p:sp>
      <p:cxnSp>
        <p:nvCxnSpPr>
          <p:cNvPr id="59" name="Connector 58"/>
          <p:cNvCxnSpPr/>
          <p:nvPr/>
        </p:nvCxnSpPr>
        <p:spPr>
          <a:xfrm>
            <a:off x="640080" y="2510942"/>
            <a:ext cx="10911840" cy="0"/>
          </a:xfrm>
          <a:prstGeom prst="line">
            <a:avLst/>
          </a:prstGeom>
          <a:ln w="11430">
            <a:solidFill>
              <a:srgbClr val="D5DEEA"/>
            </a:solidFill>
          </a:ln>
        </p:spPr>
      </p:cxnSp>
      <p:sp>
        <p:nvSpPr>
          <p:cNvPr id="60" name="TextBox 59"/>
          <p:cNvSpPr txBox="1"/>
          <p:nvPr/>
        </p:nvSpPr>
        <p:spPr>
          <a:xfrm>
            <a:off x="640080" y="2594762"/>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Gartner · PC con IA (28 ago 2025)</a:t>
            </a:r>
          </a:p>
        </p:txBody>
      </p:sp>
      <p:sp>
        <p:nvSpPr>
          <p:cNvPr id="61" name="TextBox 60"/>
          <p:cNvSpPr txBox="1"/>
          <p:nvPr/>
        </p:nvSpPr>
        <p:spPr>
          <a:xfrm>
            <a:off x="5441290" y="2594762"/>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gartner.com/en/newsroom · 2025-08-28</a:t>
            </a:r>
          </a:p>
        </p:txBody>
      </p:sp>
      <p:cxnSp>
        <p:nvCxnSpPr>
          <p:cNvPr id="62" name="Connector 61"/>
          <p:cNvCxnSpPr/>
          <p:nvPr/>
        </p:nvCxnSpPr>
        <p:spPr>
          <a:xfrm>
            <a:off x="640080" y="2859634"/>
            <a:ext cx="10911840" cy="0"/>
          </a:xfrm>
          <a:prstGeom prst="line">
            <a:avLst/>
          </a:prstGeom>
          <a:ln w="11430">
            <a:solidFill>
              <a:srgbClr val="D5DEEA"/>
            </a:solidFill>
          </a:ln>
        </p:spPr>
      </p:cxnSp>
      <p:sp>
        <p:nvSpPr>
          <p:cNvPr id="63" name="TextBox 62"/>
          <p:cNvSpPr txBox="1"/>
          <p:nvPr/>
        </p:nvSpPr>
        <p:spPr>
          <a:xfrm>
            <a:off x="640080" y="2943454"/>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IDC · gasto en edge (17 mar 2025)</a:t>
            </a:r>
          </a:p>
        </p:txBody>
      </p:sp>
      <p:sp>
        <p:nvSpPr>
          <p:cNvPr id="64" name="TextBox 63"/>
          <p:cNvSpPr txBox="1"/>
          <p:nvPr/>
        </p:nvSpPr>
        <p:spPr>
          <a:xfrm>
            <a:off x="5441290" y="2943454"/>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my.idc.com/getdoc.jsp?containerId=prUS53261225</a:t>
            </a:r>
          </a:p>
        </p:txBody>
      </p:sp>
      <p:cxnSp>
        <p:nvCxnSpPr>
          <p:cNvPr id="65" name="Connector 64"/>
          <p:cNvCxnSpPr/>
          <p:nvPr/>
        </p:nvCxnSpPr>
        <p:spPr>
          <a:xfrm>
            <a:off x="640080" y="3208325"/>
            <a:ext cx="10911840" cy="0"/>
          </a:xfrm>
          <a:prstGeom prst="line">
            <a:avLst/>
          </a:prstGeom>
          <a:ln w="11430">
            <a:solidFill>
              <a:srgbClr val="D5DEEA"/>
            </a:solidFill>
          </a:ln>
        </p:spPr>
      </p:cxnSp>
      <p:sp>
        <p:nvSpPr>
          <p:cNvPr id="66" name="TextBox 65"/>
          <p:cNvSpPr txBox="1"/>
          <p:nvPr/>
        </p:nvSpPr>
        <p:spPr>
          <a:xfrm>
            <a:off x="640080" y="3292145"/>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Breck et al. · The ML Test Score (2017)</a:t>
            </a:r>
          </a:p>
        </p:txBody>
      </p:sp>
      <p:sp>
        <p:nvSpPr>
          <p:cNvPr id="67" name="TextBox 66"/>
          <p:cNvSpPr txBox="1"/>
          <p:nvPr/>
        </p:nvSpPr>
        <p:spPr>
          <a:xfrm>
            <a:off x="5441290" y="3292145"/>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research.google/pubs/pub46555</a:t>
            </a:r>
          </a:p>
        </p:txBody>
      </p:sp>
      <p:cxnSp>
        <p:nvCxnSpPr>
          <p:cNvPr id="68" name="Connector 67"/>
          <p:cNvCxnSpPr/>
          <p:nvPr/>
        </p:nvCxnSpPr>
        <p:spPr>
          <a:xfrm>
            <a:off x="640080" y="3557016"/>
            <a:ext cx="10911840" cy="0"/>
          </a:xfrm>
          <a:prstGeom prst="line">
            <a:avLst/>
          </a:prstGeom>
          <a:ln w="11430">
            <a:solidFill>
              <a:srgbClr val="D5DEEA"/>
            </a:solidFill>
          </a:ln>
        </p:spPr>
      </p:cxnSp>
      <p:sp>
        <p:nvSpPr>
          <p:cNvPr id="69" name="TextBox 68"/>
          <p:cNvSpPr txBox="1"/>
          <p:nvPr/>
        </p:nvSpPr>
        <p:spPr>
          <a:xfrm>
            <a:off x="640080" y="3640836"/>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Métodos de drift · Evidently · NannyML · crítica al PSI</a:t>
            </a:r>
          </a:p>
        </p:txBody>
      </p:sp>
      <p:sp>
        <p:nvSpPr>
          <p:cNvPr id="70" name="TextBox 69"/>
          <p:cNvSpPr txBox="1"/>
          <p:nvPr/>
        </p:nvSpPr>
        <p:spPr>
          <a:xfrm>
            <a:off x="5441290" y="3640836"/>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docs.evidentlyai.com · nannyml.readthedocs.io · arxiv.org/abs/2303.01227</a:t>
            </a:r>
          </a:p>
        </p:txBody>
      </p:sp>
      <p:cxnSp>
        <p:nvCxnSpPr>
          <p:cNvPr id="71" name="Connector 70"/>
          <p:cNvCxnSpPr/>
          <p:nvPr/>
        </p:nvCxnSpPr>
        <p:spPr>
          <a:xfrm>
            <a:off x="640080" y="3905707"/>
            <a:ext cx="10911840" cy="0"/>
          </a:xfrm>
          <a:prstGeom prst="line">
            <a:avLst/>
          </a:prstGeom>
          <a:ln w="11430">
            <a:solidFill>
              <a:srgbClr val="D5DEEA"/>
            </a:solidFill>
          </a:ln>
        </p:spPr>
      </p:cxnSp>
      <p:sp>
        <p:nvSpPr>
          <p:cNvPr id="72" name="TextBox 71"/>
          <p:cNvSpPr txBox="1"/>
          <p:nvPr/>
        </p:nvSpPr>
        <p:spPr>
          <a:xfrm>
            <a:off x="640080" y="3989527"/>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AI Act (UE 2024/1689) · Digital Omnibus (UE 2026/1744)</a:t>
            </a:r>
          </a:p>
        </p:txBody>
      </p:sp>
      <p:sp>
        <p:nvSpPr>
          <p:cNvPr id="73" name="TextBox 72"/>
          <p:cNvSpPr txBox="1"/>
          <p:nvPr/>
        </p:nvSpPr>
        <p:spPr>
          <a:xfrm>
            <a:off x="5441290" y="3989527"/>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eur-lex.europa.eu · artificialintelligenceact.eu</a:t>
            </a:r>
          </a:p>
        </p:txBody>
      </p:sp>
      <p:cxnSp>
        <p:nvCxnSpPr>
          <p:cNvPr id="74" name="Connector 73"/>
          <p:cNvCxnSpPr/>
          <p:nvPr/>
        </p:nvCxnSpPr>
        <p:spPr>
          <a:xfrm>
            <a:off x="640080" y="4254398"/>
            <a:ext cx="10911840" cy="0"/>
          </a:xfrm>
          <a:prstGeom prst="line">
            <a:avLst/>
          </a:prstGeom>
          <a:ln w="11430">
            <a:solidFill>
              <a:srgbClr val="D5DEEA"/>
            </a:solidFill>
          </a:ln>
        </p:spPr>
      </p:cxnSp>
      <p:sp>
        <p:nvSpPr>
          <p:cNvPr id="75" name="TextBox 74"/>
          <p:cNvSpPr txBox="1"/>
          <p:nvPr/>
        </p:nvSpPr>
        <p:spPr>
          <a:xfrm>
            <a:off x="640080" y="4338218"/>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NIST AI RMF · ISO/IEC 42001</a:t>
            </a:r>
          </a:p>
        </p:txBody>
      </p:sp>
      <p:sp>
        <p:nvSpPr>
          <p:cNvPr id="76" name="TextBox 75"/>
          <p:cNvSpPr txBox="1"/>
          <p:nvPr/>
        </p:nvSpPr>
        <p:spPr>
          <a:xfrm>
            <a:off x="5441290" y="4338218"/>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nist.gov/itl/ai-risk-management-framework · iso.org</a:t>
            </a:r>
          </a:p>
        </p:txBody>
      </p:sp>
      <p:cxnSp>
        <p:nvCxnSpPr>
          <p:cNvPr id="77" name="Connector 76"/>
          <p:cNvCxnSpPr/>
          <p:nvPr/>
        </p:nvCxnSpPr>
        <p:spPr>
          <a:xfrm>
            <a:off x="640080" y="4603090"/>
            <a:ext cx="10911840" cy="0"/>
          </a:xfrm>
          <a:prstGeom prst="line">
            <a:avLst/>
          </a:prstGeom>
          <a:ln w="11430">
            <a:solidFill>
              <a:srgbClr val="D5DEEA"/>
            </a:solidFill>
          </a:ln>
        </p:spPr>
      </p:cxn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senales_00_base.png"/>
          <p:cNvPicPr>
            <a:picLocks noChangeAspect="1"/>
          </p:cNvPicPr>
          <p:nvPr/>
        </p:nvPicPr>
        <p:blipFill>
          <a:blip r:embed="rId2"/>
          <a:stretch>
            <a:fillRect/>
          </a:stretch>
        </p:blipFill>
        <p:spPr>
          <a:xfrm>
            <a:off x="986790" y="1882140"/>
            <a:ext cx="10401300" cy="3680460"/>
          </a:xfrm>
          <a:prstGeom prst="rect">
            <a:avLst/>
          </a:prstGeom>
        </p:spPr>
      </p:pic>
      <p:sp>
        <p:nvSpPr>
          <p:cNvPr id="55" name="Subtítulo"/>
          <p:cNvSpPr txBox="1"/>
          <p:nvPr/>
        </p:nvSpPr>
        <p:spPr>
          <a:xfrm>
            <a:off x="640080" y="1569720"/>
            <a:ext cx="10911840" cy="243840"/>
          </a:xfrm>
          <a:prstGeom prst="rect">
            <a:avLst/>
          </a:prstGeom>
          <a:noFill/>
        </p:spPr>
        <p:txBody>
          <a:bodyPr wrap="square" lIns="0" tIns="0" rIns="0" bIns="0" anchor="t">
            <a:noAutofit/>
          </a:bodyPr>
          <a:lstStyle/>
          <a:p>
            <a:r>
              <a:rPr sz="1439" b="0" lang="es-CO">
                <a:solidFill>
                  <a:srgbClr val="475569"/>
                </a:solidFill>
                <a:latin typeface="Calibri"/>
              </a:rPr>
              <a:t>Las de un servicio ya las conocemos: latencia · tráfico · errores · saturación</a:t>
            </a:r>
          </a:p>
        </p:txBody>
      </p:sp>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Las señales doradas </a:t>
            </a:r>
            <a:r>
              <a:rPr b="1" lang="es-CO">
                <a:solidFill>
                  <a:srgbClr val="6D28D9"/>
                </a:solidFill>
              </a:rPr>
              <a:t>de un modelo</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Audio crudo contra </a:t>
            </a:r>
            <a:r>
              <a:rPr b="1" lang="es-CO">
                <a:solidFill>
                  <a:srgbClr val="6D28D9"/>
                </a:solidFill>
              </a:rPr>
              <a:t>eventos</a:t>
            </a:r>
            <a:r>
              <a:rPr lang="es-CO"/>
              <a:t>, con mil bombas</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cxnSp>
        <p:nvCxnSpPr>
          <p:cNvPr id="54" name="Connector 53"/>
          <p:cNvCxnSpPr/>
          <p:nvPr/>
        </p:nvCxnSpPr>
        <p:spPr>
          <a:xfrm>
            <a:off x="640080" y="2011680"/>
            <a:ext cx="3434080" cy="0"/>
          </a:xfrm>
          <a:prstGeom prst="line">
            <a:avLst/>
          </a:prstGeom>
          <a:ln w="30480">
            <a:solidFill>
              <a:srgbClr val="071329"/>
            </a:solidFill>
          </a:ln>
        </p:spPr>
      </p:cxnSp>
      <p:sp>
        <p:nvSpPr>
          <p:cNvPr id="55" name="TextBox 54"/>
          <p:cNvSpPr txBox="1"/>
          <p:nvPr/>
        </p:nvSpPr>
        <p:spPr>
          <a:xfrm>
            <a:off x="640080" y="2194560"/>
            <a:ext cx="3434080" cy="182880"/>
          </a:xfrm>
          <a:prstGeom prst="rect">
            <a:avLst/>
          </a:prstGeom>
          <a:noFill/>
        </p:spPr>
        <p:txBody>
          <a:bodyPr wrap="square" lIns="0" tIns="0" rIns="0" bIns="0" anchor="t">
            <a:noAutofit/>
          </a:bodyPr>
          <a:lstStyle/>
          <a:p>
            <a:r>
              <a:rPr sz="1140" b="1" spc="46" lang="es-CO">
                <a:solidFill>
                  <a:srgbClr val="2448FF"/>
                </a:solidFill>
                <a:latin typeface="Courier New"/>
              </a:rPr>
              <a:t>AUDIO CRUDO</a:t>
            </a:r>
          </a:p>
        </p:txBody>
      </p:sp>
      <p:sp>
        <p:nvSpPr>
          <p:cNvPr id="56" name="TextBox 55"/>
          <p:cNvSpPr txBox="1"/>
          <p:nvPr/>
        </p:nvSpPr>
        <p:spPr>
          <a:xfrm>
            <a:off x="640080" y="2416912"/>
            <a:ext cx="3738880" cy="1041197"/>
          </a:xfrm>
          <a:prstGeom prst="rect">
            <a:avLst/>
          </a:prstGeom>
          <a:noFill/>
        </p:spPr>
        <p:txBody>
          <a:bodyPr wrap="square" lIns="0" tIns="0" rIns="0" bIns="0" anchor="t">
            <a:noAutofit/>
          </a:bodyPr>
          <a:lstStyle/>
          <a:p>
            <a:r>
              <a:rPr sz="6720" b="1" spc="-132" lang="es-CO">
                <a:solidFill>
                  <a:srgbClr val="071329"/>
                </a:solidFill>
                <a:latin typeface="Calibri"/>
              </a:rPr>
              <a:t>2,76 TB</a:t>
            </a:r>
          </a:p>
        </p:txBody>
      </p:sp>
      <p:sp>
        <p:nvSpPr>
          <p:cNvPr id="57" name="TextBox 56"/>
          <p:cNvSpPr txBox="1"/>
          <p:nvPr/>
        </p:nvSpPr>
        <p:spPr>
          <a:xfrm>
            <a:off x="640080" y="3470910"/>
            <a:ext cx="3434080" cy="260299"/>
          </a:xfrm>
          <a:prstGeom prst="rect">
            <a:avLst/>
          </a:prstGeom>
          <a:noFill/>
        </p:spPr>
        <p:txBody>
          <a:bodyPr wrap="square" lIns="0" tIns="0" rIns="0" bIns="0" anchor="t">
            <a:noAutofit/>
          </a:bodyPr>
          <a:lstStyle/>
          <a:p>
            <a:r>
              <a:rPr sz="1680" b="0" lang="es-CO">
                <a:solidFill>
                  <a:srgbClr val="475569"/>
                </a:solidFill>
                <a:latin typeface="Calibri"/>
              </a:rPr>
              <a:t>al día, con mil bombas</a:t>
            </a:r>
          </a:p>
        </p:txBody>
      </p:sp>
      <p:cxnSp>
        <p:nvCxnSpPr>
          <p:cNvPr id="58" name="Connector 57"/>
          <p:cNvCxnSpPr/>
          <p:nvPr/>
        </p:nvCxnSpPr>
        <p:spPr>
          <a:xfrm>
            <a:off x="4378960" y="2011680"/>
            <a:ext cx="3434080" cy="0"/>
          </a:xfrm>
          <a:prstGeom prst="line">
            <a:avLst/>
          </a:prstGeom>
          <a:ln w="30480">
            <a:solidFill>
              <a:srgbClr val="071329"/>
            </a:solidFill>
          </a:ln>
        </p:spPr>
      </p:cxnSp>
      <p:sp>
        <p:nvSpPr>
          <p:cNvPr id="59" name="TextBox 58"/>
          <p:cNvSpPr txBox="1"/>
          <p:nvPr/>
        </p:nvSpPr>
        <p:spPr>
          <a:xfrm>
            <a:off x="4378960" y="2194560"/>
            <a:ext cx="3434080" cy="182880"/>
          </a:xfrm>
          <a:prstGeom prst="rect">
            <a:avLst/>
          </a:prstGeom>
          <a:noFill/>
        </p:spPr>
        <p:txBody>
          <a:bodyPr wrap="square" lIns="0" tIns="0" rIns="0" bIns="0" anchor="t">
            <a:noAutofit/>
          </a:bodyPr>
          <a:lstStyle/>
          <a:p>
            <a:r>
              <a:rPr sz="1140" b="1" spc="46" lang="es-CO">
                <a:solidFill>
                  <a:srgbClr val="2448FF"/>
                </a:solidFill>
                <a:latin typeface="Courier New"/>
              </a:rPr>
              <a:t>UN EVENTO CADA 10 S</a:t>
            </a:r>
          </a:p>
        </p:txBody>
      </p:sp>
      <p:sp>
        <p:nvSpPr>
          <p:cNvPr id="60" name="TextBox 59"/>
          <p:cNvSpPr txBox="1"/>
          <p:nvPr/>
        </p:nvSpPr>
        <p:spPr>
          <a:xfrm>
            <a:off x="4378960" y="2416912"/>
            <a:ext cx="3738880" cy="1041197"/>
          </a:xfrm>
          <a:prstGeom prst="rect">
            <a:avLst/>
          </a:prstGeom>
          <a:noFill/>
        </p:spPr>
        <p:txBody>
          <a:bodyPr wrap="square" lIns="0" tIns="0" rIns="0" bIns="0" anchor="t">
            <a:noAutofit/>
          </a:bodyPr>
          <a:lstStyle/>
          <a:p>
            <a:r>
              <a:rPr sz="6720" b="1" spc="-132" lang="es-CO">
                <a:solidFill>
                  <a:srgbClr val="071329"/>
                </a:solidFill>
                <a:latin typeface="Calibri"/>
              </a:rPr>
              <a:t>8,64 M</a:t>
            </a:r>
          </a:p>
        </p:txBody>
      </p:sp>
      <p:sp>
        <p:nvSpPr>
          <p:cNvPr id="61" name="TextBox 60"/>
          <p:cNvSpPr txBox="1"/>
          <p:nvPr/>
        </p:nvSpPr>
        <p:spPr>
          <a:xfrm>
            <a:off x="4378960" y="3470910"/>
            <a:ext cx="3434080" cy="260299"/>
          </a:xfrm>
          <a:prstGeom prst="rect">
            <a:avLst/>
          </a:prstGeom>
          <a:noFill/>
        </p:spPr>
        <p:txBody>
          <a:bodyPr wrap="square" lIns="0" tIns="0" rIns="0" bIns="0" anchor="t">
            <a:noAutofit/>
          </a:bodyPr>
          <a:lstStyle/>
          <a:p>
            <a:r>
              <a:rPr sz="1680" b="0" lang="es-CO">
                <a:solidFill>
                  <a:srgbClr val="475569"/>
                </a:solidFill>
                <a:latin typeface="Calibri"/>
              </a:rPr>
              <a:t>mensajes al día</a:t>
            </a:r>
          </a:p>
        </p:txBody>
      </p:sp>
      <p:cxnSp>
        <p:nvCxnSpPr>
          <p:cNvPr id="62" name="Connector 61"/>
          <p:cNvCxnSpPr/>
          <p:nvPr/>
        </p:nvCxnSpPr>
        <p:spPr>
          <a:xfrm>
            <a:off x="8117840" y="2011680"/>
            <a:ext cx="3434080" cy="0"/>
          </a:xfrm>
          <a:prstGeom prst="line">
            <a:avLst/>
          </a:prstGeom>
          <a:ln w="30480">
            <a:solidFill>
              <a:srgbClr val="6D28D9"/>
            </a:solidFill>
          </a:ln>
        </p:spPr>
      </p:cxnSp>
      <p:sp>
        <p:nvSpPr>
          <p:cNvPr id="63" name="TextBox 62"/>
          <p:cNvSpPr txBox="1"/>
          <p:nvPr/>
        </p:nvSpPr>
        <p:spPr>
          <a:xfrm>
            <a:off x="8117840" y="2194560"/>
            <a:ext cx="3434080" cy="182880"/>
          </a:xfrm>
          <a:prstGeom prst="rect">
            <a:avLst/>
          </a:prstGeom>
          <a:noFill/>
        </p:spPr>
        <p:txBody>
          <a:bodyPr wrap="square" lIns="0" tIns="0" rIns="0" bIns="0" anchor="t">
            <a:noAutofit/>
          </a:bodyPr>
          <a:lstStyle/>
          <a:p>
            <a:r>
              <a:rPr sz="1140" b="1" spc="46" lang="es-CO">
                <a:solidFill>
                  <a:srgbClr val="2448FF"/>
                </a:solidFill>
                <a:latin typeface="Courier New"/>
              </a:rPr>
              <a:t>UN RESUMEN POR MINUTO</a:t>
            </a:r>
          </a:p>
        </p:txBody>
      </p:sp>
      <p:sp>
        <p:nvSpPr>
          <p:cNvPr id="64" name="TextBox 63"/>
          <p:cNvSpPr txBox="1"/>
          <p:nvPr/>
        </p:nvSpPr>
        <p:spPr>
          <a:xfrm>
            <a:off x="8117840" y="2416912"/>
            <a:ext cx="3738880" cy="1041197"/>
          </a:xfrm>
          <a:prstGeom prst="rect">
            <a:avLst/>
          </a:prstGeom>
          <a:noFill/>
        </p:spPr>
        <p:txBody>
          <a:bodyPr wrap="square" lIns="0" tIns="0" rIns="0" bIns="0" anchor="t">
            <a:noAutofit/>
          </a:bodyPr>
          <a:lstStyle/>
          <a:p>
            <a:r>
              <a:rPr sz="6720" b="1" spc="-132" lang="es-CO">
                <a:solidFill>
                  <a:srgbClr val="6D28D9"/>
                </a:solidFill>
                <a:latin typeface="Calibri"/>
              </a:rPr>
              <a:t>1,44 M</a:t>
            </a:r>
          </a:p>
        </p:txBody>
      </p:sp>
      <p:sp>
        <p:nvSpPr>
          <p:cNvPr id="65" name="TextBox 64"/>
          <p:cNvSpPr txBox="1"/>
          <p:nvPr/>
        </p:nvSpPr>
        <p:spPr>
          <a:xfrm>
            <a:off x="8117840" y="3470910"/>
            <a:ext cx="3434080" cy="260299"/>
          </a:xfrm>
          <a:prstGeom prst="rect">
            <a:avLst/>
          </a:prstGeom>
          <a:noFill/>
        </p:spPr>
        <p:txBody>
          <a:bodyPr wrap="square" lIns="0" tIns="0" rIns="0" bIns="0" anchor="t">
            <a:noAutofit/>
          </a:bodyPr>
          <a:lstStyle/>
          <a:p>
            <a:r>
              <a:rPr sz="1680" b="0" lang="es-CO">
                <a:solidFill>
                  <a:srgbClr val="475569"/>
                </a:solidFill>
                <a:latin typeface="Calibri"/>
              </a:rPr>
              <a:t>mensajes al día</a:t>
            </a:r>
          </a:p>
        </p:txBody>
      </p:sp>
      <p:sp>
        <p:nvSpPr>
          <p:cNvPr id="66" name="Remate"/>
          <p:cNvSpPr txBox="1"/>
          <p:nvPr/>
        </p:nvSpPr>
        <p:spPr>
          <a:xfrm>
            <a:off x="640080" y="4480560"/>
            <a:ext cx="10911840" cy="346558"/>
          </a:xfrm>
          <a:prstGeom prst="rect">
            <a:avLst/>
          </a:prstGeom>
          <a:noFill/>
        </p:spPr>
        <p:txBody>
          <a:bodyPr wrap="square" lIns="0" tIns="0" rIns="0" bIns="0" anchor="t">
            <a:noAutofit/>
          </a:bodyPr>
          <a:lstStyle/>
          <a:p>
            <a:r>
              <a:rPr sz="2039" b="0" lang="es-CO">
                <a:solidFill>
                  <a:srgbClr val="071329"/>
                </a:solidFill>
                <a:latin typeface="Calibri"/>
              </a:rPr>
              <a:t>El audio se queda en la estación. Sale un evento de </a:t>
            </a:r>
            <a:r>
              <a:rPr sz="2039" b="1" lang="es-CO">
                <a:solidFill>
                  <a:srgbClr val="6D28D9"/>
                </a:solidFill>
                <a:latin typeface="Calibri"/>
              </a:rPr>
              <a:t>unos cientos de bytes</a:t>
            </a:r>
            <a:r>
              <a:rPr sz="2039" b="0" lang="es-CO">
                <a:solidFill>
                  <a:srgbClr val="071329"/>
                </a:solidFill>
                <a:latin typeface="Calibri"/>
              </a:rPr>
              <a:t>.</a:t>
            </a:r>
          </a:p>
        </p:txBody>
      </p:sp>
      <p:sp>
        <p:nvSpPr>
          <p:cNvPr id="67"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Cálculo: 16 000 muestras/s × 2 B = 32 000 B/s ≈ 115 MB/h ≈ 2,76 GB/día por bomba · eventos: 86 400 s ÷ 10 s = 8 640/día por bomba · resumen: 1 440 min/día · todo × 1 000 bombas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fade">
                                      <p:cBhvr>
                                        <p:cTn id="7" dur="400"/>
                                        <p:tgtEl>
                                          <p:spTgt spid="5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9"/>
                                        </p:tgtEl>
                                        <p:attrNameLst>
                                          <p:attrName>style.visibility</p:attrName>
                                        </p:attrNameLst>
                                      </p:cBhvr>
                                      <p:to>
                                        <p:strVal val="visible"/>
                                      </p:to>
                                    </p:set>
                                    <p:animEffect transition="in" filter="fade">
                                      <p:cBhvr>
                                        <p:cTn id="10" dur="400"/>
                                        <p:tgtEl>
                                          <p:spTgt spid="59"/>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0"/>
                                        </p:tgtEl>
                                        <p:attrNameLst>
                                          <p:attrName>style.visibility</p:attrName>
                                        </p:attrNameLst>
                                      </p:cBhvr>
                                      <p:to>
                                        <p:strVal val="visible"/>
                                      </p:to>
                                    </p:set>
                                    <p:animEffect transition="in" filter="fade">
                                      <p:cBhvr>
                                        <p:cTn id="13" dur="400"/>
                                        <p:tgtEl>
                                          <p:spTgt spid="60"/>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1"/>
                                        </p:tgtEl>
                                        <p:attrNameLst>
                                          <p:attrName>style.visibility</p:attrName>
                                        </p:attrNameLst>
                                      </p:cBhvr>
                                      <p:to>
                                        <p:strVal val="visible"/>
                                      </p:to>
                                    </p:set>
                                    <p:animEffect transition="in" filter="fade">
                                      <p:cBhvr>
                                        <p:cTn id="16" dur="400"/>
                                        <p:tgtEl>
                                          <p:spTgt spid="61"/>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62"/>
                                        </p:tgtEl>
                                        <p:attrNameLst>
                                          <p:attrName>style.visibility</p:attrName>
                                        </p:attrNameLst>
                                      </p:cBhvr>
                                      <p:to>
                                        <p:strVal val="visible"/>
                                      </p:to>
                                    </p:set>
                                    <p:animEffect transition="in" filter="fade">
                                      <p:cBhvr>
                                        <p:cTn id="21" dur="400"/>
                                        <p:tgtEl>
                                          <p:spTgt spid="62"/>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63"/>
                                        </p:tgtEl>
                                        <p:attrNameLst>
                                          <p:attrName>style.visibility</p:attrName>
                                        </p:attrNameLst>
                                      </p:cBhvr>
                                      <p:to>
                                        <p:strVal val="visible"/>
                                      </p:to>
                                    </p:set>
                                    <p:animEffect transition="in" filter="fade">
                                      <p:cBhvr>
                                        <p:cTn id="24" dur="400"/>
                                        <p:tgtEl>
                                          <p:spTgt spid="63"/>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64"/>
                                        </p:tgtEl>
                                        <p:attrNameLst>
                                          <p:attrName>style.visibility</p:attrName>
                                        </p:attrNameLst>
                                      </p:cBhvr>
                                      <p:to>
                                        <p:strVal val="visible"/>
                                      </p:to>
                                    </p:set>
                                    <p:animEffect transition="in" filter="fade">
                                      <p:cBhvr>
                                        <p:cTn id="27" dur="400"/>
                                        <p:tgtEl>
                                          <p:spTgt spid="64"/>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65"/>
                                        </p:tgtEl>
                                        <p:attrNameLst>
                                          <p:attrName>style.visibility</p:attrName>
                                        </p:attrNameLst>
                                      </p:cBhvr>
                                      <p:to>
                                        <p:strVal val="visible"/>
                                      </p:to>
                                    </p:set>
                                    <p:animEffect transition="in" filter="fade">
                                      <p:cBhvr>
                                        <p:cTn id="30" dur="400"/>
                                        <p:tgtEl>
                                          <p:spTgt spid="65"/>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66"/>
                                        </p:tgtEl>
                                        <p:attrNameLst>
                                          <p:attrName>style.visibility</p:attrName>
                                        </p:attrNameLst>
                                      </p:cBhvr>
                                      <p:to>
                                        <p:strVal val="visible"/>
                                      </p:to>
                                    </p:set>
                                    <p:animEffect transition="in" filter="fade">
                                      <p:cBhvr>
                                        <p:cTn id="33" dur="4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animBg="1"/>
      <p:bldP spid="59" grpId="0"/>
      <p:bldP spid="60" grpId="0"/>
      <p:bldP spid="61" grpId="0"/>
      <p:bldP spid="62" grpId="0" animBg="1"/>
      <p:bldP spid="63" grpId="0"/>
      <p:bldP spid="64" grpId="0"/>
      <p:bldP spid="65" grpId="0"/>
      <p:bldP spid="66" grpId="0"/>
    </p:bldLst>
  </p:timing>
</p:sld>
</file>

<file path=ppt/theme/theme1.xml><?xml version="1.0" encoding="utf-8"?>
<a:theme xmlns:a="http://schemas.openxmlformats.org/drawingml/2006/main" name="DevOpsDays Bogota 2026">
  <a:themeElements>
    <a:clrScheme name="DevOpsDays Bogota 2026">
      <a:dk1>
        <a:srgbClr val="071329"/>
      </a:dk1>
      <a:lt1>
        <a:srgbClr val="FFFFFF"/>
      </a:lt1>
      <a:dk2>
        <a:srgbClr val="475569"/>
      </a:dk2>
      <a:lt2>
        <a:srgbClr val="F4F7FC"/>
      </a:lt2>
      <a:accent1>
        <a:srgbClr val="6D28D9"/>
      </a:accent1>
      <a:accent2>
        <a:srgbClr val="F000A8"/>
      </a:accent2>
      <a:accent3>
        <a:srgbClr val="00BCEB"/>
      </a:accent3>
      <a:accent4>
        <a:srgbClr val="2448FF"/>
      </a:accent4>
      <a:accent5>
        <a:srgbClr val="6D28D9"/>
      </a:accent5>
      <a:accent6>
        <a:srgbClr val="009CB0"/>
      </a:accent6>
      <a:hlink>
        <a:srgbClr val="1F6C93"/>
      </a:hlink>
      <a:folHlink>
        <a:srgbClr val="6D28D9"/>
      </a:folHlink>
    </a:clrScheme>
    <a:fontScheme name="DevOpsDays Bogota 2026">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DevOpsDays Bogota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MLOps a ciegas · DevOpsDays Bogotá 2026</dc:title>
  <dc:subject>Plantilla maestra para speakers</dc:subject>
  <dc:creator>Alejandro Varela</dc:creator>
  <cp:lastModifiedBy>DevOpsDays Bogota 2026</cp:lastModifiedBy>
  <cp:revision>1</cp:revision>
  <dcterms:created xsi:type="dcterms:W3CDTF">2026-10-07T02:37:51Z</dcterms:created>
  <dcterms:modified xsi:type="dcterms:W3CDTF">2026-10-07T02:37:51Z</dcterms:modified>
</cp:coreProperties>
</file>