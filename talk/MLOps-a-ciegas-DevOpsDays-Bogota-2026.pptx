
<file path=[Content_Types].xml><?xml version="1.0" encoding="utf-8"?>
<Types xmlns="http://schemas.openxmlformats.org/package/2006/content-types"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6"/>
    <p:sldId id="276" r:id="rId5"/>
    <p:sldId id="277" r:id="rId4"/>
    <p:sldId id="278" r:id="rId3"/>
    <p:sldId id="279" r:id="rId2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6E4C8DA-2FFD-42D8-888C-96EA382E09C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01 · El problema" id="{E4791B63-45BC-4706-A6EB-DEEA3B422DAE}">
          <p14:sldIdLst>
            <p14:sldId id="263"/>
            <p14:sldId id="264"/>
            <p14:sldId id="265"/>
            <p14:sldId id="266"/>
          </p14:sldIdLst>
        </p14:section>
        <p14:section name="02 · El patrón" id="{07D503E3-DA42-4200-ABD6-5100D180AABC}">
          <p14:sldIdLst>
            <p14:sldId id="267"/>
            <p14:sldId id="268"/>
            <p14:sldId id="269"/>
            <p14:sldId id="270"/>
          </p14:sldIdLst>
        </p14:section>
        <p14:section name="03 · Los seis pasos" id="{3B00486E-6824-4012-B700-EAF9E4A3D18D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La evidencia en AWS" id="{82A179D7-49BC-40F6-A13C-D6EB00A69A7B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ierre" id="{F54EFB37-4A4F-4487-B55B-B6FEA2376433}">
          <p14:sldIdLst>
            <p14:sldId id="285"/>
            <p14:sldId id="286"/>
            <p14:sldId id="287"/>
            <p14:sldId id="288"/>
          </p14:sldIdLst>
        </p14:section>
        <p14:section name="Anexos" id="{7399C6A8-6A2B-4145-AC58-EEB70D50A01D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4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· MLOPS A CIEGAS</a:t>
            </a:r>
          </a:p>
          <a:p/>
          <a:p>
            <a:r>
              <a:t>0:10 · sin clics</a:t>
            </a:r>
          </a:p>
          <a:p/>
          <a:p>
            <a:r>
              <a:t>*(En pantalla mientras te presentan. Cuando te den la palabra, pasa a la 2 y arranca con el gancho, sin saludar.)*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· HACE UN AÑO: SE CAE US-EAST-1</a:t>
            </a:r>
          </a:p>
          <a:p/>
          <a:p>
            <a:r>
              <a:t>0:40 · 2 clics · *antes de presentarte; sin saludar todavía*</a:t>
            </a:r>
          </a:p>
          <a:p/>
          <a:p>
            <a:r>
              <a:t>'Hace un año, casi exacto, se cayó us-east-1. Muchos de ustedes lo vivieron desde operaciones: horas de servicios detenidos.' *(señala el meme)* 'Y nos recordó algo que ya sabíamos: buena parte de internet se apoya en una sola región.' *(pausa)*</a:t>
            </a:r>
          </a:p>
          <a:p/>
          <a:p>
            <a:r>
              <a:t>▶ CLIC 'Pero hubo una víctima que nadie esperaba: una marca de camas inteligentes, de unos dos mil dólares, que controlaba la temperatura y la inclinación desde la nube. Cuando la región cayó, las camas se quedaron en su último estado: calientes, inclinadas, en plena noche, con sus dueños encima.' *(pausa)*</a:t>
            </a:r>
          </a:p>
          <a:p/>
          <a:p>
            <a:r>
              <a:t>▶ CLIC 'Su solución de emergencia fue un modo sin conexión: control manual por Bluetooth, sin la inteligencia.' *(pausa)* 'La cama sabía detectar en qué etapa del sueño estabas, pero esa decisión vivía en la nube. Cuando la nube cayó, la cama dejó de pensar. Llevar esa decisión al dispositivo: eso es edge.'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· SOBRE MÍ</a:t>
            </a:r>
          </a:p>
          <a:p/>
          <a:p>
            <a:r>
              <a:t>0:25 · sin clics</a:t>
            </a:r>
          </a:p>
          <a:p/>
          <a:p>
            <a:r>
              <a:t>'Buenos días. Soy Alejandro Varela, Senior Cloud Engineer en EPAM, y eso es justamente mi trabajo: diseñar cómo se despliegan y se operan modelos de IA en equipos de campo, lugares sin conectividad estable y sin nadie que los atienda.'</a:t>
            </a:r>
          </a:p>
          <a:p/>
          <a:p>
            <a:r>
              <a:t>'Hoy les voy a mostrar el patrón que uso para eso, con una implementación completa en AWS. Pero antes de la arquitectura, quiero que escuchen algo.'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· ¿ESTA BOMBA ESTÁ FALLANDO?</a:t>
            </a:r>
          </a:p>
          <a:p/>
          <a:p>
            <a:r>
              <a:t>1:10 · 3 clics · *el control reproduce los audios (10 s cada uno); un clic mientras suena lo detiene sin avanzar*</a:t>
            </a:r>
          </a:p>
          <a:p/>
          <a:p>
            <a:r>
              <a:t>'Bomba A.' ▶ CLIC *(suena A)*</a:t>
            </a:r>
          </a:p>
          <a:p/>
          <a:p>
            <a:r>
              <a:t>'Bomba B.' ▶ CLIC *(suena B)*</a:t>
            </a:r>
          </a:p>
          <a:p/>
          <a:p>
            <a:r>
              <a:t>▶ CLIC '¿Alguna de las dos está fallando? Levanten la mano: ¿la A?' *(cuenta)* '¿La B?' *(cuenta)* '¿Las dos?' *(cuenta)* 'La respuesta la vamos a ver con datos más adelante.'</a:t>
            </a:r>
          </a:p>
          <a:p/>
          <a:p>
            <a:r>
              <a:t>'Los audios son reales, del dataset MIMII DUE de Hitachi. Este es el caso: un acueducto con estaciones de bombeo en zonas rurales, con conectividad intermitente y sin personal en sitio. En cada estación, un equipo de borde escucha las bombas y un modelo detecta cuándo una empieza a sonar distinto.'</a:t>
            </a:r>
          </a:p>
          <a:p/>
          <a:p>
            <a:r>
              <a:t>'Ustedes acaban de hacer exactamente lo que hace ese modelo: decidieron ahí mismo, con lo que ya saben y su experiencia, sin preguntarle a ChatGPT.' *(pausa)* 'Eso es inferencia en el borde: el conocimiento vive donde está el dato, y la decisión no depende de la red.'</a:t>
            </a:r>
          </a:p>
          <a:p/>
          <a:p>
            <a:r>
              <a:t>'De eso se trata «MLOps a ciegas»: cómo se opera un modelo que corre donde no lo vemos. Cómo le llega una versión nueva, cómo se revierte cuando falla y cómo reporta lo que decide, sin que el audio salga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· LA IA YA CORRE EN EL DISPOSITIVO</a:t>
            </a:r>
          </a:p>
          <a:p/>
          <a:p>
            <a:r>
              <a:t>0:25 · 2 clics</a:t>
            </a:r>
          </a:p>
          <a:p/>
          <a:p>
            <a:r>
              <a:t>'Esto no es un caso aislado: la inferencia se está moviendo de la nube al dispositivo. Según Gartner, en 2024, 16 de cada 100 PC nuevos traían hardware dedicado para IA.'</a:t>
            </a:r>
          </a:p>
          <a:p/>
          <a:p>
            <a:r>
              <a:t>▶ CLIC 'En 2025, 31.'</a:t>
            </a:r>
          </a:p>
          <a:p/>
          <a:p>
            <a:r>
              <a:t>▶ CLIC 'Y la proyección para este año es 55: más de la mitad. La misma tendencia se ve en teléfonos, vehículos y equipos industriales.'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· POR QUÉ EL MODELO BAJA AL DISPOSITIVO</a:t>
            </a:r>
          </a:p>
          <a:p/>
          <a:p>
            <a:r>
              <a:t>0:55 · 2 clics</a:t>
            </a:r>
          </a:p>
          <a:p/>
          <a:p>
            <a:r>
              <a:t>'Hay tres razones para ejecutar el modelo en el dispositivo, y las tres se ven mejor con un caso concreto.'</a:t>
            </a:r>
          </a:p>
          <a:p/>
          <a:p>
            <a:r>
              <a:t>'Latencia: un vehículo autónomo frente a un obstáculo no puede esperar la respuesta de un modelo remoto. La ida y vuelta a la nube no cabe en el tiempo de frenado.'</a:t>
            </a:r>
          </a:p>
          <a:p/>
          <a:p>
            <a:r>
              <a:t>▶ CLIC 'Disponibilidad: un técnico en planta, de madrugada, consulta un asistente cuyo modelo vive en la nube, y la respuesta es «sin conexión». En una estación rural, ese es el estado normal.'</a:t>
            </a:r>
          </a:p>
          <a:p/>
          <a:p>
            <a:r>
              <a:t>▶ CLIC 'Privacidad: Face ID. El modelo corre en el teléfono y los datos biométricos quedan cifrados en el Secure Enclave; nunca salen del dispositivo. Lo único que sale es una decisión: sí o no.'</a:t>
            </a:r>
          </a:p>
          <a:p/>
          <a:p>
            <a:r>
              <a:t>'Y un detalle relevante para esta charla: Face ID se adapta a los cambios de apariencia en el propio dispositivo. Los datos cambian y el modelo se ajusta sin ir a la nube. Vamos a volver sobre esa idea.'</a:t>
            </a:r>
          </a:p>
          <a:p/>
          <a:p>
            <a:r>
              <a:t>'En nuestro caso, un micrófono genera 115 MB por hora, por bomba, sobre la red de una zona rural. No cabe, y tampoco debería salir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· CONTENIDO DE LA SESIÓN</a:t>
            </a:r>
          </a:p>
          <a:p/>
          <a:p>
            <a:r>
              <a:t>0:15 · sin clics</a:t>
            </a:r>
          </a:p>
          <a:p/>
          <a:p>
            <a:r>
              <a:t>'La charla tiene cuatro partes: el problema, el patrón de arquitectura, la implementación en seis pasos y la evidencia de una ejecución real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· 01 · EL PROBLEMA</a:t>
            </a:r>
          </a:p>
          <a:p/>
          <a:p>
            <a:r>
              <a:t>0:05 · *reloj: 4:00*</a:t>
            </a:r>
          </a:p>
          <a:p/>
          <a:p>
            <a:r>
              <a:t>'Empecemos por el problema.'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· MLOPS EN LA NUBE: UN LOOP CERRADO</a:t>
            </a:r>
          </a:p>
          <a:p/>
          <a:p>
            <a:r>
              <a:t>0:20 · sin clics</a:t>
            </a:r>
          </a:p>
          <a:p/>
          <a:p>
            <a:r>
              <a:t>'Cuando el modelo vive en la nube, el ciclo está resuelto. Todas las inferencias pasan por un endpoint: se registran, se comparan contra la línea base del entrenamiento, se alerta cuando la distribución cambia y se reentrena.'</a:t>
            </a:r>
          </a:p>
          <a:p/>
          <a:p>
            <a:r>
              <a:t>'Funciona por una razón: todo pasa por un punto que controlamos.'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LAS RESTRICCIONES DE LA ESTACIÓN</a:t>
            </a:r>
          </a:p>
          <a:p/>
          <a:p>
            <a:r>
              <a:t>1:00 · 5 clics</a:t>
            </a:r>
          </a:p>
          <a:p/>
          <a:p>
            <a:r>
              <a:t>'Al llevar el modelo a la estación, ese punto de control desaparece. Aparecen cinco restricciones.'</a:t>
            </a:r>
          </a:p>
          <a:p/>
          <a:p>
            <a:r>
              <a:t>▶ CLIC 'Primera, recursos: memoria limitada y hardware heterogéneo. Una estación tiene ARM, otra un x86 de varias generaciones atrás, la más nueva una NPU.'</a:t>
            </a:r>
          </a:p>
          <a:p/>
          <a:p>
            <a:r>
              <a:t>▶ CLIC 'Segunda, conectividad: cuando cae el enlace, cae todo el ciclo de la nube.'</a:t>
            </a:r>
          </a:p>
          <a:p/>
          <a:p>
            <a:r>
              <a:t>▶ CLIC 'Tercera, el dato crudo no puede salir: por volumen y por política.'</a:t>
            </a:r>
          </a:p>
          <a:p/>
          <a:p>
            <a:r>
              <a:t>▶ CLIC 'Cuarta, y la menos medida: la latencia depende de la energía. Con batería baja o temperatura alta, el procesador reduce su frecuencia y el mismo modelo tarda más.'</a:t>
            </a:r>
          </a:p>
          <a:p/>
          <a:p>
            <a:r>
              <a:t>▶ CLIC 'Quinta, los datos: hay pocos ejemplos de falla y la distribución de lo normal cambia con el tiempo; el sensor envejece, la bomba cambia de régimen. Eso es drift. Y la calidad de los datos de entrenamiento define todo lo demás; en el acto 3 vamos a ver qué pasa cuando falla.'</a:t>
            </a:r>
          </a:p>
          <a:p/>
          <a:p>
            <a:r>
              <a:t>'Todas las prácticas de MLOps en la nube asumen que las inferencias pasan por nosotros. En el borde, ese supuesto no se cumple.'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UN PANEL EN VERDE NO MIDE EL MODELO</a:t>
            </a:r>
          </a:p>
          <a:p/>
          <a:p>
            <a:r>
              <a:t>1:15 · 3 clics · *la idea central: ve despacio*</a:t>
            </a:r>
          </a:p>
          <a:p/>
          <a:p>
            <a:r>
              <a:t>'La pregunta operativa es: ¿cómo sabemos si el modelo de la estación está funcionando? La respuesta habitual es el panel de infraestructura.'</a:t>
            </a:r>
          </a:p>
          <a:p/>
          <a:p>
            <a:r>
              <a:t>▶ CLIC 'Servicio arriba, CPU normal, memoria normal. Todo en verde. Desde operaciones, el sistema está sano.'</a:t>
            </a:r>
          </a:p>
          <a:p/>
          <a:p>
            <a:r>
              <a:t>▶ CLIC 'Pero la pregunta correcta es otra: ¿el modelo todavía distingue una bomba sana de una que falla? Eso lo mide el AUC: 1 es separación perfecta, 0,5 es azar.'</a:t>
            </a:r>
          </a:p>
          <a:p/>
          <a:p>
            <a:r>
              <a:t>'Con las condiciones de entrenamiento, este modelo tiene un AUC de 0,69. Cambiamos la velocidad de operación de la bomba y cae a 0,57.' *(pausa)* 'Prácticamente azar. Y las falsas alarmas pasan del 6 al 18 por ciento.'</a:t>
            </a:r>
          </a:p>
          <a:p/>
          <a:p>
            <a:r>
              <a:t>▶ CLIC 'Sin un solo error en los logs. La infraestructura está sana; el modelo dejó de discriminar.' *(pausa)*</a:t>
            </a:r>
          </a:p>
          <a:p/>
          <a:p>
            <a:r>
              <a:t>'Esto está medido con los mismos audios que escucharon al principio. Un servicio caído genera alertas. Un modelo degradado sigue respondiendo a tiempo, con un 200 OK.'</a:t>
            </a:r>
          </a:p>
          <a:p/>
          <a:p>
            <a:r>
              <a:t>'Monitorear la infraestructura no es monitorear el modelo. En el paso seis vamos a ver qué hay que medir.'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02 · EL PATRÓN</a:t>
            </a:r>
          </a:p>
          <a:p/>
          <a:p>
            <a:r>
              <a:t>0:05 · *reloj: 6:40*</a:t>
            </a:r>
          </a:p>
          <a:p/>
          <a:p>
            <a:r>
              <a:t>'Veamos cómo se gobierna esto, empezando por el equipo.'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ARQUITECTURA DEL EQUIPO EN LA ESTACIÓN</a:t>
            </a:r>
          </a:p>
          <a:p/>
          <a:p>
            <a:r>
              <a:t>0:45 · 3 clics</a:t>
            </a:r>
          </a:p>
          <a:p/>
          <a:p>
            <a:r>
              <a:t>'En la base: el micrófono sobre la bomba y el modelo con su runtime. La inferencia ocurre localmente, en milisegundos, con o sin red. El audio entra y no sale.'</a:t>
            </a:r>
          </a:p>
          <a:p/>
          <a:p>
            <a:r>
              <a:t>▶ CLIC 'Encima, el modelo no se distribuye como un archivo suelto: es un artefacto versionado y con huella criptográfica. Si se altera, no se instala.'</a:t>
            </a:r>
          </a:p>
          <a:p/>
          <a:p>
            <a:r>
              <a:t>▶ CLIC 'Luego, un agente. Nadie empuja cambios a la estación: el agente consulta, cuando hay conectividad, cuál es el estado deseado.'</a:t>
            </a:r>
          </a:p>
          <a:p/>
          <a:p>
            <a:r>
              <a:t>▶ CLIC 'Y arriba, una cola de eventos persistente. Cada decisión queda registrada hasta que se restablece el enlace.'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· CINCO PIEZAS PARA GOBERNARLO</a:t>
            </a:r>
          </a:p>
          <a:p/>
          <a:p>
            <a:r>
              <a:t>1:05 · 6 clics</a:t>
            </a:r>
          </a:p>
          <a:p/>
          <a:p>
            <a:r>
              <a:t>'Este es el punto de partida en muchas organizaciones: se copia el modelo al equipo y se asume que funciona. No hay versión, no hay trazabilidad, no hay forma de revertir.'</a:t>
            </a:r>
          </a:p>
          <a:p/>
          <a:p>
            <a:r>
              <a:t>▶ CLIC 'El patrón tiene cinco piezas. Primera: optimización por hardware. Se entrena una vez y se compila para cada tipo de chip.'</a:t>
            </a:r>
          </a:p>
          <a:p/>
          <a:p>
            <a:r>
              <a:t>▶ CLIC 'Segunda: un artefacto verificable, con versión y huella, en un registro inmutable.'</a:t>
            </a:r>
          </a:p>
          <a:p/>
          <a:p>
            <a:r>
              <a:t>▶ CLIC 'Tercera: estado deseado. El plano de control declara qué debe tener cada equipo y el equipo converge cuando hay conectividad.'</a:t>
            </a:r>
          </a:p>
          <a:p/>
          <a:p>
            <a:r>
              <a:t>▶ CLIC 'Cuarta: eventos de inferencia. Cada decisión se registra; sin red, se encola.'</a:t>
            </a:r>
          </a:p>
          <a:p/>
          <a:p>
            <a:r>
              <a:t>▶ CLIC 'Quinta: un gate que evalúa esos eventos y decide automáticamente si se avanza o se revierte. Es el ciclo rápido, de minutos.'</a:t>
            </a:r>
          </a:p>
          <a:p/>
          <a:p>
            <a:r>
              <a:t>▶ CLIC 'Esos eventos dicen cuándo reentrenar y en qué estación, y el mantenimiento pone las etiquetas. El audio para reentrenar se recolecta de forma selectiva: alertas, casos dudosos y una muestra de lo normal. Ese es el ciclo lento, de días. Y de forma transversal, identidad, mínimo privilegio, cifrado y auditoría. El patrón no depende de ningún proveedor de nube.'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· EL MISMO PATRÓN EN AWS</a:t>
            </a:r>
          </a:p>
          <a:p/>
          <a:p>
            <a:r>
              <a:t>0:30 · 5 clics · *ritmo ágil*</a:t>
            </a:r>
          </a:p>
          <a:p/>
          <a:p>
            <a:r>
              <a:t>'La misma arquitectura, con servicios de AWS.'</a:t>
            </a:r>
          </a:p>
          <a:p/>
          <a:p>
            <a:r>
              <a:t>▶ CLIC 'SageMaker AI entrena.' ▶ CLIC 'S3 almacena cada versión e IoT Greengrass la empaqueta como componente.' ▶ CLIC 'El estado deseado es un despliegue de Greengrass, que llega por IoT Core con un certificado por dispositivo.'</a:t>
            </a:r>
          </a:p>
          <a:p/>
          <a:p>
            <a:r>
              <a:t>▶ CLIC 'Los eventos regresan por IoT Core y una regla los envía a CloudWatch.' ▶ CLIC 'Y el gate es una alarma de CloudWatch que invoca una Lambda, que restaura la última versión aprobada.'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· 03 · LOS SEIS PASOS</a:t>
            </a:r>
          </a:p>
          <a:p/>
          <a:p>
            <a:r>
              <a:t>0:10 · *reloj: 9:05*</a:t>
            </a:r>
          </a:p>
          <a:p/>
          <a:p>
            <a:r>
              <a:t>'La implementación, en seis pasos: entrenar, optimizar, empaquetar, desplegar, operar sin red y monitorear.'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· PASO 1 · ENTRENAR CON SONIDO NORMAL</a:t>
            </a:r>
          </a:p>
          <a:p/>
          <a:p>
            <a:r>
              <a:t>0:45 · 2 clics</a:t>
            </a:r>
          </a:p>
          <a:p/>
          <a:p>
            <a:r>
              <a:t>'Paso uno: el modelo se entrena únicamente con audio de bombas sanas.'</a:t>
            </a:r>
          </a:p>
          <a:p/>
          <a:p>
            <a:r>
              <a:t>▶ CLIC 'Es un autoencoder: aprende a reconstruir el sonido normal, y el error de reconstrucción es el score de anomalía. Si no puede reconstruir lo que escucha, algo cambió.'</a:t>
            </a:r>
          </a:p>
          <a:p/>
          <a:p>
            <a:r>
              <a:t>▶ CLIC 'El resultado se publica en S3: el modelo en ONNX, el umbral y el código de preprocesamiento. El preprocesamiento viaja con el modelo porque la causa más común de degradación silenciosa es entrenar con una transformación y servir con otra. Cada versión, en su propio prefijo: nunca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· PASO 2 · OPTIMIZAR PARA CADA CHIP</a:t>
            </a:r>
          </a:p>
          <a:p/>
          <a:p>
            <a:r>
              <a:t>1:00 · 3 clics</a:t>
            </a:r>
          </a:p>
          <a:p/>
          <a:p>
            <a:r>
              <a:t>'Paso dos: el modelo se entrena en 32 bits y se exporta a ONNX.'</a:t>
            </a:r>
          </a:p>
          <a:p/>
          <a:p>
            <a:r>
              <a:t>▶ CLIC 'Para el equipo de borde se cuantiza a 8 bits, se simplifica el grafo y se compila con el toolchain de cada fabricante.'</a:t>
            </a:r>
          </a:p>
          <a:p/>
          <a:p>
            <a:r>
              <a:t>▶ CLIC 'La consecuencia operativa: no hay un artefacto, hay uno por tipo de hardware. Y la restricción que manda es la memoria.'</a:t>
            </a:r>
          </a:p>
          <a:p/>
          <a:p>
            <a:r>
              <a:t>▶ CLIC 'Medido en el equipo del ensayo: de 32 a 8 bits, el modelo pasa de 464 a 127 KB, la latencia por clip de 14,4 a 12,7 milisegundos, y la decisión coincide en el 98 % de los casos.'</a:t>
            </a:r>
          </a:p>
          <a:p/>
          <a:p>
            <a:r>
              <a:t>'En mi portátil, la mejora era casi del doble. En el equipo real, el cuello de botella es el preprocesamiento del audio, no el modelo. Por eso se mide en el hardware de destino, y en condiciones reales: batería baja y temperatura alta.'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· PASO 3 · EMPAQUETAR COMO COMPONENTE</a:t>
            </a:r>
          </a:p>
          <a:p/>
          <a:p>
            <a:r>
              <a:t>0:55 · 4 clics</a:t>
            </a:r>
          </a:p>
          <a:p/>
          <a:p>
            <a:r>
              <a:t>'Paso tres: en IoT Greengrass, el modelo se empaqueta como componente. Esta es la receta, resumida.'</a:t>
            </a:r>
          </a:p>
          <a:p/>
          <a:p>
            <a:r>
              <a:t>▶ CLIC 'Los artefactos vienen de S3, y Greengrass verifica la huella de cada uno antes de instalar.'</a:t>
            </a:r>
          </a:p>
          <a:p/>
          <a:p>
            <a:r>
              <a:t>▶ CLIC 'El arranque no descarga nada: las dependencias ya están en el equipo. Un componente que instala librerías al iniciar no arranca sin conectividad.'</a:t>
            </a:r>
          </a:p>
          <a:p/>
          <a:p>
            <a:r>
              <a:t>▶ CLIC 'El umbral es configuración: se ajusta con un despliegue, sin reentrenar.'</a:t>
            </a:r>
          </a:p>
          <a:p/>
          <a:p>
            <a:r>
              <a:t>▶ CLIC 'Y los permisos son mínimos: el componente solo puede publicar en un tópico, station/events.'</a:t>
            </a:r>
          </a:p>
          <a:p/>
          <a:p>
            <a:r>
              <a:t>'Una regla operativa: una versión publicada es inmutable. Si se modifica un artefacto sin cambiar la versión, la huella no coincide y el despliegue falla.'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· PASO 4 · DESPLEGAR POR RINGS</a:t>
            </a:r>
          </a:p>
          <a:p/>
          <a:p>
            <a:r>
              <a:t>0:55 · 3 clics</a:t>
            </a:r>
          </a:p>
          <a:p/>
          <a:p>
            <a:r>
              <a:t>'Paso cuatro: cómo llevar una versión nueva a mil equipos sin afectarlos a todos a la vez. Despliegue por rings, donde cada ring es un thing group. El ring 0 es una sola estación: el canary.'</a:t>
            </a:r>
          </a:p>
          <a:p/>
          <a:p>
            <a:r>
              <a:t>▶ CLIC 'Si el canary pasa el gate, continúa el ring 1, en olas de tamaño creciente.'</a:t>
            </a:r>
          </a:p>
          <a:p/>
          <a:p>
            <a:r>
              <a:t>▶ CLIC 'Greengrass incluye dos protecciones: cancela el despliegue si fallan demasiados equipos, y revierte en el equipo que no logra iniciar la versión nueva.'</a:t>
            </a:r>
          </a:p>
          <a:p/>
          <a:p>
            <a:r>
              <a:t>▶ CLIC 'Lo que Greengrass no trae es el gate sobre el modelo: una alarma sobre las fallas no detectadas que restaura la última versión aprobada. Ese lo construí.'</a:t>
            </a:r>
          </a:p>
          <a:p/>
          <a:p>
            <a:r>
              <a:t>'La distinción es importante: Greengrass revierte despliegues que fallan. Un modelo que se instala correctamente y decide mal es, para Greengrass, un despliegue exitoso.'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· PASO 5 · OPERAR SIN RED</a:t>
            </a:r>
          </a:p>
          <a:p/>
          <a:p>
            <a:r>
              <a:t>0:30 · sin clics</a:t>
            </a:r>
          </a:p>
          <a:p/>
          <a:p>
            <a:r>
              <a:t>'Paso cinco: operación desconectada. Greengrass encola los eventos localmente hasta que vuelve la conectividad. Para equipos con muy poca memoria existe una versión ligera del agente, escrita en C.'</a:t>
            </a:r>
          </a:p>
          <a:p/>
          <a:p>
            <a:r>
              <a:t>'La estación sigue decidiendo y alertando sin red, porque todo lo necesario está en el equipo. Un detalle de diseño: la cola por defecto vive en memoria y descarta mensajes al llenarse. Para desconexiones largas, debe ir a disco.'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· PASO 6 · MONITOREAR LO QUE DECIDE EL MODELO</a:t>
            </a:r>
          </a:p>
          <a:p/>
          <a:p>
            <a:r>
              <a:t>1:15 · 3 clics</a:t>
            </a:r>
          </a:p>
          <a:p/>
          <a:p>
            <a:r>
              <a:t>'Paso seis: desde la nube no vemos el audio, vemos los eventos del modelo. Unos cientos de bytes por inferencia, que pasan por IoT Core, una regla, CloudWatch y una alarma conectada al rollback.'</a:t>
            </a:r>
          </a:p>
          <a:p/>
          <a:p>
            <a:r>
              <a:t>'La pregunta es qué medir. Propongo tres señales.'</a:t>
            </a:r>
          </a:p>
          <a:p/>
          <a:p>
            <a:r>
              <a:t>▶ CLIC 'Primera, la entrada: ¿el sensor sigue entregando datos confiables? Un aumento gradual indica envejecimiento; un salto abrupto indica falla o manipulación. La velocidad del cambio distingue un caso del otro.'</a:t>
            </a:r>
          </a:p>
          <a:p/>
          <a:p>
            <a:r>
              <a:t>▶ CLIC 'Segunda, la salida: ¿cambió la distribución de las decisiones? Se compara la distribución de scores de la última hora contra la de referencia, con una métrica como PSI.'</a:t>
            </a:r>
          </a:p>
          <a:p/>
          <a:p>
            <a:r>
              <a:t>▶ CLIC 'Tercera, la autenticidad: ¿el modelo en ejecución es el que desplegamos? Cada evento incluye la versión y la huella del modelo.' *(pausa)* 'Esa huella la reporta el propio equipo, y un equipo comprometido puede reportar lo que quiera. Por eso necesita arranque seguro y su llave en un TPM.'</a:t>
            </a:r>
          </a:p>
          <a:p/>
          <a:p>
            <a:r>
              <a:t>'En la PoC, el gate usa la verdad de cada clip, porque sé qué audio está sonando. En producción esa etiqueta llega tarde, con la orden de mantenimiento. Las tres señales no la necesitan: funcionan desde el primer día.'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· 04 · LA EVIDENCIA EN AWS</a:t>
            </a:r>
          </a:p>
          <a:p/>
          <a:p>
            <a:r>
              <a:t>0:05 · *reloj: 14:35*</a:t>
            </a:r>
          </a:p>
          <a:p/>
          <a:p>
            <a:r>
              <a:t>'Ahora, la evidencia: la misma arquitectura, ejecutada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· LO QUE MONTÉ Y CORRÍ</a:t>
            </a:r>
          </a:p>
          <a:p/>
          <a:p>
            <a:r>
              <a:t>0:25 · sin clics</a:t>
            </a:r>
          </a:p>
          <a:p/>
          <a:p>
            <a:r>
              <a:t>'Cinco bombas simuladas: contenedores con el agente real de Greengrass en una instancia EC2. La bomba 1 es el canary; las otras cuatro, el ring 1. Audio real e infraestructura con Terraform. Todo lo que sigue es la consola y los eventos de esa ejecución, sin editar.'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· EL MODELO, VERSIONADO</a:t>
            </a:r>
          </a:p>
          <a:p/>
          <a:p>
            <a:r>
              <a:t>0:25 · sin clics</a:t>
            </a:r>
          </a:p>
          <a:p/>
          <a:p>
            <a:r>
              <a:t>'Primero, el artefacto. En S3, cada versión en su propia carpeta. En Greengrass, el componente con sus dos versiones: 1.0.0 y 2.0.0. Nada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· LA FLOTA, REPORTANDO</a:t>
            </a:r>
          </a:p>
          <a:p/>
          <a:p>
            <a:r>
              <a:t>0:30 · sin clics</a:t>
            </a:r>
          </a:p>
          <a:p/>
          <a:p>
            <a:r>
              <a:t>'La flota: cinco equipos en dos rings, reportando a este dashboard, organizado por las tres señales: entrada, salida y autenticidad. Con esto en marcha, tres pruebas.'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· ACTO 1 · ESCUCHAR</a:t>
            </a:r>
          </a:p>
          <a:p/>
          <a:p>
            <a:r>
              <a:t>0:50 · sin clics · *deja que lean primero*</a:t>
            </a:r>
          </a:p>
          <a:p/>
          <a:p>
            <a:r>
              <a:t>'Esto es lo que se ve desde la nube: cada línea es una inferencia de la bomba 3, con versión, decisión, score y nivel de entrada.'</a:t>
            </a:r>
          </a:p>
          <a:p/>
          <a:p>
            <a:r>
              <a:t>'Decisiones normales, hasta que inyecto el audio de falla. En ese mismo clip, el score supera el umbral y el modelo emite una alerta.'</a:t>
            </a:r>
          </a:p>
          <a:p/>
          <a:p>
            <a:r>
              <a:t>'Esa es la respuesta a la pregunta inicial: la bomba B era la que fallaba.' *(pausa)*</a:t>
            </a:r>
          </a:p>
          <a:p/>
          <a:p>
            <a:r>
              <a:t>'Y lo único que salió de la estación fue esta línea, no el audio.'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· ACTO 2 · SIN RED, Y UNA DERIVA</a:t>
            </a:r>
          </a:p>
          <a:p/>
          <a:p>
            <a:r>
              <a:t>1:00 · sin clics</a:t>
            </a:r>
          </a:p>
          <a:p/>
          <a:p>
            <a:r>
              <a:t>'Segundo acto: desconecto la bomba 3 de la red. A la izquierda, sus eventos dejan de llegar mientras las otras cuatro siguen reportando.'</a:t>
            </a:r>
          </a:p>
          <a:p/>
          <a:p>
            <a:r>
              <a:t>'Cuarenta y cinco segundos después restablezco la conexión, y los eventos encolados llegan con su retraso registrado: 41, 32, 29, 20 segundos. Ninguno se perdió. La bomba siguió decidiendo sin red.'</a:t>
            </a:r>
          </a:p>
          <a:p/>
          <a:p>
            <a:r>
              <a:t>'A la derecha, otra prueba: cambio el régimen de la bomba 5. No hay un solo error, pero la señal de entrada salta de 0,8 a 1,8 desviaciones estándar. Es exactamente el tipo de deriva que el panel de infraestructura no 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· ACTO 3 · RING DEPLOYMENT Y ROLLBACK</a:t>
            </a:r>
          </a:p>
          <a:p/>
          <a:p>
            <a:r>
              <a:t>1:30 · 3 clics · *el punto culminante: ve despacio*</a:t>
            </a:r>
          </a:p>
          <a:p/>
          <a:p>
            <a:r>
              <a:t>'Tercer acto: despliego la versión 2.0.0 solo en el ring 0. Esta versión se entrenó con más datos.' *(pausa)* 'Llega en 17 segundos, sin errores. Para Greengrass, un despliegue exitoso.'</a:t>
            </a:r>
          </a:p>
          <a:p/>
          <a:p>
            <a:r>
              <a:t>'Ahora inyecto una falla en la bomba 1. La versión nueva responde «normal» con la bomba fallando: fallas no detectadas.'</a:t>
            </a:r>
          </a:p>
          <a:p/>
          <a:p>
            <a:r>
              <a:t>'La causa: el audio adicional incluía un periodo en que una bomba ya estaba fallando, y nadie lo validó. El modelo aprendió la falla como comportamiento normal. No es un error de código; es un error de datos.'</a:t>
            </a:r>
          </a:p>
          <a:p/>
          <a:p>
            <a:r>
              <a:t>'Nadie interviene. La alarma pasa a ALARM, la Lambda restaura la versión 1.0.0 y la bomba 1 vuelve a alertar. Ochenta y ocho segundos desde la falla, sin acceso al equipo.' *(pausa)*</a:t>
            </a:r>
          </a:p>
          <a:p/>
          <a:p>
            <a:r>
              <a:t>▶ CLIC 'La alarma en CloudWatch: las fallas no detectadas superan el umbral de 8 por minuto, y la franja roja marca el periodo en ALARM.'</a:t>
            </a:r>
          </a:p>
          <a:p/>
          <a:p>
            <a:r>
              <a:t>▶ CLIC 'Y en los despliegues: el ring 0 corre «rollback-to-1.0.0», creado por la Lambda, no por mí. El ring 1 nunca recibió la 2.0.0.'</a:t>
            </a:r>
          </a:p>
          <a:p/>
          <a:p>
            <a:r>
              <a:t>▶ CLIC *(mirando a la sala)* 'Greengrass revierte despliegues fallidos, no modelos equivocados. Ese gate es responsabilidad nuestra.'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· CINCO RECOMENDACIONES</a:t>
            </a:r>
          </a:p>
          <a:p/>
          <a:p>
            <a:r>
              <a:t>1:05 · 4 clics · *reloj: 19:20 al entrar*</a:t>
            </a:r>
          </a:p>
          <a:p/>
          <a:p>
            <a:r>
              <a:t>'Cinco recomendaciones para aplicar desde el lunes.'</a:t>
            </a:r>
          </a:p>
          <a:p/>
          <a:p>
            <a:r>
              <a:t>'Primera: traten el modelo como cualquier artefacto de software: versión, huella y firma, sobre un equipo con arranque seguro.'</a:t>
            </a:r>
          </a:p>
          <a:p/>
          <a:p>
            <a:r>
              <a:t>▶ CLIC 'Segunda: midan en el hardware de destino, en condiciones reales de energía y temperatura.'</a:t>
            </a:r>
          </a:p>
          <a:p/>
          <a:p>
            <a:r>
              <a:t>▶ CLIC 'Tercera: desplieguen por rings, con un gate que evalúe al modelo, no solo al proceso.'</a:t>
            </a:r>
          </a:p>
          <a:p/>
          <a:p>
            <a:r>
              <a:t>▶ CLIC 'Cuarta: diseñen para operar sin conectividad: cola local y decisiones locales.'</a:t>
            </a:r>
          </a:p>
          <a:p/>
          <a:p>
            <a:r>
              <a:t>▶ CLIC 'Quinta: monitoreen tres señales: entrada, salida y autenticidad. Y mantengan el dato crudo en el equipo.'</a:t>
            </a:r>
          </a:p>
          <a:p/>
          <a:p>
            <a:r>
              <a:t>*(Si el reloj marca 19:40 o menos: «Una lección del primer montaje: ninguna bomba arrancaba. El problema era que el instalador de Greengrass determina el formato de configuración por la extensión del archivo, y el mío no tenía extensión. Una línea. Por eso se prueba en el entorno real.»)*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· LA FRASE FINAL: ¿ESTA BOMBA ESTÁ FALLANDO?</a:t>
            </a:r>
          </a:p>
          <a:p/>
          <a:p>
            <a:r>
              <a:t>0:45 · 3 clics · *el primer clic reproduce la bomba B*</a:t>
            </a:r>
          </a:p>
          <a:p/>
          <a:p>
            <a:r>
              <a:t>'Volvamos a la pregunta inicial: ¿esta bomba está fallando?' ▶ CLIC *(suena B; córtala con otro clic a los tres segundos)*</a:t>
            </a:r>
          </a:p>
          <a:p/>
          <a:p>
            <a:r>
              <a:t>'Ustedes la escucharon. La nube no, y no necesitaba hacerlo.'</a:t>
            </a:r>
          </a:p>
          <a:p/>
          <a:p>
            <a:r>
              <a:t>▶ CLIC 'Esto es todo lo que salió de la estación: bomba 3, versión 1.0.0, alerta. Unos cientos de bytes.'</a:t>
            </a:r>
          </a:p>
          <a:p/>
          <a:p>
            <a:r>
              <a:t>▶ CLIC 'No necesitamos ver el modelo. Necesitamos que el modelo nos cuente qué decide.' *(pausa)*</a:t>
            </a:r>
          </a:p>
          <a:p/>
          <a:p>
            <a:r>
              <a:t>'Les dejo una pregunta: si mañana uno de sus modelos deja de detectar lo que debe, ¿quién se va a enterar primero: ustedes, o la comunidad que se quedó sin agua?' *(pausa larga)*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· RECURSOS Y CONTACTO</a:t>
            </a:r>
          </a:p>
          <a:p/>
          <a:p>
            <a:r>
              <a:t>0:15 · sin clics</a:t>
            </a:r>
          </a:p>
          <a:p/>
          <a:p>
            <a:r>
              <a:t>'El código, la infraestructura y estas láminas están en el repositorio del código QR.'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· GRACIAS</a:t>
            </a:r>
          </a:p>
          <a:p/>
          <a:p>
            <a:r>
              <a:t>0:15 · sin clics</a:t>
            </a:r>
          </a:p>
          <a:p/>
          <a:p>
            <a:r>
              <a:t>'Muchas gracias. Con gusto respondo sus preguntas.'</a:t>
            </a:r>
          </a:p>
          <a:p/>
          <a:p>
            <a:r>
              <a:t>*Anexos: en PowerPoint escribe el número de la lámina y Enter (A1 = 34 … A8 = 41); para volver, el de la lámina donde estabas. A1 evento · A2 rollback · A3 qué revierte Greengrass · A4 permisos y costo · A5 a producción · A6 drift · A7 regulación · A8 fuentes · A9 golden signals · A10 audio contra eventos · A11 seguridad del equipo.*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EL EVENTO, CAMPO POR CAMPO</a:t>
            </a:r>
          </a:p>
          <a:p/>
          <a:p>
            <a:r>
              <a:t>'Cada evento identifica el dispositivo, la versión y la huella del modelo; incluye un número de secuencia y la marca de tiempo de la decisión; el score, el umbral y la decisión; un resumen de la entrada y la latencia. La regla de IoT agrega la hora de llegada: la diferencia es el tiempo que el equipo estuvo desconectado.'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EL ROLLBACK AUTOMÁTICO, PASO A PASO</a:t>
            </a:r>
          </a:p>
          <a:p/>
          <a:p>
            <a:r>
              <a:t>'La única acción manual es el despliegue de la 2.0.0 al ring 0. El equipo obtiene su estado deseado, descarga de S3, verifica la huella e instala: para Greengrass, todo correcto. Pero la versión nueva no detecta las fallas. Cada evento pasa por la regla de IoT, llega a CloudWatch y un filtro de métrica cuenta las fallas no detectadas. Con ocho en un minuto, la alarma invoca la Lambda, que consulta en Parameter Store la última versión aprobada y la despliega solo en el ring 0.'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¿QUÉ REVIERTE GREENGRASS SOLO?</a:t>
            </a:r>
          </a:p>
          <a:p/>
          <a:p>
            <a:r>
              <a:t>'Greengrass revierte en tres casos: si la huella de un artefacto no coincide, si el componente no instala o no inicia, y si fallan demasiados equipos del ring. No detecta un modelo que se ejecuta correctamente y decide mal. Eso solo lo detectan los eventos del modelo y una alarma sobre ellos.'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PERMISOS Y COSTO</a:t>
            </a:r>
          </a:p>
          <a:p/>
          <a:p>
            <a:r>
              <a:t>'Cada componente tiene el mínimo privilegio: el equipo lee su bucket y publica en su tópico, con identidad propia; la regla escribe en su log group; la Lambda crea el despliegue y lee un parámetro. El costo lo domina la instancia EC2, y todo se elimina con un destroy desde GitHub Actions.'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DE LA DEMO A PRODUCCIÓN</a:t>
            </a:r>
          </a:p>
          <a:p/>
          <a:p>
            <a:r>
              <a:t>'Para una flota real cambian cinco cosas: un resumen por minuto en lugar de un evento por inferencia; la cola en disco; el agente ligero en equipos pequeños; el canary comparado contra el resto del ring; y la verdad de la falla llega tarde, con la orden de mantenimiento.'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¿QUÉ MÉTODO DE DRIFT USO?</a:t>
            </a:r>
          </a:p>
          <a:p/>
          <a:p>
            <a:r>
              <a:t>'Depende del tipo de dato. PSI para variables discretizadas, con umbrales más convencionales que estadísticos. Kolmogorov-Smirnov para muestras pequeñas. Wasserstein para cuantificar el desplazamiento. Jensen-Shannon, acotada entre 0 y 1, conveniente para alertar. En la PoC uso la distancia de cada clip a la huella de lo normal.'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REGULACIÓN</a:t>
            </a:r>
          </a:p>
          <a:p/>
          <a:p>
            <a:r>
              <a:t>3 clics</a:t>
            </a:r>
          </a:p>
          <a:p/>
          <a:p>
            <a:r>
              <a:t>'En Europa, el AI Act exige a los sistemas de alto riesgo registro automático de eventos durante todo su ciclo de vida, retención mínima de seis meses y monitoreo posterior a la comercialización.'</a:t>
            </a:r>
          </a:p>
          <a:p/>
          <a:p>
            <a:r>
              <a:t>▶ CLIC 'En Estados Unidos, el AI Risk Management Framework del NIST: voluntario, pero se convirtió en el vocabulario común.'</a:t>
            </a:r>
          </a:p>
          <a:p/>
          <a:p>
            <a:r>
              <a:t>▶ CLIC 'Y la ISO/IEC 42001: un sistema de gestión de IA, certificable, con la lógica de la 27001.'</a:t>
            </a:r>
          </a:p>
          <a:p/>
          <a:p>
            <a:r>
              <a:t>▶ CLIC 'Los tres exigen lo mismo que necesitamos para operar: qué se ejecuta, qué decidió y cómo revertirlo.'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FUENTES</a:t>
            </a:r>
          </a:p>
          <a:p/>
          <a:p>
            <a:r>
              <a:t>'Las fuentes están aquí y en el repositorio. Los audios son de MIMII DUE, de Hitachi, bajo licencia CC BY-NC-SA.'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LAS GOLDEN SIGNALS DE UN MODELO</a:t>
            </a:r>
          </a:p>
          <a:p/>
          <a:p>
            <a:r>
              <a:t>'Para un servicio, las golden signals son latencia, tráfico, errores y saturación. Para un modelo: qué decide, con qué confianza, si la entrada se parece a la del entrenamiento y qué versión corre en cada equipo. Ninguna es suficiente por sí sola.'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· AUDIO CRUDO CONTRA EVENTOS, CON MIL BOMBAS</a:t>
            </a:r>
          </a:p>
          <a:p/>
          <a:p>
            <a:r>
              <a:t>2 clics</a:t>
            </a:r>
          </a:p>
          <a:p/>
          <a:p>
            <a:r>
              <a:t>'Enviar el audio crudo de mil bombas: 2,76 terabytes al día.'</a:t>
            </a:r>
          </a:p>
          <a:p/>
          <a:p>
            <a:r>
              <a:t>▶ CLIC 'Un evento cada 10 segundos: 8,64 millones de mensajes al día.'</a:t>
            </a:r>
          </a:p>
          <a:p/>
          <a:p>
            <a:r>
              <a:t>▶ CLIC 'Un resumen por minuto: 1,44 millones. Y el audio permanece en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· ANTES DE PROTEGER EL MODELO, PROTEGE EL EQUIPO</a:t>
            </a:r>
          </a:p>
          <a:p/>
          <a:p>
            <a:r>
              <a:t>4 clics · *si preguntan por la seguridad del equipo*</a:t>
            </a:r>
          </a:p>
          <a:p/>
          <a:p>
            <a:r>
              <a:t>'Estos equipos están físicamente expuestos: cualquiera puede abrir el gabinete de una estación rural. Antes de hablar de ataques al modelo, hay cuatro controles del equipo que son prerrequisito. Primero, arranque seguro: el equipo solo ejecuta software firmado.'</a:t>
            </a:r>
          </a:p>
          <a:p/>
          <a:p>
            <a:r>
              <a:t>▶ CLIC 'Segundo, protección de la identidad: la llave privada del certificado no puede vivir en la tarjeta SD, porque quien la copie suplanta al dispositivo. Va en un TPM o un elemento seguro.'</a:t>
            </a:r>
          </a:p>
          <a:p/>
          <a:p>
            <a:r>
              <a:t>▶ CLIC 'Tercero, actualizaciones autenticadas: solo se instala lo que trae la huella esperada, por un canal cifrado.'</a:t>
            </a:r>
          </a:p>
          <a:p/>
          <a:p>
            <a:r>
              <a:t>▶ CLIC 'Cuarto, privacidad del dato: el audio no sale y se cifra en reposo.'</a:t>
            </a:r>
          </a:p>
          <a:p/>
          <a:p>
            <a:r>
              <a:t>▶ CLIC 'Sin estos controles, nadie necesita engañar al modelo. Basta con reemplazarlo.'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2.pn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gradado" descr="/tmp/claude-0/-home-claude/5ec21709-fc46-5733-a412-4634ee5d7730/scratchpad/ppt/img/fondo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ort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8368"/>
            <a:ext cx="2651760" cy="1170432"/>
          </a:xfrm>
          <a:prstGeom prst="rect">
            <a:avLst/>
          </a:prstGeom>
        </p:spPr>
      </p:pic>
      <p:pic>
        <p:nvPicPr>
          <p:cNvPr id="4" name="abrazo" descr="/tmp/claude-0/-home-claude/5ec21709-fc46-5733-a412-4634ee5d7730/scratchpad/ppt/img/abrazo-devy-o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807208"/>
            <a:ext cx="2926080" cy="308884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640080" y="2468880"/>
            <a:ext cx="78638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200" b="1" dirty="0">
                <a:solidFill>
                  <a:srgbClr val="071329"/>
                </a:solidFill>
              </a:rPr>
              <a:t>Título de tu charla</a:t>
            </a:r>
            <a:endParaRPr lang="en-US" sz="4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4389120"/>
            <a:ext cx="78638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Nombre Apellido  ·  Cargo, Empresa</a:t>
            </a:r>
            <a:endParaRPr lang="en-US" sz="1800" dirty="0"/>
          </a:p>
        </p:txBody>
      </p:sp>
      <p:sp>
        <p:nvSpPr>
          <p:cNvPr id="7" name="datos-evento"/>
          <p:cNvSpPr txBox="1"/>
          <p:nvPr/>
        </p:nvSpPr>
        <p:spPr>
          <a:xfrm>
            <a:off x="640080" y="5440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329"/>
                </a:solidFill>
              </a:rPr>
              <a:t>23 · 10 · 2026   ·   Compensar Av. 68   ·   Bogotá</a:t>
            </a:r>
            <a:endParaRPr lang="en-US" sz="2000" dirty="0"/>
          </a:p>
        </p:txBody>
      </p:sp>
      <p:sp>
        <p:nvSpPr>
          <p:cNvPr id="8" name="hashtag"/>
          <p:cNvSpPr txBox="1"/>
          <p:nvPr/>
        </p:nvSpPr>
        <p:spPr>
          <a:xfrm>
            <a:off x="640080" y="5925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#DevOpsDaysBogota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nel" descr="/tmp/claude-0/-home-claude/5ec21709-fc46-5733-a412-4634ee5d7730/scratchpad/ppt/img/panel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7619695" cy="6858000"/>
          </a:xfrm>
          <a:prstGeom prst="rect">
            <a:avLst/>
          </a:prstGeom>
        </p:spPr>
      </p:pic>
      <p:pic>
        <p:nvPicPr>
          <p:cNvPr id="3" name="amigos" descr="/tmp/claude-0/-home-claude/5ec21709-fc46-5733-a412-4634ee5d7730/scratchpad/ppt/img/grupo-amig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969264"/>
            <a:ext cx="7223760" cy="5663794"/>
          </a:xfrm>
          <a:prstGeom prst="rect">
            <a:avLst/>
          </a:prstGeom>
        </p:spPr>
      </p:pic>
      <p:pic>
        <p:nvPicPr>
          <p:cNvPr id="4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5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CIERRE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8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-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elo" descr="/tmp/claude-0/-home-claude/5ec21709-fc46-5733-a412-4634ee5d7730/scratchpad/ppt/img/velo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4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CLOSING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7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1115568" y="45720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40" kern="0" dirty="0">
                <a:solidFill>
                  <a:srgbClr val="6D28D9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EYEBROW</a:t>
            </a:r>
            <a:endParaRPr lang="en-US" sz="12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s" descr="/tmp/claude-0/-home-claude/5ec21709-fc46-5733-a412-4634ee5d7730/scratchpad/ppt/img/fondo-divi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2084832"/>
            <a:ext cx="146304" cy="146304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27532" y="2084832"/>
            <a:ext cx="146304" cy="14630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014984" y="2084832"/>
            <a:ext cx="146304" cy="146304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640080" y="2395728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400" b="1" dirty="0">
                <a:solidFill>
                  <a:srgbClr val="2448FF"/>
                </a:solidFill>
              </a:defRPr>
            </a:lvl1pPr>
          </a:lstStyle>
          <a:p>
            <a:pPr indent="0" marL="0">
              <a:buNone/>
            </a:pPr>
            <a:r>
              <a:rPr lang="en-US" sz="6400" b="1" dirty="0">
                <a:solidFill>
                  <a:srgbClr val="2448FF"/>
                </a:solidFill>
              </a:rPr>
              <a:t>01</a:t>
            </a:r>
            <a:endParaRPr lang="en-US" sz="64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3456432"/>
            <a:ext cx="8595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071329"/>
                </a:solidFill>
              </a:rPr>
              <a:t>Nombre de la sección</a:t>
            </a:r>
            <a:endParaRPr lang="en-US" sz="38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640080" y="4407408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Una línea que anticipa de qué va esta parte.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gif"/><Relationship Id="rId3" Type="http://schemas.openxmlformats.org/officeDocument/2006/relationships/image" Target="../media/image19.gif"/><Relationship Id="rId4" Type="http://schemas.openxmlformats.org/officeDocument/2006/relationships/image" Target="../media/image20.gif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9.jpg"/><Relationship Id="rId3" Type="http://schemas.openxmlformats.org/officeDocument/2006/relationships/image" Target="../media/image80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4.jp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7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 lIns="0"/>
          <a:lstStyle/>
          <a:p>
            <a:r>
              <a:rPr lang="es-CO"/>
              <a:t>MLOps </a:t>
            </a:r>
            <a:r>
              <a:rPr lang="es-CO">
                <a:solidFill>
                  <a:srgbClr val="6D28D9"/>
                </a:solidFill>
              </a:rPr>
              <a:t>a ciegas</a:t>
            </a:r>
          </a:p>
          <a:p>
            <a:pPr>
              <a:spcBef>
                <a:spcPts val="800"/>
              </a:spcBef>
            </a:pPr>
            <a:r>
              <a:rPr sz="1800" b="0" lang="es-CO">
                <a:solidFill>
                  <a:srgbClr val="071329"/>
                </a:solidFill>
              </a:rPr>
              <a:t>Gobernar modelos de IA que se ejecutan donde no llega el plano de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 lIns="0"/>
          <a:lstStyle/>
          <a:p>
            <a:r>
              <a:rPr lang="es-CO"/>
              <a:t>Alejandro Varela · Senior Cloud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HACE UN AÑO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20 de octubre de 2025: </a:t>
            </a:r>
            <a:r>
              <a:rPr b="1" lang="es-CO">
                <a:solidFill>
                  <a:srgbClr val="6D28D9"/>
                </a:solidFill>
              </a:rPr>
              <a:t>se cae us-east-1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Imagen del gancho"/>
          <p:cNvGrpSpPr/>
          <p:nvPr/>
        </p:nvGrpSpPr>
        <p:grpSpPr>
          <a:xfrm>
            <a:off x="1833978" y="1569720"/>
            <a:ext cx="2861104" cy="3794760"/>
            <a:chOff x="1833978" y="1569720"/>
            <a:chExt cx="2861104" cy="3794760"/>
          </a:xfrm>
        </p:grpSpPr>
        <p:pic>
          <p:nvPicPr>
            <p:cNvPr id="54" name="Imagen" descr="hook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3978" y="1569720"/>
              <a:ext cx="2861104" cy="3581400"/>
            </a:xfrm>
            <a:prstGeom prst="rect">
              <a:avLst/>
            </a:prstGeom>
          </p:spPr>
        </p:pic>
        <p:sp>
          <p:nvSpPr>
            <p:cNvPr id="55" name="Crédito"/>
            <p:cNvSpPr txBox="1"/>
            <p:nvPr/>
          </p:nvSpPr>
          <p:spPr>
            <a:xfrm>
              <a:off x="1833978" y="5212080"/>
              <a:ext cx="2861104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Basado en xkcd 2347 · CC BY-NC 2.5</a:t>
              </a:r>
            </a:p>
          </p:txBody>
        </p:sp>
      </p:grpSp>
      <p:grpSp>
        <p:nvGrpSpPr>
          <p:cNvPr id="5" name="Imagen del gancho"/>
          <p:cNvGrpSpPr/>
          <p:nvPr/>
        </p:nvGrpSpPr>
        <p:grpSpPr>
          <a:xfrm>
            <a:off x="5030362" y="1569720"/>
            <a:ext cx="5327661" cy="3566160"/>
            <a:chOff x="5030362" y="1569720"/>
            <a:chExt cx="5327661" cy="3566160"/>
          </a:xfrm>
        </p:grpSpPr>
        <p:pic>
          <p:nvPicPr>
            <p:cNvPr id="56" name="Imagen" descr="hook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0362" y="1569720"/>
              <a:ext cx="5327661" cy="3352800"/>
            </a:xfrm>
            <a:prstGeom prst="rect">
              <a:avLst/>
            </a:prstGeom>
          </p:spPr>
        </p:pic>
        <p:sp>
          <p:nvSpPr>
            <p:cNvPr id="57" name="Crédito"/>
            <p:cNvSpPr txBox="1"/>
            <p:nvPr/>
          </p:nvSpPr>
          <p:spPr>
            <a:xfrm>
              <a:off x="5030362" y="4983480"/>
              <a:ext cx="5327661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Prensa, octubre de 2025 · imagen: Eight Sleep</a:t>
              </a:r>
            </a:p>
          </p:txBody>
        </p:sp>
      </p:grpSp>
      <p:sp>
        <p:nvSpPr>
          <p:cNvPr id="58" name="Remate"/>
          <p:cNvSpPr txBox="1"/>
          <p:nvPr/>
        </p:nvSpPr>
        <p:spPr>
          <a:xfrm>
            <a:off x="640080" y="5501640"/>
            <a:ext cx="10911840" cy="3093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La decisión vivía en la nube.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Llevarla al dispositivo: eso es edge.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PONENTE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Sobre </a:t>
            </a:r>
            <a:r>
              <a:rPr b="1" lang="es-CO">
                <a:solidFill>
                  <a:srgbClr val="6D28D9"/>
                </a:solidFill>
              </a:rPr>
              <a:t>mí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Foto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200400" cy="3200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6240" y="1874520"/>
            <a:ext cx="685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580" b="1" lang="es-CO">
                <a:solidFill>
                  <a:srgbClr val="071329"/>
                </a:solidFill>
                <a:latin typeface="Calibri"/>
              </a:rPr>
              <a:t>Alejandro Varela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2301240"/>
            <a:ext cx="6858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500" b="0" lang="es-CO">
                <a:solidFill>
                  <a:srgbClr val="6D28D9"/>
                </a:solidFill>
                <a:latin typeface="Calibri"/>
              </a:rPr>
              <a:t>Senior Cloud Engineer</a:t>
            </a:r>
          </a:p>
        </p:txBody>
      </p:sp>
      <p:pic>
        <p:nvPicPr>
          <p:cNvPr id="57" name="Logo empresa" descr="ep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232" y="2301240"/>
            <a:ext cx="495300" cy="259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4206240" y="2712720"/>
            <a:ext cx="6858000" cy="57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500" b="0" lang="es-CO">
                <a:solidFill>
                  <a:srgbClr val="475569"/>
                </a:solidFill>
                <a:latin typeface="Calibri"/>
              </a:rPr>
              <a:t>Diseño cómo llegan y se gobiernan modelos de IA en equipos de campo: inferencia en el edge e IoT industrial sobre AWS, Azure y GCP.</a:t>
            </a:r>
          </a:p>
        </p:txBody>
      </p:sp>
      <p:sp>
        <p:nvSpPr>
          <p:cNvPr id="59" name="Certificaciones"/>
          <p:cNvSpPr txBox="1"/>
          <p:nvPr/>
        </p:nvSpPr>
        <p:spPr>
          <a:xfrm>
            <a:off x="420624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5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AWS</a:t>
            </a:r>
          </a:p>
        </p:txBody>
      </p:sp>
      <p:pic>
        <p:nvPicPr>
          <p:cNvPr id="60" name="AWS Certified Solutions Architect – Professional" descr="aws-sap-solutions-architect-profess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771900"/>
            <a:ext cx="701040" cy="701040"/>
          </a:xfrm>
          <a:prstGeom prst="rect">
            <a:avLst/>
          </a:prstGeom>
        </p:spPr>
      </p:pic>
      <p:pic>
        <p:nvPicPr>
          <p:cNvPr id="61" name="AWS Certified DevOps Engineer – Professional" descr="aws-dop-devops-engineer-profess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771900"/>
            <a:ext cx="701040" cy="701040"/>
          </a:xfrm>
          <a:prstGeom prst="rect">
            <a:avLst/>
          </a:prstGeom>
        </p:spPr>
      </p:pic>
      <p:pic>
        <p:nvPicPr>
          <p:cNvPr id="62" name="AWS Certified Advanced Networking – Specialty" descr="aws-ans-advanced-networking-special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71900"/>
            <a:ext cx="701040" cy="701040"/>
          </a:xfrm>
          <a:prstGeom prst="rect">
            <a:avLst/>
          </a:prstGeom>
        </p:spPr>
      </p:pic>
      <p:pic>
        <p:nvPicPr>
          <p:cNvPr id="63" name="AWS Certified Security – Specialty" descr="aws-scs-security-special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771900"/>
            <a:ext cx="701040" cy="701040"/>
          </a:xfrm>
          <a:prstGeom prst="rect">
            <a:avLst/>
          </a:prstGeom>
        </p:spPr>
      </p:pic>
      <p:pic>
        <p:nvPicPr>
          <p:cNvPr id="64" name="AWS Certified Solutions Architect – Associate" descr="aws-saa-solutions-architect-associ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3771900"/>
            <a:ext cx="701040" cy="701040"/>
          </a:xfrm>
          <a:prstGeom prst="rect">
            <a:avLst/>
          </a:prstGeom>
        </p:spPr>
      </p:pic>
      <p:sp>
        <p:nvSpPr>
          <p:cNvPr id="65" name="Certificaciones"/>
          <p:cNvSpPr txBox="1"/>
          <p:nvPr/>
        </p:nvSpPr>
        <p:spPr>
          <a:xfrm>
            <a:off x="827532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3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Kubernetes</a:t>
            </a:r>
          </a:p>
        </p:txBody>
      </p:sp>
      <p:pic>
        <p:nvPicPr>
          <p:cNvPr id="66" name="Certified Kubernetes Administrator" descr="k8s-cka-administra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771900"/>
            <a:ext cx="701040" cy="701040"/>
          </a:xfrm>
          <a:prstGeom prst="rect">
            <a:avLst/>
          </a:prstGeom>
        </p:spPr>
      </p:pic>
      <p:pic>
        <p:nvPicPr>
          <p:cNvPr id="67" name="Certified Kubernetes Application Developer" descr="k8s-ckad-application-develop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3771900"/>
            <a:ext cx="701040" cy="701040"/>
          </a:xfrm>
          <a:prstGeom prst="rect">
            <a:avLst/>
          </a:prstGeom>
        </p:spPr>
      </p:pic>
      <p:pic>
        <p:nvPicPr>
          <p:cNvPr id="68" name="Certified Kubernetes Security Specialist" descr="k8s-cks-security-specialis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29800" y="3771900"/>
            <a:ext cx="701040" cy="701040"/>
          </a:xfrm>
          <a:prstGeom prst="rect">
            <a:avLst/>
          </a:prstGeom>
        </p:spPr>
      </p:pic>
      <p:sp>
        <p:nvSpPr>
          <p:cNvPr id="69" name="Fuera del trabajo"/>
          <p:cNvSpPr txBox="1"/>
          <p:nvPr/>
        </p:nvSpPr>
        <p:spPr>
          <a:xfrm>
            <a:off x="4206240" y="4762500"/>
            <a:ext cx="685800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260" b="1" lang="es-CO">
                <a:solidFill>
                  <a:srgbClr val="071329"/>
                </a:solidFill>
                <a:latin typeface="Calibri"/>
              </a:rPr>
              <a:t>Fuera del trabajo:</a:t>
            </a:r>
            <a:r>
              <a:rPr sz="1260" b="0" lang="es-CO">
                <a:solidFill>
                  <a:srgbClr val="475569"/>
                </a:solidFill>
                <a:latin typeface="Calibri"/>
              </a:rPr>
              <a:t> cualquier deporte de raqueta (tenis de mesa, tenis, pádel…), aprender algo nuevo para estar a la vanguardia y viajar.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53797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ESCUCHA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¿Esta bomba está </a:t>
            </a:r>
            <a:r>
              <a:rPr b="1" lang="es-CO">
                <a:solidFill>
                  <a:srgbClr val="6D28D9"/>
                </a:solidFill>
              </a:rPr>
              <a:t>fallando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arjeta A"/>
          <p:cNvSpPr/>
          <p:nvPr/>
        </p:nvSpPr>
        <p:spPr>
          <a:xfrm>
            <a:off x="6400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ótulo A"/>
          <p:cNvSpPr txBox="1"/>
          <p:nvPr/>
        </p:nvSpPr>
        <p:spPr>
          <a:xfrm>
            <a:off x="8496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A</a:t>
            </a:r>
          </a:p>
        </p:txBody>
      </p:sp>
      <p:pic>
        <p:nvPicPr>
          <p:cNvPr id="56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9630" y="2415540"/>
            <a:ext cx="4876800" cy="1219200"/>
          </a:xfrm>
          <a:prstGeom prst="rect">
            <a:avLst/>
          </a:prstGeom>
        </p:spPr>
      </p:pic>
      <p:grpSp>
        <p:nvGrpSpPr>
          <p:cNvPr id="4" name="Botón A"/>
          <p:cNvGrpSpPr/>
          <p:nvPr/>
        </p:nvGrpSpPr>
        <p:grpSpPr>
          <a:xfrm>
            <a:off x="849630" y="3787140"/>
            <a:ext cx="4853940" cy="487680"/>
            <a:chOff x="849630" y="3787140"/>
            <a:chExt cx="4853940" cy="487680"/>
          </a:xfrm>
        </p:grpSpPr>
        <p:sp>
          <p:nvSpPr>
            <p:cNvPr id="57" name="Fondo"/>
            <p:cNvSpPr/>
            <p:nvPr/>
          </p:nvSpPr>
          <p:spPr>
            <a:xfrm>
              <a:off x="8496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riángulo"/>
            <p:cNvSpPr/>
            <p:nvPr/>
          </p:nvSpPr>
          <p:spPr>
            <a:xfrm>
              <a:off x="27835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30502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59" name="Tarjeta B"/>
          <p:cNvSpPr/>
          <p:nvPr/>
        </p:nvSpPr>
        <p:spPr>
          <a:xfrm>
            <a:off x="62788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ótulo B"/>
          <p:cNvSpPr txBox="1"/>
          <p:nvPr/>
        </p:nvSpPr>
        <p:spPr>
          <a:xfrm>
            <a:off x="64884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B</a:t>
            </a:r>
          </a:p>
        </p:txBody>
      </p:sp>
      <p:pic>
        <p:nvPicPr>
          <p:cNvPr id="61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488430" y="2415540"/>
            <a:ext cx="4876800" cy="1219200"/>
          </a:xfrm>
          <a:prstGeom prst="rect">
            <a:avLst/>
          </a:prstGeom>
        </p:spPr>
      </p:pic>
      <p:grpSp>
        <p:nvGrpSpPr>
          <p:cNvPr id="6" name="Botón B"/>
          <p:cNvGrpSpPr/>
          <p:nvPr/>
        </p:nvGrpSpPr>
        <p:grpSpPr>
          <a:xfrm>
            <a:off x="6488430" y="3787140"/>
            <a:ext cx="4853940" cy="487680"/>
            <a:chOff x="6488430" y="3787140"/>
            <a:chExt cx="4853940" cy="487680"/>
          </a:xfrm>
        </p:grpSpPr>
        <p:sp>
          <p:nvSpPr>
            <p:cNvPr id="62" name="Fondo"/>
            <p:cNvSpPr/>
            <p:nvPr/>
          </p:nvSpPr>
          <p:spPr>
            <a:xfrm>
              <a:off x="64884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riángulo"/>
            <p:cNvSpPr/>
            <p:nvPr/>
          </p:nvSpPr>
          <p:spPr>
            <a:xfrm>
              <a:off x="84223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ótulo"/>
            <p:cNvSpPr txBox="1"/>
            <p:nvPr/>
          </p:nvSpPr>
          <p:spPr>
            <a:xfrm>
              <a:off x="86890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64" name="Pregunta"/>
          <p:cNvSpPr txBox="1"/>
          <p:nvPr/>
        </p:nvSpPr>
        <p:spPr>
          <a:xfrm>
            <a:off x="640080" y="4789322"/>
            <a:ext cx="10911840" cy="53919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3479" b="1" lang="es-CO">
                <a:solidFill>
                  <a:srgbClr val="071329"/>
                </a:solidFill>
                <a:latin typeface="Calibri"/>
              </a:rPr>
              <a:t>Levanten la mano: ¿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A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,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B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las dos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?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Sonidos reales de bombas industriales · MIMII DUE, Hitachi · CC BY-NC-SA 4.0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</p:childTnLst>
        </p:cTn>
      </p:par>
    </p:tnLst>
    <p:bldLst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IA ya corre </a:t>
            </a:r>
            <a:r>
              <a:rPr b="1" lang="es-CO">
                <a:solidFill>
                  <a:srgbClr val="6D28D9"/>
                </a:solidFill>
              </a:rPr>
              <a:t>en el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cien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cien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cien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Gartner, agosto 2025: PC con IA · 2026 es proyección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Por qué el modelo </a:t>
            </a:r>
            <a:r>
              <a:rPr b="1" lang="es-CO">
                <a:solidFill>
                  <a:srgbClr val="6D28D9"/>
                </a:solidFill>
              </a:rPr>
              <a:t>baja al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memes_s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5" name="Paso 1" descr="memes_s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6" name="Paso 2" descr="memes_s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Contenido </a:t>
            </a:r>
            <a:r>
              <a:rPr b="1" lang="es-CO">
                <a:solidFill>
                  <a:srgbClr val="6D28D9"/>
                </a:solidFill>
              </a:rPr>
              <a:t>de la sesión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2024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192024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problema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192024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Operar un modelo fuera de la nube: sin red y sin acceso al equipo.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6670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92608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08760" y="292608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patrón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92608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Las piezas para gobernarlo, primero en general y después en AWS.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36728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393192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8760" y="393192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Los seis pasos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393192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Entrenar, optimizar, empaquetar, desplegar, operar sin red y monitorear.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67868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93776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493776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La evidencia en AWS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93776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Una ejecución real: una falla, un corte de red y un rollback automático.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Un modelo que escucha bombas, sin red y sin nadie cerca.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nub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125980"/>
            <a:ext cx="10919460" cy="284988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MLOps en la nube: </a:t>
            </a:r>
            <a:r>
              <a:rPr b="1" lang="es-CO">
                <a:solidFill>
                  <a:srgbClr val="6D28D9"/>
                </a:solidFill>
              </a:rPr>
              <a:t>un loop cerrado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dg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90" y="2125980"/>
            <a:ext cx="10306050" cy="2849880"/>
          </a:xfrm>
          <a:prstGeom prst="rect">
            <a:avLst/>
          </a:prstGeom>
        </p:spPr>
      </p:pic>
      <p:pic>
        <p:nvPicPr>
          <p:cNvPr id="55" name="Capa on3" descr="iso_edge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2792730"/>
            <a:ext cx="3192780" cy="1855470"/>
          </a:xfrm>
          <a:prstGeom prst="rect">
            <a:avLst/>
          </a:prstGeom>
        </p:spPr>
      </p:pic>
      <p:pic>
        <p:nvPicPr>
          <p:cNvPr id="56" name="Capa base" descr="iso_edge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830" y="2186940"/>
            <a:ext cx="2903220" cy="2217420"/>
          </a:xfrm>
          <a:prstGeom prst="rect">
            <a:avLst/>
          </a:prstGeom>
        </p:spPr>
      </p:pic>
      <p:pic>
        <p:nvPicPr>
          <p:cNvPr id="57" name="Capa on1" descr="iso_edge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659380"/>
            <a:ext cx="2895600" cy="2686050"/>
          </a:xfrm>
          <a:prstGeom prst="rect">
            <a:avLst/>
          </a:prstGeom>
        </p:spPr>
      </p:pic>
      <p:pic>
        <p:nvPicPr>
          <p:cNvPr id="58" name="Capa on3" descr="iso_edge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1740" y="2827020"/>
            <a:ext cx="1504950" cy="922020"/>
          </a:xfrm>
          <a:prstGeom prst="rect">
            <a:avLst/>
          </a:prstGeom>
        </p:spPr>
      </p:pic>
      <p:pic>
        <p:nvPicPr>
          <p:cNvPr id="59" name="Capa on2_fog" descr="iso_edge_05_on2_f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0220" y="1798320"/>
            <a:ext cx="6469380" cy="3383280"/>
          </a:xfrm>
          <a:prstGeom prst="rect">
            <a:avLst/>
          </a:prstGeom>
        </p:spPr>
      </p:pic>
      <p:pic>
        <p:nvPicPr>
          <p:cNvPr id="60" name="Capa on2" descr="iso_edge_06_on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2213610"/>
            <a:ext cx="2644140" cy="3093720"/>
          </a:xfrm>
          <a:prstGeom prst="rect">
            <a:avLst/>
          </a:prstGeom>
        </p:spPr>
      </p:pic>
      <p:pic>
        <p:nvPicPr>
          <p:cNvPr id="61" name="Capa on3" descr="iso_edge_07_on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9100" y="5135880"/>
            <a:ext cx="2301240" cy="209550"/>
          </a:xfrm>
          <a:prstGeom prst="rect">
            <a:avLst/>
          </a:prstGeom>
        </p:spPr>
      </p:pic>
      <p:pic>
        <p:nvPicPr>
          <p:cNvPr id="62" name="Capa on4" descr="iso_edge_08_on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5452110"/>
            <a:ext cx="2918460" cy="217170"/>
          </a:xfrm>
          <a:prstGeom prst="rect">
            <a:avLst/>
          </a:prstGeom>
        </p:spPr>
      </p:pic>
      <p:pic>
        <p:nvPicPr>
          <p:cNvPr id="63" name="Capa on5" descr="iso_edge_09_on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5455920"/>
            <a:ext cx="2907030" cy="20955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restricciones </a:t>
            </a:r>
            <a:r>
              <a:rPr b="1" lang="es-CO">
                <a:solidFill>
                  <a:srgbClr val="6D28D9"/>
                </a:solidFill>
              </a:rPr>
              <a:t>de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Un panel en verde </a:t>
            </a:r>
            <a:r>
              <a:rPr b="1" lang="es-CO">
                <a:solidFill>
                  <a:srgbClr val="6D28D9"/>
                </a:solidFill>
              </a:rPr>
              <a:t>no mide el modelo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tablero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tablero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tablero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7" name="Paso 3" descr="tablero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8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Medido en la PoC con MIMII DUE (bombas, dominio de entrenamiento contra dominio nuevo)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Qué lleva el equipo y qué hace falta para gobernarlo.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quip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2053590"/>
            <a:ext cx="3547110" cy="3333750"/>
          </a:xfrm>
          <a:prstGeom prst="rect">
            <a:avLst/>
          </a:prstGeom>
        </p:spPr>
      </p:pic>
      <p:pic>
        <p:nvPicPr>
          <p:cNvPr id="55" name="Capa on1" descr="iso_equip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3874770"/>
            <a:ext cx="1287780" cy="259080"/>
          </a:xfrm>
          <a:prstGeom prst="rect">
            <a:avLst/>
          </a:prstGeom>
        </p:spPr>
      </p:pic>
      <p:pic>
        <p:nvPicPr>
          <p:cNvPr id="56" name="Capa base" descr="iso_equipo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3520" y="1847850"/>
            <a:ext cx="8427720" cy="3208020"/>
          </a:xfrm>
          <a:prstGeom prst="rect">
            <a:avLst/>
          </a:prstGeom>
        </p:spPr>
      </p:pic>
      <p:pic>
        <p:nvPicPr>
          <p:cNvPr id="57" name="Capa on1" descr="iso_equipo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370" y="3627120"/>
            <a:ext cx="3543300" cy="361950"/>
          </a:xfrm>
          <a:prstGeom prst="rect">
            <a:avLst/>
          </a:prstGeom>
        </p:spPr>
      </p:pic>
      <p:pic>
        <p:nvPicPr>
          <p:cNvPr id="58" name="Capa on2" descr="iso_equipo_04_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0330" y="2868930"/>
            <a:ext cx="3364230" cy="659130"/>
          </a:xfrm>
          <a:prstGeom prst="rect">
            <a:avLst/>
          </a:prstGeom>
        </p:spPr>
      </p:pic>
      <p:pic>
        <p:nvPicPr>
          <p:cNvPr id="59" name="Capa on3" descr="iso_equipo_05_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5480" y="2114550"/>
            <a:ext cx="3806190" cy="36957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Arquitectura del </a:t>
            </a:r>
            <a:r>
              <a:rPr b="1" lang="es-CO">
                <a:solidFill>
                  <a:srgbClr val="6D28D9"/>
                </a:solidFill>
              </a:rPr>
              <a:t>equipo en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flujo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flujo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flujo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flujo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flujo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flujo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60" name="Paso 6" descr="flujo_htm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piezas </a:t>
            </a:r>
            <a:r>
              <a:rPr b="1" lang="es-CO">
                <a:solidFill>
                  <a:srgbClr val="6D28D9"/>
                </a:solidFill>
              </a:rPr>
              <a:t>para gobernarlo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ws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aws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aws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aws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aws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aws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mismo patrón </a:t>
            </a:r>
            <a:r>
              <a:rPr b="1" lang="es-CO">
                <a:solidFill>
                  <a:srgbClr val="6D28D9"/>
                </a:solidFill>
              </a:rPr>
              <a:t>en AWS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5" name="Paso 1"/>
          <p:cNvSpPr/>
          <p:nvPr/>
        </p:nvSpPr>
        <p:spPr>
          <a:xfrm>
            <a:off x="6400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01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Entrenar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SageMaker AI · S3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5458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7" name="Paso 2"/>
          <p:cNvSpPr/>
          <p:nvPr/>
        </p:nvSpPr>
        <p:spPr>
          <a:xfrm>
            <a:off x="248412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02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Optimizar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un artefacto por chip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9862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9" name="Paso 3"/>
          <p:cNvSpPr/>
          <p:nvPr/>
        </p:nvSpPr>
        <p:spPr>
          <a:xfrm>
            <a:off x="432816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03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Empaquetar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componente Greengrass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4266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1" name="Paso 4"/>
          <p:cNvSpPr/>
          <p:nvPr/>
        </p:nvSpPr>
        <p:spPr>
          <a:xfrm>
            <a:off x="617220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04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Desplegar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rings · thing groups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88670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3" name="Paso 5"/>
          <p:cNvSpPr/>
          <p:nvPr/>
        </p:nvSpPr>
        <p:spPr>
          <a:xfrm>
            <a:off x="801624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05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Operar sin red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cola local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73074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5" name="Paso 6"/>
          <p:cNvSpPr/>
          <p:nvPr/>
        </p:nvSpPr>
        <p:spPr>
          <a:xfrm>
            <a:off x="98602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06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Monitorear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IoT Core · CloudWatch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ntren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415540"/>
            <a:ext cx="2941320" cy="1691640"/>
          </a:xfrm>
          <a:prstGeom prst="rect">
            <a:avLst/>
          </a:prstGeom>
        </p:spPr>
      </p:pic>
      <p:pic>
        <p:nvPicPr>
          <p:cNvPr id="55" name="Capa on1" descr="iso_entren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930" y="2415540"/>
            <a:ext cx="4057650" cy="1691640"/>
          </a:xfrm>
          <a:prstGeom prst="rect">
            <a:avLst/>
          </a:prstGeom>
        </p:spPr>
      </p:pic>
      <p:pic>
        <p:nvPicPr>
          <p:cNvPr id="56" name="Capa on2" descr="iso_entren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530" y="2415540"/>
            <a:ext cx="3813810" cy="1691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1 ·</a:t>
            </a:r>
            <a:r>
              <a:rPr lang="es-CO"/>
              <a:t> Entrenar </a:t>
            </a:r>
            <a:r>
              <a:rPr b="1" lang="es-CO">
                <a:solidFill>
                  <a:srgbClr val="6D28D9"/>
                </a:solidFill>
              </a:rPr>
              <a:t>con sonido normal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optimiz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7860"/>
            <a:ext cx="2331720" cy="2346960"/>
          </a:xfrm>
          <a:prstGeom prst="rect">
            <a:avLst/>
          </a:prstGeom>
        </p:spPr>
      </p:pic>
      <p:pic>
        <p:nvPicPr>
          <p:cNvPr id="55" name="Capa on1" descr="iso_optimiz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330" y="1927860"/>
            <a:ext cx="3036570" cy="2346960"/>
          </a:xfrm>
          <a:prstGeom prst="rect">
            <a:avLst/>
          </a:prstGeom>
        </p:spPr>
      </p:pic>
      <p:pic>
        <p:nvPicPr>
          <p:cNvPr id="56" name="Capa on2" descr="iso_optimiz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60" y="1927860"/>
            <a:ext cx="5440680" cy="2346960"/>
          </a:xfrm>
          <a:prstGeom prst="rect">
            <a:avLst/>
          </a:prstGeom>
        </p:spPr>
      </p:pic>
      <p:pic>
        <p:nvPicPr>
          <p:cNvPr id="57" name="Capa on3" descr="iso_optimizar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442460"/>
            <a:ext cx="10774680" cy="929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2 ·</a:t>
            </a:r>
            <a:r>
              <a:rPr lang="es-CO"/>
              <a:t> Optimizar </a:t>
            </a:r>
            <a:r>
              <a:rPr b="1" lang="es-CO">
                <a:solidFill>
                  <a:srgbClr val="6D28D9"/>
                </a:solidFill>
              </a:rPr>
              <a:t>para cada chip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receta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775460"/>
            <a:ext cx="10774680" cy="3032760"/>
          </a:xfrm>
          <a:prstGeom prst="rect">
            <a:avLst/>
          </a:prstGeom>
        </p:spPr>
      </p:pic>
      <p:pic>
        <p:nvPicPr>
          <p:cNvPr id="55" name="Capa on1" descr="iso_receta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737610"/>
            <a:ext cx="10660380" cy="1573530"/>
          </a:xfrm>
          <a:prstGeom prst="rect">
            <a:avLst/>
          </a:prstGeom>
        </p:spPr>
      </p:pic>
      <p:pic>
        <p:nvPicPr>
          <p:cNvPr id="56" name="Capa on2" descr="iso_receta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2754630"/>
            <a:ext cx="7978140" cy="2556510"/>
          </a:xfrm>
          <a:prstGeom prst="rect">
            <a:avLst/>
          </a:prstGeom>
        </p:spPr>
      </p:pic>
      <p:pic>
        <p:nvPicPr>
          <p:cNvPr id="57" name="Capa on3" descr="iso_receta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2918460"/>
            <a:ext cx="7498080" cy="2392680"/>
          </a:xfrm>
          <a:prstGeom prst="rect">
            <a:avLst/>
          </a:prstGeom>
        </p:spPr>
      </p:pic>
      <p:pic>
        <p:nvPicPr>
          <p:cNvPr id="58" name="Capa on4" descr="iso_receta_04_on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" y="3409950"/>
            <a:ext cx="10187940" cy="1901190"/>
          </a:xfrm>
          <a:prstGeom prst="rect">
            <a:avLst/>
          </a:prstGeom>
        </p:spPr>
      </p:pic>
      <p:pic>
        <p:nvPicPr>
          <p:cNvPr id="59" name="Capa base" descr="iso_receta_05_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" y="2305050"/>
            <a:ext cx="9886950" cy="227838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3 ·</a:t>
            </a:r>
            <a:r>
              <a:rPr lang="es-CO"/>
              <a:t> Empaquetar </a:t>
            </a:r>
            <a:r>
              <a:rPr b="1" lang="es-CO">
                <a:solidFill>
                  <a:srgbClr val="6D28D9"/>
                </a:solidFill>
              </a:rPr>
              <a:t>como componente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anillo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866900"/>
            <a:ext cx="3246120" cy="1600200"/>
          </a:xfrm>
          <a:prstGeom prst="rect">
            <a:avLst/>
          </a:prstGeom>
        </p:spPr>
      </p:pic>
      <p:pic>
        <p:nvPicPr>
          <p:cNvPr id="55" name="Capa on3" descr="iso_anillos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60" y="2994660"/>
            <a:ext cx="1805940" cy="289560"/>
          </a:xfrm>
          <a:prstGeom prst="rect">
            <a:avLst/>
          </a:prstGeom>
        </p:spPr>
      </p:pic>
      <p:pic>
        <p:nvPicPr>
          <p:cNvPr id="56" name="Capa on1" descr="iso_anillos_02_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1866900"/>
            <a:ext cx="7574280" cy="1600200"/>
          </a:xfrm>
          <a:prstGeom prst="rect">
            <a:avLst/>
          </a:prstGeom>
        </p:spPr>
      </p:pic>
      <p:pic>
        <p:nvPicPr>
          <p:cNvPr id="57" name="Capa on2" descr="iso_anillos_03_o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620" y="3695700"/>
            <a:ext cx="6903720" cy="1600200"/>
          </a:xfrm>
          <a:prstGeom prst="rect">
            <a:avLst/>
          </a:prstGeom>
        </p:spPr>
      </p:pic>
      <p:pic>
        <p:nvPicPr>
          <p:cNvPr id="58" name="Capa on3" descr="iso_anillos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" y="2438400"/>
            <a:ext cx="3779520" cy="280797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4 ·</a:t>
            </a:r>
            <a:r>
              <a:rPr lang="es-CO"/>
              <a:t> Desplegar </a:t>
            </a:r>
            <a:r>
              <a:rPr b="1" lang="es-CO">
                <a:solidFill>
                  <a:srgbClr val="6D28D9"/>
                </a:solidFill>
              </a:rPr>
              <a:t>por rings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inred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019300"/>
            <a:ext cx="10774680" cy="233172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5 ·</a:t>
            </a:r>
            <a:r>
              <a:rPr lang="es-CO"/>
              <a:t> Operar </a:t>
            </a:r>
            <a:r>
              <a:rPr b="1" lang="es-CO">
                <a:solidFill>
                  <a:srgbClr val="6D28D9"/>
                </a:solidFill>
              </a:rPr>
              <a:t>sin 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monitore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" y="1783080"/>
            <a:ext cx="10500360" cy="861060"/>
          </a:xfrm>
          <a:prstGeom prst="rect">
            <a:avLst/>
          </a:prstGeom>
        </p:spPr>
      </p:pic>
      <p:pic>
        <p:nvPicPr>
          <p:cNvPr id="55" name="Capa on1" descr="iso_monitore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903220"/>
            <a:ext cx="3459480" cy="1676400"/>
          </a:xfrm>
          <a:prstGeom prst="rect">
            <a:avLst/>
          </a:prstGeom>
        </p:spPr>
      </p:pic>
      <p:pic>
        <p:nvPicPr>
          <p:cNvPr id="56" name="Capa on2" descr="iso_monitoreo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2903220"/>
            <a:ext cx="3459480" cy="1676400"/>
          </a:xfrm>
          <a:prstGeom prst="rect">
            <a:avLst/>
          </a:prstGeom>
        </p:spPr>
      </p:pic>
      <p:pic>
        <p:nvPicPr>
          <p:cNvPr id="57" name="Capa on3" descr="iso_monitoreo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3860" y="2903220"/>
            <a:ext cx="3459480" cy="167640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6 ·</a:t>
            </a:r>
            <a:r>
              <a:rPr lang="es-CO"/>
              <a:t> Monitorear </a:t>
            </a:r>
            <a:r>
              <a:rPr b="1" lang="es-CO">
                <a:solidFill>
                  <a:srgbClr val="6D28D9"/>
                </a:solidFill>
              </a:rPr>
              <a:t>lo que decide el modelo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evidencia en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Cinco bombas en AWS: una falla, un corte de red y una versión mala.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poc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 que </a:t>
            </a:r>
            <a:r>
              <a:rPr b="1" lang="es-CO">
                <a:solidFill>
                  <a:srgbClr val="6D28D9"/>
                </a:solidFill>
              </a:rPr>
              <a:t>monté y corrí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modelo, </a:t>
            </a:r>
            <a:r>
              <a:rPr b="1" lang="es-CO">
                <a:solidFill>
                  <a:srgbClr val="6D28D9"/>
                </a:solidFill>
              </a:rPr>
              <a:t>versionado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artefacto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55063"/>
            <a:ext cx="5227320" cy="2824074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716280" y="495533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S3 · una carpeta por versión</a:t>
            </a:r>
          </a:p>
        </p:txBody>
      </p:sp>
      <p:pic>
        <p:nvPicPr>
          <p:cNvPr id="56" name="Captura" descr="pair_artefacto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3303"/>
            <a:ext cx="5227320" cy="3147593"/>
          </a:xfrm>
          <a:prstGeom prst="rect">
            <a:avLst/>
          </a:prstGeom>
        </p:spPr>
      </p:pic>
      <p:sp>
        <p:nvSpPr>
          <p:cNvPr id="57" name="Pie"/>
          <p:cNvSpPr txBox="1"/>
          <p:nvPr/>
        </p:nvSpPr>
        <p:spPr>
          <a:xfrm>
            <a:off x="6248400" y="511709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IoT Greengrass · el componente y sus versiones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flota, </a:t>
            </a:r>
            <a:r>
              <a:rPr b="1" lang="es-CO">
                <a:solidFill>
                  <a:srgbClr val="6D28D9"/>
                </a:solidFill>
              </a:rPr>
              <a:t>reportando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flot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1676400"/>
            <a:ext cx="10457421" cy="3581400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867289" y="5334000"/>
            <a:ext cx="104574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CloudWatch · cinco equipos, dos rings, lo que decide el modelo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1 ·</a:t>
            </a:r>
            <a:r>
              <a:rPr lang="es-CO"/>
              <a:t> Escuchar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600200" y="2194560"/>
            <a:ext cx="8991600" cy="2941320"/>
            <a:chOff x="1600200" y="2194560"/>
            <a:chExt cx="8991600" cy="2941320"/>
          </a:xfrm>
        </p:grpSpPr>
        <p:sp>
          <p:nvSpPr>
            <p:cNvPr id="54" name="Ventana"/>
            <p:cNvSpPr/>
            <p:nvPr/>
          </p:nvSpPr>
          <p:spPr>
            <a:xfrm>
              <a:off x="1600200" y="2194560"/>
              <a:ext cx="8991600" cy="2941320"/>
            </a:xfrm>
            <a:prstGeom prst="roundRect">
              <a:avLst>
                <a:gd name="adj" fmla="val 3108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607820" y="2202180"/>
              <a:ext cx="89763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72212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86690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201168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255520" y="2194560"/>
              <a:ext cx="82296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pump-03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normal a ALERT</a:t>
              </a:r>
            </a:p>
          </p:txBody>
        </p:sp>
        <p:pic>
          <p:nvPicPr>
            <p:cNvPr id="60" name="Captura" descr="shot_acto1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0200" y="2484120"/>
              <a:ext cx="8991600" cy="26517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2 ·</a:t>
            </a:r>
            <a:r>
              <a:rPr lang="es-CO"/>
              <a:t> Sin red, y una deriva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685800" y="1946910"/>
            <a:ext cx="10820400" cy="3436620"/>
            <a:chOff x="685800" y="1946910"/>
            <a:chExt cx="10820400" cy="3436620"/>
          </a:xfrm>
        </p:grpSpPr>
        <p:sp>
          <p:nvSpPr>
            <p:cNvPr id="54" name="Ventana"/>
            <p:cNvSpPr/>
            <p:nvPr/>
          </p:nvSpPr>
          <p:spPr>
            <a:xfrm>
              <a:off x="685800" y="1946910"/>
              <a:ext cx="10820400" cy="3436620"/>
            </a:xfrm>
            <a:prstGeom prst="roundRect">
              <a:avLst>
                <a:gd name="adj" fmla="val 2660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693420" y="1954530"/>
              <a:ext cx="108051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80772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95250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09728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1341120" y="1946910"/>
              <a:ext cx="100584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y el dashboard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sin red y deriva</a:t>
              </a:r>
            </a:p>
          </p:txBody>
        </p:sp>
        <p:pic>
          <p:nvPicPr>
            <p:cNvPr id="60" name="Captura" descr="shot_acto2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2236470"/>
              <a:ext cx="10820400" cy="31470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3 ·</a:t>
            </a:r>
            <a:r>
              <a:rPr lang="es-CO"/>
              <a:t> Ring deployment </a:t>
            </a:r>
            <a:r>
              <a:rPr b="1" lang="es-CO">
                <a:solidFill>
                  <a:srgbClr val="6D28D9"/>
                </a:solidFill>
              </a:rPr>
              <a:t>y rollback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371600" y="2472690"/>
            <a:ext cx="9448800" cy="2385060"/>
            <a:chOff x="1371600" y="2472690"/>
            <a:chExt cx="9448800" cy="2385060"/>
          </a:xfrm>
        </p:grpSpPr>
        <p:sp>
          <p:nvSpPr>
            <p:cNvPr id="54" name="Ventana"/>
            <p:cNvSpPr/>
            <p:nvPr/>
          </p:nvSpPr>
          <p:spPr>
            <a:xfrm>
              <a:off x="1371600" y="2472690"/>
              <a:ext cx="9448800" cy="2385060"/>
            </a:xfrm>
            <a:prstGeom prst="roundRect">
              <a:avLst>
                <a:gd name="adj" fmla="val 3833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379220" y="2480310"/>
              <a:ext cx="94335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49352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63830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78308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026920" y="2472690"/>
              <a:ext cx="86868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la línea de tiempo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la v2 al rollback</a:t>
              </a:r>
            </a:p>
          </p:txBody>
        </p:sp>
        <p:pic>
          <p:nvPicPr>
            <p:cNvPr id="60" name="Captura" descr="shot_acto3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2762250"/>
              <a:ext cx="9448800" cy="2095500"/>
            </a:xfrm>
            <a:prstGeom prst="rect">
              <a:avLst/>
            </a:prstGeom>
          </p:spPr>
        </p:pic>
      </p:grpSp>
      <p:grpSp>
        <p:nvGrpSpPr>
          <p:cNvPr id="5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1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Ventana"/>
            <p:cNvSpPr/>
            <p:nvPr/>
          </p:nvSpPr>
          <p:spPr>
            <a:xfrm>
              <a:off x="3472815" y="1676400"/>
              <a:ext cx="5246370" cy="359664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Barra"/>
            <p:cNvSpPr/>
            <p:nvPr/>
          </p:nvSpPr>
          <p:spPr>
            <a:xfrm>
              <a:off x="3480435" y="1684020"/>
              <a:ext cx="523113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Punto"/>
            <p:cNvSpPr/>
            <p:nvPr/>
          </p:nvSpPr>
          <p:spPr>
            <a:xfrm>
              <a:off x="359473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Punto"/>
            <p:cNvSpPr/>
            <p:nvPr/>
          </p:nvSpPr>
          <p:spPr>
            <a:xfrm>
              <a:off x="373951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Punto"/>
            <p:cNvSpPr/>
            <p:nvPr/>
          </p:nvSpPr>
          <p:spPr>
            <a:xfrm>
              <a:off x="388429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uta"/>
            <p:cNvSpPr txBox="1"/>
            <p:nvPr/>
          </p:nvSpPr>
          <p:spPr>
            <a:xfrm>
              <a:off x="4128135" y="1676400"/>
              <a:ext cx="448437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alarma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station-missed-faults</a:t>
              </a:r>
            </a:p>
          </p:txBody>
        </p:sp>
        <p:pic>
          <p:nvPicPr>
            <p:cNvPr id="68" name="Captura" descr="shot_acto3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2815" y="1965960"/>
              <a:ext cx="5246370" cy="3307080"/>
            </a:xfrm>
            <a:prstGeom prst="rect">
              <a:avLst/>
            </a:prstGeom>
          </p:spPr>
        </p:pic>
      </p:grpSp>
      <p:grpSp>
        <p:nvGrpSpPr>
          <p:cNvPr id="6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9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Ventana"/>
            <p:cNvSpPr/>
            <p:nvPr/>
          </p:nvSpPr>
          <p:spPr>
            <a:xfrm>
              <a:off x="3108960" y="1985010"/>
              <a:ext cx="5974080" cy="2979420"/>
            </a:xfrm>
            <a:prstGeom prst="roundRect">
              <a:avLst>
                <a:gd name="adj" fmla="val 3069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arra"/>
            <p:cNvSpPr/>
            <p:nvPr/>
          </p:nvSpPr>
          <p:spPr>
            <a:xfrm>
              <a:off x="3116580" y="1992630"/>
              <a:ext cx="595884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Punto"/>
            <p:cNvSpPr/>
            <p:nvPr/>
          </p:nvSpPr>
          <p:spPr>
            <a:xfrm>
              <a:off x="323088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unto"/>
            <p:cNvSpPr/>
            <p:nvPr/>
          </p:nvSpPr>
          <p:spPr>
            <a:xfrm>
              <a:off x="337566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unto"/>
            <p:cNvSpPr/>
            <p:nvPr/>
          </p:nvSpPr>
          <p:spPr>
            <a:xfrm>
              <a:off x="352044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uta"/>
            <p:cNvSpPr txBox="1"/>
            <p:nvPr/>
          </p:nvSpPr>
          <p:spPr>
            <a:xfrm>
              <a:off x="3764280" y="1985010"/>
              <a:ext cx="521208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despliegues</a:t>
              </a:r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: el ring 0 en rollback</a:t>
              </a:r>
            </a:p>
          </p:txBody>
        </p:sp>
        <p:pic>
          <p:nvPicPr>
            <p:cNvPr id="76" name="Captura" descr="shot_acto3_2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08960" y="2274570"/>
              <a:ext cx="5974080" cy="2689860"/>
            </a:xfrm>
            <a:prstGeom prst="rect">
              <a:avLst/>
            </a:prstGeom>
          </p:spPr>
        </p:pic>
      </p:grpSp>
      <p:sp>
        <p:nvSpPr>
          <p:cNvPr id="77" name="Remate"/>
          <p:cNvSpPr txBox="1"/>
          <p:nvPr/>
        </p:nvSpPr>
        <p:spPr>
          <a:xfrm>
            <a:off x="640080" y="5547360"/>
            <a:ext cx="10911840" cy="290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071329"/>
                </a:solidFill>
                <a:latin typeface="Calibri"/>
              </a:rPr>
              <a:t>Greengrass revierte despliegues fallidos, </a:t>
            </a:r>
            <a:r>
              <a:rPr sz="1680" b="1" lang="es-CO">
                <a:solidFill>
                  <a:srgbClr val="6D28D9"/>
                </a:solidFill>
                <a:latin typeface="Calibri"/>
              </a:rPr>
              <a:t>no modelos equivocados</a:t>
            </a:r>
            <a:r>
              <a:rPr sz="1680" b="0" lang="es-CO">
                <a:solidFill>
                  <a:srgbClr val="071329"/>
                </a:solidFill>
                <a:latin typeface="Calibri"/>
              </a:rPr>
              <a:t>: ese gate lo pones tú.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CONCLUSIONES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</a:t>
            </a:r>
            <a:r>
              <a:rPr b="1" lang="es-CO">
                <a:solidFill>
                  <a:srgbClr val="6D28D9"/>
                </a:solidFill>
              </a:rPr>
              <a:t>recomendaciones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17983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El modelo es un artefacto: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versión, huella y firma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, sobre un equipo seguro.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4079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4079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4079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Mide en el chip de verdad,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con batería baja y con calor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0175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0175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30175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Despliega por rings, con un gate que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mire al modelo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 y no solo al proceso.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36271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36271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91640" y="36271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Diseña para estar sin red: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cola local y decisiones locales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2367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2367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42367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Vigila tres señales: </a:t>
            </a:r>
            <a:r>
              <a:rPr sz="1920" b="1" lang="es-CO">
                <a:solidFill>
                  <a:srgbClr val="6D28D9"/>
                </a:solidFill>
                <a:latin typeface="Calibri"/>
              </a:rPr>
              <a:t>entrada, salida y autenticidad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 El audio no sale.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/>
      <p:bldP spid="58" grpId="0"/>
      <p:bldP spid="59" grpId="0" animBg="1"/>
      <p:bldP spid="60" grpId="0"/>
      <p:bldP spid="61" grpId="0"/>
      <p:bldP spid="62" grpId="0" animBg="1"/>
      <p:bldP spid="63" grpId="0"/>
      <p:bldP spid="64" grpId="0"/>
      <p:bldP spid="65" grpId="0" animBg="1"/>
      <p:bldP spid="66" grpId="0"/>
      <p:bldP spid="67" grpId="0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6"/>
          </p:nvPr>
        </p:nvSpPr>
        <p:spPr>
          <a:xfrm>
            <a:off x="640080" y="1263396"/>
            <a:ext cx="10911840" cy="681228"/>
          </a:xfrm>
        </p:spPr>
        <p:txBody>
          <a:bodyPr lIns="0" rIns="0" tIns="0" bIns="0"/>
          <a:lstStyle/>
          <a:p>
            <a:r>
              <a:rPr sz="4200" lang="es-CO"/>
              <a:t>¿Esta bomba está </a:t>
            </a:r>
            <a:r>
              <a:rPr sz="4200" b="1" lang="es-CO">
                <a:solidFill>
                  <a:srgbClr val="6D28D9"/>
                </a:solidFill>
              </a:rPr>
              <a:t>fallando</a:t>
            </a:r>
            <a:r>
              <a:rPr sz="4200" lang="es-CO"/>
              <a:t>?</a:t>
            </a:r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3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3440" y="2255520"/>
            <a:ext cx="60960" cy="121920"/>
          </a:xfrm>
          <a:prstGeom prst="rect">
            <a:avLst/>
          </a:prstGeom>
        </p:spPr>
      </p:pic>
      <p:grpSp>
        <p:nvGrpSpPr>
          <p:cNvPr id="3" name="Botón A"/>
          <p:cNvGrpSpPr/>
          <p:nvPr/>
        </p:nvGrpSpPr>
        <p:grpSpPr>
          <a:xfrm>
            <a:off x="640080" y="2103120"/>
            <a:ext cx="1534478" cy="426720"/>
            <a:chOff x="640080" y="2103120"/>
            <a:chExt cx="1534478" cy="426720"/>
          </a:xfrm>
        </p:grpSpPr>
        <p:sp>
          <p:nvSpPr>
            <p:cNvPr id="54" name="Fondo"/>
            <p:cNvSpPr/>
            <p:nvPr/>
          </p:nvSpPr>
          <p:spPr>
            <a:xfrm>
              <a:off x="640080" y="2103120"/>
              <a:ext cx="1534478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Triángulo"/>
            <p:cNvSpPr/>
            <p:nvPr/>
          </p:nvSpPr>
          <p:spPr>
            <a:xfrm>
              <a:off x="929640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ótulo"/>
            <p:cNvSpPr txBox="1"/>
            <p:nvPr/>
          </p:nvSpPr>
          <p:spPr>
            <a:xfrm>
              <a:off x="1196340" y="2103120"/>
              <a:ext cx="902018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A</a:t>
              </a:r>
            </a:p>
          </p:txBody>
        </p:sp>
      </p:grpSp>
      <p:pic>
        <p:nvPicPr>
          <p:cNvPr id="56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70798" y="2255520"/>
            <a:ext cx="60960" cy="121920"/>
          </a:xfrm>
          <a:prstGeom prst="rect">
            <a:avLst/>
          </a:prstGeom>
        </p:spPr>
      </p:pic>
      <p:grpSp>
        <p:nvGrpSpPr>
          <p:cNvPr id="5" name="Botón B"/>
          <p:cNvGrpSpPr/>
          <p:nvPr/>
        </p:nvGrpSpPr>
        <p:grpSpPr>
          <a:xfrm>
            <a:off x="2357438" y="2103120"/>
            <a:ext cx="1525786" cy="426720"/>
            <a:chOff x="2357438" y="2103120"/>
            <a:chExt cx="1525786" cy="426720"/>
          </a:xfrm>
        </p:grpSpPr>
        <p:sp>
          <p:nvSpPr>
            <p:cNvPr id="57" name="Fondo"/>
            <p:cNvSpPr/>
            <p:nvPr/>
          </p:nvSpPr>
          <p:spPr>
            <a:xfrm>
              <a:off x="2357438" y="2103120"/>
              <a:ext cx="1525786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riángulo"/>
            <p:cNvSpPr/>
            <p:nvPr/>
          </p:nvSpPr>
          <p:spPr>
            <a:xfrm>
              <a:off x="2646998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2913698" y="2103120"/>
              <a:ext cx="893326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B</a:t>
              </a:r>
            </a:p>
          </p:txBody>
        </p:sp>
      </p:grpSp>
      <p:sp>
        <p:nvSpPr>
          <p:cNvPr id="59" name="Marca"/>
          <p:cNvSpPr/>
          <p:nvPr/>
        </p:nvSpPr>
        <p:spPr>
          <a:xfrm>
            <a:off x="640080" y="2834640"/>
            <a:ext cx="228600" cy="1127760"/>
          </a:xfrm>
          <a:prstGeom prst="roundRect">
            <a:avLst>
              <a:gd name="adj" fmla="val 33333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vento"/>
          <p:cNvSpPr/>
          <p:nvPr/>
        </p:nvSpPr>
        <p:spPr>
          <a:xfrm>
            <a:off x="685800" y="2834640"/>
            <a:ext cx="10866120" cy="1127760"/>
          </a:xfrm>
          <a:prstGeom prst="roundRect">
            <a:avLst>
              <a:gd name="adj" fmla="val 6756"/>
            </a:avLst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640" y="2998470"/>
            <a:ext cx="9906000" cy="1673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LO QUE SALE DE LA ESTACIÓN · BOMBA 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9640" y="3257245"/>
            <a:ext cx="105156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ourier New"/>
              </a:rPr>
              <a:t>pump-03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v1.0.0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1" lang="es-CO">
                <a:solidFill>
                  <a:srgbClr val="6D28D9"/>
                </a:solidFill>
                <a:latin typeface="Courier New"/>
              </a:rPr>
              <a:t> ALERT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score 0.42 (threshold 0.34)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input 0.7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640" y="3607765"/>
            <a:ext cx="10515600" cy="2045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320" b="0" lang="es-CO">
                <a:solidFill>
                  <a:srgbClr val="475569"/>
                </a:solidFill>
                <a:latin typeface="Calibri"/>
              </a:rPr>
              <a:t>Unos cientos de bytes. El audio se quedó en la estación.</a:t>
            </a:r>
          </a:p>
        </p:txBody>
      </p:sp>
      <p:sp>
        <p:nvSpPr>
          <p:cNvPr id="64" name="Frase"/>
          <p:cNvSpPr txBox="1"/>
          <p:nvPr/>
        </p:nvSpPr>
        <p:spPr>
          <a:xfrm>
            <a:off x="640080" y="4522622"/>
            <a:ext cx="10911840" cy="11228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3400"/>
              </a:lnSpc>
            </a:pPr>
            <a:r>
              <a:rPr sz="3719" b="1" lang="es-CO">
                <a:solidFill>
                  <a:srgbClr val="071329"/>
                </a:solidFill>
                <a:latin typeface="Calibri"/>
              </a:rPr>
              <a:t>No necesitas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ver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 el modelo.</a:t>
            </a:r>
            <a:br/>
            <a:r>
              <a:rPr sz="3719" b="1" lang="es-CO">
                <a:solidFill>
                  <a:srgbClr val="071329"/>
                </a:solidFill>
                <a:latin typeface="Calibri"/>
              </a:rPr>
              <a:t>Necesitas que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te cuente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1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4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RECURSOS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Recursos </a:t>
            </a:r>
            <a:r>
              <a:rPr b="1" lang="es-CO">
                <a:solidFill>
                  <a:srgbClr val="6D28D9"/>
                </a:solidFill>
              </a:rPr>
              <a:t>y contacto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6596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Código de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196596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52984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83464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Láminas y guion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83464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 · talk/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39852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70332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Dónde encontrarme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0332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426720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Marco QR"/>
          <p:cNvSpPr/>
          <p:nvPr/>
        </p:nvSpPr>
        <p:spPr>
          <a:xfrm>
            <a:off x="9052560" y="1965960"/>
            <a:ext cx="2499360" cy="2499360"/>
          </a:xfrm>
          <a:prstGeom prst="rect">
            <a:avLst/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QR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920" y="2179320"/>
            <a:ext cx="2072640" cy="207264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052560" y="4572000"/>
            <a:ext cx="249936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80" b="0" lang="es-CO">
                <a:solidFill>
                  <a:srgbClr val="475569"/>
                </a:solidFill>
                <a:latin typeface="Calibri"/>
              </a:rPr>
              <a:t>El repo, con el paso a paso de la demo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 lIns="0"/>
          <a:lstStyle/>
          <a:p>
            <a:r>
              <a:rPr lang="es-CO"/>
              <a:t>Gracias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 lIns="0"/>
          <a:lstStyle/>
          <a:p>
            <a:r>
              <a:rPr sz="2220" b="1" lang="es-CO">
                <a:solidFill>
                  <a:srgbClr val="071329"/>
                </a:solidFill>
              </a:rPr>
              <a:t>¿Preguntas?</a:t>
            </a:r>
          </a:p>
          <a:p>
            <a:r>
              <a:rPr sz="1019" lang="es-CO"/>
              <a:t> </a:t>
            </a:r>
          </a:p>
          <a:p>
            <a:r>
              <a:rPr sz="1680" lang="es-CO">
                <a:solidFill>
                  <a:srgbClr val="475569"/>
                </a:solidFill>
              </a:rPr>
              <a:t>Alejandro Varela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  <a:p>
            <a:r>
              <a:rPr sz="719" lang="es-CO"/>
              <a:t> </a:t>
            </a:r>
          </a:p>
          <a:p>
            <a:r>
              <a:rPr sz="1200" b="1" lang="es-CO">
                <a:solidFill>
                  <a:srgbClr val="6D28D9"/>
                </a:solidFill>
              </a:rPr>
              <a:t>#DevOpsDaysBogota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evento de la demo, </a:t>
            </a:r>
            <a:r>
              <a:rPr b="1" lang="es-CO">
                <a:solidFill>
                  <a:srgbClr val="6D28D9"/>
                </a:solidFill>
              </a:rPr>
              <a:t>campo por campo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77586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CAMPO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8342" y="1798320"/>
            <a:ext cx="6831178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GUARDA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14122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device · model_version · sha256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8342" y="214122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Quién decidió, con qué versión y la huella exacta de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model.onnx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42620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1002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seq · 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8342" y="251002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Número de evento y el instante, en milisegundos, en que el equipo decidió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795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87883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clip · domain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8342" y="287883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Qué audio escuchó y de qué dominio venía: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source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target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16382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47644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score · threshold ·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68342" y="3247644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El error de reconstrucción, el umbral de esa versión y la decisión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32632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16452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input_z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342" y="3616452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La entrada, resumida: distancia media a la huella de lo normal. El audio no sale del equipo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14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526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latency_ms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68342" y="398526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En cuánto tiempo decidió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7024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5406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truth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68342" y="435406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Solo en la demo, porque sabemos qué audio suena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3905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40080" y="472287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arrived_ts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68342" y="472287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Lo suma la regla de IoT al llegar. Su diferencia con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ts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es el tiempo que la estación estuvo sin red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40080" y="500786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poc-devopsdays/component/inference.py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2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800"/>
            <a:ext cx="12192000" cy="443484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rollback automático, </a:t>
            </a:r>
            <a:r>
              <a:rPr b="1" lang="es-CO">
                <a:solidFill>
                  <a:srgbClr val="6D28D9"/>
                </a:solidFill>
              </a:rPr>
              <a:t>paso a paso</a:t>
            </a:r>
          </a:p>
        </p:txBody>
      </p:sp>
      <p:sp>
        <p:nvSpPr>
          <p:cNvPr id="5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poc-devopsdays/demo/deploy.sh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revierte Greengrass </a:t>
            </a:r>
            <a:r>
              <a:rPr b="1" lang="es-CO">
                <a:solidFill>
                  <a:srgbClr val="6D28D9"/>
                </a:solidFill>
              </a:rPr>
              <a:t>solo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33938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PASA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31869" y="1798320"/>
            <a:ext cx="312115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¿GREENGRASS VUELVE ATRÁS?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CON QUÉ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artefacto en S3 cambió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1869" y="217932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el despliegue falla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El digest que calcula al crear la versión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5225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644445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componente no instala o no arranca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31869" y="2644445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vuelve a la anterior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644445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failureHandlingPolicy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=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ROLLBACK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(por defecto)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298765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10957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Fallan muchos equipos del 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31869" y="310957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cancela el despliegue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10957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abortConfig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: FAILED · REJECTED · TIMED_OUT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452774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574694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Corre bien y decide mal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31869" y="3574694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No: para Greengrass salió bien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57469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eventos del modelo y una alarma que los mire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917899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Permisos </a:t>
            </a:r>
            <a:r>
              <a:rPr b="1" lang="es-CO">
                <a:solidFill>
                  <a:srgbClr val="6D28D9"/>
                </a:solidFill>
              </a:rPr>
              <a:t>y costo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ROL O POLÍTICA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6277" y="1798320"/>
            <a:ext cx="213908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7763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POC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1798320"/>
            <a:ext cx="257556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640080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GreengrassV2TokenExchangeRole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86277" y="2141220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baja artefactos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7763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s3:GetObject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el bucket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2141220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por prefijo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2406091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640080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StationThingPolicy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6277" y="2489911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habla MQTT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7763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Conectar como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pump-*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y publicar solo en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station/events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2489911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una identidad por equipo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29358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regla station_events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6277" y="3019654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regla escribe en Logs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7763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logs:PutLogEvents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/station/events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23960" y="3019654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284525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640080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Lambda station-rollback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277" y="3368345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Lambda despliega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77763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1" lang="es-CO">
                <a:solidFill>
                  <a:srgbClr val="6D28D9"/>
                </a:solidFill>
                <a:latin typeface="Courier New"/>
              </a:rPr>
              <a:t>CreateDeployment</a:t>
            </a:r>
            <a:r>
              <a:rPr sz="1080" b="1" lang="es-CO">
                <a:solidFill>
                  <a:srgbClr val="6D28D9"/>
                </a:solidFill>
                <a:latin typeface="Calibri"/>
              </a:rPr>
              <a:t>, las acciones de IoT que ese despliegue usa y </a:t>
            </a:r>
            <a:r>
              <a:rPr sz="960" b="1" lang="es-CO">
                <a:solidFill>
                  <a:srgbClr val="6D28D9"/>
                </a:solidFill>
                <a:latin typeface="Courier New"/>
              </a:rPr>
              <a:t>ssm:GetParameter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60" y="3368345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a los thing groups de la flota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0080" y="381426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640080" y="4042867"/>
            <a:ext cx="1091184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Lo que cobra: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la EC2 que hospeda las cinco bombas, los mensajes de IoT Core, los core devices de IoT Greengrass, CloudWatch y Lambda. </a:t>
            </a:r>
            <a:r>
              <a:rPr sz="1320" b="1" lang="es-CO">
                <a:solidFill>
                  <a:srgbClr val="071329"/>
                </a:solidFill>
                <a:latin typeface="Calibri"/>
              </a:rPr>
              <a:t>Para dejar de pagar: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infra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→ Run workflow →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destroy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0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poc-devopsdays/fleet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De la demo </a:t>
            </a:r>
            <a:r>
              <a:rPr b="1" lang="es-CO">
                <a:solidFill>
                  <a:srgbClr val="6D28D9"/>
                </a:solidFill>
              </a:rPr>
              <a:t>a producción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50080" y="1798320"/>
            <a:ext cx="685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209800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evento por clip escuchado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209800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0080" y="2209800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Un resumen por minuto + el detalle cuando algo cambia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264109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40080" y="2793492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Cola en memoria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2793492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50080" y="2793492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Cola en disco (DiskSpooler), con tope y prioridad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0080" y="32247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640080" y="3377184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El nucleus en un contenedor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3377184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50080" y="3377184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Nucleus lite en el equipo pequeño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80847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960876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ring de una estación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3960876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50080" y="3960876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Gate: canary contra ring, pasa si el modelo sigue oyendo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0080" y="439216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40080" y="4544568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Sabemos qué audio suena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544568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0080" y="4544568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Etiquetas tardías: la orden de mantenimiento dice cuándo fue falla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método de drift </a:t>
            </a:r>
            <a:r>
              <a:rPr b="1" lang="es-CO">
                <a:solidFill>
                  <a:srgbClr val="6D28D9"/>
                </a:solidFill>
              </a:rPr>
              <a:t>uso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248205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MÉTODO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0685" y="1798320"/>
            <a:ext cx="421233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CUIDADO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2248205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PSI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0685" y="2179320"/>
            <a:ext cx="4212336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por rangos o categorías; muy usado en riesgo de crédito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umbrales 0,1 y 0,25 son costumbre, no estadística; se rompe con rangos vacíos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74381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865730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Kolmogorov-Smirnov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0685" y="2865730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pequeñas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86573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Con muchos datos da falsas alarmas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9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330854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Wasserstein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40685" y="3330854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grandes: cuánto se movió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33085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Sensible a valores extremos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674059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795979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Jensen-Shannon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40685" y="3795979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Numéricas y categóricas; acotada entre 0 y 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795979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No distingue un drift fuerte de uno extremo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41391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4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Documentación de Evidently (métodos de data drift) y NannyML (comparación de métodos univariados) · crítica a los umbrales del PSI: arXiv:2303.01227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Regulación: ¿quién más te va a pedir </a:t>
            </a:r>
            <a:r>
              <a:rPr b="1" lang="es-CO">
                <a:solidFill>
                  <a:srgbClr val="6D28D9"/>
                </a:solidFill>
              </a:rPr>
              <a:t>cuentas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4008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44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UNIÓN EUROPEA · AI 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44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Registros automáticos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durante toda la vida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del sistema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5344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5344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12 · el sistema registra eventos solo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344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5344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19 · se guardan al menos seis meses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3440" y="359664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53440" y="3665220"/>
            <a:ext cx="304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72 · monitoreo después de salir al mercado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344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Alto riesgo: dic. 2027 (Anexo III) · ago. 2028 (Anexo I)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5864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NIST · AI RMF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Gobernar, mapear,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medir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y gestionar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7200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457200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Voluntario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57200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457200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El idioma común del riesgo en 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NIST AI 100-1 · enero 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056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ISO/IEC 42001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9056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Un sistema de gestión de IA,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certificable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056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29056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La lógica de ISO 27001, aplicada a la IA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056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29056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Auditoría externa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9056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ISO/IEC 42001:2023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4953000"/>
            <a:ext cx="10911840" cy="350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Piden lo mismo que necesitas para operar: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qué corre, qué decidió y cómo volver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Reglamento (UE) 2024/1689, arts. 12, 19 y 72, con las fechas del Reglamento (UE) 2026/1744 · NIST AI 100-1 · ISO/IEC 42001:2023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 animBg="1"/>
      <p:bldP spid="68" grpId="0"/>
      <p:bldP spid="69" grpId="0" animBg="1"/>
      <p:bldP spid="70" grpId="0"/>
      <p:bldP spid="71" grpId="0"/>
      <p:bldP spid="72" grpId="0"/>
      <p:bldP spid="73" grpId="0"/>
      <p:bldP spid="74" grpId="0"/>
      <p:bldP spid="75" grpId="0" animBg="1"/>
      <p:bldP spid="76" grpId="0"/>
      <p:bldP spid="77" grpId="0" animBg="1"/>
      <p:bldP spid="78" grpId="0"/>
      <p:bldP spid="79" grpId="0"/>
      <p:bldP spid="80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Fuentes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22120"/>
            <a:ext cx="464881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1290" y="1722120"/>
            <a:ext cx="595823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DÓNDE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19812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065020"/>
            <a:ext cx="464881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MIMII DUE · Tanabe et al., Hitachi (2021) · bombas, </a:t>
            </a:r>
            <a:r>
              <a:rPr sz="960" b="1" lang="es-CO">
                <a:solidFill>
                  <a:srgbClr val="071329"/>
                </a:solidFill>
                <a:latin typeface="Courier New"/>
              </a:rPr>
              <a:t>dev_data_pump</a:t>
            </a:r>
            <a:r>
              <a:rPr sz="1080" b="1" lang="es-CO">
                <a:solidFill>
                  <a:srgbClr val="071329"/>
                </a:solidFill>
                <a:latin typeface="Calibri"/>
              </a:rPr>
              <a:t> · CC BY-NC-SA 4.0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1290" y="2065020"/>
            <a:ext cx="595823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arxiv.org/abs/2105.02702 · doi.org/10.5281/zenodo.4740355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51094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94762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Gartner · PC con IA (28 ago 2025)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1290" y="2594762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gartner.com/en/newsroom · 2025-08-28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8596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943454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Métodos de drift · Evidently · NannyML · crítica al PSI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1290" y="2943454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docs.evidentlyai.com · nannyml.readthedocs.io · arxiv.org/abs/2303.01227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3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92145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AI Act (UE 2024/1689) · Digital Omnibus (UE 2026/1744)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1290" y="3292145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eur-lex.europa.eu · artificialintelligenceact.eu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57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40836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NIST AI RMF · ISO/IEC 42001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41290" y="3640836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nist.gov/itl/ai-risk-management-framework · iso.org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570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9527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Face ID: los datos no salen del equipo · Secure Enclave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1290" y="3989527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support.apple.com/102381 · Apple Platform Security Guide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5439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38218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Greengrass con HSM/TPM (PKCS#11) · OpenSSF Model Signing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1290" y="4338218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docs.aws.amazon.com/greengrass/v2 · github.com/sigstore/model-transparency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0309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enale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" y="1882140"/>
            <a:ext cx="10401300" cy="3680460"/>
          </a:xfrm>
          <a:prstGeom prst="rect">
            <a:avLst/>
          </a:prstGeom>
        </p:spPr>
      </p:pic>
      <p:sp>
        <p:nvSpPr>
          <p:cNvPr id="55" name="Subtítulo"/>
          <p:cNvSpPr txBox="1"/>
          <p:nvPr/>
        </p:nvSpPr>
        <p:spPr>
          <a:xfrm>
            <a:off x="640080" y="1569720"/>
            <a:ext cx="1091184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439" b="0" lang="es-CO">
                <a:solidFill>
                  <a:srgbClr val="475569"/>
                </a:solidFill>
                <a:latin typeface="Calibri"/>
              </a:rPr>
              <a:t>Las de un servicio ya las conocemos: latencia · tráfico · errores · saturación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golden signals </a:t>
            </a:r>
            <a:r>
              <a:rPr b="1" lang="es-CO">
                <a:solidFill>
                  <a:srgbClr val="6D28D9"/>
                </a:solidFill>
              </a:rPr>
              <a:t>de un modelo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Audio crudo contra </a:t>
            </a:r>
            <a:r>
              <a:rPr b="1" lang="es-CO">
                <a:solidFill>
                  <a:srgbClr val="6D28D9"/>
                </a:solidFill>
              </a:rPr>
              <a:t>eventos</a:t>
            </a:r>
            <a:r>
              <a:rPr lang="es-CO"/>
              <a:t>, con mil bombas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cxnSp>
        <p:nvCxnSpPr>
          <p:cNvPr id="54" name="Connector 53"/>
          <p:cNvCxnSpPr/>
          <p:nvPr/>
        </p:nvCxnSpPr>
        <p:spPr>
          <a:xfrm>
            <a:off x="64008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4008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AUDIO CRUDO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2,76 TB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al día, con mil bombas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7896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7896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EVENTO CADA 10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7896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8,64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896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117840" y="2011680"/>
            <a:ext cx="3434080" cy="0"/>
          </a:xfrm>
          <a:prstGeom prst="line">
            <a:avLst/>
          </a:prstGeom>
          <a:ln w="30480">
            <a:solidFill>
              <a:srgbClr val="6D28D9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811784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RESUMEN POR MINUTO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784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6D28D9"/>
                </a:solidFill>
                <a:latin typeface="Calibri"/>
              </a:rPr>
              <a:t>1,44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1784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sp>
        <p:nvSpPr>
          <p:cNvPr id="66" name="Remate"/>
          <p:cNvSpPr txBox="1"/>
          <p:nvPr/>
        </p:nvSpPr>
        <p:spPr>
          <a:xfrm>
            <a:off x="640080" y="44805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El audio se queda en la estación. Sale un evento de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unos cientos de bytes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6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Cálculo: 16 000 muestras/s × 2 B = 32 000 B/s ≈ 115 MB/h ≈ 2,76 GB/día por bomba · eventos: 86 400 s ÷ 10 s = 8 640/día por bomba · resumen: 1 440 min/día · todo × 1 000 bombas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/>
      <p:bldP spid="60" grpId="0"/>
      <p:bldP spid="61" grpId="0"/>
      <p:bldP spid="62" grpId="0" animBg="1"/>
      <p:bldP spid="63" grpId="0"/>
      <p:bldP spid="64" grpId="0"/>
      <p:bldP spid="65" grpId="0"/>
      <p:bldP spid="66" grpId="0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Antes de proteger el modelo, </a:t>
            </a:r>
            <a:r>
              <a:rPr b="1" lang="es-CO">
                <a:solidFill>
                  <a:srgbClr val="6D28D9"/>
                </a:solidFill>
              </a:rPr>
              <a:t>protege el equipo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400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2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Arranque seguro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2834640"/>
            <a:ext cx="217170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arranca software firmado.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secure boot · UEFI, HAB en ARM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213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195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95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Llave protegida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195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La identidad del equipo no se copia de la tarjeta SD.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195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TPM · PKCS#11 en Greengrass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026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Updates verificados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instala lo que trae la huella correcta.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digest · mTLS · firma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839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21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6D28D9"/>
                </a:solidFill>
                <a:latin typeface="Courier New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821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Datos privados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21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El audio no sale y se cifra en el disco.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21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solo salen eventos</a:t>
            </a:r>
          </a:p>
        </p:txBody>
      </p:sp>
      <p:sp>
        <p:nvSpPr>
          <p:cNvPr id="74" name="Remate"/>
          <p:cNvSpPr txBox="1"/>
          <p:nvPr/>
        </p:nvSpPr>
        <p:spPr>
          <a:xfrm>
            <a:off x="640080" y="45567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Sin esto, nadie necesita engañar a tu modelo: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le basta con reemplazarlo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</p:bldLst>
  </p:timing>
</p:sld>
</file>

<file path=ppt/theme/theme1.xml><?xml version="1.0" encoding="utf-8"?>
<a:theme xmlns:a="http://schemas.openxmlformats.org/drawingml/2006/main" name="DevOpsDays Bogota 2026">
  <a:themeElements>
    <a:clrScheme name="DevOpsDays Bogota 2026">
      <a:dk1>
        <a:srgbClr val="071329"/>
      </a:dk1>
      <a:lt1>
        <a:srgbClr val="FFFFFF"/>
      </a:lt1>
      <a:dk2>
        <a:srgbClr val="475569"/>
      </a:dk2>
      <a:lt2>
        <a:srgbClr val="F4F7FC"/>
      </a:lt2>
      <a:accent1>
        <a:srgbClr val="6D28D9"/>
      </a:accent1>
      <a:accent2>
        <a:srgbClr val="F000A8"/>
      </a:accent2>
      <a:accent3>
        <a:srgbClr val="00BCEB"/>
      </a:accent3>
      <a:accent4>
        <a:srgbClr val="2448FF"/>
      </a:accent4>
      <a:accent5>
        <a:srgbClr val="6D28D9"/>
      </a:accent5>
      <a:accent6>
        <a:srgbClr val="009CB0"/>
      </a:accent6>
      <a:hlink>
        <a:srgbClr val="1F6C93"/>
      </a:hlink>
      <a:folHlink>
        <a:srgbClr val="6D28D9"/>
      </a:folHlink>
    </a:clrScheme>
    <a:fontScheme name="DevOpsDays Bogot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DevOpsDays Bogota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a ciegas · DevOpsDays Bogotá 2026</dc:title>
  <dc:subject>Plantilla maestra para speakers</dc:subject>
  <dc:creator>Alejandro Varela</dc:creator>
  <cp:lastModifiedBy>DevOpsDays Bogota 2026</cp:lastModifiedBy>
  <cp:revision>1</cp:revision>
  <dcterms:created xsi:type="dcterms:W3CDTF">2026-10-07T02:37:51Z</dcterms:created>
  <dcterms:modified xsi:type="dcterms:W3CDTF">2026-10-07T02:37:51Z</dcterms:modified>
</cp:coreProperties>
</file>